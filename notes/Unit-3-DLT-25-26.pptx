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9"/>
  </p:notesMasterIdLst>
  <p:handoutMasterIdLst>
    <p:handoutMasterId r:id="rId50"/>
  </p:handoutMasterIdLst>
  <p:sldIdLst>
    <p:sldId id="467" r:id="rId5"/>
    <p:sldId id="530" r:id="rId6"/>
    <p:sldId id="531" r:id="rId7"/>
    <p:sldId id="534" r:id="rId8"/>
    <p:sldId id="532" r:id="rId9"/>
    <p:sldId id="533" r:id="rId10"/>
    <p:sldId id="519" r:id="rId11"/>
    <p:sldId id="521" r:id="rId12"/>
    <p:sldId id="522" r:id="rId13"/>
    <p:sldId id="529" r:id="rId14"/>
    <p:sldId id="523" r:id="rId15"/>
    <p:sldId id="524" r:id="rId16"/>
    <p:sldId id="525" r:id="rId17"/>
    <p:sldId id="535" r:id="rId18"/>
    <p:sldId id="536" r:id="rId19"/>
    <p:sldId id="537" r:id="rId20"/>
    <p:sldId id="538" r:id="rId21"/>
    <p:sldId id="539" r:id="rId22"/>
    <p:sldId id="540" r:id="rId23"/>
    <p:sldId id="541" r:id="rId24"/>
    <p:sldId id="542" r:id="rId25"/>
    <p:sldId id="543" r:id="rId26"/>
    <p:sldId id="544" r:id="rId27"/>
    <p:sldId id="545" r:id="rId28"/>
    <p:sldId id="527" r:id="rId29"/>
    <p:sldId id="546" r:id="rId30"/>
    <p:sldId id="528" r:id="rId31"/>
    <p:sldId id="547" r:id="rId32"/>
    <p:sldId id="548" r:id="rId33"/>
    <p:sldId id="550" r:id="rId34"/>
    <p:sldId id="549" r:id="rId35"/>
    <p:sldId id="554" r:id="rId36"/>
    <p:sldId id="555" r:id="rId37"/>
    <p:sldId id="556" r:id="rId38"/>
    <p:sldId id="551" r:id="rId39"/>
    <p:sldId id="552" r:id="rId40"/>
    <p:sldId id="553" r:id="rId41"/>
    <p:sldId id="557" r:id="rId42"/>
    <p:sldId id="558" r:id="rId43"/>
    <p:sldId id="559" r:id="rId44"/>
    <p:sldId id="560" r:id="rId45"/>
    <p:sldId id="561" r:id="rId46"/>
    <p:sldId id="562" r:id="rId47"/>
    <p:sldId id="281" r:id="rId48"/>
  </p:sldIdLst>
  <p:sldSz cx="12188825" cy="6858000"/>
  <p:notesSz cx="6858000" cy="9144000"/>
  <p:defaultTextStyle>
    <a:defPPr>
      <a:defRPr lang="en-US"/>
    </a:defPPr>
    <a:lvl1pPr algn="l" defTabSz="1217613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608013" indent="-150813" algn="l" defTabSz="1217613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1217613" indent="-303213" algn="l" defTabSz="1217613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827213" indent="-455613" algn="l" defTabSz="1217613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2436813" indent="-608013" algn="l" defTabSz="1217613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5500"/>
    <a:srgbClr val="5F6F0F"/>
    <a:srgbClr val="003300"/>
    <a:srgbClr val="394404"/>
    <a:srgbClr val="718412"/>
    <a:srgbClr val="65741A"/>
    <a:srgbClr val="70811D"/>
    <a:srgbClr val="7B8D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>
        <p:scale>
          <a:sx n="80" d="100"/>
          <a:sy n="80" d="100"/>
        </p:scale>
        <p:origin x="300" y="6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8987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8987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8044A08-AC35-459C-8880-4AA2F6825F5E}" type="datetimeFigureOut">
              <a:rPr lang="en-US"/>
              <a:pPr>
                <a:defRPr/>
              </a:pPr>
              <a:t>3/29/2025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8987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D23A41B-A5B2-4F0A-AB6F-127F48FAF2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746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8987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8987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70451AE-7C4B-48DF-AB6D-8BA502E3C746}" type="datetimeFigureOut">
              <a:rPr lang="en-US"/>
              <a:pPr>
                <a:defRPr/>
              </a:pPr>
              <a:t>3/29/2025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noProof="0"/>
              <a:t>Click to edit Master text styles</a:t>
            </a:r>
          </a:p>
          <a:p>
            <a:pPr lvl="1"/>
            <a:r>
              <a:rPr noProof="0"/>
              <a:t>Second level</a:t>
            </a:r>
          </a:p>
          <a:p>
            <a:pPr lvl="2"/>
            <a:r>
              <a:rPr noProof="0"/>
              <a:t>Third level</a:t>
            </a:r>
          </a:p>
          <a:p>
            <a:pPr lvl="3"/>
            <a:r>
              <a:rPr noProof="0"/>
              <a:t>Fourth level</a:t>
            </a:r>
          </a:p>
          <a:p>
            <a:pPr lvl="4"/>
            <a:r>
              <a:rPr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8987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AC3D420D-1281-4EC5-8334-0935612A36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7769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2176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8013" algn="l" defTabSz="12176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7613" algn="l" defTabSz="12176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7213" algn="l" defTabSz="12176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6813" algn="l" defTabSz="12176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diagonals"/>
          <p:cNvGrpSpPr>
            <a:grpSpLocks/>
          </p:cNvGrpSpPr>
          <p:nvPr/>
        </p:nvGrpSpPr>
        <p:grpSpPr bwMode="auto">
          <a:xfrm>
            <a:off x="7516813" y="4144963"/>
            <a:ext cx="4686300" cy="2732087"/>
            <a:chOff x="5638800" y="3108960"/>
            <a:chExt cx="3515503" cy="2048555"/>
          </a:xfrm>
        </p:grpSpPr>
        <p:cxnSp>
          <p:nvCxnSpPr>
            <p:cNvPr id="5" name="Straight Connector 4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" name="bottom lines"/>
          <p:cNvGrpSpPr>
            <a:grpSpLocks/>
          </p:cNvGrpSpPr>
          <p:nvPr/>
        </p:nvGrpSpPr>
        <p:grpSpPr bwMode="auto">
          <a:xfrm>
            <a:off x="-9525" y="6057900"/>
            <a:ext cx="5499100" cy="819150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898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898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898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1E666B-37D6-49C2-B790-902394033D60}" type="datetimeFigureOut">
              <a:rPr lang="en-US"/>
              <a:pPr>
                <a:defRPr/>
              </a:pPr>
              <a:t>3/29/2025</a:t>
            </a:fld>
            <a:endParaRPr/>
          </a:p>
        </p:txBody>
      </p:sp>
      <p:sp>
        <p:nvSpPr>
          <p:cNvPr id="1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D421BB-D869-4555-9CD3-953BE300B8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34A51-BFE8-4855-A742-FA0BABADCA21}" type="datetimeFigureOut">
              <a:rPr lang="en-US"/>
              <a:pPr>
                <a:defRPr/>
              </a:pPr>
              <a:t>3/29/2025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B4D998-8B9A-4407-B13E-A81E5D3213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diagonals"/>
          <p:cNvGrpSpPr>
            <a:grpSpLocks/>
          </p:cNvGrpSpPr>
          <p:nvPr/>
        </p:nvGrpSpPr>
        <p:grpSpPr bwMode="auto">
          <a:xfrm>
            <a:off x="7516813" y="4144963"/>
            <a:ext cx="4686300" cy="2732087"/>
            <a:chOff x="5638800" y="3108960"/>
            <a:chExt cx="3515503" cy="2048555"/>
          </a:xfrm>
        </p:grpSpPr>
        <p:cxnSp>
          <p:nvCxnSpPr>
            <p:cNvPr id="5" name="Straight Connector 4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C7800-B608-4AC1-A816-39D8642B938A}" type="datetimeFigureOut">
              <a:rPr lang="en-US"/>
              <a:pPr>
                <a:defRPr/>
              </a:pPr>
              <a:t>3/29/2025</a:t>
            </a:fld>
            <a:endParaRPr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EBF2D7-9B3D-4D51-BC25-6F3041517F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8D6C4D-9869-4E55-912B-A06BC5B89D71}" type="datetimeFigureOut">
              <a:rPr lang="en-US"/>
              <a:pPr>
                <a:defRPr/>
              </a:pPr>
              <a:t>3/29/2025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FF5F06-2BED-4F6D-ABFD-5A3A31BA26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91CAD0-C63C-4376-93BA-1E3612D18DE4}" type="datetimeFigureOut">
              <a:rPr lang="en-US"/>
              <a:pPr>
                <a:defRPr/>
              </a:pPr>
              <a:t>3/29/2025</a:t>
            </a:fld>
            <a:endParaRPr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983891-C3E6-49E7-9851-3BD9B466BC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375076-E24A-4071-974D-9EF923BB62EF}" type="datetimeFigureOut">
              <a:rPr lang="en-US"/>
              <a:pPr>
                <a:defRPr/>
              </a:pPr>
              <a:t>3/29/2025</a:t>
            </a:fld>
            <a:endParaRPr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C8E7EE-6AE0-4884-AF59-3FA0C45E93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BF02BF-E6B1-4B3E-8660-DC4E590D6D65}" type="datetimeFigureOut">
              <a:rPr lang="en-US"/>
              <a:pPr>
                <a:defRPr/>
              </a:pPr>
              <a:t>3/29/2025</a:t>
            </a:fld>
            <a:endParaRPr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0A01E0-9CC8-4ABD-B1F6-A5AE4480F9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C04BA7-A310-4F0D-9020-2C7148B2E856}" type="datetimeFigureOut">
              <a:rPr lang="en-US"/>
              <a:pPr>
                <a:defRPr/>
              </a:pPr>
              <a:t>3/29/2025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2790B9-A1D0-47A4-B582-7A1DC94BDC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pPr lvl="0"/>
            <a:r>
              <a:rPr lang="en-US" noProof="0"/>
              <a:t>Click icon to add picture</a:t>
            </a:r>
            <a:endParaRPr noProof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262063-E244-490E-8793-56334D53BC8F}" type="datetimeFigureOut">
              <a:rPr lang="en-US"/>
              <a:pPr>
                <a:defRPr/>
              </a:pPr>
              <a:t>3/29/2025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490781-9460-4A1D-9EB7-4F4C796165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CEA86-1F4C-4AA7-929B-20D8CFD583CB}" type="datetimeFigureOut">
              <a:rPr lang="en-US"/>
              <a:pPr>
                <a:defRPr/>
              </a:pPr>
              <a:t>3/29/2025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995C6-84FE-47FA-8E52-DD31ED980E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F8D3E-918E-4A10-B1F0-3CFFDF356615}" type="datetimeFigureOut">
              <a:rPr lang="en-US"/>
              <a:pPr>
                <a:defRPr/>
              </a:pPr>
              <a:t>3/29/2025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FDEEB-41BD-44AE-8144-97FF8427A0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left lines"/>
          <p:cNvGrpSpPr>
            <a:grpSpLocks/>
          </p:cNvGrpSpPr>
          <p:nvPr/>
        </p:nvGrpSpPr>
        <p:grpSpPr bwMode="auto">
          <a:xfrm>
            <a:off x="-15875" y="-3175"/>
            <a:ext cx="820738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898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898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898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/>
            </a:p>
          </p:txBody>
        </p:sp>
      </p:grp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0025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1899" tIns="60949" rIns="121899" bIns="60949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19200" y="1701800"/>
            <a:ext cx="10360025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9200" y="6356350"/>
            <a:ext cx="2233613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defTabSz="1218987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9D090FA-0C5E-479E-89C7-80128BEE3A8E}" type="datetimeFigureOut">
              <a:rPr lang="en-US"/>
              <a:pPr>
                <a:defRPr/>
              </a:pPr>
              <a:t>3/29/2025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2813" y="6356350"/>
            <a:ext cx="52832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defTabSz="1218987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225" y="6356350"/>
            <a:ext cx="1016000" cy="365125"/>
          </a:xfrm>
          <a:prstGeom prst="rect">
            <a:avLst/>
          </a:prstGeom>
        </p:spPr>
        <p:txBody>
          <a:bodyPr vert="horz" wrap="square" lIns="121899" tIns="60949" rIns="121899" bIns="6094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FFFFFF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9886225D-D816-4AFB-9339-89B404853F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165" r:id="rId1"/>
    <p:sldLayoutId id="2147484156" r:id="rId2"/>
    <p:sldLayoutId id="2147484166" r:id="rId3"/>
    <p:sldLayoutId id="2147484157" r:id="rId4"/>
    <p:sldLayoutId id="2147484158" r:id="rId5"/>
    <p:sldLayoutId id="2147484159" r:id="rId6"/>
    <p:sldLayoutId id="2147484160" r:id="rId7"/>
    <p:sldLayoutId id="2147484161" r:id="rId8"/>
    <p:sldLayoutId id="2147484162" r:id="rId9"/>
    <p:sldLayoutId id="2147484163" r:id="rId10"/>
    <p:sldLayoutId id="2147484164" r:id="rId11"/>
  </p:sldLayoutIdLst>
  <p:transition spd="med">
    <p:fade/>
  </p:transition>
  <p:txStyles>
    <p:titleStyle>
      <a:lvl1pPr algn="l" defTabSz="12176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2176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2pPr>
      <a:lvl3pPr algn="l" defTabSz="12176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3pPr>
      <a:lvl4pPr algn="l" defTabSz="12176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4pPr>
      <a:lvl5pPr algn="l" defTabSz="12176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5pPr>
      <a:lvl6pPr marL="457200" algn="l" defTabSz="1217613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6pPr>
      <a:lvl7pPr marL="914400" algn="l" defTabSz="1217613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7pPr>
      <a:lvl8pPr marL="1371600" algn="l" defTabSz="1217613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8pPr>
      <a:lvl9pPr marL="1828800" algn="l" defTabSz="1217613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9pPr>
    </p:titleStyle>
    <p:bodyStyle>
      <a:lvl1pPr marL="303213" indent="-303213" algn="l" defTabSz="1217613" rtl="0" eaLnBrk="0" fontAlgn="base" hangingPunct="0">
        <a:lnSpc>
          <a:spcPct val="90000"/>
        </a:lnSpc>
        <a:spcBef>
          <a:spcPts val="1600"/>
        </a:spcBef>
        <a:spcAft>
          <a:spcPct val="0"/>
        </a:spcAft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8013" indent="-230188" algn="l" defTabSz="1217613" rtl="0" eaLnBrk="0" fontAlgn="base" hangingPunct="0">
        <a:lnSpc>
          <a:spcPct val="90000"/>
        </a:lnSpc>
        <a:spcBef>
          <a:spcPts val="800"/>
        </a:spcBef>
        <a:spcAft>
          <a:spcPct val="0"/>
        </a:spcAft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2813" indent="-230188" algn="l" defTabSz="1217613" rtl="0" eaLnBrk="0" fontAlgn="base" hangingPunct="0">
        <a:lnSpc>
          <a:spcPct val="90000"/>
        </a:lnSpc>
        <a:spcBef>
          <a:spcPts val="800"/>
        </a:spcBef>
        <a:spcAft>
          <a:spcPct val="0"/>
        </a:spcAft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7613" indent="-230188" algn="l" defTabSz="1217613" rtl="0" eaLnBrk="0" fontAlgn="base" hangingPunct="0">
        <a:lnSpc>
          <a:spcPct val="90000"/>
        </a:lnSpc>
        <a:spcBef>
          <a:spcPts val="800"/>
        </a:spcBef>
        <a:spcAft>
          <a:spcPct val="0"/>
        </a:spcAft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2413" indent="-230188" algn="l" defTabSz="1217613" rtl="0" eaLnBrk="0" fontAlgn="base" hangingPunct="0">
        <a:lnSpc>
          <a:spcPct val="90000"/>
        </a:lnSpc>
        <a:spcBef>
          <a:spcPts val="800"/>
        </a:spcBef>
        <a:spcAft>
          <a:spcPct val="0"/>
        </a:spcAft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818813" y="5842000"/>
            <a:ext cx="1370012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Connector 5"/>
          <p:cNvCxnSpPr/>
          <p:nvPr/>
        </p:nvCxnSpPr>
        <p:spPr>
          <a:xfrm flipV="1">
            <a:off x="9828213" y="4724400"/>
            <a:ext cx="2360612" cy="21336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9447213" y="4419600"/>
            <a:ext cx="2741612" cy="24384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370012" y="218888"/>
            <a:ext cx="10287000" cy="92411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lIns="121899" tIns="60949" rIns="121899" bIns="60949" anchor="b"/>
          <a:lstStyle/>
          <a:p>
            <a:pPr algn="ctr">
              <a:lnSpc>
                <a:spcPct val="90000"/>
              </a:lnSpc>
              <a:defRPr/>
            </a:pPr>
            <a:r>
              <a:rPr lang="en-US" sz="2600">
                <a:solidFill>
                  <a:schemeClr val="bg1"/>
                </a:solidFill>
                <a:latin typeface="+mn-lt"/>
              </a:rPr>
              <a:t>Contents- Unit-III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600">
                <a:solidFill>
                  <a:schemeClr val="bg1"/>
                </a:solidFill>
                <a:latin typeface="+mn-lt"/>
              </a:rPr>
              <a:t>Introduction to Cryptography &amp; Cryptocurrencies </a:t>
            </a:r>
            <a:endParaRPr lang="en-US" sz="2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5212" y="1295400"/>
            <a:ext cx="104394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Introduction to Cryptography &amp; Cryptocurrencies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Cryptographic Hash Functions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SHA-256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Hash Pointers and Data Structures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Digital Signatures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Public Keys as Identities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A Simple Cryptocurrency</a:t>
            </a:r>
            <a:endParaRPr lang="en-IN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36612" y="228600"/>
            <a:ext cx="111252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DLT -- Decentralized database maintained across multiple nodes, ensuring security, transparency, and trust. </a:t>
            </a:r>
          </a:p>
          <a:p>
            <a:pPr>
              <a:lnSpc>
                <a:spcPct val="150000"/>
              </a:lnSpc>
            </a:pPr>
            <a:r>
              <a:rPr lang="en-US" sz="2300" b="1" dirty="0">
                <a:solidFill>
                  <a:srgbClr val="FFFF00"/>
                </a:solidFill>
                <a:latin typeface="+mn-lt"/>
              </a:rPr>
              <a:t>It underpins technologies like blockchain and cryptocurrencies. Key components include</a:t>
            </a:r>
            <a:r>
              <a:rPr lang="en-US" dirty="0"/>
              <a:t>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Cryptographic Hash Functions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SHA-256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Hash Pointers and Data Structures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Digital Signatures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Public Keys as Identities</a:t>
            </a:r>
          </a:p>
          <a:p>
            <a:pPr>
              <a:lnSpc>
                <a:spcPct val="150000"/>
              </a:lnSpc>
            </a:pPr>
            <a:r>
              <a:rPr lang="en-US" dirty="0"/>
              <a:t>Let’s see all key components in brief one by one </a:t>
            </a:r>
          </a:p>
        </p:txBody>
      </p:sp>
    </p:spTree>
    <p:extLst>
      <p:ext uri="{BB962C8B-B14F-4D97-AF65-F5344CB8AC3E}">
        <p14:creationId xmlns:p14="http://schemas.microsoft.com/office/powerpoint/2010/main" val="3992953694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2813" y="164387"/>
            <a:ext cx="11048999" cy="5747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1</a:t>
            </a:r>
            <a:r>
              <a:rPr lang="en-US" sz="23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. Cryptographic Hash Functions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>
                <a:latin typeface="+mn-lt"/>
              </a:rPr>
              <a:t> H</a:t>
            </a:r>
            <a:r>
              <a:rPr lang="en-US" sz="2200" b="1" dirty="0">
                <a:latin typeface="+mn-lt"/>
              </a:rPr>
              <a:t>ash function</a:t>
            </a:r>
            <a:r>
              <a:rPr lang="en-US" sz="2200" dirty="0">
                <a:latin typeface="+mn-lt"/>
              </a:rPr>
              <a:t> is a one-way algorithm that takes an input and produces a fixed-size output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>
                <a:latin typeface="+mn-lt"/>
              </a:rPr>
              <a:t>Even a small change in input results in a completely different hash, ensuring </a:t>
            </a:r>
            <a:r>
              <a:rPr lang="en-US" sz="2200" b="1" dirty="0">
                <a:latin typeface="+mn-lt"/>
              </a:rPr>
              <a:t>data integrity</a:t>
            </a:r>
            <a:r>
              <a:rPr lang="en-US" sz="2200" dirty="0">
                <a:latin typeface="+mn-lt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>
                <a:latin typeface="+mn-lt"/>
              </a:rPr>
              <a:t>Used for verifying transactions and linking blocks in a </a:t>
            </a:r>
            <a:r>
              <a:rPr lang="en-US" sz="2200" b="1" dirty="0">
                <a:latin typeface="+mn-lt"/>
              </a:rPr>
              <a:t>blockchain</a:t>
            </a:r>
            <a:r>
              <a:rPr lang="en-US" sz="2200" dirty="0">
                <a:latin typeface="+mn-lt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>
                <a:latin typeface="+mn-lt"/>
              </a:rPr>
              <a:t>Example: </a:t>
            </a:r>
            <a:r>
              <a:rPr lang="en-US" sz="2200" b="1" dirty="0">
                <a:latin typeface="+mn-lt"/>
              </a:rPr>
              <a:t>SHA-256</a:t>
            </a:r>
            <a:r>
              <a:rPr lang="en-US" sz="2200" dirty="0">
                <a:latin typeface="+mn-lt"/>
              </a:rPr>
              <a:t> (Secure Hash Algorithm 256-bit).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+mn-lt"/>
              </a:rPr>
              <a:t>  </a:t>
            </a:r>
            <a:r>
              <a:rPr lang="en-US" sz="23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2. SHA-256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300" dirty="0">
                <a:latin typeface="+mn-lt"/>
              </a:rPr>
              <a:t> W</a:t>
            </a:r>
            <a:r>
              <a:rPr lang="en-US" sz="2200" dirty="0">
                <a:latin typeface="+mn-lt"/>
              </a:rPr>
              <a:t>idely used cryptographic hash function, especially in </a:t>
            </a:r>
            <a:r>
              <a:rPr lang="en-US" sz="2200" b="1" dirty="0">
                <a:latin typeface="+mn-lt"/>
              </a:rPr>
              <a:t>Bitcoin and blockchain</a:t>
            </a:r>
            <a:r>
              <a:rPr lang="en-US" sz="2200" dirty="0">
                <a:latin typeface="+mn-lt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>
                <a:latin typeface="+mn-lt"/>
              </a:rPr>
              <a:t>Generates a </a:t>
            </a:r>
            <a:r>
              <a:rPr lang="en-US" sz="2200" b="1" dirty="0">
                <a:latin typeface="+mn-lt"/>
              </a:rPr>
              <a:t>256-bit (32-byte) hash</a:t>
            </a:r>
            <a:r>
              <a:rPr lang="en-US" sz="2200" dirty="0">
                <a:latin typeface="+mn-lt"/>
              </a:rPr>
              <a:t> from any input.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>
                <a:latin typeface="+mn-lt"/>
              </a:rPr>
              <a:t>Provides </a:t>
            </a:r>
            <a:r>
              <a:rPr lang="en-US" sz="2200" b="1" dirty="0">
                <a:latin typeface="+mn-lt"/>
              </a:rPr>
              <a:t>collision resistance</a:t>
            </a:r>
            <a:r>
              <a:rPr lang="en-US" sz="2200" dirty="0">
                <a:latin typeface="+mn-lt"/>
              </a:rPr>
              <a:t> (two different inputs don’t produce the same hash) and </a:t>
            </a:r>
            <a:r>
              <a:rPr lang="en-US" sz="2200" b="1" dirty="0">
                <a:latin typeface="+mn-lt"/>
              </a:rPr>
              <a:t>pre-image resistance</a:t>
            </a:r>
            <a:r>
              <a:rPr lang="en-US" sz="2200" dirty="0">
                <a:latin typeface="+mn-lt"/>
              </a:rPr>
              <a:t> (hashes can’t be reversed to find the original input).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>
                <a:latin typeface="+mn-lt"/>
              </a:rPr>
              <a:t>Used in </a:t>
            </a:r>
            <a:r>
              <a:rPr lang="en-US" sz="2200" b="1" dirty="0">
                <a:latin typeface="+mn-lt"/>
              </a:rPr>
              <a:t>proof-of-work (PoW)</a:t>
            </a:r>
            <a:r>
              <a:rPr lang="en-US" sz="2200" dirty="0">
                <a:latin typeface="+mn-lt"/>
              </a:rPr>
              <a:t> mining to secure transactions</a:t>
            </a:r>
          </a:p>
        </p:txBody>
      </p:sp>
    </p:spTree>
    <p:extLst>
      <p:ext uri="{BB962C8B-B14F-4D97-AF65-F5344CB8AC3E}">
        <p14:creationId xmlns:p14="http://schemas.microsoft.com/office/powerpoint/2010/main" val="3274570389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2813" y="164387"/>
            <a:ext cx="11048999" cy="57015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3. Hash Pointers and Data Structures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 H</a:t>
            </a:r>
            <a:r>
              <a:rPr lang="en-US" sz="2200" b="1" dirty="0">
                <a:latin typeface="+mn-lt"/>
              </a:rPr>
              <a:t>ash pointer</a:t>
            </a:r>
            <a:r>
              <a:rPr lang="en-US" sz="2200" dirty="0">
                <a:latin typeface="+mn-lt"/>
              </a:rPr>
              <a:t> is a pointer to the location of data, but instead of just pointing, it also stores the </a:t>
            </a:r>
            <a:r>
              <a:rPr lang="en-US" sz="2200" b="1" dirty="0">
                <a:latin typeface="+mn-lt"/>
              </a:rPr>
              <a:t>hash of that data</a:t>
            </a:r>
            <a:r>
              <a:rPr lang="en-US" sz="2200" dirty="0">
                <a:latin typeface="+mn-lt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>
                <a:latin typeface="+mn-lt"/>
              </a:rPr>
              <a:t>This ensures </a:t>
            </a:r>
            <a:r>
              <a:rPr lang="en-US" sz="2200" b="1" dirty="0">
                <a:latin typeface="+mn-lt"/>
              </a:rPr>
              <a:t>tamper-proof linking</a:t>
            </a:r>
            <a:r>
              <a:rPr lang="en-US" sz="2200" dirty="0">
                <a:latin typeface="+mn-lt"/>
              </a:rPr>
              <a:t> of data blocks, forming the basis of blockchain’s </a:t>
            </a:r>
            <a:r>
              <a:rPr lang="en-US" sz="2200" b="1" dirty="0">
                <a:latin typeface="+mn-lt"/>
              </a:rPr>
              <a:t>linked list structure</a:t>
            </a:r>
            <a:r>
              <a:rPr lang="en-US" sz="2200" dirty="0">
                <a:latin typeface="+mn-lt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2200" b="1" dirty="0">
                <a:solidFill>
                  <a:srgbClr val="FFFF00"/>
                </a:solidFill>
                <a:latin typeface="+mn-lt"/>
              </a:rPr>
              <a:t>Example: A blockchain consists of blocks, where each block contains: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b="1" dirty="0">
                <a:latin typeface="+mn-lt"/>
              </a:rPr>
              <a:t>Data (transactions)</a:t>
            </a:r>
            <a:endParaRPr lang="en-US" sz="2200" dirty="0">
              <a:latin typeface="+mn-lt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b="1" dirty="0">
                <a:latin typeface="+mn-lt"/>
              </a:rPr>
              <a:t>Hash pointer</a:t>
            </a:r>
            <a:r>
              <a:rPr lang="en-US" sz="2200" dirty="0">
                <a:latin typeface="+mn-lt"/>
              </a:rPr>
              <a:t> to the previous block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b="1" dirty="0">
                <a:latin typeface="+mn-lt"/>
              </a:rPr>
              <a:t>Timestamp and nonce</a:t>
            </a:r>
            <a:endParaRPr lang="en-US" sz="2200" dirty="0">
              <a:latin typeface="+mn-lt"/>
            </a:endParaRPr>
          </a:p>
          <a:p>
            <a:pPr lvl="0">
              <a:lnSpc>
                <a:spcPct val="150000"/>
              </a:lnSpc>
            </a:pPr>
            <a:r>
              <a:rPr lang="en-US" sz="2200" dirty="0">
                <a:latin typeface="+mn-lt"/>
              </a:rPr>
              <a:t>Any modification in a previous block would change its hash, making it evident that data was altered</a:t>
            </a:r>
            <a:r>
              <a:rPr lang="en-US" dirty="0"/>
              <a:t>.</a:t>
            </a:r>
            <a:r>
              <a:rPr lang="en-US" sz="2100" dirty="0">
                <a:latin typeface="+mn-lt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344487" y="5865948"/>
            <a:ext cx="117697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FF00"/>
                </a:solidFill>
                <a:latin typeface="+mn-lt"/>
              </a:rPr>
              <a:t>Hash is just a fixed-size output, while a hash pointer combines a pointer with a hash to link and secure data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6139662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2813" y="164387"/>
            <a:ext cx="11048999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4</a:t>
            </a:r>
            <a:r>
              <a:rPr lang="en-US" sz="23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. Digital Signatures</a:t>
            </a:r>
          </a:p>
          <a:p>
            <a:pPr marL="512763" lvl="0" indent="-280988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300" dirty="0">
                <a:latin typeface="+mn-lt"/>
              </a:rPr>
              <a:t> C</a:t>
            </a:r>
            <a:r>
              <a:rPr lang="en-US" sz="2100" dirty="0">
                <a:latin typeface="+mn-lt"/>
              </a:rPr>
              <a:t>ryptographic technique that provides </a:t>
            </a:r>
            <a:r>
              <a:rPr lang="en-US" sz="2100" b="1" dirty="0">
                <a:latin typeface="+mn-lt"/>
              </a:rPr>
              <a:t>authentication, data integrity, and non-repudiation</a:t>
            </a:r>
            <a:r>
              <a:rPr lang="en-US" sz="2100" dirty="0">
                <a:latin typeface="+mn-lt"/>
              </a:rPr>
              <a:t>.</a:t>
            </a:r>
          </a:p>
          <a:p>
            <a:pPr marL="512763" lvl="0" indent="-280988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Uses </a:t>
            </a:r>
            <a:r>
              <a:rPr lang="en-US" sz="2100" b="1" dirty="0">
                <a:latin typeface="+mn-lt"/>
              </a:rPr>
              <a:t>asymmetric cryptography</a:t>
            </a:r>
            <a:r>
              <a:rPr lang="en-US" sz="2100" dirty="0">
                <a:latin typeface="+mn-lt"/>
              </a:rPr>
              <a:t> (public and private key pairs).</a:t>
            </a:r>
          </a:p>
          <a:p>
            <a:pPr lvl="0">
              <a:lnSpc>
                <a:spcPct val="150000"/>
              </a:lnSpc>
            </a:pPr>
            <a:r>
              <a:rPr lang="en-US" sz="2300" b="1" dirty="0">
                <a:solidFill>
                  <a:srgbClr val="FFFF00"/>
                </a:solidFill>
                <a:latin typeface="+mn-lt"/>
              </a:rPr>
              <a:t>Process:</a:t>
            </a:r>
          </a:p>
          <a:p>
            <a:pPr lvl="1">
              <a:lnSpc>
                <a:spcPct val="150000"/>
              </a:lnSpc>
            </a:pPr>
            <a:r>
              <a:rPr lang="en-US" sz="2300" dirty="0">
                <a:latin typeface="+mn-lt"/>
              </a:rPr>
              <a:t>Sender signs the transaction using their </a:t>
            </a:r>
            <a:r>
              <a:rPr lang="en-US" sz="2300" b="1" dirty="0">
                <a:latin typeface="+mn-lt"/>
              </a:rPr>
              <a:t>private key</a:t>
            </a:r>
            <a:r>
              <a:rPr lang="en-US" sz="2300" dirty="0">
                <a:latin typeface="+mn-lt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300" dirty="0">
                <a:latin typeface="+mn-lt"/>
              </a:rPr>
              <a:t>Receiver verifies the signature using the sender’s </a:t>
            </a:r>
            <a:r>
              <a:rPr lang="en-US" sz="2300" b="1" dirty="0">
                <a:latin typeface="+mn-lt"/>
              </a:rPr>
              <a:t>public key</a:t>
            </a:r>
            <a:r>
              <a:rPr lang="en-US" sz="2300" dirty="0">
                <a:latin typeface="+mn-lt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2300" dirty="0">
                <a:latin typeface="+mn-lt"/>
              </a:rPr>
              <a:t>Ensures that transactions cannot be </a:t>
            </a:r>
            <a:r>
              <a:rPr lang="en-US" sz="2300" b="1" dirty="0">
                <a:latin typeface="+mn-lt"/>
              </a:rPr>
              <a:t>forged or tampered</a:t>
            </a:r>
            <a:r>
              <a:rPr lang="en-US" sz="2300" dirty="0">
                <a:latin typeface="+mn-lt"/>
              </a:rPr>
              <a:t> with.</a:t>
            </a:r>
          </a:p>
          <a:p>
            <a:pPr lvl="0">
              <a:lnSpc>
                <a:spcPct val="150000"/>
              </a:lnSpc>
            </a:pPr>
            <a:r>
              <a:rPr lang="en-US" sz="2300" dirty="0">
                <a:latin typeface="+mn-lt"/>
              </a:rPr>
              <a:t>Used in cryptocurrency transactions to prove ownership and legitimacy.</a:t>
            </a:r>
          </a:p>
        </p:txBody>
      </p:sp>
    </p:spTree>
    <p:extLst>
      <p:ext uri="{BB962C8B-B14F-4D97-AF65-F5344CB8AC3E}">
        <p14:creationId xmlns:p14="http://schemas.microsoft.com/office/powerpoint/2010/main" val="2070761132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2813" y="164387"/>
            <a:ext cx="11048999" cy="4201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5. Public Keys as Identities</a:t>
            </a:r>
          </a:p>
          <a:p>
            <a:pPr lvl="0">
              <a:lnSpc>
                <a:spcPct val="150000"/>
              </a:lnSpc>
            </a:pPr>
            <a:r>
              <a:rPr lang="en-US" sz="2300" dirty="0">
                <a:latin typeface="+mn-lt"/>
              </a:rPr>
              <a:t>   </a:t>
            </a:r>
            <a:r>
              <a:rPr lang="en-US" sz="2200" dirty="0">
                <a:latin typeface="+mn-lt"/>
              </a:rPr>
              <a:t>In decentralized systems, users are identified by their </a:t>
            </a:r>
            <a:r>
              <a:rPr lang="en-US" sz="2200" b="1" dirty="0">
                <a:latin typeface="+mn-lt"/>
              </a:rPr>
              <a:t>public key</a:t>
            </a:r>
            <a:r>
              <a:rPr lang="en-US" sz="2200" dirty="0">
                <a:latin typeface="+mn-lt"/>
              </a:rPr>
              <a:t>, rather than personal details.</a:t>
            </a:r>
          </a:p>
          <a:p>
            <a:pPr lvl="0">
              <a:lnSpc>
                <a:spcPct val="150000"/>
              </a:lnSpc>
            </a:pPr>
            <a:r>
              <a:rPr lang="en-US" sz="2200" dirty="0">
                <a:solidFill>
                  <a:srgbClr val="FFFF00"/>
                </a:solidFill>
                <a:latin typeface="+mn-lt"/>
              </a:rPr>
              <a:t>A user has a </a:t>
            </a:r>
            <a:r>
              <a:rPr lang="en-US" sz="2200" b="1" dirty="0">
                <a:solidFill>
                  <a:srgbClr val="FFFF00"/>
                </a:solidFill>
                <a:latin typeface="+mn-lt"/>
              </a:rPr>
              <a:t>public-private key pair</a:t>
            </a:r>
            <a:r>
              <a:rPr lang="en-US" sz="2200" dirty="0">
                <a:solidFill>
                  <a:srgbClr val="FFFF00"/>
                </a:solidFill>
                <a:latin typeface="+mn-lt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200" b="1" dirty="0">
                <a:latin typeface="+mn-lt"/>
              </a:rPr>
              <a:t>Public key</a:t>
            </a:r>
            <a:r>
              <a:rPr lang="en-US" sz="2200" dirty="0">
                <a:latin typeface="+mn-lt"/>
              </a:rPr>
              <a:t> (shared openly): Acts as an identity.</a:t>
            </a:r>
          </a:p>
          <a:p>
            <a:pPr lvl="1">
              <a:lnSpc>
                <a:spcPct val="150000"/>
              </a:lnSpc>
            </a:pPr>
            <a:r>
              <a:rPr lang="en-US" sz="2200" b="1" dirty="0">
                <a:latin typeface="+mn-lt"/>
              </a:rPr>
              <a:t>Private key</a:t>
            </a:r>
            <a:r>
              <a:rPr lang="en-US" sz="2200" dirty="0">
                <a:latin typeface="+mn-lt"/>
              </a:rPr>
              <a:t> (kept secret): Used to sign transactions.</a:t>
            </a:r>
          </a:p>
          <a:p>
            <a:pPr lvl="0">
              <a:lnSpc>
                <a:spcPct val="150000"/>
              </a:lnSpc>
            </a:pPr>
            <a:r>
              <a:rPr lang="en-US" sz="2200" b="1" dirty="0">
                <a:solidFill>
                  <a:srgbClr val="FFFF00"/>
                </a:solidFill>
                <a:latin typeface="+mn-lt"/>
              </a:rPr>
              <a:t>Example in cryptocurrencies</a:t>
            </a:r>
            <a:r>
              <a:rPr lang="en-US" sz="2200" dirty="0">
                <a:latin typeface="+mn-lt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+mn-lt"/>
              </a:rPr>
              <a:t>A Bitcoin wallet address is derived from the </a:t>
            </a:r>
            <a:r>
              <a:rPr lang="en-US" sz="2200" b="1" dirty="0">
                <a:latin typeface="+mn-lt"/>
              </a:rPr>
              <a:t>public key</a:t>
            </a:r>
            <a:r>
              <a:rPr lang="en-US" sz="2200" dirty="0">
                <a:latin typeface="+mn-lt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+mn-lt"/>
              </a:rPr>
              <a:t>Only the person with the </a:t>
            </a:r>
            <a:r>
              <a:rPr lang="en-US" sz="2200" b="1" dirty="0">
                <a:latin typeface="+mn-lt"/>
              </a:rPr>
              <a:t>private key</a:t>
            </a:r>
            <a:r>
              <a:rPr lang="en-US" sz="2200" dirty="0">
                <a:latin typeface="+mn-lt"/>
              </a:rPr>
              <a:t> can spend the associated funds</a:t>
            </a:r>
            <a:r>
              <a:rPr lang="en-US" sz="2200" dirty="0"/>
              <a:t>.</a:t>
            </a:r>
            <a:endParaRPr lang="en-US" sz="23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54115661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12" y="381000"/>
            <a:ext cx="10360025" cy="381000"/>
          </a:xfrm>
        </p:spPr>
        <p:txBody>
          <a:bodyPr/>
          <a:lstStyle/>
          <a:p>
            <a:pPr algn="ctr"/>
            <a:r>
              <a:rPr lang="en-IN" sz="2800" b="1" dirty="0">
                <a:solidFill>
                  <a:srgbClr val="FFFF00"/>
                </a:solidFill>
                <a:latin typeface="+mn-lt"/>
              </a:rPr>
              <a:t>Old Traditional Financial Arrangements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412" y="1219200"/>
            <a:ext cx="10972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Let’s say Alice wants a tool and Bob wants medicine</a:t>
            </a:r>
            <a:endParaRPr lang="en-IN" dirty="0"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3306" y="1797406"/>
            <a:ext cx="11198506" cy="2071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+mn-lt"/>
              </a:rPr>
              <a:t>let’s say Alice has food that she’s willing to trade for a tool, while Bob, who has a tool, doesn’t have any need for food. He wants medicine instead. Alice and Bob can’t trade with each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+mn-lt"/>
              </a:rPr>
              <a:t>other, but if there’s a third person, Carol, who has medicine that she’s willing to trade for food, then it becomes possible to arrange a three-way swap where everyone gets what they need</a:t>
            </a:r>
            <a:endParaRPr lang="en-IN" sz="2200" dirty="0"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5253" y="4572000"/>
            <a:ext cx="11403118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Drawback, of course, is coordination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+mn-lt"/>
              </a:rPr>
              <a:t>Arranging a group of people, whose needs and wants align, in the same place at the same time</a:t>
            </a:r>
          </a:p>
          <a:p>
            <a:pPr algn="ctr">
              <a:lnSpc>
                <a:spcPct val="150000"/>
              </a:lnSpc>
            </a:pPr>
            <a:r>
              <a:rPr lang="en-US" sz="2200" b="1" dirty="0">
                <a:solidFill>
                  <a:srgbClr val="FFFF00"/>
                </a:solidFill>
                <a:latin typeface="+mn-lt"/>
              </a:rPr>
              <a:t>So What is the solution ?</a:t>
            </a:r>
          </a:p>
          <a:p>
            <a:pPr algn="ctr">
              <a:lnSpc>
                <a:spcPct val="150000"/>
              </a:lnSpc>
            </a:pPr>
            <a:r>
              <a:rPr lang="en-IN" sz="2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Credit and Cash</a:t>
            </a:r>
          </a:p>
        </p:txBody>
      </p:sp>
    </p:spTree>
    <p:extLst>
      <p:ext uri="{BB962C8B-B14F-4D97-AF65-F5344CB8AC3E}">
        <p14:creationId xmlns:p14="http://schemas.microsoft.com/office/powerpoint/2010/main" val="1389511933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04800"/>
            <a:ext cx="10360025" cy="457200"/>
          </a:xfrm>
        </p:spPr>
        <p:txBody>
          <a:bodyPr/>
          <a:lstStyle/>
          <a:p>
            <a:pPr algn="ctr"/>
            <a:r>
              <a:rPr lang="en-IN" sz="3200" b="1" dirty="0">
                <a:solidFill>
                  <a:srgbClr val="FFFF00"/>
                </a:solidFill>
                <a:latin typeface="+mn-lt"/>
              </a:rPr>
              <a:t>Introduction to Cryptography &amp; Cryptocurrencies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2812" y="797511"/>
            <a:ext cx="10896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+mn-lt"/>
              </a:rPr>
              <a:t>All currencies (Fiat or digital) : Control and security essential to prevent cheating. 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+mn-lt"/>
              </a:rPr>
              <a:t>In fiat currencies, organizations like central banks control the money supply and add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+mn-lt"/>
              </a:rPr>
              <a:t>anti‐counterfeiting features to physical currency. 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+mn-lt"/>
              </a:rPr>
              <a:t>These security features raise bar for attacker, but don’t make money impossible to counterfeit. Ultimately, law enforcement is necessary for stopping people from breaking rules of system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+mn-lt"/>
              </a:rPr>
              <a:t>But unlike fiat currencies, security rules of cryptocurrencies need to be enforced purely </a:t>
            </a:r>
            <a:r>
              <a:rPr lang="en-US" sz="2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technologically</a:t>
            </a:r>
            <a:r>
              <a:rPr lang="en-US" sz="2200" dirty="0">
                <a:latin typeface="+mn-lt"/>
              </a:rPr>
              <a:t> and without relying on a central authority.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Cryptocurrencies make heavy use of cryptography which helps to secure </a:t>
            </a:r>
            <a:r>
              <a:rPr lang="en-US" sz="2200" dirty="0">
                <a:latin typeface="+mn-lt"/>
              </a:rPr>
              <a:t> </a:t>
            </a:r>
            <a:r>
              <a:rPr lang="en-US" sz="2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this currency.</a:t>
            </a:r>
            <a:endParaRPr lang="en-IN" sz="2200" b="1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9053" y="5334000"/>
            <a:ext cx="108847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+mn-lt"/>
              </a:rPr>
              <a:t>In this unit we will explore two important primitives cryptographic hashes and digital signatures  those help to build cryptocurrencies</a:t>
            </a:r>
            <a:endParaRPr lang="en-IN" b="1" dirty="0">
              <a:solidFill>
                <a:srgbClr val="FFFF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8571028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2" y="228600"/>
            <a:ext cx="10360025" cy="457200"/>
          </a:xfrm>
        </p:spPr>
        <p:txBody>
          <a:bodyPr/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Cryptographic Hash Functions</a:t>
            </a:r>
            <a:endParaRPr lang="en-IN" sz="3200" b="1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6612" y="838200"/>
            <a:ext cx="112014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First cryptographic primitive ---Cryptographic Hash Function</a:t>
            </a:r>
            <a:endParaRPr lang="en-IN" sz="2200" b="1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6612" y="1308080"/>
            <a:ext cx="11201400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00"/>
                </a:solidFill>
                <a:latin typeface="+mn-lt"/>
              </a:rPr>
              <a:t>Cryptographic Hash Function  </a:t>
            </a:r>
            <a:r>
              <a:rPr lang="en-US" sz="2300" dirty="0">
                <a:latin typeface="+mn-lt"/>
              </a:rPr>
              <a:t>--   characterized by three key attributes:</a:t>
            </a:r>
          </a:p>
          <a:p>
            <a:pPr>
              <a:lnSpc>
                <a:spcPct val="150000"/>
              </a:lnSpc>
            </a:pPr>
            <a:r>
              <a:rPr lang="en-US" sz="23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Flexibility in input</a:t>
            </a:r>
            <a:r>
              <a:rPr lang="en-US" sz="2300" dirty="0">
                <a:latin typeface="+mn-lt"/>
              </a:rPr>
              <a:t>: They can accept strings of any length.</a:t>
            </a:r>
          </a:p>
          <a:p>
            <a:pPr>
              <a:lnSpc>
                <a:spcPct val="150000"/>
              </a:lnSpc>
            </a:pPr>
            <a:r>
              <a:rPr lang="en-US" sz="23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Consistency in output</a:t>
            </a:r>
            <a:r>
              <a:rPr lang="en-US" sz="2300" dirty="0">
                <a:latin typeface="+mn-lt"/>
              </a:rPr>
              <a:t>: They consistently yield outputs of a fixed size.</a:t>
            </a:r>
          </a:p>
          <a:p>
            <a:pPr>
              <a:lnSpc>
                <a:spcPct val="150000"/>
              </a:lnSpc>
            </a:pPr>
            <a:r>
              <a:rPr lang="en-US" sz="23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Efficiency in computation</a:t>
            </a:r>
            <a:r>
              <a:rPr lang="en-US" sz="2300" dirty="0">
                <a:latin typeface="+mn-lt"/>
              </a:rPr>
              <a:t>: Can be efficiently calculated, implying that determining  output within a reasonable timeframe. 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+mn-lt"/>
              </a:rPr>
              <a:t>However, to ensure cryptographic robustness, hash functions must possess three additional </a:t>
            </a:r>
            <a:r>
              <a:rPr lang="en-US" sz="2300" b="1" dirty="0">
                <a:solidFill>
                  <a:srgbClr val="FFFF00"/>
                </a:solidFill>
                <a:latin typeface="+mn-lt"/>
              </a:rPr>
              <a:t>properties:(1) collision‐resistance, (2) hiding, (3) puzzle‐friendliness</a:t>
            </a:r>
          </a:p>
          <a:p>
            <a:pPr>
              <a:lnSpc>
                <a:spcPct val="150000"/>
              </a:lnSpc>
            </a:pPr>
            <a:endParaRPr lang="en-IN" sz="21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89182709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2" y="0"/>
            <a:ext cx="10360025" cy="457200"/>
          </a:xfrm>
        </p:spPr>
        <p:txBody>
          <a:bodyPr/>
          <a:lstStyle/>
          <a:p>
            <a:r>
              <a:rPr lang="en-IN" sz="2800" b="1" dirty="0">
                <a:solidFill>
                  <a:srgbClr val="FFFF00"/>
                </a:solidFill>
              </a:rPr>
              <a:t>Cryptographic Hash Functions</a:t>
            </a:r>
            <a:r>
              <a:rPr lang="en-IN" sz="2400" dirty="0">
                <a:solidFill>
                  <a:srgbClr val="FFFF00"/>
                </a:solidFill>
              </a:rPr>
              <a:t>: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Collision-Resistance Property</a:t>
            </a:r>
            <a:endParaRPr lang="en-IN" sz="3200" b="1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12" y="4762500"/>
            <a:ext cx="3219450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9748" y="6181156"/>
            <a:ext cx="106466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</a:rPr>
              <a:t>Hash collision: x ​ and ​ y​ are distinct values, yet when input into hash function ​ produce same output</a:t>
            </a:r>
            <a:r>
              <a:rPr lang="en-US" sz="1700" dirty="0">
                <a:latin typeface="+mn-lt"/>
              </a:rPr>
              <a:t>.</a:t>
            </a:r>
            <a:endParaRPr lang="en-IN" sz="1700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5880" y="381000"/>
            <a:ext cx="11212132" cy="4201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FFFF00"/>
                </a:solidFill>
                <a:latin typeface="+mn-lt"/>
              </a:rPr>
              <a:t>Collision-Resistance: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>
                <a:latin typeface="+mn-lt"/>
              </a:rPr>
              <a:t>Hash function prevents finding two inputs with the same output.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>
                <a:latin typeface="+mn-lt"/>
              </a:rPr>
              <a:t>Collisions exist but are hard to find.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>
                <a:latin typeface="+mn-lt"/>
              </a:rPr>
              <a:t>No hash is proven collision-resistant; we trust those unbroken so far.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FFFF00"/>
                </a:solidFill>
                <a:latin typeface="+mn-lt"/>
              </a:rPr>
              <a:t>Application: Message Digests</a:t>
            </a:r>
            <a:r>
              <a:rPr lang="en-US" sz="2200" dirty="0">
                <a:solidFill>
                  <a:srgbClr val="FFFF00"/>
                </a:solidFill>
                <a:latin typeface="+mn-lt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>
                <a:latin typeface="+mn-lt"/>
              </a:rPr>
              <a:t>Hashes verify data integrity (e.g., file upload/download).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>
                <a:latin typeface="+mn-lt"/>
              </a:rPr>
              <a:t>Compare hash of original and downloaded file to detect tampering.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>
                <a:latin typeface="+mn-lt"/>
              </a:rPr>
              <a:t>Fixed-length hash saves storage and ensures security.</a:t>
            </a:r>
          </a:p>
        </p:txBody>
      </p:sp>
    </p:spTree>
    <p:extLst>
      <p:ext uri="{BB962C8B-B14F-4D97-AF65-F5344CB8AC3E}">
        <p14:creationId xmlns:p14="http://schemas.microsoft.com/office/powerpoint/2010/main" val="273235856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52400"/>
            <a:ext cx="10360025" cy="487362"/>
          </a:xfrm>
        </p:spPr>
        <p:txBody>
          <a:bodyPr/>
          <a:lstStyle/>
          <a:p>
            <a:pPr algn="ctr"/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Cryptographic Hash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4712" y="685800"/>
            <a:ext cx="11201400" cy="3352800"/>
          </a:xfrm>
        </p:spPr>
        <p:txBody>
          <a:bodyPr/>
          <a:lstStyle/>
          <a:p>
            <a:pPr marL="0" indent="0">
              <a:buNone/>
            </a:pPr>
            <a:r>
              <a:rPr lang="en-IN" sz="2200" dirty="0"/>
              <a:t>Hash function is a integral  and very important part of blockchain data structure ,</a:t>
            </a:r>
          </a:p>
          <a:p>
            <a:pPr marL="0" indent="0">
              <a:buNone/>
            </a:pPr>
            <a:r>
              <a:rPr lang="en-IN" sz="2200" b="1" dirty="0">
                <a:solidFill>
                  <a:srgbClr val="FFFF00"/>
                </a:solidFill>
              </a:rPr>
              <a:t>It connects various blocks in blockchain.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FFFF00"/>
                </a:solidFill>
              </a:rPr>
              <a:t>One-way function : Converts input data of arbitrary length and produces a </a:t>
            </a:r>
            <a:r>
              <a:rPr lang="en-IN" sz="2200" b="1" dirty="0">
                <a:solidFill>
                  <a:srgbClr val="FFFF00"/>
                </a:solidFill>
              </a:rPr>
              <a:t>fixed-length output</a:t>
            </a:r>
            <a:r>
              <a:rPr lang="en-IN" sz="2400" dirty="0"/>
              <a:t>.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output is usually termed “hash value” or </a:t>
            </a: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“message digest.”</a:t>
            </a:r>
            <a:endParaRPr lang="en-IN" sz="2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IN" sz="2200" dirty="0"/>
              <a:t>Widely used in many </a:t>
            </a:r>
            <a:r>
              <a:rPr lang="en-US" sz="2200" dirty="0"/>
              <a:t>cryptographic protocols, information security applications such as </a:t>
            </a:r>
            <a:r>
              <a:rPr lang="en-IN" sz="2200" dirty="0"/>
              <a:t>Digital Signatures and message authentication codes (MACs)</a:t>
            </a:r>
          </a:p>
          <a:p>
            <a:pPr marL="0" indent="0">
              <a:buNone/>
            </a:pPr>
            <a:r>
              <a:rPr lang="en-IN" sz="2200" dirty="0"/>
              <a:t>Its main purpose is to check integrity of data send by sender to receiver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12" y="4191000"/>
            <a:ext cx="10972800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455979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12" y="1447800"/>
            <a:ext cx="109728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344301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0327" y="30480"/>
            <a:ext cx="10360025" cy="563562"/>
          </a:xfrm>
        </p:spPr>
        <p:txBody>
          <a:bodyPr/>
          <a:lstStyle/>
          <a:p>
            <a:pPr algn="ctr"/>
            <a:r>
              <a:rPr lang="en-IN" sz="2800" b="1" dirty="0">
                <a:solidFill>
                  <a:srgbClr val="FFFF00"/>
                </a:solidFill>
              </a:rPr>
              <a:t>Core properties of cryptographic hash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12" y="685801"/>
            <a:ext cx="11125200" cy="3048000"/>
          </a:xfrm>
        </p:spPr>
        <p:txBody>
          <a:bodyPr/>
          <a:lstStyle/>
          <a:p>
            <a:r>
              <a:rPr lang="en-US" sz="2400" dirty="0"/>
              <a:t>Input: Any size; output: Fixed length (e.g., 256/512 bits).</a:t>
            </a:r>
          </a:p>
          <a:p>
            <a:r>
              <a:rPr lang="en-US" sz="2400" dirty="0"/>
              <a:t>Hash is fast to compute for any input.</a:t>
            </a:r>
          </a:p>
          <a:p>
            <a:r>
              <a:rPr lang="en-US" sz="2400" dirty="0"/>
              <a:t>Deterministic: Same input = same hash every time.</a:t>
            </a:r>
          </a:p>
          <a:p>
            <a:r>
              <a:rPr lang="en-US" sz="2400" dirty="0"/>
              <a:t>Hard to reverse: Can’t generate input from hash (except brute force).</a:t>
            </a:r>
          </a:p>
          <a:p>
            <a:r>
              <a:rPr lang="en-US" sz="2400" b="1" dirty="0">
                <a:solidFill>
                  <a:srgbClr val="FFFF00"/>
                </a:solidFill>
              </a:rPr>
              <a:t>Avalanche effect</a:t>
            </a:r>
            <a:r>
              <a:rPr lang="en-US" sz="2400" dirty="0"/>
              <a:t>: Small input change = big output change.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IN" sz="2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00" y="4038600"/>
            <a:ext cx="10480612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727380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2" y="0"/>
            <a:ext cx="10360025" cy="457200"/>
          </a:xfrm>
        </p:spPr>
        <p:txBody>
          <a:bodyPr/>
          <a:lstStyle/>
          <a:p>
            <a:r>
              <a:rPr lang="en-IN" sz="2800" b="1" dirty="0">
                <a:solidFill>
                  <a:srgbClr val="FFFF00"/>
                </a:solidFill>
              </a:rPr>
              <a:t>Cryptographic Hash Functions</a:t>
            </a:r>
            <a:endParaRPr lang="en-IN" sz="3200" b="1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5880" y="533400"/>
            <a:ext cx="11212132" cy="3531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Property 2: Hiding</a:t>
            </a:r>
            <a:endParaRPr lang="en-US" sz="2300" b="1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Definition</a:t>
            </a:r>
            <a:r>
              <a:rPr lang="en-US" sz="2100" dirty="0">
                <a:latin typeface="+mn-lt"/>
              </a:rPr>
              <a:t>: A hash function is hiding if, given output y = H(x), it’s infeasible to determine x.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Limitation</a:t>
            </a:r>
            <a:r>
              <a:rPr lang="en-US" sz="2100" dirty="0">
                <a:latin typeface="+mn-lt"/>
              </a:rPr>
              <a:t>: If x has only a few possible values (e.g., "heads" or "tails"), an attacker can compute hashes of all possibilities and find x.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Solution</a:t>
            </a:r>
            <a:r>
              <a:rPr lang="en-US" sz="2100" dirty="0">
                <a:solidFill>
                  <a:srgbClr val="FFFF00"/>
                </a:solidFill>
                <a:latin typeface="+mn-lt"/>
              </a:rPr>
              <a:t>:</a:t>
            </a:r>
            <a:r>
              <a:rPr lang="en-US" sz="2100" dirty="0">
                <a:latin typeface="+mn-lt"/>
              </a:rPr>
              <a:t> x should be chosen from a large, unpredictable set.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Min-Entropy</a:t>
            </a:r>
            <a:r>
              <a:rPr lang="en-US" sz="2100" dirty="0">
                <a:latin typeface="+mn-lt"/>
              </a:rPr>
              <a:t>: A measure of unpredictability. A high min-entropy means no particular value is likely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Example</a:t>
            </a:r>
            <a:r>
              <a:rPr lang="en-US" sz="2100" dirty="0">
                <a:latin typeface="+mn-lt"/>
              </a:rPr>
              <a:t>: A 256-bit random value has an extremely low probability (1/2^256) of being guessed</a:t>
            </a:r>
          </a:p>
        </p:txBody>
      </p:sp>
    </p:spTree>
    <p:extLst>
      <p:ext uri="{BB962C8B-B14F-4D97-AF65-F5344CB8AC3E}">
        <p14:creationId xmlns:p14="http://schemas.microsoft.com/office/powerpoint/2010/main" val="200722855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2" y="0"/>
            <a:ext cx="10360025" cy="457200"/>
          </a:xfrm>
        </p:spPr>
        <p:txBody>
          <a:bodyPr/>
          <a:lstStyle/>
          <a:p>
            <a:r>
              <a:rPr lang="en-IN" sz="2800" b="1" dirty="0">
                <a:solidFill>
                  <a:srgbClr val="FFFF00"/>
                </a:solidFill>
              </a:rPr>
              <a:t>Cryptographic Hash Functions</a:t>
            </a:r>
            <a:endParaRPr lang="en-IN" sz="3200" b="1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5880" y="256192"/>
            <a:ext cx="11212132" cy="623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Application  of Hiding </a:t>
            </a:r>
            <a:r>
              <a:rPr lang="en-US" sz="2300" b="1" dirty="0">
                <a:solidFill>
                  <a:srgbClr val="FFFF00"/>
                </a:solidFill>
                <a:latin typeface="+mn-lt"/>
              </a:rPr>
              <a:t>---  </a:t>
            </a:r>
            <a:r>
              <a:rPr lang="en-US" sz="2200" b="1" dirty="0">
                <a:latin typeface="+mn-lt"/>
              </a:rPr>
              <a:t>Commitment</a:t>
            </a:r>
            <a:r>
              <a:rPr lang="en-US" sz="2000" dirty="0"/>
              <a:t>: A Digital Lockbox</a:t>
            </a:r>
            <a:r>
              <a:rPr lang="en-US" sz="2300" b="1" dirty="0">
                <a:solidFill>
                  <a:srgbClr val="FFFF00"/>
                </a:solidFill>
                <a:latin typeface="+mn-lt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802956" y="879440"/>
            <a:ext cx="11201528" cy="5978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Commitment  </a:t>
            </a:r>
            <a:r>
              <a:rPr lang="en-US" sz="2100" dirty="0">
                <a:latin typeface="+mn-lt"/>
              </a:rPr>
              <a:t>-- Way to lock in a value </a:t>
            </a:r>
            <a:r>
              <a:rPr lang="en-US" sz="2100" b="1" dirty="0">
                <a:latin typeface="+mn-lt"/>
              </a:rPr>
              <a:t>without revealing it</a:t>
            </a:r>
            <a:r>
              <a:rPr lang="en-US" sz="2100" dirty="0">
                <a:latin typeface="+mn-lt"/>
              </a:rPr>
              <a:t> immediately. Later, you can reveal it to prove what you committed to earlier.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Real-Life Example: Sealed Envelope Bet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+mn-lt"/>
              </a:rPr>
              <a:t>Imagine you and a friend, Alex, make a bet on a football match. You want to predict the winner </a:t>
            </a:r>
            <a:r>
              <a:rPr lang="en-US" sz="2100" b="1" dirty="0">
                <a:latin typeface="+mn-lt"/>
              </a:rPr>
              <a:t>before</a:t>
            </a:r>
            <a:r>
              <a:rPr lang="en-US" sz="2100" dirty="0">
                <a:latin typeface="+mn-lt"/>
              </a:rPr>
              <a:t> the game starts, but you don’t want Alex to know your prediction yet.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latin typeface="+mn-lt"/>
              </a:rPr>
              <a:t>Commitment Phase (Sealing the Envelope)</a:t>
            </a:r>
            <a:endParaRPr lang="en-US" sz="2100" dirty="0">
              <a:latin typeface="+mn-lt"/>
            </a:endParaRPr>
          </a:p>
          <a:p>
            <a:pPr lvl="1">
              <a:lnSpc>
                <a:spcPct val="150000"/>
              </a:lnSpc>
            </a:pPr>
            <a:r>
              <a:rPr lang="en-US" sz="2100" dirty="0">
                <a:latin typeface="+mn-lt"/>
              </a:rPr>
              <a:t>You </a:t>
            </a:r>
            <a:r>
              <a:rPr lang="en-US" sz="2100" b="1" dirty="0">
                <a:latin typeface="+mn-lt"/>
              </a:rPr>
              <a:t>write your prediction</a:t>
            </a:r>
            <a:r>
              <a:rPr lang="en-US" sz="2100" dirty="0">
                <a:latin typeface="+mn-lt"/>
              </a:rPr>
              <a:t> (e.g., "Team A will win") on a piece of paper.</a:t>
            </a:r>
          </a:p>
          <a:p>
            <a:pPr lvl="1">
              <a:lnSpc>
                <a:spcPct val="150000"/>
              </a:lnSpc>
            </a:pPr>
            <a:r>
              <a:rPr lang="en-US" sz="2100" dirty="0">
                <a:latin typeface="+mn-lt"/>
              </a:rPr>
              <a:t>You </a:t>
            </a:r>
            <a:r>
              <a:rPr lang="en-US" sz="2100" b="1" dirty="0">
                <a:latin typeface="+mn-lt"/>
              </a:rPr>
              <a:t>seal it in an envelope</a:t>
            </a:r>
            <a:r>
              <a:rPr lang="en-US" sz="2100" dirty="0">
                <a:latin typeface="+mn-lt"/>
              </a:rPr>
              <a:t> and place it on the table where Alex can see it.</a:t>
            </a:r>
          </a:p>
          <a:p>
            <a:pPr lvl="1">
              <a:lnSpc>
                <a:spcPct val="150000"/>
              </a:lnSpc>
            </a:pPr>
            <a:r>
              <a:rPr lang="en-US" sz="2100" dirty="0">
                <a:latin typeface="+mn-lt"/>
              </a:rPr>
              <a:t>Alex knows you made a prediction, but he </a:t>
            </a:r>
            <a:r>
              <a:rPr lang="en-US" sz="2100" b="1" dirty="0">
                <a:latin typeface="+mn-lt"/>
              </a:rPr>
              <a:t>doesn’t know what it is</a:t>
            </a:r>
            <a:r>
              <a:rPr lang="en-US" sz="2100" dirty="0">
                <a:latin typeface="+mn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latin typeface="+mn-lt"/>
              </a:rPr>
              <a:t>Reveal Phase (Opening the Envelope)</a:t>
            </a:r>
            <a:endParaRPr lang="en-US" sz="2100" dirty="0">
              <a:latin typeface="+mn-lt"/>
            </a:endParaRPr>
          </a:p>
          <a:p>
            <a:pPr lvl="1">
              <a:lnSpc>
                <a:spcPct val="150000"/>
              </a:lnSpc>
            </a:pPr>
            <a:r>
              <a:rPr lang="en-US" sz="2100" dirty="0">
                <a:latin typeface="+mn-lt"/>
              </a:rPr>
              <a:t>After the game, you </a:t>
            </a:r>
            <a:r>
              <a:rPr lang="en-US" sz="2100" b="1" dirty="0">
                <a:latin typeface="+mn-lt"/>
              </a:rPr>
              <a:t>open the envelope</a:t>
            </a:r>
            <a:r>
              <a:rPr lang="en-US" sz="2100" dirty="0">
                <a:latin typeface="+mn-lt"/>
              </a:rPr>
              <a:t> to reveal your prediction.</a:t>
            </a:r>
          </a:p>
          <a:p>
            <a:pPr lvl="1">
              <a:lnSpc>
                <a:spcPct val="150000"/>
              </a:lnSpc>
            </a:pPr>
            <a:r>
              <a:rPr lang="en-US" sz="2100" dirty="0">
                <a:latin typeface="+mn-lt"/>
              </a:rPr>
              <a:t>Alex can see that you </a:t>
            </a:r>
            <a:r>
              <a:rPr lang="en-US" sz="2100" b="1" dirty="0">
                <a:latin typeface="+mn-lt"/>
              </a:rPr>
              <a:t>didn’t change your prediction</a:t>
            </a:r>
            <a:r>
              <a:rPr lang="en-US" sz="2100" dirty="0">
                <a:latin typeface="+mn-lt"/>
              </a:rPr>
              <a:t> after the game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4856934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2" y="0"/>
            <a:ext cx="10360025" cy="457200"/>
          </a:xfrm>
        </p:spPr>
        <p:txBody>
          <a:bodyPr/>
          <a:lstStyle/>
          <a:p>
            <a:r>
              <a:rPr lang="en-IN" sz="2800" b="1" dirty="0">
                <a:solidFill>
                  <a:srgbClr val="FFFF00"/>
                </a:solidFill>
              </a:rPr>
              <a:t>Cryptographic Hash Functions</a:t>
            </a:r>
            <a:endParaRPr lang="en-IN" sz="3200" b="1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5880" y="256192"/>
            <a:ext cx="11212132" cy="1099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Application  of Hiding </a:t>
            </a:r>
            <a:r>
              <a:rPr lang="en-US" sz="2300" b="1" dirty="0">
                <a:solidFill>
                  <a:srgbClr val="FFFF00"/>
                </a:solidFill>
                <a:latin typeface="+mn-lt"/>
              </a:rPr>
              <a:t>---  </a:t>
            </a:r>
            <a:r>
              <a:rPr lang="en-US" sz="2200" b="1" dirty="0"/>
              <a:t>Commitment in Cryptography</a:t>
            </a:r>
          </a:p>
          <a:p>
            <a:pPr>
              <a:lnSpc>
                <a:spcPct val="150000"/>
              </a:lnSpc>
            </a:pPr>
            <a:endParaRPr lang="en-US" sz="2300" b="1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57820" y="1066800"/>
            <a:ext cx="1118019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+mn-lt"/>
              </a:rPr>
              <a:t>Instead of using a physical envelope, we use a </a:t>
            </a:r>
            <a:r>
              <a:rPr lang="en-US" sz="2200" b="1" dirty="0">
                <a:latin typeface="+mn-lt"/>
              </a:rPr>
              <a:t>cryptographic hash function</a:t>
            </a:r>
            <a:r>
              <a:rPr lang="en-US" sz="2200" dirty="0">
                <a:latin typeface="+mn-lt"/>
              </a:rPr>
              <a:t> to commit to a value digitally.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+mn-lt"/>
              </a:rPr>
              <a:t>Commitment (Locking the Value)</a:t>
            </a:r>
            <a:endParaRPr lang="en-US" sz="2200" dirty="0">
              <a:latin typeface="+mn-lt"/>
            </a:endParaRP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+mn-lt"/>
              </a:rPr>
              <a:t>Choose a </a:t>
            </a:r>
            <a:r>
              <a:rPr lang="en-US" sz="2200" b="1" dirty="0">
                <a:latin typeface="+mn-lt"/>
              </a:rPr>
              <a:t>secret message</a:t>
            </a:r>
            <a:r>
              <a:rPr lang="en-US" sz="2200" dirty="0">
                <a:latin typeface="+mn-lt"/>
              </a:rPr>
              <a:t> (e.g., "Team A wins").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+mn-lt"/>
              </a:rPr>
              <a:t>Generate a </a:t>
            </a:r>
            <a:r>
              <a:rPr lang="en-US" sz="2200" b="1" dirty="0">
                <a:latin typeface="+mn-lt"/>
              </a:rPr>
              <a:t>random number (nonce)</a:t>
            </a:r>
            <a:r>
              <a:rPr lang="en-US" sz="2200" dirty="0">
                <a:latin typeface="+mn-lt"/>
              </a:rPr>
              <a:t> for extra security.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+mn-lt"/>
              </a:rPr>
              <a:t>Create a </a:t>
            </a:r>
            <a:r>
              <a:rPr lang="en-US" sz="2200" b="1" dirty="0">
                <a:latin typeface="+mn-lt"/>
              </a:rPr>
              <a:t>hash</a:t>
            </a:r>
            <a:r>
              <a:rPr lang="en-US" sz="2200" dirty="0">
                <a:latin typeface="+mn-lt"/>
              </a:rPr>
              <a:t> of (nonce + message) and share the hash publicly.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+mn-lt"/>
              </a:rPr>
              <a:t>Reveal (Unlocking the Value)</a:t>
            </a:r>
            <a:endParaRPr lang="en-US" sz="2200" dirty="0">
              <a:latin typeface="+mn-lt"/>
            </a:endParaRP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+mn-lt"/>
              </a:rPr>
              <a:t>Later, you share the </a:t>
            </a:r>
            <a:r>
              <a:rPr lang="en-US" sz="2200" b="1" dirty="0">
                <a:latin typeface="+mn-lt"/>
              </a:rPr>
              <a:t>nonce and the original message</a:t>
            </a:r>
            <a:r>
              <a:rPr lang="en-US" sz="2200" dirty="0">
                <a:latin typeface="+mn-lt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+mn-lt"/>
              </a:rPr>
              <a:t>Anyone can </a:t>
            </a:r>
            <a:r>
              <a:rPr lang="en-US" sz="2200" b="1" dirty="0">
                <a:latin typeface="+mn-lt"/>
              </a:rPr>
              <a:t>recompute the hash</a:t>
            </a:r>
            <a:r>
              <a:rPr lang="en-US" sz="2200" dirty="0">
                <a:latin typeface="+mn-lt"/>
              </a:rPr>
              <a:t> and check that it matches the commitment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0394516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5880" y="533400"/>
            <a:ext cx="11212132" cy="557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300" b="1" dirty="0">
              <a:solidFill>
                <a:srgbClr val="FFFF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8676" y="558214"/>
            <a:ext cx="1121213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Puzzle-friendliness</a:t>
            </a:r>
            <a:r>
              <a:rPr lang="en-US" sz="2200" dirty="0">
                <a:latin typeface="+mn-lt"/>
              </a:rPr>
              <a:t> : Means that a hash function makes it very hard to find an input that produces a specific output unless you try many random guesses.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00"/>
                </a:solidFill>
                <a:latin typeface="+mn-lt"/>
              </a:rPr>
              <a:t>Key Idea</a:t>
            </a:r>
            <a:r>
              <a:rPr lang="en-US" sz="2200" dirty="0">
                <a:latin typeface="+mn-lt"/>
              </a:rPr>
              <a:t>: If part of the input is chosen randomly, no shortcut exists to solve the puzzle faster.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+mn-lt"/>
              </a:rPr>
              <a:t>Only way to find the correct input is by brute-force search (trying many possibilities).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00"/>
                </a:solidFill>
                <a:latin typeface="+mn-lt"/>
              </a:rPr>
              <a:t>Example:</a:t>
            </a:r>
            <a:r>
              <a:rPr lang="en-US" sz="2200" dirty="0">
                <a:latin typeface="+mn-lt"/>
              </a:rPr>
              <a:t> In Bitcoin mining, miners must find a number (nonce) so that hash of the block meets a specific condition. Only way to do this is by trying many random values until one works.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40180" y="89732"/>
            <a:ext cx="109835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+mn-lt"/>
              </a:rPr>
              <a:t>Cryptographic Hash Functions </a:t>
            </a:r>
            <a:r>
              <a:rPr lang="en-US" dirty="0"/>
              <a:t>: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Property 3: Puzzle‐Friendliness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962976" y="3755951"/>
            <a:ext cx="10287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+mn-lt"/>
              </a:rPr>
              <a:t>“friendly"  here means "useful for creating hard-to-solve puzzles." </a:t>
            </a:r>
          </a:p>
        </p:txBody>
      </p:sp>
    </p:spTree>
    <p:extLst>
      <p:ext uri="{BB962C8B-B14F-4D97-AF65-F5344CB8AC3E}">
        <p14:creationId xmlns:p14="http://schemas.microsoft.com/office/powerpoint/2010/main" val="1845602928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5880" y="533400"/>
            <a:ext cx="11212132" cy="557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300" b="1" dirty="0">
              <a:solidFill>
                <a:srgbClr val="FFFF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40180" y="89732"/>
            <a:ext cx="109835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+mn-lt"/>
              </a:rPr>
              <a:t>Cryptographic Hash Functions </a:t>
            </a:r>
            <a:r>
              <a:rPr lang="en-US" dirty="0"/>
              <a:t>: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Property 3: Puzzle‐Friendliness</a:t>
            </a:r>
          </a:p>
        </p:txBody>
      </p:sp>
      <p:sp>
        <p:nvSpPr>
          <p:cNvPr id="2" name="Rectangle 1"/>
          <p:cNvSpPr/>
          <p:nvPr/>
        </p:nvSpPr>
        <p:spPr>
          <a:xfrm>
            <a:off x="760412" y="578716"/>
            <a:ext cx="11097832" cy="54245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What it means</a:t>
            </a:r>
            <a:r>
              <a:rPr lang="en-US" sz="2100" dirty="0">
                <a:latin typeface="+mn-lt"/>
              </a:rPr>
              <a:t>: Hash function is "puzzle-friendly" if, even target output is given , it's extremely hard to find an input that produces that output, especially when part of the input is randomly chosen.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Example</a:t>
            </a:r>
            <a:r>
              <a:rPr lang="en-US" sz="2100" dirty="0">
                <a:latin typeface="+mn-lt"/>
              </a:rPr>
              <a:t>: Imagine a lottery where you need to guess a number that, when combined with a secret, random number, produces a specific hash. It's nearly impossible to figure out your number without trying almost every possibility.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Use</a:t>
            </a:r>
            <a:r>
              <a:rPr lang="en-US" sz="2100" dirty="0">
                <a:latin typeface="+mn-lt"/>
              </a:rPr>
              <a:t>: This property is crucial for "search puzzles," where only way to find a solution is to try many different inputs.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Search Puzzle example</a:t>
            </a:r>
            <a:r>
              <a:rPr lang="en-US" sz="2100" dirty="0">
                <a:latin typeface="+mn-lt"/>
              </a:rPr>
              <a:t>: Puzzle asks  to find an input that makes a hash output start with "0000". If hash is puzzle-friendly, you can't find a shortcut, you have to guess and check.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Why it matters</a:t>
            </a:r>
            <a:r>
              <a:rPr lang="en-US" sz="2100" dirty="0">
                <a:latin typeface="+mn-lt"/>
              </a:rPr>
              <a:t>: In Bitcoin mining, this principle is used to create a difficult but fair challenge, preventing anyone from gaining an unfair advantage.</a:t>
            </a:r>
          </a:p>
        </p:txBody>
      </p:sp>
    </p:spTree>
    <p:extLst>
      <p:ext uri="{BB962C8B-B14F-4D97-AF65-F5344CB8AC3E}">
        <p14:creationId xmlns:p14="http://schemas.microsoft.com/office/powerpoint/2010/main" val="185803733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5880" y="0"/>
            <a:ext cx="11049000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FFFF00"/>
                </a:solidFill>
                <a:latin typeface="+mn-lt"/>
              </a:rPr>
              <a:t>Puzzle-Friendliness in Hash Functions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Definition</a:t>
            </a:r>
            <a:r>
              <a:rPr lang="en-US" sz="2200" dirty="0">
                <a:latin typeface="+mn-lt"/>
              </a:rPr>
              <a:t>: A hash function H is </a:t>
            </a:r>
            <a:r>
              <a:rPr lang="en-US" sz="2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puzzle-friendly</a:t>
            </a:r>
            <a:r>
              <a:rPr lang="en-US" sz="2200" dirty="0">
                <a:latin typeface="+mn-lt"/>
              </a:rPr>
              <a:t> if: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+mn-lt"/>
              </a:rPr>
              <a:t>For any n-bit output </a:t>
            </a:r>
            <a:r>
              <a:rPr lang="en-US" sz="2200" i="1" dirty="0">
                <a:latin typeface="+mn-lt"/>
              </a:rPr>
              <a:t>y</a:t>
            </a:r>
            <a:r>
              <a:rPr lang="en-US" sz="2200" dirty="0">
                <a:latin typeface="+mn-lt"/>
              </a:rPr>
              <a:t>,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+mn-lt"/>
              </a:rPr>
              <a:t>When k is chosen randomly (with high min-entropy),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+mn-lt"/>
              </a:rPr>
              <a:t>It is extremely hard to find an input x</a:t>
            </a:r>
            <a:r>
              <a:rPr lang="en-US" sz="2200" i="1" dirty="0">
                <a:latin typeface="+mn-lt"/>
              </a:rPr>
              <a:t> </a:t>
            </a:r>
            <a:r>
              <a:rPr lang="en-US" sz="2200" dirty="0">
                <a:latin typeface="+mn-lt"/>
              </a:rPr>
              <a:t>such that H(k ∥ x)=</a:t>
            </a:r>
            <a:r>
              <a:rPr lang="en-US" sz="2200" i="1" dirty="0">
                <a:latin typeface="+mn-lt"/>
              </a:rPr>
              <a:t>y</a:t>
            </a:r>
            <a:r>
              <a:rPr lang="en-US" sz="2200" dirty="0">
                <a:latin typeface="+mn-lt"/>
              </a:rPr>
              <a:t> in time much less than </a:t>
            </a:r>
            <a:r>
              <a:rPr lang="en-US" sz="2800" dirty="0">
                <a:latin typeface="+mn-lt"/>
              </a:rPr>
              <a:t>2</a:t>
            </a:r>
            <a:r>
              <a:rPr lang="en-US" sz="2800" baseline="30000" dirty="0">
                <a:latin typeface="+mn-lt"/>
              </a:rPr>
              <a:t>n</a:t>
            </a:r>
            <a:endParaRPr lang="en-US" sz="2800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2812" y="2769989"/>
            <a:ext cx="11049000" cy="1089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Intuition</a:t>
            </a:r>
            <a:r>
              <a:rPr lang="en-US" sz="2200" dirty="0">
                <a:latin typeface="+mn-lt"/>
              </a:rPr>
              <a:t> : If part of  input is chosen randomly, it's extremely difficult to find another input that produces the same output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4236804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43584" y="39624"/>
            <a:ext cx="11125200" cy="6232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Puzzle-friendliness in real life </a:t>
            </a:r>
            <a:r>
              <a:rPr lang="en-US" sz="2200" dirty="0"/>
              <a:t>: </a:t>
            </a:r>
            <a:r>
              <a:rPr lang="en-US" sz="2200" dirty="0">
                <a:latin typeface="+mn-lt"/>
              </a:rPr>
              <a:t>Treasure Hunt Analogy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FFFF00"/>
                </a:solidFill>
                <a:latin typeface="+mn-lt"/>
              </a:rPr>
              <a:t>Scenario: </a:t>
            </a:r>
            <a:r>
              <a:rPr lang="en-US" sz="2200" dirty="0">
                <a:latin typeface="+mn-lt"/>
              </a:rPr>
              <a:t>Find hidden treasure by solving clues 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FFFF00"/>
                </a:solidFill>
                <a:latin typeface="+mn-lt"/>
              </a:rPr>
              <a:t>Game Master's Rule</a:t>
            </a:r>
            <a:r>
              <a:rPr lang="en-US" sz="2200" dirty="0">
                <a:latin typeface="+mn-lt"/>
              </a:rPr>
              <a:t>:  </a:t>
            </a:r>
          </a:p>
          <a:p>
            <a:pPr marL="342900" indent="58738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>
                <a:latin typeface="+mn-lt"/>
              </a:rPr>
              <a:t>   Provides a random starting point  </a:t>
            </a:r>
          </a:p>
          <a:p>
            <a:pPr marL="342900" indent="58738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>
                <a:latin typeface="+mn-lt"/>
              </a:rPr>
              <a:t>   Must follow clues to reach the treasure 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FFFF00"/>
                </a:solidFill>
                <a:latin typeface="+mn-lt"/>
              </a:rPr>
              <a:t>Clues &amp; Hash Functions</a:t>
            </a:r>
            <a:r>
              <a:rPr lang="en-US" sz="2200" dirty="0">
                <a:latin typeface="+mn-lt"/>
              </a:rPr>
              <a:t>:  </a:t>
            </a:r>
          </a:p>
          <a:p>
            <a:pPr marL="342900" indent="-1588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>
                <a:latin typeface="+mn-lt"/>
              </a:rPr>
              <a:t>  Each clue depends on the previous one  </a:t>
            </a:r>
          </a:p>
          <a:p>
            <a:pPr marL="342900" indent="-1588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>
                <a:latin typeface="+mn-lt"/>
              </a:rPr>
              <a:t>  Final clue leads to the treasure 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FFFF00"/>
                </a:solidFill>
                <a:latin typeface="+mn-lt"/>
              </a:rPr>
              <a:t>Puzzle-Friendliness:  </a:t>
            </a:r>
          </a:p>
          <a:p>
            <a:pPr marL="342900" indent="58738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>
                <a:latin typeface="+mn-lt"/>
              </a:rPr>
              <a:t>  Random, unpredictable starting point (high min-entropy)  </a:t>
            </a:r>
          </a:p>
          <a:p>
            <a:pPr marL="342900" indent="58738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>
                <a:latin typeface="+mn-lt"/>
              </a:rPr>
              <a:t>  No shortcut—must solve each clue in order  </a:t>
            </a:r>
          </a:p>
          <a:p>
            <a:pPr marL="342900" indent="58738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>
                <a:latin typeface="+mn-lt"/>
              </a:rPr>
              <a:t>  Even if you know the treasure’s location, you can't skip clues</a:t>
            </a:r>
          </a:p>
        </p:txBody>
      </p:sp>
    </p:spTree>
    <p:extLst>
      <p:ext uri="{BB962C8B-B14F-4D97-AF65-F5344CB8AC3E}">
        <p14:creationId xmlns:p14="http://schemas.microsoft.com/office/powerpoint/2010/main" val="1206041555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2812" y="428179"/>
            <a:ext cx="11049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Puzzle-Friendliness</a:t>
            </a:r>
            <a:r>
              <a:rPr lang="en-US" sz="2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200" dirty="0">
                <a:latin typeface="+mn-lt"/>
              </a:rPr>
              <a:t>: Bitcoin Mining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00"/>
                </a:solidFill>
                <a:latin typeface="+mn-lt"/>
              </a:rPr>
              <a:t>Treasure Hunt</a:t>
            </a:r>
            <a:r>
              <a:rPr lang="en-US" sz="2200" dirty="0">
                <a:latin typeface="+mn-lt"/>
              </a:rPr>
              <a:t>: Miners compete to find a "treasure" (a valid block hash).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00"/>
                </a:solidFill>
                <a:latin typeface="+mn-lt"/>
              </a:rPr>
              <a:t>Random Starting Point: </a:t>
            </a:r>
            <a:r>
              <a:rPr lang="en-US" sz="2200" dirty="0">
                <a:latin typeface="+mn-lt"/>
              </a:rPr>
              <a:t> "nonce" (a random number) is like random starting point in  treasure hunt.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00"/>
                </a:solidFill>
                <a:latin typeface="+mn-lt"/>
              </a:rPr>
              <a:t>Clues</a:t>
            </a:r>
            <a:r>
              <a:rPr lang="en-US" sz="2200" dirty="0">
                <a:latin typeface="+mn-lt"/>
              </a:rPr>
              <a:t>: Miners repeatedly hash the block data with different nonces until they find a hash that meets  target (e.g., a hash with a certain number of leading zeros).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00"/>
                </a:solidFill>
                <a:latin typeface="+mn-lt"/>
              </a:rPr>
              <a:t>No Shortcuts</a:t>
            </a:r>
            <a:r>
              <a:rPr lang="en-US" sz="2200" dirty="0">
                <a:latin typeface="+mn-lt"/>
              </a:rPr>
              <a:t>: Only way to find correct nonce is by trying many possibilities (brute force).</a:t>
            </a:r>
          </a:p>
        </p:txBody>
      </p:sp>
    </p:spTree>
    <p:extLst>
      <p:ext uri="{BB962C8B-B14F-4D97-AF65-F5344CB8AC3E}">
        <p14:creationId xmlns:p14="http://schemas.microsoft.com/office/powerpoint/2010/main" val="1167098629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6612" y="34153"/>
            <a:ext cx="11320145" cy="6878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SHA-256 Overview</a:t>
            </a:r>
            <a:r>
              <a:rPr lang="en-US" sz="2100" dirty="0">
                <a:latin typeface="+mn-lt"/>
              </a:rPr>
              <a:t>: 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+mn-lt"/>
              </a:rPr>
              <a:t>  - Widely used hash function, primarily in Bitcoin. 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+mn-lt"/>
              </a:rPr>
              <a:t>  - Works on arbitrary-length inputs using the Merkle-Damgård transform. 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+mn-lt"/>
              </a:rPr>
              <a:t>- </a:t>
            </a:r>
            <a:r>
              <a:rPr lang="en-US" sz="21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Merkle-Damgård Transform</a:t>
            </a:r>
            <a:r>
              <a:rPr lang="en-US" sz="2100" dirty="0">
                <a:latin typeface="+mn-lt"/>
              </a:rPr>
              <a:t>: 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+mn-lt"/>
              </a:rPr>
              <a:t>  - Converts a fixed-length hash function into one that handles variable-length inputs. 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+mn-lt"/>
              </a:rPr>
              <a:t>  - Uses a compression function to ensure collision resistance. 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- How It Works</a:t>
            </a:r>
            <a:r>
              <a:rPr lang="en-US" sz="2100" dirty="0">
                <a:latin typeface="+mn-lt"/>
              </a:rPr>
              <a:t>: 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+mn-lt"/>
              </a:rPr>
              <a:t>  - Input is divided into m-n length blocks. 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+mn-lt"/>
              </a:rPr>
              <a:t>  - Each block’s output is passed to the next block along with new input. 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+mn-lt"/>
              </a:rPr>
              <a:t>  - The first block uses an Initialization Vector (IV). 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+mn-lt"/>
              </a:rPr>
              <a:t>  - The final block’s output is the hash result. 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+mn-lt"/>
              </a:rPr>
              <a:t>- </a:t>
            </a:r>
            <a:r>
              <a:rPr lang="en-US" sz="21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SHA-256 Specifics</a:t>
            </a:r>
            <a:r>
              <a:rPr lang="en-US" sz="2100" dirty="0">
                <a:latin typeface="+mn-lt"/>
              </a:rPr>
              <a:t>: 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+mn-lt"/>
              </a:rPr>
              <a:t>  - Compression function: Takes 768-bit input, produces 256-bit output. 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+mn-lt"/>
              </a:rPr>
              <a:t>  - Block size: 512 bit</a:t>
            </a:r>
          </a:p>
        </p:txBody>
      </p:sp>
    </p:spTree>
    <p:extLst>
      <p:ext uri="{BB962C8B-B14F-4D97-AF65-F5344CB8AC3E}">
        <p14:creationId xmlns:p14="http://schemas.microsoft.com/office/powerpoint/2010/main" val="3668210445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12" y="533400"/>
            <a:ext cx="102870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989012" y="6004697"/>
            <a:ext cx="10287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How SHA-256 processes data to generate a hash</a:t>
            </a:r>
          </a:p>
        </p:txBody>
      </p:sp>
    </p:spTree>
    <p:extLst>
      <p:ext uri="{BB962C8B-B14F-4D97-AF65-F5344CB8AC3E}">
        <p14:creationId xmlns:p14="http://schemas.microsoft.com/office/powerpoint/2010/main" val="2610165359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0412" y="35939"/>
            <a:ext cx="11201400" cy="63940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Initialization (IV - 256 bits):</a:t>
            </a:r>
          </a:p>
          <a:p>
            <a:pPr marL="573088" indent="-231775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Process starts with a special fixed value called an Initialization Vector (IV).</a:t>
            </a:r>
          </a:p>
          <a:p>
            <a:pPr marL="573088" indent="-231775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This value is predefined and serves as a starting point for hashing.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Dividing the Message (512-bit Blocks):</a:t>
            </a:r>
          </a:p>
          <a:p>
            <a:pPr marL="512763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100" dirty="0">
                <a:latin typeface="+mn-lt"/>
              </a:rPr>
              <a:t>Input message is split into 512-bit chunks (blocks).</a:t>
            </a:r>
          </a:p>
          <a:p>
            <a:pPr marL="512763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100" dirty="0">
                <a:latin typeface="+mn-lt"/>
              </a:rPr>
              <a:t>If the message is too short, it is padded to fit the required block size.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Processing Each Block (Compression Function ‘C’):</a:t>
            </a:r>
          </a:p>
          <a:p>
            <a:pPr marL="512763" indent="-1714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First message block is combined with the IV and processed using a compression function (C).</a:t>
            </a:r>
          </a:p>
          <a:p>
            <a:pPr marL="512763" indent="-1714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Result is passed as input to the next block along with the second message block.</a:t>
            </a:r>
          </a:p>
          <a:p>
            <a:pPr marL="512763" indent="-1714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This process repeats for all blocks.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Final Hash Output (256 bits):</a:t>
            </a:r>
          </a:p>
          <a:p>
            <a:pPr marL="463550" indent="-182563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Output of last block becomes final 256-bit hash value.</a:t>
            </a:r>
          </a:p>
          <a:p>
            <a:pPr marL="463550" indent="-182563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This hash is unique to the input message and cannot be reversed.</a:t>
            </a:r>
          </a:p>
        </p:txBody>
      </p:sp>
    </p:spTree>
    <p:extLst>
      <p:ext uri="{BB962C8B-B14F-4D97-AF65-F5344CB8AC3E}">
        <p14:creationId xmlns:p14="http://schemas.microsoft.com/office/powerpoint/2010/main" val="1011137798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10360025" cy="563562"/>
          </a:xfrm>
        </p:spPr>
        <p:txBody>
          <a:bodyPr/>
          <a:lstStyle/>
          <a:p>
            <a:pPr marL="342900" indent="-342900" algn="ctr"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</a:rPr>
              <a:t>Hash Pointers and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12" y="685800"/>
            <a:ext cx="11125200" cy="5715000"/>
          </a:xfrm>
        </p:spPr>
        <p:txBody>
          <a:bodyPr/>
          <a:lstStyle/>
          <a:p>
            <a:pPr marL="0" indent="0">
              <a:buNone/>
            </a:pPr>
            <a:r>
              <a:rPr lang="en-US" sz="2200" b="1" dirty="0">
                <a:solidFill>
                  <a:srgbClr val="FFFF00"/>
                </a:solidFill>
              </a:rPr>
              <a:t>Hash Pointer: Concept &amp; Function</a:t>
            </a:r>
          </a:p>
          <a:p>
            <a:r>
              <a:rPr lang="en-US" sz="2200" dirty="0"/>
              <a:t>A </a:t>
            </a:r>
            <a:r>
              <a:rPr lang="en-US" sz="2200" b="1" dirty="0"/>
              <a:t>hash pointer</a:t>
            </a:r>
            <a:r>
              <a:rPr lang="en-US" sz="2200" dirty="0"/>
              <a:t> is a combination of: </a:t>
            </a:r>
          </a:p>
          <a:p>
            <a:pPr lvl="1"/>
            <a:r>
              <a:rPr lang="en-US" sz="2200" dirty="0"/>
              <a:t>A </a:t>
            </a:r>
            <a:r>
              <a:rPr lang="en-US" sz="2200" b="1" dirty="0"/>
              <a:t>pointer</a:t>
            </a:r>
            <a:r>
              <a:rPr lang="en-US" sz="2200" dirty="0"/>
              <a:t> to the location where data is stored.</a:t>
            </a:r>
          </a:p>
          <a:p>
            <a:pPr lvl="1"/>
            <a:r>
              <a:rPr lang="en-US" sz="2200" dirty="0"/>
              <a:t>A </a:t>
            </a:r>
            <a:r>
              <a:rPr lang="en-US" sz="2200" b="1" dirty="0"/>
              <a:t>cryptographic hash</a:t>
            </a:r>
            <a:r>
              <a:rPr lang="en-US" sz="2200" dirty="0"/>
              <a:t> of the data at that location.</a:t>
            </a:r>
          </a:p>
          <a:p>
            <a:r>
              <a:rPr lang="en-US" sz="2200" dirty="0"/>
              <a:t>Unlike a regular pointer, a hash pointer provides two functions: </a:t>
            </a:r>
          </a:p>
          <a:p>
            <a:pPr lvl="1"/>
            <a:r>
              <a:rPr lang="en-US" sz="2200" b="1" dirty="0"/>
              <a:t>Retrieving</a:t>
            </a:r>
            <a:r>
              <a:rPr lang="en-US" sz="2200" dirty="0"/>
              <a:t> the data.</a:t>
            </a:r>
          </a:p>
          <a:p>
            <a:pPr lvl="1"/>
            <a:r>
              <a:rPr lang="en-US" sz="2200" b="1" dirty="0"/>
              <a:t>Verifying</a:t>
            </a:r>
            <a:r>
              <a:rPr lang="en-US" sz="2200" dirty="0"/>
              <a:t> that the data hasn’t been altered.</a:t>
            </a:r>
          </a:p>
          <a:p>
            <a:r>
              <a:rPr lang="en-US" sz="2200" dirty="0"/>
              <a:t>Hash pointers help build </a:t>
            </a:r>
            <a:r>
              <a:rPr lang="en-US" sz="2200" b="1" dirty="0"/>
              <a:t>tamper-evident</a:t>
            </a:r>
            <a:r>
              <a:rPr lang="en-US" sz="2200" dirty="0"/>
              <a:t> data structures.</a:t>
            </a:r>
          </a:p>
          <a:p>
            <a:pPr marL="0" indent="0">
              <a:buNone/>
            </a:pPr>
            <a:r>
              <a:rPr lang="en-US" sz="2200" b="1" dirty="0"/>
              <a:t>Hash Pointers in Data Structures</a:t>
            </a:r>
          </a:p>
          <a:p>
            <a:r>
              <a:rPr lang="en-US" sz="2200" dirty="0"/>
              <a:t>Any data structure using regular pointers (e.g., linked lists, binary search trees) can be modified to use </a:t>
            </a:r>
            <a:r>
              <a:rPr lang="en-US" sz="2200" b="1" dirty="0"/>
              <a:t>hash pointers</a:t>
            </a:r>
            <a:r>
              <a:rPr lang="en-US" sz="2200" dirty="0"/>
              <a:t> instead.</a:t>
            </a:r>
          </a:p>
          <a:p>
            <a:r>
              <a:rPr lang="en-US" sz="2200" dirty="0"/>
              <a:t>This provides an added security feature—</a:t>
            </a:r>
            <a:r>
              <a:rPr lang="en-US" sz="2200" b="1" dirty="0"/>
              <a:t>data integrity verification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0944024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10360025" cy="381000"/>
          </a:xfrm>
        </p:spPr>
        <p:txBody>
          <a:bodyPr/>
          <a:lstStyle/>
          <a:p>
            <a:pPr marL="342900" indent="-342900" algn="ctr">
              <a:lnSpc>
                <a:spcPct val="150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</a:rPr>
              <a:t>Hash Pointers and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12" y="381000"/>
            <a:ext cx="11125200" cy="6324600"/>
          </a:xfrm>
        </p:spPr>
        <p:txBody>
          <a:bodyPr/>
          <a:lstStyle/>
          <a:p>
            <a:pPr marL="0" indent="0">
              <a:buNone/>
            </a:pPr>
            <a:r>
              <a:rPr lang="en-US" sz="2100" b="1" dirty="0"/>
              <a:t>Blockchain: A Tamper-Evident Linked List</a:t>
            </a:r>
          </a:p>
          <a:p>
            <a:r>
              <a:rPr lang="en-US" sz="2100" dirty="0"/>
              <a:t>A </a:t>
            </a:r>
            <a:r>
              <a:rPr lang="en-US" sz="2100" b="1" dirty="0"/>
              <a:t>blockchain</a:t>
            </a:r>
            <a:r>
              <a:rPr lang="en-US" sz="2100" dirty="0"/>
              <a:t> is a </a:t>
            </a:r>
            <a:r>
              <a:rPr lang="en-US" sz="2100" b="1" dirty="0"/>
              <a:t>linked list</a:t>
            </a:r>
            <a:r>
              <a:rPr lang="en-US" sz="2100" dirty="0"/>
              <a:t> where: </a:t>
            </a:r>
          </a:p>
          <a:p>
            <a:pPr lvl="1"/>
            <a:r>
              <a:rPr lang="en-US" sz="2100" dirty="0"/>
              <a:t>Each block contains </a:t>
            </a:r>
            <a:r>
              <a:rPr lang="en-US" sz="2100" b="1" dirty="0"/>
              <a:t>data</a:t>
            </a:r>
            <a:r>
              <a:rPr lang="en-US" sz="2100" dirty="0"/>
              <a:t>.</a:t>
            </a:r>
          </a:p>
          <a:p>
            <a:pPr lvl="1"/>
            <a:r>
              <a:rPr lang="en-US" sz="2100" dirty="0"/>
              <a:t>Instead of a regular pointer to the previous block, it uses a </a:t>
            </a:r>
            <a:r>
              <a:rPr lang="en-US" sz="2100" b="1" dirty="0"/>
              <a:t>hash pointer</a:t>
            </a:r>
            <a:r>
              <a:rPr lang="en-US" sz="2100" dirty="0"/>
              <a:t>.</a:t>
            </a:r>
          </a:p>
          <a:p>
            <a:r>
              <a:rPr lang="en-US" sz="2100" dirty="0"/>
              <a:t>The </a:t>
            </a:r>
            <a:r>
              <a:rPr lang="en-US" sz="2100" b="1" dirty="0"/>
              <a:t>head of the blockchain</a:t>
            </a:r>
            <a:r>
              <a:rPr lang="en-US" sz="2100" dirty="0"/>
              <a:t> is a stored hash pointer that references the most recent block.</a:t>
            </a:r>
          </a:p>
          <a:p>
            <a:pPr marL="0" indent="0">
              <a:buNone/>
            </a:pPr>
            <a:r>
              <a:rPr lang="en-US" sz="2100" b="1" dirty="0"/>
              <a:t>Ensuring Tamper Resistance in Blockchain</a:t>
            </a:r>
          </a:p>
          <a:p>
            <a:r>
              <a:rPr lang="en-US" sz="2100" dirty="0"/>
              <a:t>If an attacker modifies a block’s data (</a:t>
            </a:r>
            <a:r>
              <a:rPr lang="en-US" sz="2100" b="1" dirty="0"/>
              <a:t>block k</a:t>
            </a:r>
            <a:r>
              <a:rPr lang="en-US" sz="2100" dirty="0"/>
              <a:t>), the </a:t>
            </a:r>
            <a:r>
              <a:rPr lang="en-US" sz="2100" b="1" dirty="0"/>
              <a:t>hash in block k+1</a:t>
            </a:r>
            <a:r>
              <a:rPr lang="en-US" sz="2100" dirty="0"/>
              <a:t> (which depends on block k) will not match.</a:t>
            </a:r>
          </a:p>
          <a:p>
            <a:r>
              <a:rPr lang="en-US" sz="2100" dirty="0"/>
              <a:t>Since </a:t>
            </a:r>
            <a:r>
              <a:rPr lang="en-US" sz="2100" b="1" dirty="0"/>
              <a:t>cryptographic hashes are collision-resistant</a:t>
            </a:r>
            <a:r>
              <a:rPr lang="en-US" sz="2100" dirty="0"/>
              <a:t>, any change to the data will result in a completely different hash.</a:t>
            </a:r>
          </a:p>
          <a:p>
            <a:r>
              <a:rPr lang="en-US" sz="2100" dirty="0"/>
              <a:t>To hide the tampering, the attacker must also modify: </a:t>
            </a:r>
          </a:p>
          <a:p>
            <a:pPr lvl="1"/>
            <a:r>
              <a:rPr lang="en-US" sz="2100" dirty="0"/>
              <a:t>The hash pointer in </a:t>
            </a:r>
            <a:r>
              <a:rPr lang="en-US" sz="2100" b="1" dirty="0"/>
              <a:t>block k+1</a:t>
            </a:r>
            <a:r>
              <a:rPr lang="en-US" sz="2100" dirty="0"/>
              <a:t>.</a:t>
            </a:r>
          </a:p>
          <a:p>
            <a:pPr lvl="1"/>
            <a:r>
              <a:rPr lang="en-US" sz="2100" dirty="0"/>
              <a:t>The hash pointers in all following blocks up to the </a:t>
            </a:r>
            <a:r>
              <a:rPr lang="en-US" sz="2100" b="1" dirty="0"/>
              <a:t>head of the blockchain</a:t>
            </a:r>
            <a:r>
              <a:rPr lang="en-US" sz="2100" dirty="0"/>
              <a:t>.</a:t>
            </a:r>
          </a:p>
          <a:p>
            <a:r>
              <a:rPr lang="en-US" sz="2100" dirty="0"/>
              <a:t>However, the </a:t>
            </a:r>
            <a:r>
              <a:rPr lang="en-US" sz="2100" b="1" dirty="0"/>
              <a:t>head of the blockchain</a:t>
            </a:r>
            <a:r>
              <a:rPr lang="en-US" sz="2100" dirty="0"/>
              <a:t> is securely stored, making it impossible for the attacker to modify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698311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0"/>
            <a:ext cx="10360025" cy="685800"/>
          </a:xfrm>
        </p:spPr>
        <p:txBody>
          <a:bodyPr/>
          <a:lstStyle/>
          <a:p>
            <a:pPr algn="ctr"/>
            <a:r>
              <a:rPr lang="en-IN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SHA-256 hash and its construction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2812" y="457200"/>
            <a:ext cx="11049000" cy="2133599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300" dirty="0"/>
              <a:t>SHA-256 and SHA-512 belongs to family of cryptographic hash functions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300" dirty="0"/>
              <a:t>Specifically used in Bitcoins!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300" dirty="0"/>
              <a:t>As the name suggests, it produces a 256-bit hash value, hence the name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300" dirty="0">
                <a:solidFill>
                  <a:srgbClr val="FFFF00"/>
                </a:solidFill>
              </a:rPr>
              <a:t>Hash functions take arbitrary length input and produce a fixed size output</a:t>
            </a:r>
            <a:endParaRPr lang="en-IN" sz="2300" dirty="0">
              <a:solidFill>
                <a:srgbClr val="FFFF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012" y="2654808"/>
            <a:ext cx="86106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000859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2812" y="59704"/>
            <a:ext cx="11049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Merkle Trees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Merkle tree is another  useful data structure ( binary tree) that can be  built using hash pointers.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Data blocks form the leaves of the tree.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Each pair of blocks is hashed and stored in a parent node.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This process continues until a single root node remains.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Security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The root hash helps verify the integrity of all data.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If a data block is tampered with, its hash changes, affecting all parent hashes up to the root.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Since the root hash is stored securely, any modifications can be detected.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Proof of Membership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To verify a block is in the tree, only its path to the root needs to be shown.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Requires only </a:t>
            </a:r>
            <a:r>
              <a:rPr lang="en-US" sz="2100" b="1" dirty="0">
                <a:latin typeface="+mn-lt"/>
              </a:rPr>
              <a:t>log(n)</a:t>
            </a:r>
            <a:r>
              <a:rPr lang="en-US" sz="2100" dirty="0">
                <a:latin typeface="+mn-lt"/>
              </a:rPr>
              <a:t> steps for a tree with </a:t>
            </a:r>
            <a:r>
              <a:rPr lang="en-US" sz="2100" b="1" dirty="0">
                <a:latin typeface="+mn-lt"/>
              </a:rPr>
              <a:t>n</a:t>
            </a:r>
            <a:r>
              <a:rPr lang="en-US" sz="2100" dirty="0">
                <a:latin typeface="+mn-lt"/>
              </a:rPr>
              <a:t> nodes, making verification efficient.</a:t>
            </a:r>
          </a:p>
        </p:txBody>
      </p:sp>
    </p:spTree>
    <p:extLst>
      <p:ext uri="{BB962C8B-B14F-4D97-AF65-F5344CB8AC3E}">
        <p14:creationId xmlns:p14="http://schemas.microsoft.com/office/powerpoint/2010/main" val="3258411462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2812" y="59704"/>
            <a:ext cx="11049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Sorted Merkle Trees &amp; Proof of Non-Membership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A </a:t>
            </a:r>
            <a:r>
              <a:rPr lang="en-US" sz="2100" b="1" dirty="0">
                <a:latin typeface="+mn-lt"/>
              </a:rPr>
              <a:t>sorted</a:t>
            </a:r>
            <a:r>
              <a:rPr lang="en-US" sz="2100" dirty="0">
                <a:latin typeface="+mn-lt"/>
              </a:rPr>
              <a:t> Merkle tree orders blocks alphabetically, numerically, or by other criteria.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Proof of </a:t>
            </a:r>
            <a:r>
              <a:rPr lang="en-US" sz="2100" b="1" dirty="0">
                <a:latin typeface="+mn-lt"/>
              </a:rPr>
              <a:t>non-membership</a:t>
            </a:r>
            <a:r>
              <a:rPr lang="en-US" sz="2100" dirty="0">
                <a:latin typeface="+mn-lt"/>
              </a:rPr>
              <a:t> is done by showing the hashes of the blocks </a:t>
            </a:r>
            <a:r>
              <a:rPr lang="en-US" sz="2100" b="1" dirty="0">
                <a:latin typeface="+mn-lt"/>
              </a:rPr>
              <a:t>just before and after</a:t>
            </a:r>
            <a:r>
              <a:rPr lang="en-US" sz="2100" dirty="0">
                <a:latin typeface="+mn-lt"/>
              </a:rPr>
              <a:t> the missing block’s expected position.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Hash Pointers in Other Structures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Hash pointers can be used in any </a:t>
            </a:r>
            <a:r>
              <a:rPr lang="en-US" sz="2100" b="1" dirty="0">
                <a:latin typeface="+mn-lt"/>
              </a:rPr>
              <a:t>acyclic</a:t>
            </a:r>
            <a:r>
              <a:rPr lang="en-US" sz="2100" dirty="0">
                <a:latin typeface="+mn-lt"/>
              </a:rPr>
              <a:t> data structure, like </a:t>
            </a:r>
            <a:r>
              <a:rPr lang="en-US" sz="2100" b="1" dirty="0">
                <a:latin typeface="+mn-lt"/>
              </a:rPr>
              <a:t>directed acyclic graphs (DAGs)</a:t>
            </a:r>
            <a:r>
              <a:rPr lang="en-US" sz="2100" dirty="0">
                <a:latin typeface="+mn-lt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They enable efficient verification of data integrity.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Cycles prevent proper hashing, making verification difficult</a:t>
            </a:r>
          </a:p>
        </p:txBody>
      </p:sp>
    </p:spTree>
    <p:extLst>
      <p:ext uri="{BB962C8B-B14F-4D97-AF65-F5344CB8AC3E}">
        <p14:creationId xmlns:p14="http://schemas.microsoft.com/office/powerpoint/2010/main" val="3361052580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71027" y="0"/>
            <a:ext cx="11317798" cy="671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  <a:cs typeface="Arial" pitchFamily="34" charset="0"/>
              </a:rPr>
              <a:t>Digital Signatures</a:t>
            </a: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: It 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serve as a digital version of handwritten signatures, ensuring:</a:t>
            </a:r>
          </a:p>
          <a:p>
            <a:pPr marL="171450" marR="0" lvl="0" indent="109538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171450" algn="l"/>
              </a:tabLst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+mn-lt"/>
                <a:cs typeface="Arial" pitchFamily="34" charset="0"/>
              </a:rPr>
              <a:t>Authenticity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: Only the owner can create the signature, but anyone can verify it.</a:t>
            </a:r>
          </a:p>
          <a:p>
            <a:pPr marL="171450" marR="0" lvl="0" indent="109538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171450" algn="l"/>
              </a:tabLst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+mn-lt"/>
                <a:cs typeface="Arial" pitchFamily="34" charset="0"/>
              </a:rPr>
              <a:t>Document Binding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: The signature is tied to a specific document and cannot be transferred to another.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  <a:cs typeface="Arial" pitchFamily="34" charset="0"/>
              </a:rPr>
              <a:t>Digital Signature Scheme : </a:t>
            </a:r>
            <a:r>
              <a:rPr kumimoji="0" lang="en-US" sz="2100" b="1" i="0" u="none" strike="noStrike" cap="none" normalizeH="0" baseline="0" dirty="0">
                <a:ln>
                  <a:noFill/>
                </a:ln>
                <a:effectLst/>
                <a:latin typeface="+mn-lt"/>
                <a:cs typeface="Arial" pitchFamily="34" charset="0"/>
              </a:rPr>
              <a:t>It 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effectLst/>
                <a:latin typeface="+mn-lt"/>
                <a:cs typeface="Arial" pitchFamily="34" charset="0"/>
              </a:rPr>
              <a:t>c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onsists of three key algorithms: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+mn-lt"/>
                <a:cs typeface="Arial" pitchFamily="34" charset="0"/>
              </a:rPr>
              <a:t>Key Generation</a:t>
            </a:r>
            <a:endParaRPr kumimoji="0" lang="en-US" sz="21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+mn-lt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generateKeys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(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keysize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) → (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sk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,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pk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) where as (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sk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) is a  secret key  and  (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pk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) a public key 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sk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 is private and used to sign messages</a:t>
            </a:r>
            <a:r>
              <a:rPr kumimoji="0" lang="en-US" sz="21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 and 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pk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 is public and used to verify signatures.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+mn-lt"/>
                <a:cs typeface="Arial" pitchFamily="34" charset="0"/>
              </a:rPr>
              <a:t>Signing a Message</a:t>
            </a:r>
            <a:endParaRPr kumimoji="0" lang="en-US" sz="21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+mn-lt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sign(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sk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, message) → sig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Uses the secret key (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sk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) to create a signature (sig) for the given message.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+mn-lt"/>
                <a:cs typeface="Arial" pitchFamily="34" charset="0"/>
              </a:rPr>
              <a:t>Verifying a Signature</a:t>
            </a:r>
            <a:endParaRPr kumimoji="0" lang="en-US" sz="21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+mn-lt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verify(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pk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, message, sig) →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isValid</a:t>
            </a:r>
            <a:endParaRPr kumimoji="0" 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Checks if sig is a valid signature for message using 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pk</a:t>
            </a:r>
            <a:r>
              <a:rPr kumimoji="0" lang="en-US" sz="21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 and  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Returns true if valid, false otherwise.</a:t>
            </a:r>
          </a:p>
        </p:txBody>
      </p:sp>
    </p:spTree>
    <p:extLst>
      <p:ext uri="{BB962C8B-B14F-4D97-AF65-F5344CB8AC3E}">
        <p14:creationId xmlns:p14="http://schemas.microsoft.com/office/powerpoint/2010/main" val="1460549132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81285" y="127362"/>
            <a:ext cx="11008783" cy="542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+mn-lt"/>
                <a:cs typeface="Arial" pitchFamily="34" charset="0"/>
              </a:rPr>
              <a:t>Required Properties</a:t>
            </a:r>
          </a:p>
          <a:p>
            <a:pPr marL="280988" marR="0" lvl="0" indent="-109538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  <a:cs typeface="Arial" pitchFamily="34" charset="0"/>
              </a:rPr>
              <a:t>Validity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: A valid signature must verify correctly.</a:t>
            </a:r>
          </a:p>
          <a:p>
            <a:pPr marL="573088" marR="0" lvl="1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verify(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pk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, message, sign(</a:t>
            </a:r>
            <a:r>
              <a:rPr kumimoji="0" 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sk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, message)) == true</a:t>
            </a:r>
          </a:p>
          <a:p>
            <a:pPr marL="280988" marR="0" lvl="0" indent="-109538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  <a:cs typeface="Arial" pitchFamily="34" charset="0"/>
              </a:rPr>
              <a:t>Unforgeability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  <a:cs typeface="Arial" pitchFamily="34" charset="0"/>
              </a:rPr>
              <a:t>: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 It must be computationally infeasible to forge a signature without the secret key.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+mn-lt"/>
                <a:cs typeface="Arial" pitchFamily="34" charset="0"/>
              </a:rPr>
              <a:t>Unforgeability Explained</a:t>
            </a:r>
          </a:p>
          <a:p>
            <a:pPr marL="512763" marR="0" lvl="0" indent="-34131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An attacker may have access to multiple valid signatures.</a:t>
            </a:r>
          </a:p>
          <a:p>
            <a:pPr marL="512763" marR="0" lvl="0" indent="-34131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The attacker’s goal is to forge a new, unseen signature.</a:t>
            </a:r>
          </a:p>
          <a:p>
            <a:pPr marL="512763" marR="0" lvl="0" indent="-34131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A verification test is performed:</a:t>
            </a:r>
          </a:p>
          <a:p>
            <a:pPr marL="742950" marR="0" lvl="1" indent="-34131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If the attacker successfully creates a valid signature for a new message, they win.</a:t>
            </a:r>
          </a:p>
          <a:p>
            <a:pPr marL="742950" marR="0" lvl="1" indent="-34131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If they fail, the digital signature scheme remains secure.</a:t>
            </a:r>
          </a:p>
          <a:p>
            <a:pPr marL="512763" marR="0" lvl="0" indent="-34131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Key takeaway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: A secure scheme ensures that forging a signature is practically impossible.</a:t>
            </a:r>
          </a:p>
        </p:txBody>
      </p:sp>
    </p:spTree>
    <p:extLst>
      <p:ext uri="{BB962C8B-B14F-4D97-AF65-F5344CB8AC3E}">
        <p14:creationId xmlns:p14="http://schemas.microsoft.com/office/powerpoint/2010/main" val="3113464965"/>
      </p:ext>
    </p:extLst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2" y="152400"/>
            <a:ext cx="11658600" cy="5410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0204" y="5888503"/>
            <a:ext cx="11712004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b="1" dirty="0">
                <a:solidFill>
                  <a:srgbClr val="FFFF00"/>
                </a:solidFill>
                <a:latin typeface="+mn-lt"/>
              </a:rPr>
              <a:t>This diagram shows how  attacker might try to forge a digital signature without knowing private key.</a:t>
            </a:r>
          </a:p>
        </p:txBody>
      </p:sp>
    </p:spTree>
    <p:extLst>
      <p:ext uri="{BB962C8B-B14F-4D97-AF65-F5344CB8AC3E}">
        <p14:creationId xmlns:p14="http://schemas.microsoft.com/office/powerpoint/2010/main" val="3234738715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7215" y="304800"/>
            <a:ext cx="11341609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dirty="0">
                <a:solidFill>
                  <a:srgbClr val="FFFF00"/>
                </a:solidFill>
                <a:latin typeface="+mn-lt"/>
              </a:rPr>
              <a:t>The Challenger (Legitimate User)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Has a </a:t>
            </a:r>
            <a:r>
              <a:rPr lang="en-US" sz="2100" b="1" dirty="0">
                <a:latin typeface="+mn-lt"/>
              </a:rPr>
              <a:t>private key (</a:t>
            </a:r>
            <a:r>
              <a:rPr lang="en-US" sz="2100" b="1" dirty="0" err="1">
                <a:latin typeface="+mn-lt"/>
              </a:rPr>
              <a:t>sk</a:t>
            </a:r>
            <a:r>
              <a:rPr lang="en-US" sz="2100" b="1" dirty="0">
                <a:latin typeface="+mn-lt"/>
              </a:rPr>
              <a:t>)</a:t>
            </a:r>
            <a:r>
              <a:rPr lang="en-US" sz="2100" dirty="0">
                <a:latin typeface="+mn-lt"/>
              </a:rPr>
              <a:t> and </a:t>
            </a:r>
            <a:r>
              <a:rPr lang="en-US" sz="2100" b="1" dirty="0">
                <a:latin typeface="+mn-lt"/>
              </a:rPr>
              <a:t>public key (</a:t>
            </a:r>
            <a:r>
              <a:rPr lang="en-US" sz="2100" b="1" dirty="0" err="1">
                <a:latin typeface="+mn-lt"/>
              </a:rPr>
              <a:t>pk</a:t>
            </a:r>
            <a:r>
              <a:rPr lang="en-US" sz="2100" b="1" dirty="0">
                <a:latin typeface="+mn-lt"/>
              </a:rPr>
              <a:t>)</a:t>
            </a:r>
            <a:r>
              <a:rPr lang="en-US" sz="2100" dirty="0">
                <a:latin typeface="+mn-lt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Signs multiple messages (</a:t>
            </a:r>
            <a:r>
              <a:rPr lang="en-US" sz="2100" b="1" dirty="0">
                <a:latin typeface="+mn-lt"/>
              </a:rPr>
              <a:t>m₀, m₁, ...</a:t>
            </a:r>
            <a:r>
              <a:rPr lang="en-US" sz="2100" dirty="0">
                <a:latin typeface="+mn-lt"/>
              </a:rPr>
              <a:t>) using the private key, producing signatures (</a:t>
            </a:r>
            <a:r>
              <a:rPr lang="en-US" sz="2100" b="1" dirty="0">
                <a:latin typeface="+mn-lt"/>
              </a:rPr>
              <a:t>sign(</a:t>
            </a:r>
            <a:r>
              <a:rPr lang="en-US" sz="2100" b="1" dirty="0" err="1">
                <a:latin typeface="+mn-lt"/>
              </a:rPr>
              <a:t>sk</a:t>
            </a:r>
            <a:r>
              <a:rPr lang="en-US" sz="2100" b="1" dirty="0">
                <a:latin typeface="+mn-lt"/>
              </a:rPr>
              <a:t>, m₀), sign(</a:t>
            </a:r>
            <a:r>
              <a:rPr lang="en-US" sz="2100" b="1" dirty="0" err="1">
                <a:latin typeface="+mn-lt"/>
              </a:rPr>
              <a:t>sk</a:t>
            </a:r>
            <a:r>
              <a:rPr lang="en-US" sz="2100" b="1" dirty="0">
                <a:latin typeface="+mn-lt"/>
              </a:rPr>
              <a:t>, m₁), etc.</a:t>
            </a:r>
            <a:r>
              <a:rPr lang="en-US" sz="2100" dirty="0">
                <a:latin typeface="+mn-lt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The Attacker’s Goal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Attacker sees the signed messages (</a:t>
            </a:r>
            <a:r>
              <a:rPr lang="en-US" sz="2100" b="1" dirty="0">
                <a:latin typeface="+mn-lt"/>
              </a:rPr>
              <a:t>m₀, m₁, ...</a:t>
            </a:r>
            <a:r>
              <a:rPr lang="en-US" sz="2100" dirty="0">
                <a:latin typeface="+mn-lt"/>
              </a:rPr>
              <a:t>) and their signatures.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They try to </a:t>
            </a:r>
            <a:r>
              <a:rPr lang="en-US" sz="2100" b="1" dirty="0">
                <a:latin typeface="+mn-lt"/>
              </a:rPr>
              <a:t>create a new, fake message (M)</a:t>
            </a:r>
            <a:r>
              <a:rPr lang="en-US" sz="2100" dirty="0">
                <a:latin typeface="+mn-lt"/>
              </a:rPr>
              <a:t> that was </a:t>
            </a:r>
            <a:r>
              <a:rPr lang="en-US" sz="2100" b="1" dirty="0">
                <a:latin typeface="+mn-lt"/>
              </a:rPr>
              <a:t>never signed before</a:t>
            </a:r>
            <a:r>
              <a:rPr lang="en-US" sz="2100" dirty="0">
                <a:latin typeface="+mn-lt"/>
              </a:rPr>
              <a:t> (so </a:t>
            </a:r>
            <a:r>
              <a:rPr lang="en-US" sz="2100" b="1" dirty="0">
                <a:latin typeface="+mn-lt"/>
              </a:rPr>
              <a:t>M ≠ m₀, m₁, etc.</a:t>
            </a:r>
            <a:r>
              <a:rPr lang="en-US" sz="2100" dirty="0">
                <a:latin typeface="+mn-lt"/>
              </a:rPr>
              <a:t>).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They also create a </a:t>
            </a:r>
            <a:r>
              <a:rPr lang="en-US" sz="2100" b="1" dirty="0">
                <a:latin typeface="+mn-lt"/>
              </a:rPr>
              <a:t>fake signature (sig)</a:t>
            </a:r>
            <a:r>
              <a:rPr lang="en-US" sz="2100" dirty="0">
                <a:latin typeface="+mn-lt"/>
              </a:rPr>
              <a:t> for this message.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The Attack Succeeds If...</a:t>
            </a:r>
            <a:endParaRPr lang="en-US" sz="2100" dirty="0">
              <a:solidFill>
                <a:srgbClr val="FFFF00"/>
              </a:solidFill>
              <a:latin typeface="+mn-lt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The attacker tricks the system into accepting their forgery.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When someone checks the signature using the public key (</a:t>
            </a:r>
            <a:r>
              <a:rPr lang="en-US" sz="2100" b="1" dirty="0">
                <a:latin typeface="+mn-lt"/>
              </a:rPr>
              <a:t>verify(</a:t>
            </a:r>
            <a:r>
              <a:rPr lang="en-US" sz="2100" b="1" dirty="0" err="1">
                <a:latin typeface="+mn-lt"/>
              </a:rPr>
              <a:t>pk</a:t>
            </a:r>
            <a:r>
              <a:rPr lang="en-US" sz="2100" b="1" dirty="0">
                <a:latin typeface="+mn-lt"/>
              </a:rPr>
              <a:t>, M, sig)</a:t>
            </a:r>
            <a:r>
              <a:rPr lang="en-US" sz="2100" dirty="0">
                <a:latin typeface="+mn-lt"/>
              </a:rPr>
              <a:t>), it incorrectly says </a:t>
            </a:r>
            <a:r>
              <a:rPr lang="en-US" sz="2100" b="1" dirty="0">
                <a:latin typeface="+mn-lt"/>
              </a:rPr>
              <a:t>"valid"</a:t>
            </a:r>
            <a:r>
              <a:rPr lang="en-US" sz="2100" dirty="0">
                <a:latin typeface="+mn-lt"/>
              </a:rPr>
              <a:t> even though the attacker never legitimately signed </a:t>
            </a:r>
            <a:r>
              <a:rPr lang="en-US" sz="2100" b="1" dirty="0">
                <a:latin typeface="+mn-lt"/>
              </a:rPr>
              <a:t>M</a:t>
            </a:r>
            <a:endParaRPr lang="en-US" sz="21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7567921"/>
      </p:ext>
    </p:extLst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7215" y="304800"/>
            <a:ext cx="11341609" cy="63940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What This Means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A secure digital signature scheme should </a:t>
            </a:r>
            <a:r>
              <a:rPr lang="en-US" sz="2100" b="1" dirty="0">
                <a:latin typeface="+mn-lt"/>
              </a:rPr>
              <a:t>never</a:t>
            </a:r>
            <a:r>
              <a:rPr lang="en-US" sz="2100" dirty="0">
                <a:latin typeface="+mn-lt"/>
              </a:rPr>
              <a:t> allow this!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Even if an attacker sees many signed messages, they </a:t>
            </a:r>
            <a:r>
              <a:rPr lang="en-US" sz="2100" b="1" dirty="0">
                <a:latin typeface="+mn-lt"/>
              </a:rPr>
              <a:t>should not</a:t>
            </a:r>
            <a:r>
              <a:rPr lang="en-US" sz="2100" dirty="0">
                <a:latin typeface="+mn-lt"/>
              </a:rPr>
              <a:t> be able to forge a signature for a new message.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If this attack works, the signature scheme is </a:t>
            </a:r>
            <a:r>
              <a:rPr lang="en-US" sz="2100" b="1" dirty="0">
                <a:latin typeface="+mn-lt"/>
              </a:rPr>
              <a:t>broken</a:t>
            </a:r>
            <a:r>
              <a:rPr lang="en-US" sz="2100" dirty="0">
                <a:latin typeface="+mn-lt"/>
              </a:rPr>
              <a:t> and unsafe.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Real-World Example : </a:t>
            </a:r>
            <a:r>
              <a:rPr lang="en-US" sz="2100" dirty="0">
                <a:solidFill>
                  <a:srgbClr val="FFFF00"/>
                </a:solidFill>
                <a:latin typeface="+mn-lt"/>
              </a:rPr>
              <a:t>Imagine</a:t>
            </a:r>
            <a:endParaRPr lang="en-US" sz="2100" dirty="0">
              <a:latin typeface="+mn-lt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You sign checks (</a:t>
            </a:r>
            <a:r>
              <a:rPr lang="en-US" sz="2100" b="1" dirty="0">
                <a:latin typeface="+mn-lt"/>
              </a:rPr>
              <a:t>m₀, m₁</a:t>
            </a:r>
            <a:r>
              <a:rPr lang="en-US" sz="2100" dirty="0">
                <a:latin typeface="+mn-lt"/>
              </a:rPr>
              <a:t>) with a special pen (private key).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Thief sees your signed checks and tries to </a:t>
            </a:r>
            <a:r>
              <a:rPr lang="en-US" sz="2100" b="1" dirty="0">
                <a:latin typeface="+mn-lt"/>
              </a:rPr>
              <a:t>forge a new check (M)</a:t>
            </a:r>
            <a:r>
              <a:rPr lang="en-US" sz="2100" dirty="0">
                <a:latin typeface="+mn-lt"/>
              </a:rPr>
              <a:t> with a fake signature.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If the bank (verification system) accepts it, the thief wins. A good signature system </a:t>
            </a:r>
            <a:r>
              <a:rPr lang="en-US" sz="2100" b="1" dirty="0">
                <a:latin typeface="+mn-lt"/>
              </a:rPr>
              <a:t>must reject fakes</a:t>
            </a:r>
            <a:r>
              <a:rPr lang="en-US" sz="2100" dirty="0">
                <a:latin typeface="+mn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This is why cryptographers design signatures (like ECDSA in Bitcoin) to be </a:t>
            </a:r>
            <a:r>
              <a:rPr lang="en-US" sz="21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unforgeable</a:t>
            </a: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—seeing past signatures shouldn’t help attackers create new ones.</a:t>
            </a:r>
          </a:p>
          <a:p>
            <a:pPr>
              <a:lnSpc>
                <a:spcPct val="150000"/>
              </a:lnSpc>
            </a:pPr>
            <a:endParaRPr lang="en-US" sz="21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35585544"/>
      </p:ext>
    </p:extLst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73060" y="228600"/>
            <a:ext cx="11314177" cy="6417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Practical Considerations in Digital Signatures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Digital signatures are a crucial part of cryptographic security systems, but their practical implementation requires careful attention to certain key aspects. 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Randomness Matters</a:t>
            </a:r>
            <a:r>
              <a:rPr lang="en-US" sz="2100" b="1" dirty="0">
                <a:latin typeface="+mn-lt"/>
              </a:rPr>
              <a:t>:</a:t>
            </a:r>
            <a:r>
              <a:rPr lang="en-US" sz="2100" dirty="0">
                <a:latin typeface="+mn-lt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+mn-lt"/>
              </a:rPr>
              <a:t>Digital signature security depends on </a:t>
            </a:r>
            <a:r>
              <a:rPr lang="en-US" sz="2100" b="1" dirty="0">
                <a:latin typeface="+mn-lt"/>
              </a:rPr>
              <a:t>strong, unpredictable randomness</a:t>
            </a:r>
            <a:r>
              <a:rPr lang="en-US" sz="2100" dirty="0">
                <a:latin typeface="+mn-lt"/>
              </a:rPr>
              <a:t>; weak randomness can lead to private key compromise.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Message Size Limitation</a:t>
            </a:r>
            <a:r>
              <a:rPr lang="en-US" sz="2100" b="1" dirty="0">
                <a:latin typeface="+mn-lt"/>
              </a:rPr>
              <a:t>:</a:t>
            </a:r>
            <a:r>
              <a:rPr lang="en-US" sz="2100" dirty="0">
                <a:latin typeface="+mn-lt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+mn-lt"/>
              </a:rPr>
              <a:t>Since digital signatures work with fixed-length messages, the </a:t>
            </a:r>
            <a:r>
              <a:rPr lang="en-US" sz="2100" b="1" dirty="0">
                <a:latin typeface="+mn-lt"/>
              </a:rPr>
              <a:t>solution is to sign the hash of the message instead</a:t>
            </a:r>
            <a:r>
              <a:rPr lang="en-US" sz="2100" dirty="0">
                <a:latin typeface="+mn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Hash Pointers</a:t>
            </a:r>
            <a:r>
              <a:rPr lang="en-US" sz="2100" b="1" dirty="0">
                <a:latin typeface="+mn-lt"/>
              </a:rPr>
              <a:t>:</a:t>
            </a:r>
            <a:r>
              <a:rPr lang="en-US" sz="2100" dirty="0">
                <a:latin typeface="+mn-lt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+mn-lt"/>
              </a:rPr>
              <a:t>Signing a hash pointer secures </a:t>
            </a:r>
            <a:r>
              <a:rPr lang="en-US" sz="2100" b="1" dirty="0">
                <a:latin typeface="+mn-lt"/>
              </a:rPr>
              <a:t>not just the pointer but the entire data structure it references</a:t>
            </a:r>
            <a:r>
              <a:rPr lang="en-US" sz="2100" dirty="0">
                <a:latin typeface="+mn-lt"/>
              </a:rPr>
              <a:t>, ensuring </a:t>
            </a:r>
            <a:r>
              <a:rPr lang="en-US" sz="2100" b="1" dirty="0">
                <a:latin typeface="+mn-lt"/>
              </a:rPr>
              <a:t>integrity and tamper resistance</a:t>
            </a:r>
            <a:r>
              <a:rPr lang="en-US" sz="2100" dirty="0">
                <a:latin typeface="+mn-lt"/>
              </a:rPr>
              <a:t> in systems like blockchains</a:t>
            </a:r>
            <a:r>
              <a:rPr lang="en-US" sz="20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221421"/>
      </p:ext>
    </p:extLst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07592" y="228600"/>
            <a:ext cx="11049000" cy="5374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+mn-lt"/>
                <a:cs typeface="Arial" pitchFamily="34" charset="0"/>
              </a:rPr>
              <a:t>ECDSA (Elliptic Curve Digital Signature Algorithm)</a:t>
            </a:r>
          </a:p>
          <a:p>
            <a:pPr marL="231775" marR="0" lvl="0" indent="109538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Used in Bitcoin.</a:t>
            </a:r>
          </a:p>
          <a:p>
            <a:pPr marL="231775" marR="0" lvl="0" indent="109538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Based on elliptic curves.</a:t>
            </a:r>
          </a:p>
          <a:p>
            <a:pPr marL="231775" marR="0" lvl="0" indent="109538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Provides </a:t>
            </a: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128-bit security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 (equivalent to 2^128 hash function operations).</a:t>
            </a:r>
          </a:p>
          <a:p>
            <a:pPr marL="231775" marR="0" lvl="0" indent="109538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Uses the </a:t>
            </a: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secp256k1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 curve (instead of the more common </a:t>
            </a: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secp256r1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+mn-lt"/>
                <a:cs typeface="Arial" pitchFamily="34" charset="0"/>
              </a:rPr>
              <a:t>Key Sizes in ECDSA</a:t>
            </a:r>
          </a:p>
          <a:p>
            <a:pPr marL="231775" marR="0" lvl="0" indent="4921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Private Key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: 256 bits</a:t>
            </a:r>
          </a:p>
          <a:p>
            <a:pPr marL="231775" marR="0" lvl="0" indent="4921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Public Key (Uncompressed)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: 512 bits</a:t>
            </a:r>
          </a:p>
          <a:p>
            <a:pPr marL="231775" marR="0" lvl="0" indent="4921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Public Key (Compressed)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: 257 bits</a:t>
            </a:r>
          </a:p>
          <a:p>
            <a:pPr marL="231775" marR="0" lvl="0" indent="4921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Message to be Signed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: 256 bits</a:t>
            </a:r>
          </a:p>
          <a:p>
            <a:pPr marL="231775" marR="0" lvl="0" indent="4921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Signature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: 512 bits</a:t>
            </a:r>
          </a:p>
        </p:txBody>
      </p:sp>
    </p:spTree>
    <p:extLst>
      <p:ext uri="{BB962C8B-B14F-4D97-AF65-F5344CB8AC3E}">
        <p14:creationId xmlns:p14="http://schemas.microsoft.com/office/powerpoint/2010/main" val="1043003498"/>
      </p:ext>
    </p:extLst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89011" y="127361"/>
            <a:ext cx="10685810" cy="4455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+mn-lt"/>
                <a:cs typeface="Arial" pitchFamily="34" charset="0"/>
              </a:rPr>
              <a:t>Security Concerns with ECDSA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Bad Randomness Can Leak Keys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Even using bad randomness for a </a:t>
            </a: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single signature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 can expose the private key.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Proper randomness is essential to prevent key leakage.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+mn-lt"/>
                <a:cs typeface="Arial" pitchFamily="34" charset="0"/>
              </a:rPr>
              <a:t>Cryptocurrency and Encryption</a:t>
            </a:r>
          </a:p>
          <a:p>
            <a:pPr marL="109538" marR="0" lvl="0" indent="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Bitcoin does NOT use encryption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.</a:t>
            </a:r>
          </a:p>
          <a:p>
            <a:pPr marL="109538" marR="0" lvl="0" indent="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Why?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 Nothing in Bitcoin needs to be hidden or encrypted.</a:t>
            </a:r>
          </a:p>
          <a:p>
            <a:pPr marL="109538" marR="0" lvl="0" indent="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Instead, Bitcoin relies on </a:t>
            </a:r>
            <a:r>
              <a:rPr kumimoji="0" 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cryptographic techniques like digital signatures and hash functions</a:t>
            </a:r>
            <a:r>
              <a:rPr kumimoji="0" 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713083"/>
      </p:ext>
    </p:extLst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1453" y="152400"/>
            <a:ext cx="11201400" cy="54245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1.4 Public Keys as Identities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1. Public Key as an Identity</a:t>
            </a:r>
          </a:p>
          <a:p>
            <a:pPr marL="342900" indent="-233363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A </a:t>
            </a:r>
            <a:r>
              <a:rPr lang="en-US" sz="2100" b="1" dirty="0">
                <a:latin typeface="+mn-lt"/>
              </a:rPr>
              <a:t>public key (</a:t>
            </a:r>
            <a:r>
              <a:rPr lang="en-US" sz="2100" b="1" dirty="0" err="1">
                <a:latin typeface="+mn-lt"/>
              </a:rPr>
              <a:t>pk</a:t>
            </a:r>
            <a:r>
              <a:rPr lang="en-US" sz="2100" b="1" dirty="0">
                <a:latin typeface="+mn-lt"/>
              </a:rPr>
              <a:t>)</a:t>
            </a:r>
            <a:r>
              <a:rPr lang="en-US" sz="2100" dirty="0">
                <a:latin typeface="+mn-lt"/>
              </a:rPr>
              <a:t> can act as an </a:t>
            </a:r>
            <a:r>
              <a:rPr lang="en-US" sz="2100" b="1" dirty="0">
                <a:latin typeface="+mn-lt"/>
              </a:rPr>
              <a:t>identity</a:t>
            </a:r>
            <a:r>
              <a:rPr lang="en-US" sz="2100" dirty="0">
                <a:latin typeface="+mn-lt"/>
              </a:rPr>
              <a:t> in a digital signature system.</a:t>
            </a:r>
          </a:p>
          <a:p>
            <a:pPr marL="342900" indent="-233363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If a message is signed and verified under a public key, it means </a:t>
            </a:r>
            <a:r>
              <a:rPr lang="en-US" sz="2100" b="1" dirty="0">
                <a:latin typeface="+mn-lt"/>
              </a:rPr>
              <a:t>public key is "saying" the message</a:t>
            </a:r>
            <a:r>
              <a:rPr lang="en-US" sz="2100" dirty="0">
                <a:latin typeface="+mn-lt"/>
              </a:rPr>
              <a:t>.</a:t>
            </a:r>
          </a:p>
          <a:p>
            <a:pPr marL="342900" indent="-233363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Only the person with the corresponding </a:t>
            </a:r>
            <a:r>
              <a:rPr lang="en-US" sz="2100" b="1" dirty="0">
                <a:latin typeface="+mn-lt"/>
              </a:rPr>
              <a:t>private key (</a:t>
            </a:r>
            <a:r>
              <a:rPr lang="en-US" sz="2100" b="1" dirty="0" err="1">
                <a:latin typeface="+mn-lt"/>
              </a:rPr>
              <a:t>sk</a:t>
            </a:r>
            <a:r>
              <a:rPr lang="en-US" sz="2100" b="1" dirty="0">
                <a:latin typeface="+mn-lt"/>
              </a:rPr>
              <a:t>)</a:t>
            </a:r>
            <a:r>
              <a:rPr lang="en-US" sz="2100" dirty="0">
                <a:latin typeface="+mn-lt"/>
              </a:rPr>
              <a:t> can sign messages for that identity.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latin typeface="+mn-lt"/>
              </a:rPr>
              <a:t>2</a:t>
            </a:r>
            <a:r>
              <a:rPr lang="en-US" sz="2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. Creating New Identities</a:t>
            </a:r>
          </a:p>
          <a:p>
            <a:pPr marL="342900" indent="-233363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We can create a new identity at any time by generating a </a:t>
            </a:r>
            <a:r>
              <a:rPr lang="en-US" sz="2100" b="1" dirty="0">
                <a:latin typeface="+mn-lt"/>
              </a:rPr>
              <a:t>new key pair (</a:t>
            </a:r>
            <a:r>
              <a:rPr lang="en-US" sz="2100" b="1" dirty="0" err="1">
                <a:latin typeface="+mn-lt"/>
              </a:rPr>
              <a:t>pk</a:t>
            </a:r>
            <a:r>
              <a:rPr lang="en-US" sz="2100" b="1" dirty="0">
                <a:latin typeface="+mn-lt"/>
              </a:rPr>
              <a:t>, </a:t>
            </a:r>
            <a:r>
              <a:rPr lang="en-US" sz="2100" b="1" dirty="0" err="1">
                <a:latin typeface="+mn-lt"/>
              </a:rPr>
              <a:t>sk</a:t>
            </a:r>
            <a:r>
              <a:rPr lang="en-US" sz="2100" b="1" dirty="0">
                <a:latin typeface="+mn-lt"/>
              </a:rPr>
              <a:t>)</a:t>
            </a:r>
            <a:r>
              <a:rPr lang="en-US" sz="2100" dirty="0">
                <a:latin typeface="+mn-lt"/>
              </a:rPr>
              <a:t>.</a:t>
            </a:r>
          </a:p>
          <a:p>
            <a:pPr marL="342900" indent="-233363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Instead of using the full public key, people often use the </a:t>
            </a:r>
            <a:r>
              <a:rPr lang="en-US" sz="2100" b="1" dirty="0">
                <a:latin typeface="+mn-lt"/>
              </a:rPr>
              <a:t>hash of </a:t>
            </a:r>
            <a:r>
              <a:rPr lang="en-US" sz="2100" b="1" dirty="0" err="1">
                <a:latin typeface="+mn-lt"/>
              </a:rPr>
              <a:t>pk</a:t>
            </a:r>
            <a:r>
              <a:rPr lang="en-US" sz="2100" dirty="0">
                <a:latin typeface="+mn-lt"/>
              </a:rPr>
              <a:t> as the identity to save space.</a:t>
            </a:r>
          </a:p>
          <a:p>
            <a:pPr marL="342900" indent="-233363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To verify a message: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+mn-lt"/>
              </a:rPr>
              <a:t>Check that </a:t>
            </a:r>
            <a:r>
              <a:rPr lang="en-US" sz="2100" b="1" dirty="0" err="1">
                <a:latin typeface="+mn-lt"/>
              </a:rPr>
              <a:t>pk</a:t>
            </a:r>
            <a:r>
              <a:rPr lang="en-US" sz="2100" b="1" dirty="0">
                <a:latin typeface="+mn-lt"/>
              </a:rPr>
              <a:t> hashes to the given identity</a:t>
            </a:r>
            <a:r>
              <a:rPr lang="en-US" sz="2100" dirty="0">
                <a:latin typeface="+mn-lt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+mn-lt"/>
              </a:rPr>
              <a:t>Verify the message signature using </a:t>
            </a:r>
            <a:r>
              <a:rPr lang="en-US" sz="2100" b="1" dirty="0">
                <a:latin typeface="+mn-lt"/>
              </a:rPr>
              <a:t>pk</a:t>
            </a:r>
            <a:r>
              <a:rPr lang="en-US" sz="2100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0179537"/>
      </p:ext>
    </p:extLst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34D055-AD2D-617D-261A-50917CAC2010}"/>
              </a:ext>
            </a:extLst>
          </p:cNvPr>
          <p:cNvSpPr txBox="1"/>
          <p:nvPr/>
        </p:nvSpPr>
        <p:spPr>
          <a:xfrm>
            <a:off x="836612" y="797511"/>
            <a:ext cx="10972800" cy="3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</a:rPr>
              <a:t>3. </a:t>
            </a:r>
            <a:r>
              <a:rPr lang="en-US" sz="2100" b="1" dirty="0">
                <a:solidFill>
                  <a:srgbClr val="FFFF00"/>
                </a:solidFill>
                <a:latin typeface="+mn-lt"/>
              </a:rPr>
              <a:t>Anonymity of Public Keys</a:t>
            </a:r>
          </a:p>
          <a:p>
            <a:pPr marL="180975" indent="841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Public keys </a:t>
            </a:r>
            <a:r>
              <a:rPr lang="en-US" sz="2100" b="1" dirty="0">
                <a:latin typeface="+mn-lt"/>
              </a:rPr>
              <a:t>look random</a:t>
            </a:r>
            <a:r>
              <a:rPr lang="en-US" sz="2100" dirty="0">
                <a:latin typeface="+mn-lt"/>
              </a:rPr>
              <a:t> and don’t reveal real-world identities.</a:t>
            </a:r>
          </a:p>
          <a:p>
            <a:pPr marL="180975" indent="841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You can create multiple identities and </a:t>
            </a:r>
            <a:r>
              <a:rPr lang="en-US" sz="2100" b="1" dirty="0">
                <a:latin typeface="+mn-lt"/>
              </a:rPr>
              <a:t>discard them</a:t>
            </a:r>
            <a:r>
              <a:rPr lang="en-US" sz="2100" dirty="0">
                <a:latin typeface="+mn-lt"/>
              </a:rPr>
              <a:t> when no longer needed.</a:t>
            </a:r>
          </a:p>
          <a:p>
            <a:pPr marL="180975" indent="841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Bitcoin follows this system—public key hashes are known as </a:t>
            </a:r>
            <a:r>
              <a:rPr lang="en-US" sz="2100" b="1" dirty="0">
                <a:latin typeface="+mn-lt"/>
              </a:rPr>
              <a:t>Bitcoin addresses</a:t>
            </a:r>
            <a:r>
              <a:rPr lang="en-US" sz="2100" dirty="0">
                <a:latin typeface="+mn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latin typeface="+mn-lt"/>
              </a:rPr>
              <a:t>4</a:t>
            </a:r>
            <a:r>
              <a:rPr lang="en-US" sz="2100" b="1" dirty="0">
                <a:solidFill>
                  <a:srgbClr val="FFFF00"/>
                </a:solidFill>
                <a:latin typeface="+mn-lt"/>
              </a:rPr>
              <a:t>. Decentralized Identity Management</a:t>
            </a:r>
          </a:p>
          <a:p>
            <a:pPr marL="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Unlike traditional systems, you don’t need a </a:t>
            </a:r>
            <a:r>
              <a:rPr lang="en-US" sz="2100" b="1" dirty="0">
                <a:latin typeface="+mn-lt"/>
              </a:rPr>
              <a:t>central authority</a:t>
            </a:r>
            <a:r>
              <a:rPr lang="en-US" sz="2100" dirty="0">
                <a:latin typeface="+mn-lt"/>
              </a:rPr>
              <a:t> to issue an identity.</a:t>
            </a:r>
          </a:p>
          <a:p>
            <a:pPr marL="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You can create multiple identities for </a:t>
            </a:r>
            <a:r>
              <a:rPr lang="en-US" sz="2100" b="1" dirty="0">
                <a:latin typeface="+mn-lt"/>
              </a:rPr>
              <a:t>different purposes</a:t>
            </a:r>
            <a:r>
              <a:rPr lang="en-US" sz="2100" dirty="0">
                <a:latin typeface="+mn-lt"/>
              </a:rPr>
              <a:t>.</a:t>
            </a:r>
          </a:p>
          <a:p>
            <a:pPr marL="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Bitcoin and other cryptocurrencies use this method for identity management.</a:t>
            </a:r>
          </a:p>
        </p:txBody>
      </p:sp>
    </p:spTree>
    <p:extLst>
      <p:ext uri="{BB962C8B-B14F-4D97-AF65-F5344CB8AC3E}">
        <p14:creationId xmlns:p14="http://schemas.microsoft.com/office/powerpoint/2010/main" val="1532313869"/>
      </p:ext>
    </p:extLst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B65534-0B1B-1EB5-F809-4D09B45EDE3B}"/>
              </a:ext>
            </a:extLst>
          </p:cNvPr>
          <p:cNvSpPr txBox="1"/>
          <p:nvPr/>
        </p:nvSpPr>
        <p:spPr>
          <a:xfrm>
            <a:off x="912812" y="381000"/>
            <a:ext cx="11125200" cy="4384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5. Security of Unique Identities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Can someone generate the </a:t>
            </a:r>
            <a:r>
              <a:rPr lang="en-US" sz="2100" b="1" dirty="0">
                <a:latin typeface="+mn-lt"/>
              </a:rPr>
              <a:t>same private key</a:t>
            </a:r>
            <a:r>
              <a:rPr lang="en-US" sz="2100" dirty="0">
                <a:latin typeface="+mn-lt"/>
              </a:rPr>
              <a:t> as you?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Almost </a:t>
            </a:r>
            <a:r>
              <a:rPr lang="en-US" sz="2100" b="1" dirty="0">
                <a:latin typeface="+mn-lt"/>
              </a:rPr>
              <a:t>impossible</a:t>
            </a:r>
            <a:r>
              <a:rPr lang="en-US" sz="2100" dirty="0">
                <a:latin typeface="+mn-lt"/>
              </a:rPr>
              <a:t> due to the huge number of possible key combinations (256-bit security).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However, weak or predictable </a:t>
            </a:r>
            <a:r>
              <a:rPr lang="en-US" sz="2100" b="1" dirty="0">
                <a:latin typeface="+mn-lt"/>
              </a:rPr>
              <a:t>randomness</a:t>
            </a:r>
            <a:r>
              <a:rPr lang="en-US" sz="2100" dirty="0">
                <a:latin typeface="+mn-lt"/>
              </a:rPr>
              <a:t> can cause security issues.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Using a </a:t>
            </a:r>
            <a:r>
              <a:rPr lang="en-US" sz="2100" b="1" dirty="0">
                <a:latin typeface="+mn-lt"/>
              </a:rPr>
              <a:t>strong random number generator</a:t>
            </a:r>
            <a:r>
              <a:rPr lang="en-US" sz="2100" dirty="0">
                <a:latin typeface="+mn-lt"/>
              </a:rPr>
              <a:t> is crucial.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6. Privacy Limitations</a:t>
            </a:r>
          </a:p>
          <a:p>
            <a:pPr marL="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Even though identities appear random, </a:t>
            </a:r>
            <a:r>
              <a:rPr lang="en-US" sz="2100" b="1" dirty="0">
                <a:latin typeface="+mn-lt"/>
              </a:rPr>
              <a:t>behavior patterns</a:t>
            </a:r>
            <a:r>
              <a:rPr lang="en-US" sz="2100" dirty="0">
                <a:latin typeface="+mn-lt"/>
              </a:rPr>
              <a:t> can reveal real identities.</a:t>
            </a:r>
          </a:p>
          <a:p>
            <a:pPr marL="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Transactions linked to an identity over time may allow people to </a:t>
            </a:r>
            <a:r>
              <a:rPr lang="en-US" sz="2100" b="1" dirty="0">
                <a:latin typeface="+mn-lt"/>
              </a:rPr>
              <a:t>infer the real person</a:t>
            </a:r>
            <a:r>
              <a:rPr lang="en-US" sz="2100" dirty="0">
                <a:latin typeface="+mn-lt"/>
              </a:rPr>
              <a:t> behind it.</a:t>
            </a:r>
          </a:p>
          <a:p>
            <a:pPr marL="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In Bitcoin, identity isn’t directly tied to your real-world name, but your </a:t>
            </a:r>
            <a:r>
              <a:rPr lang="en-US" sz="2000" b="1" dirty="0">
                <a:latin typeface="+mn-lt"/>
              </a:rPr>
              <a:t>actions can reveal who you are</a:t>
            </a:r>
            <a:r>
              <a:rPr lang="en-US" sz="2000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0600937"/>
      </p:ext>
    </p:extLst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12CAE3-BA9E-7059-73B9-18E639204D91}"/>
              </a:ext>
            </a:extLst>
          </p:cNvPr>
          <p:cNvSpPr txBox="1"/>
          <p:nvPr/>
        </p:nvSpPr>
        <p:spPr>
          <a:xfrm>
            <a:off x="921669" y="304800"/>
            <a:ext cx="11277600" cy="577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FF00"/>
                </a:solidFill>
                <a:latin typeface="+mn-lt"/>
              </a:rPr>
              <a:t>A Simple Cryptocurrency (</a:t>
            </a:r>
            <a:r>
              <a:rPr lang="en-US" sz="2000" b="1" dirty="0" err="1">
                <a:solidFill>
                  <a:srgbClr val="FFFF00"/>
                </a:solidFill>
                <a:latin typeface="+mn-lt"/>
              </a:rPr>
              <a:t>GoofyCoin</a:t>
            </a:r>
            <a:r>
              <a:rPr lang="en-US" sz="2000" b="1" dirty="0">
                <a:latin typeface="+mn-lt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Introduction to Cryptocurrencies</a:t>
            </a:r>
          </a:p>
          <a:p>
            <a:pPr marL="3603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Cryptography is important for making cryptocurrencies secure.</a:t>
            </a:r>
          </a:p>
          <a:p>
            <a:pPr marL="3603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Hash functions and digital signatures help create and verify digital money.</a:t>
            </a:r>
          </a:p>
          <a:p>
            <a:pPr marL="3603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Here we will explore a simple cryptocurrency called </a:t>
            </a:r>
            <a:r>
              <a:rPr lang="en-US" sz="2100" b="1" dirty="0" err="1">
                <a:latin typeface="+mn-lt"/>
              </a:rPr>
              <a:t>GoofyCoin</a:t>
            </a:r>
            <a:r>
              <a:rPr lang="en-US" sz="2100" dirty="0">
                <a:latin typeface="+mn-lt"/>
              </a:rPr>
              <a:t> to explain how it works.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Rules of </a:t>
            </a:r>
            <a:r>
              <a:rPr lang="en-US" sz="21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GoofyCoin</a:t>
            </a:r>
            <a:endParaRPr lang="en-US" sz="2100" b="1" dirty="0">
              <a:solidFill>
                <a:schemeClr val="accent1">
                  <a:lumMod val="40000"/>
                  <a:lumOff val="60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2100" dirty="0">
                <a:latin typeface="+mn-lt"/>
              </a:rPr>
              <a:t>Creating Coins , Transferring Coins and </a:t>
            </a:r>
            <a:r>
              <a:rPr lang="en-IN" sz="2100" dirty="0">
                <a:latin typeface="+mn-lt"/>
              </a:rPr>
              <a:t>Spending Coins </a:t>
            </a:r>
          </a:p>
          <a:p>
            <a:r>
              <a:rPr lang="en-US" sz="2000" b="1" dirty="0">
                <a:solidFill>
                  <a:srgbClr val="FFFF00"/>
                </a:solidFill>
                <a:latin typeface="+mn-lt"/>
              </a:rPr>
              <a:t>Creating Coins 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latin typeface="+mn-lt"/>
              </a:rPr>
              <a:t>Goofy, the creator, can generate new coins anytime.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latin typeface="+mn-lt"/>
              </a:rPr>
              <a:t>Each coin has a </a:t>
            </a:r>
            <a:r>
              <a:rPr lang="en-US" sz="2000" b="1" dirty="0">
                <a:latin typeface="+mn-lt"/>
              </a:rPr>
              <a:t>unique ID</a:t>
            </a:r>
            <a:r>
              <a:rPr lang="en-US" sz="2000" dirty="0">
                <a:latin typeface="+mn-lt"/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latin typeface="+mn-lt"/>
              </a:rPr>
              <a:t>Goofy creates a statement: </a:t>
            </a:r>
            <a:r>
              <a:rPr lang="en-US" sz="2000" b="1" dirty="0">
                <a:latin typeface="+mn-lt"/>
              </a:rPr>
              <a:t>“</a:t>
            </a:r>
            <a:r>
              <a:rPr lang="en-US" sz="2000" b="1" dirty="0" err="1">
                <a:latin typeface="+mn-lt"/>
              </a:rPr>
              <a:t>CreateCoin</a:t>
            </a:r>
            <a:r>
              <a:rPr lang="en-US" sz="2000" b="1" dirty="0">
                <a:latin typeface="+mn-lt"/>
              </a:rPr>
              <a:t> [</a:t>
            </a:r>
            <a:r>
              <a:rPr lang="en-US" sz="2000" b="1" dirty="0" err="1">
                <a:latin typeface="+mn-lt"/>
              </a:rPr>
              <a:t>uniqueCoinID</a:t>
            </a:r>
            <a:r>
              <a:rPr lang="en-US" sz="2000" b="1" dirty="0">
                <a:latin typeface="+mn-lt"/>
              </a:rPr>
              <a:t>]”</a:t>
            </a:r>
            <a:r>
              <a:rPr lang="en-US" sz="2000" dirty="0">
                <a:latin typeface="+mn-lt"/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latin typeface="+mn-lt"/>
              </a:rPr>
              <a:t>He signs this statement with his secret key.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latin typeface="+mn-lt"/>
              </a:rPr>
              <a:t>The signed statement is the coin.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latin typeface="+mn-lt"/>
              </a:rPr>
              <a:t>Anyone can verify the coin using </a:t>
            </a:r>
            <a:r>
              <a:rPr lang="en-US" sz="2000" dirty="0" err="1">
                <a:latin typeface="+mn-lt"/>
              </a:rPr>
              <a:t>Goofy’s</a:t>
            </a:r>
            <a:r>
              <a:rPr lang="en-US" sz="2000" dirty="0">
                <a:latin typeface="+mn-lt"/>
              </a:rPr>
              <a:t> signature.</a:t>
            </a:r>
          </a:p>
          <a:p>
            <a:pPr marL="742950" lvl="1" indent="-285750">
              <a:buFont typeface="+mj-lt"/>
              <a:buAutoNum type="arabicPeriod"/>
            </a:pP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70632933"/>
      </p:ext>
    </p:extLst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12CAE3-BA9E-7059-73B9-18E639204D91}"/>
              </a:ext>
            </a:extLst>
          </p:cNvPr>
          <p:cNvSpPr txBox="1"/>
          <p:nvPr/>
        </p:nvSpPr>
        <p:spPr>
          <a:xfrm>
            <a:off x="836612" y="0"/>
            <a:ext cx="11277600" cy="6055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+mn-lt"/>
              </a:rPr>
              <a:t>2</a:t>
            </a: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.Transferring Coins</a:t>
            </a:r>
            <a:endParaRPr lang="en-US" sz="2000" dirty="0">
              <a:solidFill>
                <a:schemeClr val="accent1">
                  <a:lumMod val="40000"/>
                  <a:lumOff val="60000"/>
                </a:schemeClr>
              </a:solidFill>
              <a:latin typeface="+mn-lt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+mn-lt"/>
              </a:rPr>
              <a:t>The owner of a coin can transfer it to someone else.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+mn-lt"/>
              </a:rPr>
              <a:t>Example: Goofy transfers a coin to Alice. </a:t>
            </a:r>
          </a:p>
          <a:p>
            <a:pPr marL="1143000" lvl="2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+mn-lt"/>
              </a:rPr>
              <a:t>He creates a statement: </a:t>
            </a:r>
            <a:r>
              <a:rPr lang="en-US" sz="2000" b="1" dirty="0">
                <a:latin typeface="+mn-lt"/>
              </a:rPr>
              <a:t>“Pay this to Alice”</a:t>
            </a:r>
            <a:r>
              <a:rPr lang="en-US" sz="2000" dirty="0">
                <a:latin typeface="+mn-lt"/>
              </a:rPr>
              <a:t> (where "this" is the coin reference).</a:t>
            </a:r>
          </a:p>
          <a:p>
            <a:pPr marL="1143000" lvl="2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+mn-lt"/>
              </a:rPr>
              <a:t>Alice is identified by her </a:t>
            </a:r>
            <a:r>
              <a:rPr lang="en-US" sz="2000" b="1" dirty="0">
                <a:latin typeface="+mn-lt"/>
              </a:rPr>
              <a:t>public key</a:t>
            </a:r>
            <a:r>
              <a:rPr lang="en-US" sz="2000" dirty="0">
                <a:latin typeface="+mn-lt"/>
              </a:rPr>
              <a:t>.</a:t>
            </a:r>
          </a:p>
          <a:p>
            <a:pPr marL="1143000" lvl="2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+mn-lt"/>
              </a:rPr>
              <a:t>Goofy signs the statement.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+mn-lt"/>
              </a:rPr>
              <a:t>Once signed, the coin now belongs to Alice.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n-lt"/>
              </a:rPr>
              <a:t>3. </a:t>
            </a:r>
            <a:r>
              <a:rPr lang="en-US" sz="2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pending Coins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Alice can transfer the coin to Bob by: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Creating a statement: </a:t>
            </a:r>
            <a:r>
              <a:rPr lang="en-US" sz="2100" b="1" dirty="0">
                <a:latin typeface="+mn-lt"/>
              </a:rPr>
              <a:t>“Pay this coin to Bob’s public key”</a:t>
            </a:r>
            <a:r>
              <a:rPr lang="en-US" sz="2100" dirty="0">
                <a:latin typeface="+mn-lt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Signing it with her private key.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Anyone can check the chain of transactions to confirm Bob now owns the coin.</a:t>
            </a:r>
          </a:p>
          <a:p>
            <a:pPr marL="457200" lvl="1" indent="-373063"/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08035159"/>
      </p:ext>
    </p:extLst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F704B6-3252-3EF9-6F06-CBD3DCC3F863}"/>
              </a:ext>
            </a:extLst>
          </p:cNvPr>
          <p:cNvSpPr txBox="1"/>
          <p:nvPr/>
        </p:nvSpPr>
        <p:spPr>
          <a:xfrm>
            <a:off x="836612" y="533400"/>
            <a:ext cx="10972800" cy="2032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How Ownership is Verified</a:t>
            </a:r>
          </a:p>
          <a:p>
            <a:pPr marL="84138" indent="968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Each coin contains a </a:t>
            </a:r>
            <a:r>
              <a:rPr lang="en-US" sz="2100" b="1" dirty="0">
                <a:latin typeface="+mn-lt"/>
              </a:rPr>
              <a:t>chain of signatures</a:t>
            </a:r>
            <a:r>
              <a:rPr lang="en-US" sz="2100" dirty="0">
                <a:latin typeface="+mn-lt"/>
              </a:rPr>
              <a:t> proving ownership.</a:t>
            </a:r>
          </a:p>
          <a:p>
            <a:pPr marL="84138" indent="968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A new owner must have a valid signed statement from the previous owner.</a:t>
            </a:r>
          </a:p>
          <a:p>
            <a:pPr marL="84138" indent="968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By following the signatures back to the original coin, anyone can verify if the coin is genuine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1401457"/>
      </p:ext>
    </p:extLst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3"/>
          <p:cNvSpPr>
            <a:spLocks noGrp="1"/>
          </p:cNvSpPr>
          <p:nvPr>
            <p:ph type="title"/>
          </p:nvPr>
        </p:nvSpPr>
        <p:spPr>
          <a:xfrm>
            <a:off x="1625600" y="2209800"/>
            <a:ext cx="8937625" cy="2763838"/>
          </a:xfrm>
        </p:spPr>
        <p:txBody>
          <a:bodyPr/>
          <a:lstStyle/>
          <a:p>
            <a:pPr eaLnBrk="1" hangingPunct="1"/>
            <a:r>
              <a:rPr lang="en-IN"/>
              <a:t>Thank You</a:t>
            </a:r>
          </a:p>
        </p:txBody>
      </p:sp>
      <p:pic>
        <p:nvPicPr>
          <p:cNvPr id="104452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42113" y="150813"/>
            <a:ext cx="4733925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453" name="Picture 5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612" y="152400"/>
            <a:ext cx="1066801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LongProperties xmlns="http://schemas.microsoft.com/office/2006/metadata/longProperties">
  <LongProp xmlns="" name="APDescription"><![CDATA[This simple template design works for technology and  businesses, but it's versatile enough to use in other contexts.  It features multiple slide layouts designed for widescreen (16x9 resolution) and includes a sample SmartArt list and chart that are easily editable.]]></LongProp>
</Long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AssetExpire xmlns="4873beb7-5857-4685-be1f-d57550cc96cc">2029-05-12T07:00:00+00:00</AssetExpire>
    <CampaignTagsTaxHTField0 xmlns="4873beb7-5857-4685-be1f-d57550cc96cc" xsi:nil="true"/>
    <IntlLangReviewDate xmlns="4873beb7-5857-4685-be1f-d57550cc96cc" xsi:nil="true"/>
    <TPFriendlyName xmlns="4873beb7-5857-4685-be1f-d57550cc96cc" xsi:nil="true"/>
    <IntlLangReview xmlns="4873beb7-5857-4685-be1f-d57550cc96cc" xsi:nil="true"/>
    <LocLastLocAttemptVersionLookup xmlns="4873beb7-5857-4685-be1f-d57550cc96cc">694266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2011-11-26T00:30:00+00:00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 xmlns="4873beb7-5857-4685-be1f-d57550cc96cc">1345093</Value>
    </PublishStatusLookup>
    <APAuthor xmlns="4873beb7-5857-4685-be1f-d57550cc96cc">
      <UserInfo xmlns="4873beb7-5857-4685-be1f-d57550cc96cc">
        <DisplayName xmlns="4873beb7-5857-4685-be1f-d57550cc96cc">REDMOND\kristaa</DisplayName>
        <AccountId xmlns="4873beb7-5857-4685-be1f-d57550cc96cc">136</AccountId>
        <AccountType xmlns="4873beb7-5857-4685-be1f-d57550cc96cc"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false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 xsi:nil="true"/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 xsi:nil="true"/>
    <Provider xmlns="4873beb7-5857-4685-be1f-d57550cc96cc" xsi:nil="true"/>
    <UACurrentWords xmlns="4873beb7-5857-4685-be1f-d57550cc96cc" xsi:nil="true"/>
    <AssetId xmlns="4873beb7-5857-4685-be1f-d57550cc96cc">TP102787989</AssetId>
    <TPClientViewer xmlns="4873beb7-5857-4685-be1f-d57550cc96cc" xsi:nil="true"/>
    <DSATActionTaken xmlns="4873beb7-5857-4685-be1f-d57550cc96cc" xsi:nil="true"/>
    <APEditor xmlns="4873beb7-5857-4685-be1f-d57550cc96cc">
      <UserInfo xmlns="4873beb7-5857-4685-be1f-d57550cc96cc">
        <DisplayName xmlns="4873beb7-5857-4685-be1f-d57550cc96cc"/>
        <AccountId xmlns="4873beb7-5857-4685-be1f-d57550cc96cc" xsi:nil="true"/>
        <AccountType xmlns="4873beb7-5857-4685-be1f-d57550cc96cc"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 xsi:nil="true"/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 xsi:nil="true"/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A705800F-9CFB-45D4-A25C-59EC2F8E6A2A}">
  <ds:schemaRefs>
    <ds:schemaRef ds:uri="http://schemas.microsoft.com/office/2006/metadata/longProperties"/>
    <ds:schemaRef ds:uri="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678BE2-CAE6-48C2-8030-97377E88EB10}">
  <ds:schemaRefs>
    <ds:schemaRef ds:uri="http://schemas.microsoft.com/office/2006/documentManagement/types"/>
    <ds:schemaRef ds:uri="4873beb7-5857-4685-be1f-d57550cc96cc"/>
    <ds:schemaRef ds:uri="http://purl.org/dc/terms/"/>
    <ds:schemaRef ds:uri="http://purl.org/dc/dcmitype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69841</TotalTime>
  <Words>4336</Words>
  <Application>Microsoft Office PowerPoint</Application>
  <PresentationFormat>Custom</PresentationFormat>
  <Paragraphs>370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Calibri</vt:lpstr>
      <vt:lpstr>Wingdings</vt:lpstr>
      <vt:lpstr>Tech 16x9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Old Traditional Financial Arrangements</vt:lpstr>
      <vt:lpstr>Introduction to Cryptography &amp; Cryptocurrencies</vt:lpstr>
      <vt:lpstr>Cryptographic Hash Functions</vt:lpstr>
      <vt:lpstr>Cryptographic Hash Functions: Collision-Resistance Property</vt:lpstr>
      <vt:lpstr>Cryptographic Hash Functions</vt:lpstr>
      <vt:lpstr>PowerPoint Presentation</vt:lpstr>
      <vt:lpstr>Core properties of cryptographic hash functions</vt:lpstr>
      <vt:lpstr>Cryptographic Hash Functions</vt:lpstr>
      <vt:lpstr>Cryptographic Hash Functions</vt:lpstr>
      <vt:lpstr>Cryptographic Hash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Hash Pointers and Data Structures</vt:lpstr>
      <vt:lpstr>Hash Pointers and Data Structures</vt:lpstr>
      <vt:lpstr>SHA-256 hash and its construction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Grand Alumni Meet 2018</dc:title>
  <dc:creator>Sandesh Jain</dc:creator>
  <cp:lastModifiedBy>Admin</cp:lastModifiedBy>
  <cp:revision>577</cp:revision>
  <dcterms:created xsi:type="dcterms:W3CDTF">2018-01-11T05:53:44Z</dcterms:created>
  <dcterms:modified xsi:type="dcterms:W3CDTF">2025-03-29T11:41:44Z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  <property fmtid="{D5CDD505-2E9C-101B-9397-08002B2CF9AE}" pid="8" name="LocPublishedLinkedAssetsLookup">
    <vt:lpwstr/>
  </property>
  <property fmtid="{D5CDD505-2E9C-101B-9397-08002B2CF9AE}" pid="9" name="LocLastLocAttemptVersionTypeLookup">
    <vt:lpwstr/>
  </property>
  <property fmtid="{D5CDD505-2E9C-101B-9397-08002B2CF9AE}" pid="10" name="LocNewPublishedVersionLookup">
    <vt:lpwstr/>
  </property>
  <property fmtid="{D5CDD505-2E9C-101B-9397-08002B2CF9AE}" pid="11" name="LocOverallPublishStatusLookup">
    <vt:lpwstr/>
  </property>
  <property fmtid="{D5CDD505-2E9C-101B-9397-08002B2CF9AE}" pid="12" name="LocOverallLocStatusLookup">
    <vt:lpwstr/>
  </property>
  <property fmtid="{D5CDD505-2E9C-101B-9397-08002B2CF9AE}" pid="13" name="LocPublishedDependentAssetsLookup">
    <vt:lpwstr/>
  </property>
  <property fmtid="{D5CDD505-2E9C-101B-9397-08002B2CF9AE}" pid="14" name="LocProcessedForHandoffsLookup">
    <vt:lpwstr/>
  </property>
  <property fmtid="{D5CDD505-2E9C-101B-9397-08002B2CF9AE}" pid="15" name="LocOverallPreviewStatusLookup">
    <vt:lpwstr/>
  </property>
  <property fmtid="{D5CDD505-2E9C-101B-9397-08002B2CF9AE}" pid="16" name="LocProcessedForMarketsLookup">
    <vt:lpwstr/>
  </property>
  <property fmtid="{D5CDD505-2E9C-101B-9397-08002B2CF9AE}" pid="17" name="LocOverallHandbackStatusLookup">
    <vt:lpwstr/>
  </property>
</Properties>
</file>