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467" r:id="rId5"/>
    <p:sldId id="530" r:id="rId6"/>
    <p:sldId id="531" r:id="rId7"/>
    <p:sldId id="564" r:id="rId8"/>
    <p:sldId id="534" r:id="rId9"/>
    <p:sldId id="532" r:id="rId10"/>
    <p:sldId id="533" r:id="rId11"/>
    <p:sldId id="565" r:id="rId12"/>
    <p:sldId id="566" r:id="rId13"/>
    <p:sldId id="567" r:id="rId14"/>
    <p:sldId id="568" r:id="rId15"/>
    <p:sldId id="569" r:id="rId16"/>
    <p:sldId id="570" r:id="rId17"/>
    <p:sldId id="572" r:id="rId18"/>
    <p:sldId id="571" r:id="rId19"/>
    <p:sldId id="573" r:id="rId20"/>
    <p:sldId id="574" r:id="rId21"/>
    <p:sldId id="576" r:id="rId22"/>
    <p:sldId id="577" r:id="rId23"/>
    <p:sldId id="578" r:id="rId24"/>
    <p:sldId id="579" r:id="rId25"/>
    <p:sldId id="281" r:id="rId26"/>
  </p:sldIdLst>
  <p:sldSz cx="12188825" cy="6858000"/>
  <p:notesSz cx="6858000" cy="9144000"/>
  <p:defaultTextStyle>
    <a:defPPr>
      <a:defRPr lang="en-US"/>
    </a:defPPr>
    <a:lvl1pPr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608013" indent="-150813"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1217613" indent="-303213"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827213" indent="-455613"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2436813" indent="-608013" algn="l" defTabSz="1217613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5500"/>
    <a:srgbClr val="5F6F0F"/>
    <a:srgbClr val="003300"/>
    <a:srgbClr val="394404"/>
    <a:srgbClr val="718412"/>
    <a:srgbClr val="65741A"/>
    <a:srgbClr val="70811D"/>
    <a:srgbClr val="7B8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>
        <p:scale>
          <a:sx n="84" d="100"/>
          <a:sy n="84" d="100"/>
        </p:scale>
        <p:origin x="306" y="-49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8044A08-AC35-459C-8880-4AA2F6825F5E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D23A41B-A5B2-4F0A-AB6F-127F48FAF2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70451AE-7C4B-48DF-AB6D-8BA502E3C746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noProof="0"/>
              <a:t>Click to edit Master text styles</a:t>
            </a:r>
          </a:p>
          <a:p>
            <a:pPr lvl="1"/>
            <a:r>
              <a:rPr noProof="0"/>
              <a:t>Second level</a:t>
            </a:r>
          </a:p>
          <a:p>
            <a:pPr lvl="2"/>
            <a:r>
              <a:rPr noProof="0"/>
              <a:t>Third level</a:t>
            </a:r>
          </a:p>
          <a:p>
            <a:pPr lvl="3"/>
            <a:r>
              <a:rPr noProof="0"/>
              <a:t>Fourth level</a:t>
            </a:r>
          </a:p>
          <a:p>
            <a:pPr lvl="4"/>
            <a:r>
              <a:rPr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AC3D420D-1281-4EC5-8334-0935612A36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769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8013"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7613"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7213"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6813" algn="l" defTabSz="12176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diagonals"/>
          <p:cNvGrpSpPr>
            <a:grpSpLocks/>
          </p:cNvGrpSpPr>
          <p:nvPr/>
        </p:nvGrpSpPr>
        <p:grpSpPr bwMode="auto">
          <a:xfrm>
            <a:off x="7516813" y="4144963"/>
            <a:ext cx="4686300" cy="2732087"/>
            <a:chOff x="5638800" y="3108960"/>
            <a:chExt cx="3515503" cy="2048555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bottom lines"/>
          <p:cNvGrpSpPr>
            <a:grpSpLocks/>
          </p:cNvGrpSpPr>
          <p:nvPr/>
        </p:nvGrpSpPr>
        <p:grpSpPr bwMode="auto">
          <a:xfrm>
            <a:off x="-9525" y="6057900"/>
            <a:ext cx="5499100" cy="819150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E666B-37D6-49C2-B790-902394033D60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1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421BB-D869-4555-9CD3-953BE300B8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34A51-BFE8-4855-A742-FA0BABADCA21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4D998-8B9A-4407-B13E-A81E5D3213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diagonals"/>
          <p:cNvGrpSpPr>
            <a:grpSpLocks/>
          </p:cNvGrpSpPr>
          <p:nvPr/>
        </p:nvGrpSpPr>
        <p:grpSpPr bwMode="auto">
          <a:xfrm>
            <a:off x="7516813" y="4144963"/>
            <a:ext cx="4686300" cy="2732087"/>
            <a:chOff x="5638800" y="3108960"/>
            <a:chExt cx="3515503" cy="2048555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C7800-B608-4AC1-A816-39D8642B938A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BF2D7-9B3D-4D51-BC25-6F3041517F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8D6C4D-9869-4E55-912B-A06BC5B89D71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F5F06-2BED-4F6D-ABFD-5A3A31BA26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1CAD0-C63C-4376-93BA-1E3612D18DE4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83891-C3E6-49E7-9851-3BD9B466BC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75076-E24A-4071-974D-9EF923BB62EF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8E7EE-6AE0-4884-AF59-3FA0C45E93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BF02BF-E6B1-4B3E-8660-DC4E590D6D65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A01E0-9CC8-4ABD-B1F6-A5AE4480F9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C04BA7-A310-4F0D-9020-2C7148B2E856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790B9-A1D0-47A4-B582-7A1DC94BD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lvl="0"/>
            <a:r>
              <a:rPr lang="en-US" noProof="0"/>
              <a:t>Click icon to add picture</a:t>
            </a:r>
            <a:endParaRPr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62063-E244-490E-8793-56334D53BC8F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90781-9460-4A1D-9EB7-4F4C796165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CEA86-1F4C-4AA7-929B-20D8CFD583CB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995C6-84FE-47FA-8E52-DD31ED980E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F8D3E-918E-4A10-B1F0-3CFFDF356615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DEEB-41BD-44AE-8144-97FF8427A0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left lines"/>
          <p:cNvGrpSpPr>
            <a:grpSpLocks/>
          </p:cNvGrpSpPr>
          <p:nvPr/>
        </p:nvGrpSpPr>
        <p:grpSpPr bwMode="auto">
          <a:xfrm>
            <a:off x="-15875" y="-3175"/>
            <a:ext cx="820738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/>
            </a:p>
          </p:txBody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0025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899" tIns="60949" rIns="121899" bIns="60949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19200" y="1701800"/>
            <a:ext cx="1036002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9200" y="6356350"/>
            <a:ext cx="2233613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9D090FA-0C5E-479E-89C7-80128BEE3A8E}" type="datetimeFigureOut">
              <a:rPr lang="en-US"/>
              <a:pPr>
                <a:defRPr/>
              </a:pPr>
              <a:t>4/1/2025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2813" y="6356350"/>
            <a:ext cx="52832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defTabSz="1218987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225" y="6356350"/>
            <a:ext cx="1016000" cy="365125"/>
          </a:xfrm>
          <a:prstGeom prst="rect">
            <a:avLst/>
          </a:prstGeom>
        </p:spPr>
        <p:txBody>
          <a:bodyPr vert="horz" wrap="square" lIns="121899" tIns="60949" rIns="121899" bIns="6094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886225D-D816-4AFB-9339-89B404853F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165" r:id="rId1"/>
    <p:sldLayoutId id="2147484156" r:id="rId2"/>
    <p:sldLayoutId id="214748416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  <p:sldLayoutId id="2147484163" r:id="rId10"/>
    <p:sldLayoutId id="2147484164" r:id="rId11"/>
  </p:sldLayoutIdLst>
  <p:transition spd="med">
    <p:fade/>
  </p:transition>
  <p:txStyles>
    <p:titleStyle>
      <a:lvl1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defTabSz="12176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defTabSz="1217613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defTabSz="1217613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defTabSz="1217613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defTabSz="1217613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03213" indent="-303213" algn="l" defTabSz="1217613" rtl="0" eaLnBrk="0" fontAlgn="base" hangingPunct="0">
        <a:lnSpc>
          <a:spcPct val="90000"/>
        </a:lnSpc>
        <a:spcBef>
          <a:spcPts val="1600"/>
        </a:spcBef>
        <a:spcAft>
          <a:spcPct val="0"/>
        </a:spcAft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8013" indent="-230188" algn="l" defTabSz="1217613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13" indent="-230188" algn="l" defTabSz="1217613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7613" indent="-230188" algn="l" defTabSz="1217613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2413" indent="-230188" algn="l" defTabSz="1217613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8813" y="5842000"/>
            <a:ext cx="137001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 flipV="1">
            <a:off x="9828213" y="4724400"/>
            <a:ext cx="2360612" cy="21336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9447213" y="4419600"/>
            <a:ext cx="2741612" cy="24384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370012" y="218888"/>
            <a:ext cx="10287000" cy="92411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lIns="121899" tIns="60949" rIns="121899" bIns="60949" anchor="b"/>
          <a:lstStyle/>
          <a:p>
            <a:pPr algn="ctr">
              <a:lnSpc>
                <a:spcPct val="90000"/>
              </a:lnSpc>
              <a:defRPr/>
            </a:pPr>
            <a:r>
              <a:rPr lang="en-US" sz="2600" dirty="0">
                <a:solidFill>
                  <a:schemeClr val="bg1"/>
                </a:solidFill>
                <a:latin typeface="+mn-lt"/>
              </a:rPr>
              <a:t>Contents- Unit-IV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2600" dirty="0">
                <a:solidFill>
                  <a:schemeClr val="bg1"/>
                </a:solidFill>
                <a:latin typeface="+mn-lt"/>
              </a:rPr>
              <a:t>Bitcoin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12" y="1295400"/>
            <a:ext cx="10439400" cy="325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effectLst/>
                <a:latin typeface="+mn-lt"/>
                <a:ea typeface="Calibri" panose="020F0502020204030204" pitchFamily="34" charset="0"/>
              </a:rPr>
              <a:t>Bitcoin: </a:t>
            </a:r>
            <a:endParaRPr lang="en-IN" sz="2800" dirty="0">
              <a:effectLst/>
              <a:latin typeface="+mn-lt"/>
              <a:ea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effectLst/>
                <a:latin typeface="+mn-lt"/>
                <a:ea typeface="Calibri" panose="020F0502020204030204" pitchFamily="34" charset="0"/>
              </a:rPr>
              <a:t>Centralization vs. Decentralization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effectLst/>
                <a:latin typeface="+mn-lt"/>
                <a:ea typeface="Calibri" panose="020F0502020204030204" pitchFamily="34" charset="0"/>
              </a:rPr>
              <a:t>Distributed consensus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effectLst/>
                <a:latin typeface="+mn-lt"/>
                <a:ea typeface="Calibri" panose="020F0502020204030204" pitchFamily="34" charset="0"/>
              </a:rPr>
              <a:t>Consensus without identity using a block chain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effectLst/>
                <a:latin typeface="+mn-lt"/>
                <a:ea typeface="Calibri" panose="020F0502020204030204" pitchFamily="34" charset="0"/>
              </a:rPr>
              <a:t>Incentives and proof of work</a:t>
            </a:r>
            <a:endParaRPr lang="en-IN" sz="2800" dirty="0">
              <a:latin typeface="+mn-lt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36612" y="228600"/>
            <a:ext cx="11125200" cy="6341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100" b="0" i="0" dirty="0">
                <a:effectLst/>
                <a:latin typeface="+mn-lt"/>
              </a:rPr>
              <a:t>Here in this unit we try to explore how Bitcoin achieves decentralization through a mix of technical mechanisms and incentive engineering. Key points include: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n-lt"/>
              </a:rPr>
              <a:t>Decentralization vs. Centralization</a:t>
            </a:r>
            <a:r>
              <a:rPr lang="en-US" sz="2100" b="0" i="0" dirty="0">
                <a:effectLst/>
                <a:latin typeface="+mn-lt"/>
              </a:rPr>
              <a:t>: Bitcoin balances these paradigms, with no single authority controlling the system.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n-lt"/>
              </a:rPr>
              <a:t>Distributed Consensus</a:t>
            </a:r>
            <a:r>
              <a:rPr lang="en-US" sz="2100" b="0" i="0" dirty="0">
                <a:effectLst/>
                <a:latin typeface="+mn-lt"/>
              </a:rPr>
              <a:t>: Nodes agree on transaction validity using a blockchain, ensuring a shared ledger without central control.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n-lt"/>
              </a:rPr>
              <a:t>Proof-of-Work (Mining)</a:t>
            </a:r>
            <a:r>
              <a:rPr lang="en-US" sz="2100" b="0" i="0" dirty="0">
                <a:solidFill>
                  <a:srgbClr val="FFFF00"/>
                </a:solidFill>
                <a:effectLst/>
                <a:latin typeface="+mn-lt"/>
              </a:rPr>
              <a:t>: </a:t>
            </a:r>
            <a:r>
              <a:rPr lang="en-US" sz="2100" b="0" i="0" dirty="0">
                <a:effectLst/>
                <a:latin typeface="+mn-lt"/>
              </a:rPr>
              <a:t>Miners compete to solve cryptographic puzzles to add blocks, earning rewards (new bitcoins and fees). This secures the network and prevents Sybil attacks.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n-lt"/>
              </a:rPr>
              <a:t>Incentives</a:t>
            </a:r>
            <a:r>
              <a:rPr lang="en-US" sz="2100" b="0" i="0" dirty="0">
                <a:effectLst/>
                <a:latin typeface="+mn-lt"/>
              </a:rPr>
              <a:t>: Block rewards and transaction fees motivate honest participation.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n-lt"/>
              </a:rPr>
              <a:t>Security</a:t>
            </a:r>
            <a:r>
              <a:rPr lang="en-US" sz="2100" b="0" i="0" dirty="0">
                <a:effectLst/>
                <a:latin typeface="+mn-lt"/>
              </a:rPr>
              <a:t>: A 51% attack (controlling most mining power) could disrupt consensus but cannot steal coins or alter transaction history due to cryptographic safeguards.</a:t>
            </a:r>
          </a:p>
          <a:p>
            <a:pPr algn="l">
              <a:lnSpc>
                <a:spcPct val="150000"/>
              </a:lnSpc>
            </a:pPr>
            <a:r>
              <a:rPr lang="en-US" sz="21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Bitcoin’s design ensures trustless, decentralized operation by aligning economic incentives with network security.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953694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813" y="164387"/>
            <a:ext cx="11048999" cy="5928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b="1" dirty="0">
                <a:solidFill>
                  <a:srgbClr val="FFFF00"/>
                </a:solidFill>
                <a:latin typeface="+mn-lt"/>
              </a:rPr>
              <a:t>Centralization vs. Decentralization</a:t>
            </a:r>
            <a:endParaRPr lang="en-US" b="1" i="0" dirty="0">
              <a:solidFill>
                <a:srgbClr val="FFFF00"/>
              </a:solidFill>
              <a:effectLst/>
              <a:latin typeface="+mn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n-lt"/>
              </a:rPr>
              <a:t>Decentralization</a:t>
            </a:r>
            <a:r>
              <a:rPr lang="en-US" sz="2100" b="0" i="0" dirty="0">
                <a:effectLst/>
                <a:latin typeface="+mn-lt"/>
              </a:rPr>
              <a:t> = No single entity controls everything (e.g., Bitcoin, email).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n-lt"/>
              </a:rPr>
              <a:t>Centralization</a:t>
            </a:r>
            <a:r>
              <a:rPr lang="en-US" sz="2100" b="0" i="0" dirty="0">
                <a:effectLst/>
                <a:latin typeface="+mn-lt"/>
              </a:rPr>
              <a:t> = Controlled by one or a few entities (e.g., Facebook, banks).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0" i="0" dirty="0">
                <a:effectLst/>
                <a:latin typeface="+mn-lt"/>
              </a:rPr>
              <a:t>Decentralization is an important concept in many technologies, including Bitcoin.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K</a:t>
            </a:r>
            <a:r>
              <a:rPr lang="en-US" sz="2100" b="0" i="0" dirty="0">
                <a:effectLst/>
                <a:latin typeface="+mn-lt"/>
              </a:rPr>
              <a:t>ey conflict is between centralized systems (controlled by a single entity) and decentralized systems (controlled by many independent participants).</a:t>
            </a:r>
          </a:p>
          <a:p>
            <a:pPr algn="l">
              <a:lnSpc>
                <a:spcPct val="150000"/>
              </a:lnSpc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n-lt"/>
              </a:rPr>
              <a:t>Examples</a:t>
            </a:r>
            <a:r>
              <a:rPr lang="en-US" sz="2100" b="1" i="0" dirty="0">
                <a:effectLst/>
                <a:latin typeface="+mn-lt"/>
              </a:rPr>
              <a:t>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effectLst/>
                <a:latin typeface="+mn-lt"/>
              </a:rPr>
              <a:t>Internet</a:t>
            </a:r>
            <a:r>
              <a:rPr lang="en-US" sz="2100" b="0" i="0" dirty="0">
                <a:effectLst/>
                <a:latin typeface="+mn-lt"/>
              </a:rPr>
              <a:t> – Mostly decentralized (no single owner).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effectLst/>
                <a:latin typeface="+mn-lt"/>
              </a:rPr>
              <a:t>Email (SMTP)</a:t>
            </a:r>
            <a:r>
              <a:rPr lang="en-US" sz="2100" b="0" i="0" dirty="0">
                <a:effectLst/>
                <a:latin typeface="+mn-lt"/>
              </a:rPr>
              <a:t> – Decentralized (anyone can run a server), but big providers (Gmail, Yahoo) 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effectLst/>
                <a:latin typeface="+mn-lt"/>
              </a:rPr>
              <a:t>Social Media (Facebook, LinkedIn)</a:t>
            </a:r>
            <a:r>
              <a:rPr lang="en-US" sz="2100" b="0" i="0" dirty="0">
                <a:effectLst/>
                <a:latin typeface="+mn-lt"/>
              </a:rPr>
              <a:t> – Centralized (one company controls everything).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effectLst/>
                <a:latin typeface="+mn-lt"/>
              </a:rPr>
              <a:t>Bitcoin</a:t>
            </a:r>
            <a:r>
              <a:rPr lang="en-US" sz="2100" b="0" i="0" dirty="0">
                <a:effectLst/>
                <a:latin typeface="+mn-lt"/>
              </a:rPr>
              <a:t> –Decentralized in theory, but some parts (like mining) are more centralized due to high costs.</a:t>
            </a:r>
            <a:endParaRPr lang="en-US" sz="2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B420C34-6B62-1E26-6771-EC5F13221FB8}"/>
              </a:ext>
            </a:extLst>
          </p:cNvPr>
          <p:cNvSpPr txBox="1"/>
          <p:nvPr/>
        </p:nvSpPr>
        <p:spPr>
          <a:xfrm>
            <a:off x="328822" y="6092869"/>
            <a:ext cx="116329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Most systems are not fully centralized or fully decentralized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; they exist on a spectrum.</a:t>
            </a:r>
            <a:endParaRPr lang="en-IN" sz="220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457038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B2F9CE1-22E5-0112-3676-2F081AB29EAC}"/>
              </a:ext>
            </a:extLst>
          </p:cNvPr>
          <p:cNvSpPr txBox="1"/>
          <p:nvPr/>
        </p:nvSpPr>
        <p:spPr>
          <a:xfrm>
            <a:off x="836612" y="228600"/>
            <a:ext cx="10972800" cy="2465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How Decentralization Relates to Bitcoin</a:t>
            </a:r>
          </a:p>
          <a:p>
            <a:pPr marL="179388" indent="3603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Bitcoin is decentralized</a:t>
            </a:r>
            <a:r>
              <a:rPr lang="en-US" sz="2100" dirty="0">
                <a:latin typeface="+mn-lt"/>
              </a:rPr>
              <a:t>, but some parts of the ecosystem may still have centralized elements.</a:t>
            </a:r>
          </a:p>
          <a:p>
            <a:pPr marL="179388" indent="3603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Examples of centralization in Bitcoin:</a:t>
            </a:r>
            <a:r>
              <a:rPr lang="en-US" sz="2100" dirty="0">
                <a:latin typeface="+mn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Bitcoin exchanges</a:t>
            </a:r>
            <a:r>
              <a:rPr lang="en-US" sz="2100" dirty="0">
                <a:latin typeface="+mn-lt"/>
              </a:rPr>
              <a:t> (where you trade Bitcoin for other currencies).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Bitcoin wallets</a:t>
            </a:r>
            <a:r>
              <a:rPr lang="en-US" sz="2100" dirty="0">
                <a:latin typeface="+mn-lt"/>
              </a:rPr>
              <a:t> (software to manage your Bitcoin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7848412-CE0F-B8CC-28B9-1E00F9250C36}"/>
              </a:ext>
            </a:extLst>
          </p:cNvPr>
          <p:cNvSpPr txBox="1"/>
          <p:nvPr/>
        </p:nvSpPr>
        <p:spPr>
          <a:xfrm>
            <a:off x="858758" y="2694596"/>
            <a:ext cx="10972800" cy="349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n-lt"/>
              </a:rPr>
              <a:t>Bitcoin’s Decentralization Questions: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effectLst/>
                <a:latin typeface="+mn-lt"/>
              </a:rPr>
              <a:t>Who keeps the transaction ledger?</a:t>
            </a:r>
            <a:r>
              <a:rPr lang="en-US" sz="2100" b="0" i="0" dirty="0">
                <a:effectLst/>
                <a:latin typeface="+mn-lt"/>
              </a:rPr>
              <a:t> → Everyone (nodes in the network).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effectLst/>
                <a:latin typeface="+mn-lt"/>
              </a:rPr>
              <a:t>Who decides if a transaction is valid?</a:t>
            </a:r>
            <a:r>
              <a:rPr lang="en-US" sz="2100" b="0" i="0" dirty="0">
                <a:effectLst/>
                <a:latin typeface="+mn-lt"/>
              </a:rPr>
              <a:t> → Miners &amp; nodes (through consensus).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effectLst/>
                <a:latin typeface="+mn-lt"/>
              </a:rPr>
              <a:t>Who creates new bitcoins?</a:t>
            </a:r>
            <a:r>
              <a:rPr lang="en-US" sz="2100" b="0" i="0" dirty="0">
                <a:effectLst/>
                <a:latin typeface="+mn-lt"/>
              </a:rPr>
              <a:t> → Miners (by solving puzzles).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effectLst/>
                <a:latin typeface="+mn-lt"/>
              </a:rPr>
              <a:t>Who changes Bitcoin’s rules?</a:t>
            </a:r>
            <a:r>
              <a:rPr lang="en-US" sz="2100" b="0" i="0" dirty="0">
                <a:effectLst/>
                <a:latin typeface="+mn-lt"/>
              </a:rPr>
              <a:t> → Developers &amp; community (but changes must be widely accepted).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sz="2100" b="1" i="0" dirty="0">
                <a:effectLst/>
                <a:latin typeface="+mn-lt"/>
              </a:rPr>
              <a:t>What gives Bitcoin value?</a:t>
            </a:r>
            <a:r>
              <a:rPr lang="en-US" sz="2100" b="0" i="0" dirty="0">
                <a:effectLst/>
                <a:latin typeface="+mn-lt"/>
              </a:rPr>
              <a:t> → People’s trust &amp; demand (like gold or stocks</a:t>
            </a:r>
            <a:r>
              <a:rPr lang="en-US" sz="2100" dirty="0">
                <a:latin typeface="+mn-lt"/>
              </a:rPr>
              <a:t>)</a:t>
            </a:r>
            <a:r>
              <a:rPr lang="en-US" sz="2100" b="0" i="0" dirty="0">
                <a:solidFill>
                  <a:srgbClr val="404040"/>
                </a:solidFill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2105655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BB4BA66-B05A-40F5-1FD3-5BC8B4437F80}"/>
              </a:ext>
            </a:extLst>
          </p:cNvPr>
          <p:cNvSpPr txBox="1"/>
          <p:nvPr/>
        </p:nvSpPr>
        <p:spPr>
          <a:xfrm>
            <a:off x="760412" y="381000"/>
            <a:ext cx="11580813" cy="511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00"/>
                </a:solidFill>
                <a:latin typeface="+mn-lt"/>
              </a:rPr>
              <a:t>Decentralization in Different Aspects of Bitcoin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</a:rPr>
              <a:t>Bitcoin Network (Highly Decentralized)</a:t>
            </a:r>
            <a:r>
              <a:rPr lang="en-US" sz="2200" dirty="0">
                <a:latin typeface="+mn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Anyone can run a Bitcoin node (a computer that supports the Bitcoin system).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Thousands of nodes exist worldwide.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</a:rPr>
              <a:t>Bitcoin Mining (Becoming Centralized)</a:t>
            </a:r>
            <a:r>
              <a:rPr lang="en-US" sz="2200" dirty="0">
                <a:latin typeface="+mn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Anyone can mine Bitcoin, but it requires expensive hardware.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This has led to power being concentrated among a few big mining groups.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</a:rPr>
              <a:t>Bitcoin Software Updates (Partially Centralized)</a:t>
            </a:r>
            <a:r>
              <a:rPr lang="en-US" sz="2200" dirty="0">
                <a:latin typeface="+mn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The Bitcoin software is open-source, but most nodes run the "reference" version.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Developers of this version have significant influence over system change</a:t>
            </a:r>
          </a:p>
        </p:txBody>
      </p:sp>
    </p:spTree>
    <p:extLst>
      <p:ext uri="{BB962C8B-B14F-4D97-AF65-F5344CB8AC3E}">
        <p14:creationId xmlns:p14="http://schemas.microsoft.com/office/powerpoint/2010/main" val="264613966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3082" y="-152400"/>
            <a:ext cx="11048999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b="1" i="0" dirty="0">
                <a:solidFill>
                  <a:srgbClr val="FFFF00"/>
                </a:solidFill>
                <a:effectLst/>
                <a:latin typeface="+mj-lt"/>
              </a:rPr>
              <a:t>Distributed Consensus</a:t>
            </a:r>
            <a:endParaRPr lang="en-US" sz="23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AF50068-69A8-A608-88B1-87BFB2957833}"/>
              </a:ext>
            </a:extLst>
          </p:cNvPr>
          <p:cNvSpPr txBox="1"/>
          <p:nvPr/>
        </p:nvSpPr>
        <p:spPr>
          <a:xfrm>
            <a:off x="855208" y="304800"/>
            <a:ext cx="10916330" cy="6682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1" i="0" dirty="0">
                <a:effectLst/>
                <a:latin typeface="+mj-lt"/>
              </a:rPr>
              <a:t>Let’s First see Distributed Consensus vs. Consensus</a:t>
            </a:r>
          </a:p>
          <a:p>
            <a:pPr algn="l">
              <a:lnSpc>
                <a:spcPct val="150000"/>
              </a:lnSpc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n-lt"/>
              </a:rPr>
              <a:t>1. Consensus (General Meaning)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Definition:</a:t>
            </a:r>
            <a:r>
              <a:rPr lang="en-US" sz="2100" b="0" i="0" dirty="0">
                <a:effectLst/>
                <a:latin typeface="+mj-lt"/>
              </a:rPr>
              <a:t> A group agrees on a single decision.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Example:</a:t>
            </a:r>
            <a:r>
              <a:rPr lang="en-US" sz="2100" b="0" i="0" dirty="0">
                <a:effectLst/>
                <a:latin typeface="+mj-lt"/>
              </a:rPr>
              <a:t> Friends deciding where to eat.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Key Features:</a:t>
            </a:r>
            <a:endParaRPr lang="en-US" sz="2100" b="0" i="0" dirty="0">
              <a:effectLst/>
              <a:latin typeface="+mj-lt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0" i="0" dirty="0">
                <a:effectLst/>
                <a:latin typeface="+mj-lt"/>
              </a:rPr>
              <a:t>Can be </a:t>
            </a:r>
            <a:r>
              <a:rPr lang="en-US" sz="2100" b="1" i="0" dirty="0">
                <a:effectLst/>
                <a:latin typeface="+mj-lt"/>
              </a:rPr>
              <a:t>centralized</a:t>
            </a:r>
            <a:r>
              <a:rPr lang="en-US" sz="2100" b="0" i="0" dirty="0">
                <a:effectLst/>
                <a:latin typeface="+mj-lt"/>
              </a:rPr>
              <a:t> (e.g., a leader decides).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0" i="0" dirty="0">
                <a:effectLst/>
                <a:latin typeface="+mj-lt"/>
              </a:rPr>
              <a:t>Works in </a:t>
            </a:r>
            <a:r>
              <a:rPr lang="en-US" sz="2100" b="1" i="0" dirty="0">
                <a:effectLst/>
                <a:latin typeface="+mj-lt"/>
              </a:rPr>
              <a:t>small, trusted groups</a:t>
            </a:r>
            <a:r>
              <a:rPr lang="en-US" sz="2100" b="0" i="0" dirty="0">
                <a:effectLst/>
                <a:latin typeface="+mj-lt"/>
              </a:rPr>
              <a:t> (no malicious actors).</a:t>
            </a:r>
          </a:p>
          <a:p>
            <a:pPr algn="l">
              <a:lnSpc>
                <a:spcPct val="150000"/>
              </a:lnSpc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j-lt"/>
              </a:rPr>
              <a:t>2. Distributed Consensus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Definition:</a:t>
            </a:r>
            <a:r>
              <a:rPr lang="en-US" sz="2100" b="0" i="0" dirty="0">
                <a:effectLst/>
                <a:latin typeface="+mj-lt"/>
              </a:rPr>
              <a:t> Many computers (nodes) agree on data </a:t>
            </a:r>
            <a:r>
              <a:rPr lang="en-US" sz="2100" b="1" i="0" dirty="0">
                <a:effectLst/>
                <a:latin typeface="+mj-lt"/>
              </a:rPr>
              <a:t>without a central leader</a:t>
            </a:r>
            <a:r>
              <a:rPr lang="en-US" sz="2100" b="0" i="0" dirty="0">
                <a:effectLst/>
                <a:latin typeface="+mj-lt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Example:</a:t>
            </a:r>
            <a:r>
              <a:rPr lang="en-US" sz="2100" b="0" i="0" dirty="0">
                <a:effectLst/>
                <a:latin typeface="+mj-lt"/>
              </a:rPr>
              <a:t> Bitcoin miners agreeing on transaction history.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Key Features:</a:t>
            </a:r>
            <a:endParaRPr lang="en-US" sz="2100" b="0" i="0" dirty="0">
              <a:effectLst/>
              <a:latin typeface="+mj-lt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Decentralized</a:t>
            </a:r>
            <a:r>
              <a:rPr lang="en-US" sz="2100" b="0" i="0" dirty="0">
                <a:effectLst/>
                <a:latin typeface="+mj-lt"/>
              </a:rPr>
              <a:t> (no single authority).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0" i="0" dirty="0">
                <a:effectLst/>
                <a:latin typeface="+mj-lt"/>
              </a:rPr>
              <a:t>Must handle </a:t>
            </a:r>
            <a:r>
              <a:rPr lang="en-US" sz="2100" b="1" i="0" dirty="0">
                <a:effectLst/>
                <a:latin typeface="+mj-lt"/>
              </a:rPr>
              <a:t>malicious nodes, delays, failures</a:t>
            </a:r>
            <a:r>
              <a:rPr lang="en-US" sz="2100" b="0" i="0" dirty="0">
                <a:effectLst/>
                <a:latin typeface="+mj-lt"/>
              </a:rPr>
              <a:t>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j-lt"/>
              </a:rPr>
              <a:t>Ha</a:t>
            </a:r>
            <a:r>
              <a:rPr lang="en-US" sz="2100" b="0" i="0" dirty="0">
                <a:effectLst/>
                <a:latin typeface="+mj-lt"/>
              </a:rPr>
              <a:t>rder because of </a:t>
            </a:r>
            <a:r>
              <a:rPr lang="en-US" sz="2100" b="1" i="0" dirty="0">
                <a:effectLst/>
                <a:latin typeface="+mj-lt"/>
              </a:rPr>
              <a:t>Byzantine Generals Problem</a:t>
            </a:r>
            <a:r>
              <a:rPr lang="en-US" sz="2100" b="0" i="0" dirty="0">
                <a:effectLst/>
                <a:latin typeface="+mj-lt"/>
              </a:rPr>
              <a:t> (traitors can lie).</a:t>
            </a:r>
            <a:endParaRPr lang="en-IN" sz="2200" b="1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7076113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2813" y="164387"/>
            <a:ext cx="11048999" cy="598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j-lt"/>
              </a:rPr>
              <a:t>What is Distributed Consensus?</a:t>
            </a:r>
          </a:p>
          <a:p>
            <a:pPr marL="449263" indent="-274638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Goal:</a:t>
            </a:r>
            <a:r>
              <a:rPr lang="en-US" sz="2100" b="0" i="0" dirty="0">
                <a:effectLst/>
                <a:latin typeface="+mj-lt"/>
              </a:rPr>
              <a:t> Get all honest computers (nodes) in a network to </a:t>
            </a:r>
            <a:r>
              <a:rPr lang="en-US" sz="2100" b="1" i="0" dirty="0">
                <a:effectLst/>
                <a:latin typeface="+mj-lt"/>
              </a:rPr>
              <a:t>agree</a:t>
            </a:r>
            <a:r>
              <a:rPr lang="en-US" sz="2100" b="0" i="0" dirty="0">
                <a:effectLst/>
                <a:latin typeface="+mj-lt"/>
              </a:rPr>
              <a:t> on something (e.g., Bitcoin transactions).</a:t>
            </a:r>
          </a:p>
          <a:p>
            <a:pPr marL="449263" indent="-274638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Problem:</a:t>
            </a:r>
            <a:r>
              <a:rPr lang="en-US" sz="2100" b="0" i="0" dirty="0">
                <a:effectLst/>
                <a:latin typeface="+mj-lt"/>
              </a:rPr>
              <a:t> Some nodes might be </a:t>
            </a:r>
            <a:r>
              <a:rPr lang="en-US" sz="2100" b="1" i="0" dirty="0">
                <a:effectLst/>
                <a:latin typeface="+mj-lt"/>
              </a:rPr>
              <a:t>malicious</a:t>
            </a:r>
            <a:r>
              <a:rPr lang="en-US" sz="2100" b="0" i="0" dirty="0">
                <a:effectLst/>
                <a:latin typeface="+mj-lt"/>
              </a:rPr>
              <a:t> or </a:t>
            </a:r>
            <a:r>
              <a:rPr lang="en-US" sz="2100" b="1" i="0" dirty="0">
                <a:effectLst/>
                <a:latin typeface="+mj-lt"/>
              </a:rPr>
              <a:t>fail</a:t>
            </a:r>
            <a:r>
              <a:rPr lang="en-US" sz="2100" b="0" i="0" dirty="0">
                <a:effectLst/>
                <a:latin typeface="+mj-lt"/>
              </a:rPr>
              <a:t>, and the network is </a:t>
            </a:r>
            <a:r>
              <a:rPr lang="en-US" sz="2100" b="1" i="0" dirty="0">
                <a:effectLst/>
                <a:latin typeface="+mj-lt"/>
              </a:rPr>
              <a:t>slow/unreliable</a:t>
            </a:r>
            <a:r>
              <a:rPr lang="en-US" sz="2100" b="0" i="0" dirty="0">
                <a:effectLst/>
                <a:latin typeface="+mj-lt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100" b="1" i="0" dirty="0">
                <a:solidFill>
                  <a:srgbClr val="FFFF00"/>
                </a:solidFill>
                <a:effectLst/>
                <a:latin typeface="+mj-lt"/>
              </a:rPr>
              <a:t>How Bitcoin Uses Consensus</a:t>
            </a:r>
            <a:r>
              <a:rPr lang="en-US" sz="2100" b="1" i="0" dirty="0">
                <a:effectLst/>
                <a:latin typeface="+mj-lt"/>
              </a:rPr>
              <a:t>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1" i="0" dirty="0">
                <a:effectLst/>
                <a:latin typeface="+mj-lt"/>
              </a:rPr>
              <a:t>Transactions are Broadcast</a:t>
            </a:r>
            <a:endParaRPr lang="en-US" sz="2100" b="0" i="0" dirty="0">
              <a:effectLst/>
              <a:latin typeface="+mj-lt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0" i="0" dirty="0">
                <a:effectLst/>
                <a:latin typeface="+mj-lt"/>
              </a:rPr>
              <a:t>When Alice pays Bob, she sends the transaction to </a:t>
            </a:r>
            <a:r>
              <a:rPr lang="en-US" sz="2100" b="1" i="0" dirty="0">
                <a:effectLst/>
                <a:latin typeface="+mj-lt"/>
              </a:rPr>
              <a:t>all Bitcoin nodes</a:t>
            </a:r>
            <a:r>
              <a:rPr lang="en-US" sz="2100" b="0" i="0" dirty="0">
                <a:effectLst/>
                <a:latin typeface="+mj-lt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0" i="0" dirty="0">
                <a:effectLst/>
                <a:latin typeface="+mj-lt"/>
              </a:rPr>
              <a:t>Nodes collect these transactions into a </a:t>
            </a:r>
            <a:r>
              <a:rPr lang="en-US" sz="2100" b="1" i="0" dirty="0">
                <a:effectLst/>
                <a:latin typeface="+mj-lt"/>
              </a:rPr>
              <a:t>pool</a:t>
            </a:r>
            <a:r>
              <a:rPr lang="en-US" sz="2100" b="0" i="0" dirty="0">
                <a:effectLst/>
                <a:latin typeface="+mj-lt"/>
              </a:rPr>
              <a:t> (waiting to be confirmed).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1" i="0" dirty="0">
                <a:effectLst/>
                <a:latin typeface="+mj-lt"/>
              </a:rPr>
              <a:t>Blocks = Batches of Transactions</a:t>
            </a:r>
            <a:endParaRPr lang="en-US" sz="2100" b="0" i="0" dirty="0">
              <a:effectLst/>
              <a:latin typeface="+mj-lt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0" i="0" dirty="0">
                <a:effectLst/>
                <a:latin typeface="+mj-lt"/>
              </a:rPr>
              <a:t>Every ~10 minutes, nodes group transactions into a </a:t>
            </a:r>
            <a:r>
              <a:rPr lang="en-US" sz="2100" b="1" i="0" dirty="0">
                <a:effectLst/>
                <a:latin typeface="+mj-lt"/>
              </a:rPr>
              <a:t>block</a:t>
            </a:r>
            <a:r>
              <a:rPr lang="en-US" sz="2100" b="0" i="0" dirty="0">
                <a:effectLst/>
                <a:latin typeface="+mj-lt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0" i="0" dirty="0">
                <a:effectLst/>
                <a:latin typeface="+mj-lt"/>
              </a:rPr>
              <a:t>Nodes must agree on </a:t>
            </a:r>
            <a:r>
              <a:rPr lang="en-US" sz="2100" b="1" i="0" dirty="0">
                <a:effectLst/>
                <a:latin typeface="+mj-lt"/>
              </a:rPr>
              <a:t>which block</a:t>
            </a:r>
            <a:r>
              <a:rPr lang="en-US" sz="2100" b="0" i="0" dirty="0">
                <a:effectLst/>
                <a:latin typeface="+mj-lt"/>
              </a:rPr>
              <a:t> gets added to the </a:t>
            </a:r>
            <a:r>
              <a:rPr lang="en-US" sz="2100" b="1" i="0" dirty="0">
                <a:effectLst/>
                <a:latin typeface="+mj-lt"/>
              </a:rPr>
              <a:t>blockchain</a:t>
            </a:r>
            <a:r>
              <a:rPr lang="en-US" sz="2100" b="0" i="0" dirty="0">
                <a:effectLst/>
                <a:latin typeface="+mj-lt"/>
              </a:rPr>
              <a:t> (the public ledger).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1" i="0" dirty="0">
                <a:effectLst/>
                <a:latin typeface="+mj-lt"/>
              </a:rPr>
              <a:t>Challenges:</a:t>
            </a:r>
            <a:endParaRPr lang="en-US" sz="2100" b="0" i="0" dirty="0">
              <a:effectLst/>
              <a:latin typeface="+mj-lt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1" i="0" dirty="0">
                <a:effectLst/>
                <a:latin typeface="+mj-lt"/>
              </a:rPr>
              <a:t>No central authority</a:t>
            </a:r>
            <a:r>
              <a:rPr lang="en-US" sz="2100" b="0" i="0" dirty="0">
                <a:effectLst/>
                <a:latin typeface="+mj-lt"/>
              </a:rPr>
              <a:t> to decide.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1" i="0" dirty="0">
                <a:effectLst/>
                <a:latin typeface="+mj-lt"/>
              </a:rPr>
              <a:t>Network delays</a:t>
            </a:r>
            <a:r>
              <a:rPr lang="en-US" sz="2100" b="0" i="0" dirty="0">
                <a:effectLst/>
                <a:latin typeface="+mj-lt"/>
              </a:rPr>
              <a:t> mean nodes might see transactions in different orders.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100" b="1" i="0" dirty="0">
                <a:effectLst/>
                <a:latin typeface="+mj-lt"/>
              </a:rPr>
              <a:t>Malicious nodes</a:t>
            </a:r>
            <a:r>
              <a:rPr lang="en-US" sz="2100" b="0" i="0" dirty="0">
                <a:effectLst/>
                <a:latin typeface="+mj-lt"/>
              </a:rPr>
              <a:t> could try to cheat (e.g., double-spending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).</a:t>
            </a:r>
            <a:endParaRPr lang="en-US" sz="23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5411566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FA857B9-CE5C-3250-A7A5-C6A91275CA79}"/>
              </a:ext>
            </a:extLst>
          </p:cNvPr>
          <p:cNvSpPr txBox="1"/>
          <p:nvPr/>
        </p:nvSpPr>
        <p:spPr>
          <a:xfrm>
            <a:off x="989012" y="431807"/>
            <a:ext cx="10972800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Why is Distributed Consensus Important?</a:t>
            </a:r>
          </a:p>
          <a:p>
            <a:pPr marL="182563" indent="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Used in computer networks, social media platforms, and blockchain technology.</a:t>
            </a:r>
          </a:p>
          <a:p>
            <a:pPr marL="182563" indent="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Helps keep records synchronized across multiple computers.</a:t>
            </a:r>
          </a:p>
          <a:p>
            <a:pPr marL="182563" indent="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Prevents fraud and ensures a single, agreed-upon version of the data.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How Does Distributed Consensus Work?</a:t>
            </a:r>
          </a:p>
          <a:p>
            <a:pPr marL="182563" indent="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Multiple nodes propose their own version of a record (block).</a:t>
            </a:r>
          </a:p>
          <a:p>
            <a:pPr marL="182563" indent="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A protocol decides which version is valid.</a:t>
            </a:r>
          </a:p>
          <a:p>
            <a:pPr marL="182563" indent="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Honest nodes must agree on a single value (transaction record).</a:t>
            </a:r>
          </a:p>
          <a:p>
            <a:pPr marL="182563" indent="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The chosen value must come from an honest node.</a:t>
            </a:r>
          </a:p>
        </p:txBody>
      </p:sp>
    </p:spTree>
    <p:extLst>
      <p:ext uri="{BB962C8B-B14F-4D97-AF65-F5344CB8AC3E}">
        <p14:creationId xmlns:p14="http://schemas.microsoft.com/office/powerpoint/2010/main" val="3141248793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AC1AD9A-E5FD-D63A-E050-F11FAF82D73A}"/>
              </a:ext>
            </a:extLst>
          </p:cNvPr>
          <p:cNvSpPr txBox="1"/>
          <p:nvPr/>
        </p:nvSpPr>
        <p:spPr>
          <a:xfrm>
            <a:off x="912812" y="58847"/>
            <a:ext cx="10972800" cy="5374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Distributed Consensus in Bitcoin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Bitcoin is a </a:t>
            </a:r>
            <a:r>
              <a:rPr lang="en-US" sz="2100" b="1" dirty="0">
                <a:latin typeface="+mn-lt"/>
              </a:rPr>
              <a:t>peer-to-peer</a:t>
            </a:r>
            <a:r>
              <a:rPr lang="en-US" sz="2100" dirty="0">
                <a:latin typeface="+mn-lt"/>
              </a:rPr>
              <a:t> network where transactions are broadcast to all nodes.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Nodes must </a:t>
            </a:r>
            <a:r>
              <a:rPr lang="en-US" sz="2100" b="1" dirty="0">
                <a:latin typeface="+mn-lt"/>
              </a:rPr>
              <a:t>agree</a:t>
            </a:r>
            <a:r>
              <a:rPr lang="en-US" sz="2100" dirty="0">
                <a:latin typeface="+mn-lt"/>
              </a:rPr>
              <a:t> 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Which transactions are valid.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The order in which they happened.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Transactions are grouped into </a:t>
            </a:r>
            <a:r>
              <a:rPr lang="en-US" sz="2100" b="1" dirty="0">
                <a:latin typeface="+mn-lt"/>
              </a:rPr>
              <a:t>blocks</a:t>
            </a:r>
            <a:r>
              <a:rPr lang="en-US" sz="2100" dirty="0">
                <a:latin typeface="+mn-lt"/>
              </a:rPr>
              <a:t>, and consensus happens block by block.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+mn-lt"/>
              </a:rPr>
              <a:t>Some nodes may have different versions of pending transactions due to network delays.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Challenges in Achieving Consensus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Network Imperfections:</a:t>
            </a:r>
            <a:r>
              <a:rPr lang="en-US" sz="2100" dirty="0">
                <a:latin typeface="+mn-lt"/>
              </a:rPr>
              <a:t> Internet delays, disconnected nodes.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Malicious Nodes:</a:t>
            </a:r>
            <a:r>
              <a:rPr lang="en-US" sz="2100" dirty="0">
                <a:latin typeface="+mn-lt"/>
              </a:rPr>
              <a:t> Some nodes may try to cheat the system.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No Global Time:</a:t>
            </a:r>
            <a:r>
              <a:rPr lang="en-US" sz="2100" dirty="0">
                <a:latin typeface="+mn-lt"/>
              </a:rPr>
              <a:t> Different nodes may see events happening in different orders</a:t>
            </a:r>
          </a:p>
        </p:txBody>
      </p:sp>
    </p:spTree>
    <p:extLst>
      <p:ext uri="{BB962C8B-B14F-4D97-AF65-F5344CB8AC3E}">
        <p14:creationId xmlns:p14="http://schemas.microsoft.com/office/powerpoint/2010/main" val="4218459919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E69BA3A-B58B-626B-F912-56F289C8BC52}"/>
              </a:ext>
            </a:extLst>
          </p:cNvPr>
          <p:cNvSpPr txBox="1"/>
          <p:nvPr/>
        </p:nvSpPr>
        <p:spPr>
          <a:xfrm>
            <a:off x="912812" y="428179"/>
            <a:ext cx="11049000" cy="3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Consensus Problems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Byzantine Generals Problem:</a:t>
            </a:r>
            <a:r>
              <a:rPr lang="en-US" sz="2100" dirty="0">
                <a:latin typeface="+mn-lt"/>
              </a:rPr>
              <a:t> If 1/3 of nodes are dishonest, agreement is impossible.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Fischer-Lynch-Paterson Theorem:</a:t>
            </a:r>
            <a:r>
              <a:rPr lang="en-US" sz="2100" dirty="0">
                <a:latin typeface="+mn-lt"/>
              </a:rPr>
              <a:t> With even one faulty node, perfect consensus is impossible in certain conditions.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Bitcoin’s Unique Approach to Consensus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Incentives:</a:t>
            </a:r>
            <a:r>
              <a:rPr lang="en-US" sz="2100" dirty="0">
                <a:latin typeface="+mn-lt"/>
              </a:rPr>
              <a:t> Bitcoin miners are rewarded for following the rules.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Randomization:</a:t>
            </a:r>
            <a:r>
              <a:rPr lang="en-US" sz="2100" dirty="0">
                <a:latin typeface="+mn-lt"/>
              </a:rPr>
              <a:t> Bitcoin’s algorithm relies on randomness (Proof of Work).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+mn-lt"/>
              </a:rPr>
              <a:t>No Fixed Consensus Time:</a:t>
            </a:r>
            <a:r>
              <a:rPr lang="en-US" sz="2100" dirty="0">
                <a:latin typeface="+mn-lt"/>
              </a:rPr>
              <a:t> Transactions become more reliable as time passes.</a:t>
            </a:r>
          </a:p>
        </p:txBody>
      </p:sp>
    </p:spTree>
    <p:extLst>
      <p:ext uri="{BB962C8B-B14F-4D97-AF65-F5344CB8AC3E}">
        <p14:creationId xmlns:p14="http://schemas.microsoft.com/office/powerpoint/2010/main" val="2019702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4F312A-5CCA-F72E-B7C1-0F079E74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0"/>
            <a:ext cx="10360025" cy="38100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2600" dirty="0">
                <a:effectLst/>
                <a:latin typeface="+mn-lt"/>
                <a:ea typeface="Calibri" panose="020F0502020204030204" pitchFamily="34" charset="0"/>
              </a:rPr>
              <a:t/>
            </a:r>
            <a:br>
              <a:rPr lang="en-US" sz="2600" dirty="0">
                <a:effectLst/>
                <a:latin typeface="+mn-lt"/>
                <a:ea typeface="Calibri" panose="020F0502020204030204" pitchFamily="34" charset="0"/>
              </a:rPr>
            </a:br>
            <a:r>
              <a:rPr lang="en-US" sz="2600" dirty="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</a:rPr>
              <a:t>Consensus without identity using a block chain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77B081D-330A-0B10-E8C7-32445D619806}"/>
              </a:ext>
            </a:extLst>
          </p:cNvPr>
          <p:cNvSpPr txBox="1"/>
          <p:nvPr/>
        </p:nvSpPr>
        <p:spPr>
          <a:xfrm>
            <a:off x="836612" y="381000"/>
            <a:ext cx="10972800" cy="4041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What It Means: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In traditional systems (like banks), you need verified identities to participate.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In blockchain (like Bitcoin), no real-world identity is needed—just a digital key.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Nodes (computers) agree on transactions based on rules, not who they are</a:t>
            </a:r>
            <a:r>
              <a:rPr lang="en-US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Consensus Without Identity means that participants in the network do not need to reveal or verify their real-world identity to participate in the consensus process.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Using a Blockchain ensures that all transactions and blocks are verified and agreed upon without needing a central authority or known identities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92098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4F312A-5CCA-F72E-B7C1-0F079E74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0"/>
            <a:ext cx="10360025" cy="38100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2600" dirty="0">
                <a:effectLst/>
                <a:latin typeface="+mn-lt"/>
                <a:ea typeface="Calibri" panose="020F0502020204030204" pitchFamily="34" charset="0"/>
              </a:rPr>
              <a:t/>
            </a:r>
            <a:br>
              <a:rPr lang="en-US" sz="2600" dirty="0">
                <a:effectLst/>
                <a:latin typeface="+mn-lt"/>
                <a:ea typeface="Calibri" panose="020F0502020204030204" pitchFamily="34" charset="0"/>
              </a:rPr>
            </a:br>
            <a:r>
              <a:rPr lang="en-US" sz="2600" dirty="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</a:rPr>
              <a:t>Consensus without identity using a block chain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77B081D-330A-0B10-E8C7-32445D619806}"/>
              </a:ext>
            </a:extLst>
          </p:cNvPr>
          <p:cNvSpPr txBox="1"/>
          <p:nvPr/>
        </p:nvSpPr>
        <p:spPr>
          <a:xfrm>
            <a:off x="836612" y="381000"/>
            <a:ext cx="10972800" cy="4041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What It Means: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In traditional systems (like banks), you need verified identities to participate.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In blockchain (like Bitcoin), no real-world identity is needed—just a digital key.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Nodes (computers) agree on transactions based on rules, not who they are</a:t>
            </a:r>
            <a:r>
              <a:rPr lang="en-US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Consensus Without Identity means that participants in the network do not need to reveal or verify their real-world identity to participate in the consensus process.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100" dirty="0">
                <a:latin typeface="+mn-lt"/>
              </a:rPr>
              <a:t>Using a Blockchain ensures that all transactions and blocks are verified and agreed upon without needing a central authority or known identities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00FC1F-2D9D-F34F-6CF2-2578A720078B}"/>
              </a:ext>
            </a:extLst>
          </p:cNvPr>
          <p:cNvSpPr txBox="1"/>
          <p:nvPr/>
        </p:nvSpPr>
        <p:spPr>
          <a:xfrm>
            <a:off x="531812" y="4802060"/>
            <a:ext cx="1127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FFFF00"/>
                </a:solidFill>
                <a:latin typeface="+mn-lt"/>
              </a:rPr>
              <a:t>In Bitcoin, anyone can mine or validate transactions without revealing their identity. The network trusts the cryptographic process, not the person behind it.</a:t>
            </a:r>
            <a:endParaRPr lang="en-IN" sz="2200" dirty="0">
              <a:solidFill>
                <a:srgbClr val="FFFF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9322539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61C695-0FFB-76CD-04D6-ACDFE341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52400"/>
            <a:ext cx="10360025" cy="411162"/>
          </a:xfrm>
        </p:spPr>
        <p:txBody>
          <a:bodyPr/>
          <a:lstStyle/>
          <a:p>
            <a:pPr algn="ctr"/>
            <a:r>
              <a:rPr lang="en-US" sz="2600" dirty="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</a:rPr>
              <a:t>Consensus without identity using a block chain</a:t>
            </a:r>
            <a:endParaRPr lang="en-IN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AA28B3-353E-9004-7352-CCFC9D318F6F}"/>
              </a:ext>
            </a:extLst>
          </p:cNvPr>
          <p:cNvSpPr txBox="1"/>
          <p:nvPr/>
        </p:nvSpPr>
        <p:spPr>
          <a:xfrm>
            <a:off x="912811" y="487044"/>
            <a:ext cx="11125200" cy="440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FFFF00"/>
                </a:solidFill>
                <a:latin typeface="+mn-lt"/>
              </a:rPr>
              <a:t>How Does It Work?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>
                <a:latin typeface="+mn-lt"/>
              </a:rPr>
              <a:t>Anonymous Participation</a:t>
            </a:r>
            <a:r>
              <a:rPr lang="en-US" sz="2100" dirty="0">
                <a:latin typeface="+mn-lt"/>
              </a:rPr>
              <a:t> – Anyone can join and validate transactions without registering or proving their identity.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>
                <a:latin typeface="+mn-lt"/>
              </a:rPr>
              <a:t>Proof-Based Verification</a:t>
            </a:r>
            <a:r>
              <a:rPr lang="en-US" sz="2100" dirty="0">
                <a:latin typeface="+mn-lt"/>
              </a:rPr>
              <a:t> – Instead of trusting identities, the system uses cryptographic proofs (e.g., Proof of Work in Bitcoin) to validate transactions.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>
                <a:latin typeface="+mn-lt"/>
              </a:rPr>
              <a:t>Decentralized Agreement</a:t>
            </a:r>
            <a:r>
              <a:rPr lang="en-US" sz="2100" dirty="0">
                <a:latin typeface="+mn-lt"/>
              </a:rPr>
              <a:t> – Nodes in the network follow a predefined consensus algorithm to agree on the valid state of the blockchain.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100" b="1" dirty="0">
                <a:latin typeface="+mn-lt"/>
              </a:rPr>
              <a:t>Security Through Economics</a:t>
            </a:r>
            <a:r>
              <a:rPr lang="en-US" sz="2100" dirty="0">
                <a:latin typeface="+mn-lt"/>
              </a:rPr>
              <a:t> – Miners or validators are incentivized to follow the rules because dishonest behavior leads to financial loss.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2A59235-3C91-1B67-5AD8-51383F2CE5B4}"/>
              </a:ext>
            </a:extLst>
          </p:cNvPr>
          <p:cNvSpPr txBox="1"/>
          <p:nvPr/>
        </p:nvSpPr>
        <p:spPr>
          <a:xfrm>
            <a:off x="836612" y="4949174"/>
            <a:ext cx="10972801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100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j-lt"/>
              </a:rPr>
              <a:t>Simple Analogy</a:t>
            </a:r>
            <a:r>
              <a:rPr lang="en-US" sz="2100" b="1" i="0" dirty="0">
                <a:effectLst/>
                <a:latin typeface="+mj-lt"/>
              </a:rPr>
              <a:t>:</a:t>
            </a:r>
            <a:endParaRPr lang="en-US" sz="2100" b="0" i="0" dirty="0">
              <a:effectLst/>
              <a:latin typeface="+mj-lt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With Identity</a:t>
            </a:r>
            <a:r>
              <a:rPr lang="en-US" sz="2100" b="0" i="0" dirty="0">
                <a:effectLst/>
                <a:latin typeface="+mj-lt"/>
              </a:rPr>
              <a:t> = Signing a bank check (needs your name).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i="0" dirty="0">
                <a:effectLst/>
                <a:latin typeface="+mj-lt"/>
              </a:rPr>
              <a:t>Without Identity</a:t>
            </a:r>
            <a:r>
              <a:rPr lang="en-US" sz="2100" b="0" i="0" dirty="0">
                <a:effectLst/>
                <a:latin typeface="+mj-lt"/>
              </a:rPr>
              <a:t> = Dropping cash into a locked box—nobody knows who put it in, but everyone agrees on the total amount</a:t>
            </a:r>
            <a:r>
              <a:rPr lang="en-US" b="0" i="0" dirty="0">
                <a:solidFill>
                  <a:srgbClr val="404040"/>
                </a:solidFill>
                <a:effectLst/>
                <a:latin typeface="DeepSeek-CJK-patch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0226600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61C695-0FFB-76CD-04D6-ACDFE341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52400"/>
            <a:ext cx="10360025" cy="411162"/>
          </a:xfrm>
        </p:spPr>
        <p:txBody>
          <a:bodyPr/>
          <a:lstStyle/>
          <a:p>
            <a:pPr algn="ctr"/>
            <a:r>
              <a:rPr lang="en-US" sz="2600" dirty="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</a:rPr>
              <a:t>Consensus without identity using a block chain</a:t>
            </a:r>
            <a:endParaRPr lang="en-IN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AA28B3-353E-9004-7352-CCFC9D318F6F}"/>
              </a:ext>
            </a:extLst>
          </p:cNvPr>
          <p:cNvSpPr txBox="1"/>
          <p:nvPr/>
        </p:nvSpPr>
        <p:spPr>
          <a:xfrm>
            <a:off x="912811" y="487044"/>
            <a:ext cx="11125200" cy="530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0" i="0" dirty="0">
                <a:effectLst/>
                <a:latin typeface="+mj-lt"/>
              </a:rPr>
              <a:t>Blockchain achieves agreement (consensus) </a:t>
            </a:r>
            <a:r>
              <a:rPr lang="en-US" sz="2100" b="1" i="0" dirty="0">
                <a:effectLst/>
                <a:latin typeface="+mj-lt"/>
              </a:rPr>
              <a:t>without needing real-world identities</a:t>
            </a:r>
            <a:r>
              <a:rPr lang="en-US" sz="2100" b="0" i="0" dirty="0">
                <a:effectLst/>
                <a:latin typeface="+mj-lt"/>
              </a:rPr>
              <a:t>, using cryptography and incentives instead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00"/>
                </a:solidFill>
                <a:latin typeface="+mn-lt"/>
              </a:rPr>
              <a:t>Consensus Without Identity in Bitcoin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Bitcoin nodes lack long-term identities</a:t>
            </a:r>
            <a:r>
              <a:rPr lang="en-US" sz="2000" dirty="0">
                <a:latin typeface="+mn-lt"/>
              </a:rPr>
              <a:t> because there is no central authority to assign them.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Sybil attack:</a:t>
            </a:r>
            <a:r>
              <a:rPr lang="en-US" sz="2000" dirty="0">
                <a:latin typeface="+mn-lt"/>
              </a:rPr>
              <a:t> A malicious actor can create many fake nodes to appear as multiple participants.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Pseudonymity is a goal of Bitcoin:</a:t>
            </a:r>
            <a:r>
              <a:rPr lang="en-US" sz="2000" dirty="0">
                <a:latin typeface="+mn-lt"/>
              </a:rPr>
              <a:t> Users do not need to reveal their real identities to participate.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Challenges without identities:</a:t>
            </a:r>
            <a:endParaRPr lang="en-US" sz="2000" dirty="0">
              <a:latin typeface="+mn-lt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Harder to design instructions like "Node with lowest ID should act."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Security assumptions become difficult without a way to limit the number of malicious nodes.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00"/>
                </a:solidFill>
                <a:latin typeface="+mn-lt"/>
              </a:rPr>
              <a:t>Solution: Random Node Selection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System similar to a lottery is assumed to pick a random node fairly.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System ensures that a malicious actor creating many fake nodes only gets one participation token.</a:t>
            </a:r>
            <a:endParaRPr lang="en-US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7746421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61C695-0FFB-76CD-04D6-ACDFE341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52400"/>
            <a:ext cx="10360025" cy="411162"/>
          </a:xfrm>
        </p:spPr>
        <p:txBody>
          <a:bodyPr/>
          <a:lstStyle/>
          <a:p>
            <a:pPr algn="ctr"/>
            <a:r>
              <a:rPr lang="en-US" sz="2600" dirty="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</a:rPr>
              <a:t>Consensus without identity using a block chain</a:t>
            </a:r>
            <a:endParaRPr lang="en-IN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AA28B3-353E-9004-7352-CCFC9D318F6F}"/>
              </a:ext>
            </a:extLst>
          </p:cNvPr>
          <p:cNvSpPr txBox="1"/>
          <p:nvPr/>
        </p:nvSpPr>
        <p:spPr>
          <a:xfrm>
            <a:off x="912811" y="487044"/>
            <a:ext cx="111252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Implicit Consensus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Instead of voting, a randomly selected node proposes the next block.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a block is valid, other nodes accept it by building on top of it.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If a block is invalid (malicious), nodes ignore it and build on the previous valid block.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Bitcoin Consensus Algorithm</a:t>
            </a:r>
            <a:endParaRPr lang="en-US" sz="1600" b="1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Transactions are broadcast to all nodes and each node collects transactions into a block.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A random node is selected to propose a block other nodes accept the block if transactions are valid.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Acceptance is shown by referencing the block’s hash in new blocks.</a:t>
            </a:r>
          </a:p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Security Against Attacks</a:t>
            </a:r>
          </a:p>
          <a:p>
            <a:r>
              <a:rPr lang="en-US" sz="2000" b="1" dirty="0">
                <a:latin typeface="+mn-lt"/>
              </a:rPr>
              <a:t>1. </a:t>
            </a:r>
            <a:r>
              <a:rPr lang="en-US" sz="2000" b="1" dirty="0">
                <a:solidFill>
                  <a:srgbClr val="FFFF00"/>
                </a:solidFill>
                <a:latin typeface="+mn-lt"/>
              </a:rPr>
              <a:t>Stealing Bitcoins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Impossible since every transaction requires a valid cryptographic signature.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Without the owner’s signature, a hacker cannot spend their coins.</a:t>
            </a:r>
          </a:p>
          <a:p>
            <a:r>
              <a:rPr lang="en-US" sz="2000" b="1" dirty="0">
                <a:latin typeface="+mn-lt"/>
              </a:rPr>
              <a:t>2. </a:t>
            </a:r>
            <a:r>
              <a:rPr lang="en-US" sz="2000" b="1" dirty="0">
                <a:solidFill>
                  <a:srgbClr val="FFFF00"/>
                </a:solidFill>
                <a:latin typeface="+mn-lt"/>
              </a:rPr>
              <a:t>Denial of Service Attack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 malicious node may refuse to include a user’s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However, the user’s transactions will be included when another (honest) node proposes a block.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This makes the attack ineffective beyond temporary inconvenience.</a:t>
            </a:r>
          </a:p>
        </p:txBody>
      </p:sp>
    </p:spTree>
    <p:extLst>
      <p:ext uri="{BB962C8B-B14F-4D97-AF65-F5344CB8AC3E}">
        <p14:creationId xmlns:p14="http://schemas.microsoft.com/office/powerpoint/2010/main" val="25069735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61C695-0FFB-76CD-04D6-ACDFE341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52400"/>
            <a:ext cx="10360025" cy="411162"/>
          </a:xfrm>
        </p:spPr>
        <p:txBody>
          <a:bodyPr/>
          <a:lstStyle/>
          <a:p>
            <a:pPr algn="ctr"/>
            <a:r>
              <a:rPr lang="en-US" sz="2600" dirty="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</a:rPr>
              <a:t>Consensus without identity using a block chain</a:t>
            </a:r>
            <a:endParaRPr lang="en-IN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AA28B3-353E-9004-7352-CCFC9D318F6F}"/>
              </a:ext>
            </a:extLst>
          </p:cNvPr>
          <p:cNvSpPr txBox="1"/>
          <p:nvPr/>
        </p:nvSpPr>
        <p:spPr>
          <a:xfrm>
            <a:off x="912811" y="487044"/>
            <a:ext cx="11125200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b="1" dirty="0"/>
              <a:t>3. </a:t>
            </a:r>
            <a:r>
              <a:rPr lang="en-US" sz="2000" b="1" dirty="0">
                <a:solidFill>
                  <a:srgbClr val="FFFF00"/>
                </a:solidFill>
                <a:latin typeface="+mn-lt"/>
              </a:rPr>
              <a:t>Double-Spend Attack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 user (Alice) sends Bitcoin to a merchant (Bob) and broadcasts the transaction.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An honest node includes this transaction in a block.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If Alice controls next block, she can create an alternate block that sends same Bitcoin to herself instead.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network may then choose the longest valid chain, possibly favoring Alice’s version.</a:t>
            </a:r>
          </a:p>
          <a:p>
            <a:pPr algn="l"/>
            <a:r>
              <a:rPr lang="en-US" sz="2000" dirty="0">
                <a:latin typeface="+mn-lt"/>
              </a:rPr>
              <a:t>This could result in Bob not actually receiving the Bitcoin.</a:t>
            </a:r>
            <a:br>
              <a:rPr lang="en-US" sz="2000" dirty="0">
                <a:latin typeface="+mn-lt"/>
              </a:rPr>
            </a:br>
            <a:r>
              <a:rPr lang="en-US" sz="2000" b="1" i="0" dirty="0">
                <a:solidFill>
                  <a:srgbClr val="FFFF00"/>
                </a:solidFill>
                <a:effectLst/>
                <a:latin typeface="+mj-lt"/>
              </a:rPr>
              <a:t>Scenario</a:t>
            </a:r>
            <a:r>
              <a:rPr lang="en-US" sz="2000" b="1" i="0" dirty="0">
                <a:effectLst/>
                <a:latin typeface="+mj-lt"/>
              </a:rPr>
              <a:t>:</a:t>
            </a:r>
            <a:endParaRPr lang="en-US" sz="2000" b="0" i="0" dirty="0">
              <a:effectLst/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effectLst/>
                <a:latin typeface="+mj-lt"/>
              </a:rPr>
              <a:t>Alice pays Bob </a:t>
            </a:r>
            <a:r>
              <a:rPr lang="en-US" sz="2000" b="1" i="0" dirty="0">
                <a:effectLst/>
                <a:latin typeface="+mj-lt"/>
              </a:rPr>
              <a:t>1 BTC</a:t>
            </a:r>
            <a:r>
              <a:rPr lang="en-US" sz="2000" b="0" i="0" dirty="0">
                <a:effectLst/>
                <a:latin typeface="+mj-lt"/>
              </a:rPr>
              <a:t> for a laptop.</a:t>
            </a: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effectLst/>
                <a:latin typeface="+mj-lt"/>
              </a:rPr>
              <a:t>At the same time, she tries to </a:t>
            </a:r>
            <a:r>
              <a:rPr lang="en-US" sz="2000" b="1" i="0" dirty="0">
                <a:effectLst/>
                <a:latin typeface="+mj-lt"/>
              </a:rPr>
              <a:t>send the same 1 BTC to herself</a:t>
            </a:r>
            <a:r>
              <a:rPr lang="en-US" sz="2000" b="0" i="0" dirty="0">
                <a:effectLst/>
                <a:latin typeface="+mj-lt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effectLst/>
                <a:latin typeface="+mj-lt"/>
              </a:rPr>
              <a:t>If both transactions reach different nodes, who decides which one counts?</a:t>
            </a:r>
          </a:p>
          <a:p>
            <a:pPr algn="l"/>
            <a:r>
              <a:rPr lang="en-US" sz="2000" b="1" i="0" dirty="0">
                <a:solidFill>
                  <a:srgbClr val="FFFF00"/>
                </a:solidFill>
                <a:effectLst/>
                <a:latin typeface="+mj-lt"/>
              </a:rPr>
              <a:t>Bitcoin’s Solution:</a:t>
            </a:r>
            <a:endParaRPr lang="en-US" sz="2000" b="0" i="0" dirty="0">
              <a:solidFill>
                <a:srgbClr val="FFFF00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+mj-lt"/>
              </a:rPr>
              <a:t>Miners pick </a:t>
            </a:r>
            <a:r>
              <a:rPr lang="en-US" sz="2000" b="1" i="0" dirty="0">
                <a:effectLst/>
                <a:latin typeface="+mj-lt"/>
              </a:rPr>
              <a:t>one transaction</a:t>
            </a:r>
            <a:r>
              <a:rPr lang="en-US" sz="2000" b="0" i="0" dirty="0">
                <a:effectLst/>
                <a:latin typeface="+mj-lt"/>
              </a:rPr>
              <a:t> per block (first-come, first-served).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+mj-lt"/>
              </a:rPr>
              <a:t>After </a:t>
            </a:r>
            <a:r>
              <a:rPr lang="en-US" sz="2000" b="1" i="0" dirty="0">
                <a:effectLst/>
                <a:latin typeface="+mj-lt"/>
              </a:rPr>
              <a:t>6 confirmations</a:t>
            </a:r>
            <a:r>
              <a:rPr lang="en-US" sz="2000" b="0" i="0" dirty="0">
                <a:effectLst/>
                <a:latin typeface="+mj-lt"/>
              </a:rPr>
              <a:t> (~1 hour), the transaction is "locked in."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3507119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61C695-0FFB-76CD-04D6-ACDFE341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152400"/>
            <a:ext cx="10360025" cy="411162"/>
          </a:xfrm>
        </p:spPr>
        <p:txBody>
          <a:bodyPr/>
          <a:lstStyle/>
          <a:p>
            <a:pPr algn="ctr"/>
            <a:r>
              <a:rPr lang="en-US" sz="2600" dirty="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</a:rPr>
              <a:t>Consensus without identity using a block chain</a:t>
            </a:r>
            <a:endParaRPr lang="en-IN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AA28B3-353E-9004-7352-CCFC9D318F6F}"/>
              </a:ext>
            </a:extLst>
          </p:cNvPr>
          <p:cNvSpPr txBox="1"/>
          <p:nvPr/>
        </p:nvSpPr>
        <p:spPr>
          <a:xfrm>
            <a:off x="912811" y="487044"/>
            <a:ext cx="1112520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solidFill>
                  <a:srgbClr val="FFFF00"/>
                </a:solidFill>
                <a:latin typeface="+mn-lt"/>
              </a:rPr>
              <a:t>How </a:t>
            </a:r>
            <a:r>
              <a:rPr lang="en-US" sz="2000" b="1" dirty="0">
                <a:solidFill>
                  <a:srgbClr val="FFFF00"/>
                </a:solidFill>
                <a:latin typeface="+mn-lt"/>
              </a:rPr>
              <a:t>Merchants Protect Themselves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Bob should </a:t>
            </a:r>
            <a:r>
              <a:rPr lang="en-US" sz="2000" b="1" dirty="0">
                <a:latin typeface="+mn-lt"/>
              </a:rPr>
              <a:t>wait for multiple confirmations</a:t>
            </a:r>
            <a:r>
              <a:rPr lang="en-US" sz="2000" dirty="0">
                <a:latin typeface="+mn-lt"/>
              </a:rPr>
              <a:t> before accepting payment.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 transaction in a block that has several blocks built on top of it is much harder to reverse.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Zero-confirmation transactions</a:t>
            </a:r>
            <a:r>
              <a:rPr lang="en-US" sz="2000" dirty="0">
                <a:latin typeface="+mn-lt"/>
              </a:rPr>
              <a:t> (where merchants accept payments immediately) are risky</a:t>
            </a:r>
          </a:p>
        </p:txBody>
      </p:sp>
    </p:spTree>
    <p:extLst>
      <p:ext uri="{BB962C8B-B14F-4D97-AF65-F5344CB8AC3E}">
        <p14:creationId xmlns:p14="http://schemas.microsoft.com/office/powerpoint/2010/main" val="66584396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743" y="30641"/>
            <a:ext cx="10360025" cy="533400"/>
          </a:xfrm>
        </p:spPr>
        <p:txBody>
          <a:bodyPr/>
          <a:lstStyle/>
          <a:p>
            <a:pPr algn="ctr"/>
            <a:r>
              <a:rPr lang="en-US" sz="2900" dirty="0" smtClean="0">
                <a:ea typeface="Calibri" panose="020F0502020204030204" pitchFamily="34" charset="0"/>
              </a:rPr>
              <a:t/>
            </a:r>
            <a:br>
              <a:rPr lang="en-US" sz="2900" dirty="0" smtClean="0">
                <a:ea typeface="Calibri" panose="020F0502020204030204" pitchFamily="34" charset="0"/>
              </a:rPr>
            </a:br>
            <a:r>
              <a:rPr lang="en-US" sz="2900" dirty="0">
                <a:ea typeface="Calibri" panose="020F0502020204030204" pitchFamily="34" charset="0"/>
              </a:rPr>
              <a:t/>
            </a:r>
            <a:br>
              <a:rPr lang="en-US" sz="2900" dirty="0">
                <a:ea typeface="Calibri" panose="020F0502020204030204" pitchFamily="34" charset="0"/>
              </a:rPr>
            </a:br>
            <a:r>
              <a:rPr lang="en-US" sz="2900" dirty="0" smtClean="0">
                <a:solidFill>
                  <a:srgbClr val="FFC000"/>
                </a:solidFill>
                <a:ea typeface="Calibri" panose="020F0502020204030204" pitchFamily="34" charset="0"/>
              </a:rPr>
              <a:t>Incentives </a:t>
            </a:r>
            <a:r>
              <a:rPr lang="en-US" sz="2900" dirty="0">
                <a:solidFill>
                  <a:srgbClr val="FFC000"/>
                </a:solidFill>
                <a:ea typeface="Calibri" panose="020F0502020204030204" pitchFamily="34" charset="0"/>
              </a:rPr>
              <a:t>and proof of </a:t>
            </a:r>
            <a:r>
              <a:rPr lang="en-US" sz="2900" dirty="0" smtClean="0">
                <a:solidFill>
                  <a:srgbClr val="FFC000"/>
                </a:solidFill>
                <a:ea typeface="Calibri" panose="020F0502020204030204" pitchFamily="34" charset="0"/>
              </a:rPr>
              <a:t>work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7957" y="6324600"/>
            <a:ext cx="1150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Bitcoin’s incentives and PoW turn mining into a profitable, fair competition that keeps the system secure</a:t>
            </a:r>
            <a:endParaRPr lang="en-US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0357" y="492235"/>
            <a:ext cx="112014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1.Incentives </a:t>
            </a: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in Bitcoin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Bitcoin's decentralization relies on both technical mechanisms and incentive engineering.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Nodes (participants) need incentives to behave honestly.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en-US" sz="2100" dirty="0">
                <a:latin typeface="+mn-lt"/>
              </a:rPr>
              <a:t>Instead of punishing dishonest nodes (which is hard), Bitcoin </a:t>
            </a:r>
            <a:r>
              <a:rPr lang="en-US" sz="2100" b="1" dirty="0">
                <a:latin typeface="+mn-lt"/>
              </a:rPr>
              <a:t>rewards</a:t>
            </a:r>
            <a:r>
              <a:rPr lang="en-US" sz="2100" dirty="0">
                <a:latin typeface="+mn-lt"/>
              </a:rPr>
              <a:t> nodes for creating valid blocks.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>
                <a:latin typeface="+mn-lt"/>
              </a:rPr>
              <a:t>2</a:t>
            </a: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. Block Reward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The node that successfully creates a block gets a </a:t>
            </a:r>
            <a:r>
              <a:rPr lang="en-US" sz="2100" b="1" dirty="0">
                <a:latin typeface="+mn-lt"/>
              </a:rPr>
              <a:t>block reward</a:t>
            </a:r>
            <a:r>
              <a:rPr lang="en-US" sz="2100" dirty="0">
                <a:latin typeface="+mn-lt"/>
              </a:rPr>
              <a:t> (newly created bitcoins).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This reward is given through a special </a:t>
            </a:r>
            <a:r>
              <a:rPr lang="en-US" sz="2100" b="1" dirty="0">
                <a:latin typeface="+mn-lt"/>
              </a:rPr>
              <a:t>coin-creation transaction</a:t>
            </a:r>
            <a:r>
              <a:rPr lang="en-US" sz="2100" dirty="0">
                <a:latin typeface="+mn-lt"/>
              </a:rPr>
              <a:t> in the block.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Initially, Bitcoin’s block reward was </a:t>
            </a:r>
            <a:r>
              <a:rPr lang="en-US" sz="2100" b="1" dirty="0">
                <a:latin typeface="+mn-lt"/>
              </a:rPr>
              <a:t>50 BTC</a:t>
            </a:r>
            <a:r>
              <a:rPr lang="en-US" sz="2100" dirty="0">
                <a:latin typeface="+mn-lt"/>
              </a:rPr>
              <a:t>, then halved to </a:t>
            </a:r>
            <a:r>
              <a:rPr lang="en-US" sz="2100" b="1" dirty="0">
                <a:latin typeface="+mn-lt"/>
              </a:rPr>
              <a:t>25 BTC</a:t>
            </a:r>
            <a:r>
              <a:rPr lang="en-US" sz="2100" dirty="0">
                <a:latin typeface="+mn-lt"/>
              </a:rPr>
              <a:t>, and continues halving every </a:t>
            </a:r>
            <a:r>
              <a:rPr lang="en-US" sz="2100" b="1" dirty="0">
                <a:latin typeface="+mn-lt"/>
              </a:rPr>
              <a:t>210,000 blocks (~4 years)</a:t>
            </a:r>
            <a:r>
              <a:rPr lang="en-US" sz="2100" dirty="0">
                <a:latin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The total supply is limited to </a:t>
            </a:r>
            <a:r>
              <a:rPr lang="en-US" sz="2100" b="1" dirty="0">
                <a:latin typeface="+mn-lt"/>
              </a:rPr>
              <a:t>21 million BTC</a:t>
            </a:r>
            <a:r>
              <a:rPr lang="en-US" sz="2100" dirty="0">
                <a:latin typeface="+mn-lt"/>
              </a:rPr>
              <a:t> (expected to run out by </a:t>
            </a:r>
            <a:r>
              <a:rPr lang="en-US" sz="2100" b="1" dirty="0">
                <a:latin typeface="+mn-lt"/>
              </a:rPr>
              <a:t>2140</a:t>
            </a:r>
            <a:r>
              <a:rPr lang="en-US" sz="2100" dirty="0">
                <a:latin typeface="+mn-lt"/>
              </a:rPr>
              <a:t>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Since only valid blocks are accepted, miners are incentivized to follow the rules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9778545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152400"/>
            <a:ext cx="10360025" cy="533400"/>
          </a:xfrm>
        </p:spPr>
        <p:txBody>
          <a:bodyPr/>
          <a:lstStyle/>
          <a:p>
            <a:pPr algn="ctr"/>
            <a:r>
              <a:rPr lang="en-US" sz="2900" dirty="0" smtClean="0">
                <a:ea typeface="Calibri" panose="020F0502020204030204" pitchFamily="34" charset="0"/>
              </a:rPr>
              <a:t/>
            </a:r>
            <a:br>
              <a:rPr lang="en-US" sz="2900" dirty="0" smtClean="0">
                <a:ea typeface="Calibri" panose="020F0502020204030204" pitchFamily="34" charset="0"/>
              </a:rPr>
            </a:br>
            <a:r>
              <a:rPr lang="en-US" sz="2900" dirty="0">
                <a:ea typeface="Calibri" panose="020F0502020204030204" pitchFamily="34" charset="0"/>
              </a:rPr>
              <a:t/>
            </a:r>
            <a:br>
              <a:rPr lang="en-US" sz="2900" dirty="0">
                <a:ea typeface="Calibri" panose="020F0502020204030204" pitchFamily="34" charset="0"/>
              </a:rPr>
            </a:br>
            <a:r>
              <a:rPr lang="en-US" sz="2900" dirty="0" smtClean="0">
                <a:solidFill>
                  <a:srgbClr val="FFC000"/>
                </a:solidFill>
                <a:ea typeface="Calibri" panose="020F0502020204030204" pitchFamily="34" charset="0"/>
              </a:rPr>
              <a:t>Incentives </a:t>
            </a:r>
            <a:r>
              <a:rPr lang="en-US" sz="2900" dirty="0">
                <a:solidFill>
                  <a:srgbClr val="FFC000"/>
                </a:solidFill>
                <a:ea typeface="Calibri" panose="020F0502020204030204" pitchFamily="34" charset="0"/>
              </a:rPr>
              <a:t>and proof of </a:t>
            </a:r>
            <a:r>
              <a:rPr lang="en-US" sz="2900" dirty="0" smtClean="0">
                <a:solidFill>
                  <a:srgbClr val="FFC000"/>
                </a:solidFill>
                <a:ea typeface="Calibri" panose="020F0502020204030204" pitchFamily="34" charset="0"/>
              </a:rPr>
              <a:t>work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7957" y="6324600"/>
            <a:ext cx="1150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Bitcoin’s incentives and PoW turn mining into a profitable, fair competition that keeps the system secure</a:t>
            </a:r>
            <a:endParaRPr lang="en-US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0412" y="558397"/>
            <a:ext cx="11201400" cy="5216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3. Transaction </a:t>
            </a: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Fees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As block rewards decrease, miners rely on </a:t>
            </a:r>
            <a:r>
              <a:rPr lang="en-US" sz="2100" b="1" dirty="0">
                <a:latin typeface="+mn-lt"/>
              </a:rPr>
              <a:t>transaction fees</a:t>
            </a:r>
            <a:r>
              <a:rPr lang="en-US" sz="2100" dirty="0">
                <a:latin typeface="+mn-lt"/>
              </a:rPr>
              <a:t> as an additional incentive.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Users voluntarily add fees to transactions to ensure faster processing.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Over time, transaction fees will become the primary incentive for miners.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>
                <a:latin typeface="+mn-lt"/>
              </a:rPr>
              <a:t>4</a:t>
            </a: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. Problems in the Consensus Mechanism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>
                <a:latin typeface="+mn-lt"/>
              </a:rPr>
              <a:t>Random Node Selection Problem</a:t>
            </a:r>
            <a:r>
              <a:rPr lang="en-US" sz="2100" dirty="0">
                <a:latin typeface="+mn-lt"/>
              </a:rPr>
              <a:t>: How to pick a truly random node to create a block?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>
                <a:latin typeface="+mn-lt"/>
              </a:rPr>
              <a:t>Mining Rush</a:t>
            </a:r>
            <a:r>
              <a:rPr lang="en-US" sz="2100" dirty="0">
                <a:latin typeface="+mn-lt"/>
              </a:rPr>
              <a:t>: The incentive system may cause too many nodes to compete.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>
                <a:latin typeface="+mn-lt"/>
              </a:rPr>
              <a:t>Sybil Attack Risk</a:t>
            </a:r>
            <a:r>
              <a:rPr lang="en-US" sz="2100" dirty="0">
                <a:latin typeface="+mn-lt"/>
              </a:rPr>
              <a:t>: A malicious user could create many fake nodes to take control.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b="1" dirty="0">
                <a:latin typeface="+mn-lt"/>
              </a:rPr>
              <a:t>5</a:t>
            </a: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. Proof of Work (PoW)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Bitcoin solves the above problems using </a:t>
            </a:r>
            <a:r>
              <a:rPr lang="en-US" sz="2100" b="1" dirty="0">
                <a:latin typeface="+mn-lt"/>
              </a:rPr>
              <a:t>Proof of Work (PoW)</a:t>
            </a:r>
            <a:r>
              <a:rPr lang="en-US" sz="2100" dirty="0">
                <a:latin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Instead of selecting a random node, PoW </a:t>
            </a:r>
            <a:r>
              <a:rPr lang="en-US" sz="2100" b="1" dirty="0">
                <a:latin typeface="+mn-lt"/>
              </a:rPr>
              <a:t>makes miners compete</a:t>
            </a:r>
            <a:r>
              <a:rPr lang="en-US" sz="2100" dirty="0">
                <a:latin typeface="+mn-lt"/>
              </a:rPr>
              <a:t> using computational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The more computing power a miner has, the higher their chance of creating the next block.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This system discourages Sybil attacks since mining requires expensive </a:t>
            </a:r>
            <a:r>
              <a:rPr lang="en-US" sz="2100" dirty="0" smtClean="0">
                <a:latin typeface="+mn-lt"/>
              </a:rPr>
              <a:t>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570243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099" y="-76200"/>
            <a:ext cx="10360025" cy="533400"/>
          </a:xfrm>
        </p:spPr>
        <p:txBody>
          <a:bodyPr/>
          <a:lstStyle/>
          <a:p>
            <a:pPr algn="ctr"/>
            <a:r>
              <a:rPr lang="en-US" sz="2900" dirty="0" smtClean="0">
                <a:ea typeface="Calibri" panose="020F0502020204030204" pitchFamily="34" charset="0"/>
              </a:rPr>
              <a:t/>
            </a:r>
            <a:br>
              <a:rPr lang="en-US" sz="2900" dirty="0" smtClean="0">
                <a:ea typeface="Calibri" panose="020F0502020204030204" pitchFamily="34" charset="0"/>
              </a:rPr>
            </a:br>
            <a:r>
              <a:rPr lang="en-US" sz="2900" dirty="0">
                <a:ea typeface="Calibri" panose="020F0502020204030204" pitchFamily="34" charset="0"/>
              </a:rPr>
              <a:t/>
            </a:r>
            <a:br>
              <a:rPr lang="en-US" sz="2900" dirty="0">
                <a:ea typeface="Calibri" panose="020F0502020204030204" pitchFamily="34" charset="0"/>
              </a:rPr>
            </a:br>
            <a:r>
              <a:rPr lang="en-US" sz="2900" dirty="0" smtClean="0">
                <a:solidFill>
                  <a:srgbClr val="FFC000"/>
                </a:solidFill>
                <a:ea typeface="Calibri" panose="020F0502020204030204" pitchFamily="34" charset="0"/>
              </a:rPr>
              <a:t>Incentives </a:t>
            </a:r>
            <a:r>
              <a:rPr lang="en-US" sz="2900" dirty="0">
                <a:solidFill>
                  <a:srgbClr val="FFC000"/>
                </a:solidFill>
                <a:ea typeface="Calibri" panose="020F0502020204030204" pitchFamily="34" charset="0"/>
              </a:rPr>
              <a:t>and proof of </a:t>
            </a:r>
            <a:r>
              <a:rPr lang="en-US" sz="2900" dirty="0" smtClean="0">
                <a:solidFill>
                  <a:srgbClr val="FFC000"/>
                </a:solidFill>
                <a:ea typeface="Calibri" panose="020F0502020204030204" pitchFamily="34" charset="0"/>
              </a:rPr>
              <a:t>work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7957" y="6324600"/>
            <a:ext cx="1150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Bitcoin’s incentives and PoW turn mining into a profitable, fair competition that keeps the system secure</a:t>
            </a:r>
            <a:endParaRPr lang="en-US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0412" y="558397"/>
            <a:ext cx="11201400" cy="5032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b="1" dirty="0">
                <a:latin typeface="+mn-lt"/>
              </a:rPr>
              <a:t>6. </a:t>
            </a: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Hash Puzzles (Mining Process</a:t>
            </a:r>
            <a:r>
              <a:rPr lang="en-US" sz="2100" b="1" dirty="0">
                <a:latin typeface="+mn-lt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latin typeface="+mn-lt"/>
              </a:rPr>
              <a:t>Miners must solve a </a:t>
            </a:r>
            <a:r>
              <a:rPr lang="en-US" sz="2100" b="1" dirty="0">
                <a:latin typeface="+mn-lt"/>
              </a:rPr>
              <a:t>hash puzzle</a:t>
            </a:r>
            <a:r>
              <a:rPr lang="en-US" sz="2100" dirty="0">
                <a:latin typeface="+mn-lt"/>
              </a:rPr>
              <a:t> by finding a special number (</a:t>
            </a:r>
            <a:r>
              <a:rPr lang="en-US" sz="2100" b="1" dirty="0">
                <a:latin typeface="+mn-lt"/>
              </a:rPr>
              <a:t>nonce</a:t>
            </a:r>
            <a:r>
              <a:rPr lang="en-US" sz="2100" dirty="0">
                <a:latin typeface="+mn-lt"/>
              </a:rPr>
              <a:t>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latin typeface="+mn-lt"/>
              </a:rPr>
              <a:t>The nonce, when combined with the block data and hashed, must produce a result </a:t>
            </a:r>
            <a:r>
              <a:rPr lang="en-US" sz="2100" b="1" dirty="0">
                <a:latin typeface="+mn-lt"/>
              </a:rPr>
              <a:t>below a target value</a:t>
            </a:r>
            <a:r>
              <a:rPr lang="en-US" sz="2100" dirty="0">
                <a:latin typeface="+mn-lt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latin typeface="+mn-lt"/>
              </a:rPr>
              <a:t>The only way to solve this is through </a:t>
            </a:r>
            <a:r>
              <a:rPr lang="en-US" sz="2100" b="1" dirty="0">
                <a:latin typeface="+mn-lt"/>
              </a:rPr>
              <a:t>trial and error</a:t>
            </a:r>
            <a:r>
              <a:rPr lang="en-US" sz="2100" dirty="0">
                <a:latin typeface="+mn-lt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latin typeface="+mn-lt"/>
              </a:rPr>
              <a:t>The difficulty is adjusted to ensure new blocks are created roughly every </a:t>
            </a:r>
            <a:r>
              <a:rPr lang="en-US" sz="2100" b="1" dirty="0">
                <a:latin typeface="+mn-lt"/>
              </a:rPr>
              <a:t>10 minutes</a:t>
            </a:r>
            <a:r>
              <a:rPr lang="en-US" sz="2100" dirty="0">
                <a:latin typeface="+mn-lt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latin typeface="+mn-lt"/>
              </a:rPr>
              <a:t>Once a miner finds a valid nonce, they broadcast the block, and other nodes verify it.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b="1" dirty="0">
                <a:latin typeface="+mn-lt"/>
              </a:rPr>
              <a:t>7. </a:t>
            </a:r>
            <a:r>
              <a:rPr lang="en-US" sz="2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Key Properties of Hash Puzzles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b="1" dirty="0">
                <a:latin typeface="+mn-lt"/>
              </a:rPr>
              <a:t>Difficult to Compute</a:t>
            </a:r>
            <a:r>
              <a:rPr lang="en-US" sz="2100" dirty="0">
                <a:latin typeface="+mn-lt"/>
              </a:rPr>
              <a:t>: Miners must try many different nonces, requiring high computational power.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b="1" dirty="0">
                <a:latin typeface="+mn-lt"/>
              </a:rPr>
              <a:t>Decentralized Selection</a:t>
            </a:r>
            <a:r>
              <a:rPr lang="en-US" sz="2100" dirty="0">
                <a:latin typeface="+mn-lt"/>
              </a:rPr>
              <a:t>: No central authority decides who mines the next block.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100" b="1" dirty="0">
                <a:latin typeface="+mn-lt"/>
              </a:rPr>
              <a:t>Prevents Spam/Sybil Attacks</a:t>
            </a:r>
            <a:r>
              <a:rPr lang="en-US" sz="2100" dirty="0">
                <a:latin typeface="+mn-lt"/>
              </a:rPr>
              <a:t>: Mining requires resources, preventing mass fake nodes</a:t>
            </a:r>
            <a:r>
              <a:rPr lang="en-US" sz="2100" dirty="0" smtClean="0">
                <a:latin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681602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099" y="-76200"/>
            <a:ext cx="10360025" cy="533400"/>
          </a:xfrm>
        </p:spPr>
        <p:txBody>
          <a:bodyPr/>
          <a:lstStyle/>
          <a:p>
            <a:pPr algn="ctr"/>
            <a:r>
              <a:rPr lang="en-US" sz="2900" dirty="0" smtClean="0">
                <a:ea typeface="Calibri" panose="020F0502020204030204" pitchFamily="34" charset="0"/>
              </a:rPr>
              <a:t/>
            </a:r>
            <a:br>
              <a:rPr lang="en-US" sz="2900" dirty="0" smtClean="0">
                <a:ea typeface="Calibri" panose="020F0502020204030204" pitchFamily="34" charset="0"/>
              </a:rPr>
            </a:br>
            <a:r>
              <a:rPr lang="en-US" sz="2900" dirty="0">
                <a:ea typeface="Calibri" panose="020F0502020204030204" pitchFamily="34" charset="0"/>
              </a:rPr>
              <a:t/>
            </a:r>
            <a:br>
              <a:rPr lang="en-US" sz="2900" dirty="0">
                <a:ea typeface="Calibri" panose="020F0502020204030204" pitchFamily="34" charset="0"/>
              </a:rPr>
            </a:br>
            <a:r>
              <a:rPr lang="en-US" sz="2900" dirty="0" smtClean="0">
                <a:solidFill>
                  <a:srgbClr val="FFC000"/>
                </a:solidFill>
                <a:ea typeface="Calibri" panose="020F0502020204030204" pitchFamily="34" charset="0"/>
              </a:rPr>
              <a:t>Incentives </a:t>
            </a:r>
            <a:r>
              <a:rPr lang="en-US" sz="2900" dirty="0">
                <a:solidFill>
                  <a:srgbClr val="FFC000"/>
                </a:solidFill>
                <a:ea typeface="Calibri" panose="020F0502020204030204" pitchFamily="34" charset="0"/>
              </a:rPr>
              <a:t>and proof of </a:t>
            </a:r>
            <a:r>
              <a:rPr lang="en-US" sz="2900" dirty="0" smtClean="0">
                <a:solidFill>
                  <a:srgbClr val="FFC000"/>
                </a:solidFill>
                <a:ea typeface="Calibri" panose="020F0502020204030204" pitchFamily="34" charset="0"/>
              </a:rPr>
              <a:t>work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6613" y="6457890"/>
            <a:ext cx="1150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Bitcoin’s incentives and PoW turn mining into a profitable, fair competition that keeps the system secure</a:t>
            </a:r>
            <a:endParaRPr lang="en-US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21280" y="457200"/>
            <a:ext cx="11267545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Why </a:t>
            </a: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Incentives Matter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Problem: Need miners to stay honest without central control.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Solution: Pay them in Bitcoin to follow the rules!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Real-Life Example: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Like paying gold miners for finding gold—they’re motivated to work hard and play fair.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Two </a:t>
            </a: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Ways Miners Earn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 smtClean="0">
                <a:latin typeface="+mn-lt"/>
              </a:rPr>
              <a:t>1</a:t>
            </a:r>
            <a:r>
              <a:rPr lang="en-US" sz="2100" dirty="0">
                <a:latin typeface="+mn-lt"/>
              </a:rPr>
              <a:t> </a:t>
            </a:r>
            <a:r>
              <a:rPr lang="en-US" sz="2100" dirty="0" smtClean="0">
                <a:latin typeface="+mn-lt"/>
              </a:rPr>
              <a:t>Block </a:t>
            </a:r>
            <a:r>
              <a:rPr lang="en-US" sz="2100" dirty="0">
                <a:latin typeface="+mn-lt"/>
              </a:rPr>
              <a:t>Reward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New Bitcoins created for miners who add valid blocks.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Halving Event: Reward cuts in half every ~4 years (now 3.125 BTC per block).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Total Supply Capped at 21M BTC (last coin mined ~2140).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 smtClean="0">
                <a:latin typeface="+mn-lt"/>
              </a:rPr>
              <a:t>2</a:t>
            </a:r>
            <a:r>
              <a:rPr lang="en-US" sz="2100" dirty="0">
                <a:latin typeface="+mn-lt"/>
              </a:rPr>
              <a:t> </a:t>
            </a:r>
            <a:r>
              <a:rPr lang="en-US" sz="2100" dirty="0" smtClean="0">
                <a:latin typeface="+mn-lt"/>
              </a:rPr>
              <a:t>Transaction </a:t>
            </a:r>
            <a:r>
              <a:rPr lang="en-US" sz="2100" dirty="0">
                <a:latin typeface="+mn-lt"/>
              </a:rPr>
              <a:t>Fees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Users pay small fees to prioritize transactions.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Miners collect these fees when they add transactions to blocks.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Example: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+mn-lt"/>
              </a:rPr>
              <a:t>Like a toll road—you pay a fee to use it, and the toll collector (miner) keeps it.</a:t>
            </a:r>
          </a:p>
        </p:txBody>
      </p:sp>
    </p:spTree>
    <p:extLst>
      <p:ext uri="{BB962C8B-B14F-4D97-AF65-F5344CB8AC3E}">
        <p14:creationId xmlns:p14="http://schemas.microsoft.com/office/powerpoint/2010/main" val="3666461810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3"/>
          <p:cNvSpPr>
            <a:spLocks noGrp="1"/>
          </p:cNvSpPr>
          <p:nvPr>
            <p:ph type="title"/>
          </p:nvPr>
        </p:nvSpPr>
        <p:spPr>
          <a:xfrm>
            <a:off x="1625600" y="2209800"/>
            <a:ext cx="8937625" cy="2763838"/>
          </a:xfrm>
        </p:spPr>
        <p:txBody>
          <a:bodyPr/>
          <a:lstStyle/>
          <a:p>
            <a:pPr eaLnBrk="1" hangingPunct="1"/>
            <a:r>
              <a:rPr lang="en-IN"/>
              <a:t>Thank You</a:t>
            </a:r>
          </a:p>
        </p:txBody>
      </p:sp>
      <p:pic>
        <p:nvPicPr>
          <p:cNvPr id="104452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42113" y="150813"/>
            <a:ext cx="473392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3" name="Picture 5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612" y="152400"/>
            <a:ext cx="106680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LongProperties xmlns="http://schemas.microsoft.com/office/2006/metadata/longProperties">
  <LongProp xmlns="" name="APDescription"><![CDATA[This simple template design works for technology and  businesses, but it's versatile enough to use in other contexts.  It features multiple slide layouts designed for widescreen (16x9 resolution) and includes a sample SmartArt list and chart that are easily editable.]]></LongProp>
</LongProperties>
</file>

<file path=customXml/item3.xml><?xml version="1.0" encoding="utf-8"?>
<p:properties xmlns:p="http://schemas.microsoft.com/office/2006/metadata/properties" xmlns:xsi="http://www.w3.org/2001/XMLSchema-instance">
  <documentManagement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AssetExpire xmlns="4873beb7-5857-4685-be1f-d57550cc96cc">2029-05-12T07:00:00+00:00</AssetExpire>
    <CampaignTagsTaxHTField0 xmlns="4873beb7-5857-4685-be1f-d57550cc96cc" xsi:nil="true"/>
    <IntlLangReviewDate xmlns="4873beb7-5857-4685-be1f-d57550cc96cc" xsi:nil="true"/>
    <TPFriendlyName xmlns="4873beb7-5857-4685-be1f-d57550cc96cc" xsi:nil="true"/>
    <IntlLangReview xmlns="4873beb7-5857-4685-be1f-d57550cc96cc" xsi:nil="true"/>
    <LocLastLocAttemptVersionLookup xmlns="4873beb7-5857-4685-be1f-d57550cc96cc">694266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2011-11-26T00:30:00+00:00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 xmlns="4873beb7-5857-4685-be1f-d57550cc96cc">1345093</Value>
    </PublishStatusLookup>
    <APAuthor xmlns="4873beb7-5857-4685-be1f-d57550cc96cc">
      <UserInfo xmlns="4873beb7-5857-4685-be1f-d57550cc96cc">
        <DisplayName xmlns="4873beb7-5857-4685-be1f-d57550cc96cc">REDMOND\kristaa</DisplayName>
        <AccountId xmlns="4873beb7-5857-4685-be1f-d57550cc96cc">136</AccountId>
        <AccountType xmlns="4873beb7-5857-4685-be1f-d57550cc96cc"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false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 xsi:nil="true"/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 xsi:nil="true"/>
    <Provider xmlns="4873beb7-5857-4685-be1f-d57550cc96cc" xsi:nil="true"/>
    <UACurrentWords xmlns="4873beb7-5857-4685-be1f-d57550cc96cc" xsi:nil="true"/>
    <AssetId xmlns="4873beb7-5857-4685-be1f-d57550cc96cc">TP102787989</AssetId>
    <TPClientViewer xmlns="4873beb7-5857-4685-be1f-d57550cc96cc" xsi:nil="true"/>
    <DSATActionTaken xmlns="4873beb7-5857-4685-be1f-d57550cc96cc" xsi:nil="true"/>
    <APEditor xmlns="4873beb7-5857-4685-be1f-d57550cc96cc">
      <UserInfo xmlns="4873beb7-5857-4685-be1f-d57550cc96cc">
        <DisplayName xmlns="4873beb7-5857-4685-be1f-d57550cc96cc"/>
        <AccountId xmlns="4873beb7-5857-4685-be1f-d57550cc96cc" xsi:nil="true"/>
        <AccountType xmlns="4873beb7-5857-4685-be1f-d57550cc96cc"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 xsi:nil="true"/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 xsi:nil="true"/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05800F-9CFB-45D4-A25C-59EC2F8E6A2A}">
  <ds:schemaRefs>
    <ds:schemaRef ds:uri="http://schemas.microsoft.com/office/2006/metadata/longProperties"/>
    <ds:schemaRef ds:uri=""/>
  </ds:schemaRefs>
</ds:datastoreItem>
</file>

<file path=customXml/itemProps3.xml><?xml version="1.0" encoding="utf-8"?>
<ds:datastoreItem xmlns:ds="http://schemas.openxmlformats.org/officeDocument/2006/customXml" ds:itemID="{85678BE2-CAE6-48C2-8030-97377E88EB10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873beb7-5857-4685-be1f-d57550cc96c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72454</TotalTime>
  <Words>1889</Words>
  <Application>Microsoft Office PowerPoint</Application>
  <PresentationFormat>Custom</PresentationFormat>
  <Paragraphs>230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Tech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Consensus without identity using a block chain</vt:lpstr>
      <vt:lpstr> Consensus without identity using a block chain</vt:lpstr>
      <vt:lpstr>Consensus without identity using a block chain</vt:lpstr>
      <vt:lpstr>Consensus without identity using a block chain</vt:lpstr>
      <vt:lpstr>Consensus without identity using a block chain</vt:lpstr>
      <vt:lpstr>Consensus without identity using a block chain</vt:lpstr>
      <vt:lpstr>Consensus without identity using a block chain</vt:lpstr>
      <vt:lpstr>  Incentives and proof of work</vt:lpstr>
      <vt:lpstr>  Incentives and proof of work</vt:lpstr>
      <vt:lpstr>  Incentives and proof of work</vt:lpstr>
      <vt:lpstr>  Incentives and proof of work</vt:lpstr>
      <vt:lpstr>Thank You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Alumni Meet 2018</dc:title>
  <dc:creator>Sandesh Jain</dc:creator>
  <cp:lastModifiedBy>N M K</cp:lastModifiedBy>
  <cp:revision>592</cp:revision>
  <dcterms:created xsi:type="dcterms:W3CDTF">2018-01-11T05:53:44Z</dcterms:created>
  <dcterms:modified xsi:type="dcterms:W3CDTF">2025-04-01T11:04:43Z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LocPublishedLinkedAssetsLookup">
    <vt:lpwstr/>
  </property>
  <property fmtid="{D5CDD505-2E9C-101B-9397-08002B2CF9AE}" pid="9" name="LocLastLocAttemptVersionTypeLookup">
    <vt:lpwstr/>
  </property>
  <property fmtid="{D5CDD505-2E9C-101B-9397-08002B2CF9AE}" pid="10" name="LocNewPublishedVersionLookup">
    <vt:lpwstr/>
  </property>
  <property fmtid="{D5CDD505-2E9C-101B-9397-08002B2CF9AE}" pid="11" name="LocOverallPublishStatusLookup">
    <vt:lpwstr/>
  </property>
  <property fmtid="{D5CDD505-2E9C-101B-9397-08002B2CF9AE}" pid="12" name="LocOverallLocStatusLookup">
    <vt:lpwstr/>
  </property>
  <property fmtid="{D5CDD505-2E9C-101B-9397-08002B2CF9AE}" pid="13" name="LocPublishedDependentAssetsLookup">
    <vt:lpwstr/>
  </property>
  <property fmtid="{D5CDD505-2E9C-101B-9397-08002B2CF9AE}" pid="14" name="LocProcessedForHandoffsLookup">
    <vt:lpwstr/>
  </property>
  <property fmtid="{D5CDD505-2E9C-101B-9397-08002B2CF9AE}" pid="15" name="LocOverallPreviewStatusLookup">
    <vt:lpwstr/>
  </property>
  <property fmtid="{D5CDD505-2E9C-101B-9397-08002B2CF9AE}" pid="16" name="LocProcessedForMarketsLookup">
    <vt:lpwstr/>
  </property>
  <property fmtid="{D5CDD505-2E9C-101B-9397-08002B2CF9AE}" pid="17" name="LocOverallHandbackStatusLookup">
    <vt:lpwstr/>
  </property>
</Properties>
</file>