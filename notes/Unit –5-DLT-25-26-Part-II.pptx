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6" r:id="rId2"/>
    <p:sldId id="285" r:id="rId3"/>
    <p:sldId id="261" r:id="rId4"/>
    <p:sldId id="302" r:id="rId5"/>
    <p:sldId id="260" r:id="rId6"/>
    <p:sldId id="287" r:id="rId7"/>
    <p:sldId id="288" r:id="rId8"/>
    <p:sldId id="303" r:id="rId9"/>
    <p:sldId id="289" r:id="rId10"/>
    <p:sldId id="291" r:id="rId11"/>
    <p:sldId id="292" r:id="rId12"/>
    <p:sldId id="263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8" d="100"/>
          <a:sy n="78" d="100"/>
        </p:scale>
        <p:origin x="-114" y="-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E53B5-54C3-4A96-9215-C80700F4E74D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ED090-47F6-48AE-B2A8-165F0D070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622127-108D-2A47-5563-2BE56ADAE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952BD0A-6257-33E3-854B-B950061D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885A7D-8BCB-E614-2293-4D8C8907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5BA602-31EB-84FC-13CB-26AC01AB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A71A64-1360-C358-2669-F817E9E8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8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DD2F74-662B-1436-0B91-48910267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B80210-80A3-186D-0DCE-8721C7BF7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CDDAA4-9C8C-68BD-2094-14F458822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F63A7A-51F1-B744-1FF2-001537DC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ABCDF6-71E8-4CB7-7D3E-5AFAF2AF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35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517473-0C73-B47F-8CE1-3B46F2F6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3C24E7-F59B-F2BB-1E49-8789962FB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0E40C1-AAA4-397A-E132-05E1E286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324612-839B-37BD-FFE2-C47CBE16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78B3B3-FFCC-81F2-CD56-69B536F1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80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B685E9-032F-2BD7-A240-24F77668F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3474A5-E06E-F833-FC88-96DCF5016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B51F34-11B6-3E7A-6974-C801FDA64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570ED73-1CD3-CA80-584D-A55100AC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21674A1-2A49-DBF5-7477-AC282128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821EE7-97FB-4FDB-6BA4-D9E21884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4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0791E4-38F6-CF2A-5725-E5DE751A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4D1EE76-CC4B-3ED4-9939-F4E7FAC04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BC0A174-0FB3-072E-8330-F22A7044B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43DE8DE-ED3B-5AFE-3A41-032BF1EC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7124026-3AA2-56C6-E74B-ED784E5AC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93BC6C6-BDD6-C261-A08A-6E3F89C4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97A66B8-40A5-FB5D-C629-B78EBCE2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AB23325-4715-A034-8FA8-576615C9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95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46BD3F-92F6-DC13-3A37-10A20782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3E0402-C37D-53F2-FB67-6B676272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E24D77-84A3-CDC3-4ED2-456E08C3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127FF59-A4CE-3C2B-285D-2B49CF74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66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D6E38F8-150A-1E7F-FD9B-5B4E6CBE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29119EA-615E-9818-6692-030B722E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225F7B-E2CD-DBC1-3CCC-8C28AACD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32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7434DB-A4A3-3910-00FC-2ACB7D6B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04F7E5-D85A-6F95-BD02-78C19BC10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906AAAE-F4F1-2163-8D5F-7FE9D812B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16A07E7-A79D-A7DB-ED71-67E9DC1E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83156A-9129-E189-F43D-528D31C6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66CB64-BDA8-D67B-F19F-11B2DEA4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63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BB0428-A2C3-66B8-2809-23BC9B55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84859B0-9FC3-5D9C-B720-86C27B419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60F7B3-C2AA-FDD5-2420-D7C3FA880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D6AD2B-5D85-ECD6-AA0E-ED0259B1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54B6CD-A49E-2E9E-DF74-822F6A06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1CCC2C0-685B-C832-FE0D-E442176C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551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E54FC2-3AE8-90F4-17B3-C6BE7A71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FDFDCD-FAD7-E89F-D432-3E26D3325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76C4B8-869E-1E11-9849-A2BA2725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C36E3C-5986-3A98-1F9D-2EB4AA32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8688F5-EB62-4F99-56B4-103C38FD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08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0805585-4BB2-529B-B5F8-5B64D0182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908CE47-C50B-A7EC-B818-ED8B9E9A8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AADAC3-C2C3-2B6D-ED0A-5274580C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F35C97-71D9-6485-1204-283F6F91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145031-3220-56B6-BBB9-2436C53A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88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C3858F0B-73C2-4816-86B8-7B9871F22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814" y="0"/>
            <a:ext cx="5915185" cy="6858000"/>
          </a:xfrm>
          <a:custGeom>
            <a:avLst/>
            <a:gdLst>
              <a:gd name="connsiteX0" fmla="*/ 0 w 6082253"/>
              <a:gd name="connsiteY0" fmla="*/ 0 h 6858000"/>
              <a:gd name="connsiteX1" fmla="*/ 6082253 w 6082253"/>
              <a:gd name="connsiteY1" fmla="*/ 0 h 6858000"/>
              <a:gd name="connsiteX2" fmla="*/ 6082253 w 6082253"/>
              <a:gd name="connsiteY2" fmla="*/ 6858000 h 6858000"/>
              <a:gd name="connsiteX3" fmla="*/ 0 w 608225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2253" h="6858000">
                <a:moveTo>
                  <a:pt x="0" y="0"/>
                </a:moveTo>
                <a:lnTo>
                  <a:pt x="6082253" y="0"/>
                </a:lnTo>
                <a:lnTo>
                  <a:pt x="608225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8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D3B7A91-CCE3-DC3A-ECC1-24A613FC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2ABDCC-C69A-9E0C-B1E1-3FBE26B8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9C4F57-887B-020D-7813-580BCA967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44A67-D572-4C8C-9F13-0A4B9A41D1F5}" type="datetimeFigureOut">
              <a:rPr lang="en-IN" smtClean="0"/>
              <a:t>20-05-2025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8C8126-D97A-0B3A-9FE4-7A3A58410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E490D6-AA19-FBD8-C2AE-F82E4660F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91A83-1007-4FC0-A998-68C11914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83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fif"/><Relationship Id="rId2" Type="http://schemas.openxmlformats.org/officeDocument/2006/relationships/image" Target="../media/image26.jf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30167" y="422753"/>
            <a:ext cx="10685405" cy="6104116"/>
            <a:chOff x="2220686" y="656772"/>
            <a:chExt cx="8911079" cy="5628946"/>
          </a:xfrm>
        </p:grpSpPr>
        <p:cxnSp>
          <p:nvCxnSpPr>
            <p:cNvPr id="6" name="Straight Connector 5"/>
            <p:cNvCxnSpPr>
              <a:cxnSpLocks/>
            </p:cNvCxnSpPr>
            <p:nvPr/>
          </p:nvCxnSpPr>
          <p:spPr>
            <a:xfrm>
              <a:off x="6441066" y="4484914"/>
              <a:ext cx="4690699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>
            <a:xfrm>
              <a:off x="7377112" y="3539515"/>
              <a:ext cx="2946030" cy="652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Unit –V Part-II</a:t>
              </a:r>
              <a:endParaRPr lang="en-IN" sz="4000" dirty="0">
                <a:latin typeface="Georgia" panose="02040502050405020303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796849" y="4824056"/>
              <a:ext cx="5334915" cy="146166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36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     How to Store and Use Bitcoins</a:t>
              </a:r>
            </a:p>
            <a:p>
              <a:pPr algn="ctr">
                <a:spcBef>
                  <a:spcPts val="600"/>
                </a:spcBef>
              </a:pPr>
              <a:endParaRPr lang="en-US" sz="2000" dirty="0">
                <a:latin typeface="Georgia Pro Light" panose="02040302050405020303" pitchFamily="18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583543" y="656772"/>
              <a:ext cx="0" cy="5544457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220686" y="1137903"/>
              <a:ext cx="0" cy="4582195"/>
            </a:xfrm>
            <a:prstGeom prst="line">
              <a:avLst/>
            </a:prstGeom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/>
          <p:cNvSpPr/>
          <p:nvPr/>
        </p:nvSpPr>
        <p:spPr>
          <a:xfrm>
            <a:off x="10410500" y="422752"/>
            <a:ext cx="1205073" cy="1127075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9853794-E74F-2D38-F4BC-F07758BAC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00" y="1133689"/>
            <a:ext cx="4209387" cy="4969003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xmlns="" id="{4A77D45A-4783-FFFA-002A-B62624C2AC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07696" y="375361"/>
            <a:ext cx="1205073" cy="105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817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5CFD1ACD-A6F9-9032-1094-4F9608DF3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655" y="4510678"/>
            <a:ext cx="2219136" cy="120711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E09A8275-8B21-07EA-A1A9-78F24436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322" y="4543036"/>
            <a:ext cx="2225233" cy="1207113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xmlns="" id="{C98A6402-E5CF-A3DE-33E4-3F935CD73461}"/>
              </a:ext>
            </a:extLst>
          </p:cNvPr>
          <p:cNvSpPr/>
          <p:nvPr/>
        </p:nvSpPr>
        <p:spPr>
          <a:xfrm>
            <a:off x="5319694" y="4556264"/>
            <a:ext cx="2098050" cy="108256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xmlns="" id="{06072AC1-4E73-DC5D-44C3-FC03E82A7E62}"/>
              </a:ext>
            </a:extLst>
          </p:cNvPr>
          <p:cNvSpPr/>
          <p:nvPr/>
        </p:nvSpPr>
        <p:spPr>
          <a:xfrm>
            <a:off x="3099052" y="4556359"/>
            <a:ext cx="2098050" cy="108256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xmlns="" id="{850E8775-A9C1-B15C-D3A1-ED5E7BDEAB30}"/>
              </a:ext>
            </a:extLst>
          </p:cNvPr>
          <p:cNvSpPr/>
          <p:nvPr/>
        </p:nvSpPr>
        <p:spPr>
          <a:xfrm>
            <a:off x="867909" y="4605310"/>
            <a:ext cx="2098050" cy="108256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A380A77-4E40-4749-B28C-371EFB6D5B84}"/>
              </a:ext>
            </a:extLst>
          </p:cNvPr>
          <p:cNvSpPr txBox="1"/>
          <p:nvPr/>
        </p:nvSpPr>
        <p:spPr>
          <a:xfrm>
            <a:off x="4151491" y="20705"/>
            <a:ext cx="4357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ea typeface="Cambria" panose="02040503050406030204" pitchFamily="18" charset="0"/>
              </a:rPr>
              <a:t>Contents </a:t>
            </a:r>
            <a:endParaRPr lang="en-IN" sz="8000" dirty="0">
              <a:ea typeface="Cambria" panose="020405030504060302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EE780EE8-14C2-4C71-A113-A0A80CF26285}"/>
              </a:ext>
            </a:extLst>
          </p:cNvPr>
          <p:cNvGrpSpPr/>
          <p:nvPr/>
        </p:nvGrpSpPr>
        <p:grpSpPr>
          <a:xfrm flipV="1">
            <a:off x="4758817" y="1200318"/>
            <a:ext cx="3256642" cy="285765"/>
            <a:chOff x="6575457" y="1351721"/>
            <a:chExt cx="1217817" cy="9144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207EF550-3738-449B-850A-0F69E07F7ECD}"/>
                </a:ext>
              </a:extLst>
            </p:cNvPr>
            <p:cNvSpPr/>
            <p:nvPr/>
          </p:nvSpPr>
          <p:spPr>
            <a:xfrm flipV="1">
              <a:off x="6575457" y="1351721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xmlns="" id="{5DF5E167-3A6A-4EC7-88AB-D170A492490C}"/>
                </a:ext>
              </a:extLst>
            </p:cNvPr>
            <p:cNvSpPr/>
            <p:nvPr/>
          </p:nvSpPr>
          <p:spPr>
            <a:xfrm flipV="1">
              <a:off x="6736368" y="1351721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xmlns="" id="{F40F9581-2292-4FC5-BF10-46BA8F7832F5}"/>
                </a:ext>
              </a:extLst>
            </p:cNvPr>
            <p:cNvSpPr/>
            <p:nvPr/>
          </p:nvSpPr>
          <p:spPr>
            <a:xfrm flipV="1">
              <a:off x="6897279" y="1351721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D7ADBD93-4073-4D96-AB8A-5A747595D6E2}"/>
                </a:ext>
              </a:extLst>
            </p:cNvPr>
            <p:cNvSpPr/>
            <p:nvPr/>
          </p:nvSpPr>
          <p:spPr>
            <a:xfrm flipV="1">
              <a:off x="7058190" y="1351721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xmlns="" id="{EE2D86FA-FE95-49CD-807F-E91BE297C00D}"/>
                </a:ext>
              </a:extLst>
            </p:cNvPr>
            <p:cNvSpPr/>
            <p:nvPr/>
          </p:nvSpPr>
          <p:spPr>
            <a:xfrm flipV="1">
              <a:off x="7219101" y="1351721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1F640249-48D3-444F-8416-7F78B80DCB72}"/>
                </a:ext>
              </a:extLst>
            </p:cNvPr>
            <p:cNvSpPr/>
            <p:nvPr/>
          </p:nvSpPr>
          <p:spPr>
            <a:xfrm flipV="1">
              <a:off x="7380012" y="1351721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D14DB15B-92D2-42DB-8D42-ACDE7E83F1B1}"/>
                </a:ext>
              </a:extLst>
            </p:cNvPr>
            <p:cNvSpPr/>
            <p:nvPr/>
          </p:nvSpPr>
          <p:spPr>
            <a:xfrm flipV="1">
              <a:off x="7540923" y="1351721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18914A8A-8627-4DDA-A8B0-D0A3D2E55DB0}"/>
                </a:ext>
              </a:extLst>
            </p:cNvPr>
            <p:cNvSpPr/>
            <p:nvPr/>
          </p:nvSpPr>
          <p:spPr>
            <a:xfrm flipV="1">
              <a:off x="7701834" y="1351721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FEFCA12-8287-4E7D-A644-5698BFCBE874}"/>
              </a:ext>
            </a:extLst>
          </p:cNvPr>
          <p:cNvGrpSpPr/>
          <p:nvPr/>
        </p:nvGrpSpPr>
        <p:grpSpPr>
          <a:xfrm>
            <a:off x="867908" y="2449019"/>
            <a:ext cx="10792542" cy="3202953"/>
            <a:chOff x="312332" y="2122359"/>
            <a:chExt cx="11862292" cy="3279643"/>
          </a:xfrm>
        </p:grpSpPr>
        <p:sp>
          <p:nvSpPr>
            <p:cNvPr id="5" name="Freeform 20">
              <a:extLst>
                <a:ext uri="{FF2B5EF4-FFF2-40B4-BE49-F238E27FC236}">
                  <a16:creationId xmlns:a16="http://schemas.microsoft.com/office/drawing/2014/main" xmlns="" id="{F664BB27-4585-4425-AA19-CC7694FB2E11}"/>
                </a:ext>
              </a:extLst>
            </p:cNvPr>
            <p:cNvSpPr/>
            <p:nvPr/>
          </p:nvSpPr>
          <p:spPr>
            <a:xfrm>
              <a:off x="3378295" y="2235473"/>
              <a:ext cx="3122813" cy="1675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99" extrusionOk="0">
                  <a:moveTo>
                    <a:pt x="17942" y="0"/>
                  </a:moveTo>
                  <a:cubicBezTo>
                    <a:pt x="18542" y="0"/>
                    <a:pt x="19960" y="127"/>
                    <a:pt x="21369" y="302"/>
                  </a:cubicBezTo>
                  <a:lnTo>
                    <a:pt x="21600" y="333"/>
                  </a:lnTo>
                  <a:lnTo>
                    <a:pt x="21579" y="464"/>
                  </a:lnTo>
                  <a:cubicBezTo>
                    <a:pt x="11914" y="-875"/>
                    <a:pt x="13118" y="19416"/>
                    <a:pt x="4965" y="20558"/>
                  </a:cubicBezTo>
                  <a:cubicBezTo>
                    <a:pt x="3768" y="20725"/>
                    <a:pt x="2591" y="20357"/>
                    <a:pt x="1459" y="19977"/>
                  </a:cubicBezTo>
                  <a:lnTo>
                    <a:pt x="266" y="19472"/>
                  </a:lnTo>
                  <a:lnTo>
                    <a:pt x="0" y="19229"/>
                  </a:lnTo>
                  <a:lnTo>
                    <a:pt x="25" y="19067"/>
                  </a:lnTo>
                  <a:lnTo>
                    <a:pt x="795" y="19226"/>
                  </a:lnTo>
                  <a:cubicBezTo>
                    <a:pt x="11037" y="20721"/>
                    <a:pt x="9202" y="1195"/>
                    <a:pt x="17942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/>
            </a:p>
          </p:txBody>
        </p:sp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xmlns="" id="{346C8728-60B7-48E3-B71E-3F11ABCCFAD1}"/>
                </a:ext>
              </a:extLst>
            </p:cNvPr>
            <p:cNvSpPr/>
            <p:nvPr/>
          </p:nvSpPr>
          <p:spPr>
            <a:xfrm>
              <a:off x="3381946" y="2157056"/>
              <a:ext cx="3123123" cy="1656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8" extrusionOk="0">
                  <a:moveTo>
                    <a:pt x="16616" y="0"/>
                  </a:moveTo>
                  <a:cubicBezTo>
                    <a:pt x="17817" y="0"/>
                    <a:pt x="18990" y="199"/>
                    <a:pt x="20122" y="576"/>
                  </a:cubicBezTo>
                  <a:lnTo>
                    <a:pt x="21600" y="1196"/>
                  </a:lnTo>
                  <a:lnTo>
                    <a:pt x="21573" y="1370"/>
                  </a:lnTo>
                  <a:lnTo>
                    <a:pt x="21342" y="1340"/>
                  </a:lnTo>
                  <a:cubicBezTo>
                    <a:pt x="19933" y="1166"/>
                    <a:pt x="18515" y="1040"/>
                    <a:pt x="17915" y="1040"/>
                  </a:cubicBezTo>
                  <a:cubicBezTo>
                    <a:pt x="9176" y="2226"/>
                    <a:pt x="11010" y="21600"/>
                    <a:pt x="770" y="20117"/>
                  </a:cubicBezTo>
                  <a:lnTo>
                    <a:pt x="0" y="19960"/>
                  </a:lnTo>
                  <a:lnTo>
                    <a:pt x="3" y="19938"/>
                  </a:lnTo>
                  <a:cubicBezTo>
                    <a:pt x="8800" y="19993"/>
                    <a:pt x="8811" y="0"/>
                    <a:pt x="16616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 dirty="0"/>
            </a:p>
          </p:txBody>
        </p:sp>
        <p:sp>
          <p:nvSpPr>
            <p:cNvPr id="7" name="Freeform 23">
              <a:extLst>
                <a:ext uri="{FF2B5EF4-FFF2-40B4-BE49-F238E27FC236}">
                  <a16:creationId xmlns:a16="http://schemas.microsoft.com/office/drawing/2014/main" xmlns="" id="{56BEDABA-C03E-4935-AD4C-2AEFC4975BB6}"/>
                </a:ext>
              </a:extLst>
            </p:cNvPr>
            <p:cNvSpPr/>
            <p:nvPr/>
          </p:nvSpPr>
          <p:spPr>
            <a:xfrm>
              <a:off x="5825790" y="2235473"/>
              <a:ext cx="3122813" cy="1675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99" extrusionOk="0">
                  <a:moveTo>
                    <a:pt x="17942" y="0"/>
                  </a:moveTo>
                  <a:cubicBezTo>
                    <a:pt x="18542" y="0"/>
                    <a:pt x="19960" y="127"/>
                    <a:pt x="21369" y="302"/>
                  </a:cubicBezTo>
                  <a:lnTo>
                    <a:pt x="21600" y="333"/>
                  </a:lnTo>
                  <a:lnTo>
                    <a:pt x="21579" y="464"/>
                  </a:lnTo>
                  <a:cubicBezTo>
                    <a:pt x="11914" y="-875"/>
                    <a:pt x="13118" y="19416"/>
                    <a:pt x="4965" y="20558"/>
                  </a:cubicBezTo>
                  <a:cubicBezTo>
                    <a:pt x="3768" y="20725"/>
                    <a:pt x="2591" y="20357"/>
                    <a:pt x="1459" y="19977"/>
                  </a:cubicBezTo>
                  <a:lnTo>
                    <a:pt x="266" y="19472"/>
                  </a:lnTo>
                  <a:lnTo>
                    <a:pt x="0" y="19229"/>
                  </a:lnTo>
                  <a:lnTo>
                    <a:pt x="25" y="19067"/>
                  </a:lnTo>
                  <a:lnTo>
                    <a:pt x="795" y="19226"/>
                  </a:lnTo>
                  <a:cubicBezTo>
                    <a:pt x="11037" y="20721"/>
                    <a:pt x="9202" y="1195"/>
                    <a:pt x="1794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 dirty="0"/>
            </a:p>
          </p:txBody>
        </p:sp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xmlns="" id="{A24D3406-F273-4F4E-AECB-CDA54CC73A6F}"/>
                </a:ext>
              </a:extLst>
            </p:cNvPr>
            <p:cNvSpPr/>
            <p:nvPr/>
          </p:nvSpPr>
          <p:spPr>
            <a:xfrm>
              <a:off x="5829440" y="2157056"/>
              <a:ext cx="3123123" cy="1656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8" extrusionOk="0">
                  <a:moveTo>
                    <a:pt x="16616" y="0"/>
                  </a:moveTo>
                  <a:cubicBezTo>
                    <a:pt x="17817" y="0"/>
                    <a:pt x="18990" y="199"/>
                    <a:pt x="20122" y="576"/>
                  </a:cubicBezTo>
                  <a:lnTo>
                    <a:pt x="21600" y="1196"/>
                  </a:lnTo>
                  <a:lnTo>
                    <a:pt x="21573" y="1370"/>
                  </a:lnTo>
                  <a:lnTo>
                    <a:pt x="21342" y="1340"/>
                  </a:lnTo>
                  <a:cubicBezTo>
                    <a:pt x="19933" y="1166"/>
                    <a:pt x="18515" y="1040"/>
                    <a:pt x="17915" y="1040"/>
                  </a:cubicBezTo>
                  <a:cubicBezTo>
                    <a:pt x="9176" y="2226"/>
                    <a:pt x="11010" y="21600"/>
                    <a:pt x="770" y="20117"/>
                  </a:cubicBezTo>
                  <a:lnTo>
                    <a:pt x="0" y="19960"/>
                  </a:lnTo>
                  <a:lnTo>
                    <a:pt x="3" y="19938"/>
                  </a:lnTo>
                  <a:cubicBezTo>
                    <a:pt x="8800" y="19993"/>
                    <a:pt x="8811" y="0"/>
                    <a:pt x="1661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/>
            </a:p>
          </p:txBody>
        </p:sp>
        <p:sp>
          <p:nvSpPr>
            <p:cNvPr id="9" name="Freeform 17">
              <a:extLst>
                <a:ext uri="{FF2B5EF4-FFF2-40B4-BE49-F238E27FC236}">
                  <a16:creationId xmlns:a16="http://schemas.microsoft.com/office/drawing/2014/main" xmlns="" id="{EF322A28-3195-4766-85A7-EEF2AF2076DE}"/>
                </a:ext>
              </a:extLst>
            </p:cNvPr>
            <p:cNvSpPr/>
            <p:nvPr/>
          </p:nvSpPr>
          <p:spPr>
            <a:xfrm>
              <a:off x="984848" y="2218644"/>
              <a:ext cx="3122813" cy="16758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99" extrusionOk="0">
                  <a:moveTo>
                    <a:pt x="17942" y="0"/>
                  </a:moveTo>
                  <a:cubicBezTo>
                    <a:pt x="18542" y="0"/>
                    <a:pt x="19960" y="127"/>
                    <a:pt x="21369" y="302"/>
                  </a:cubicBezTo>
                  <a:lnTo>
                    <a:pt x="21600" y="333"/>
                  </a:lnTo>
                  <a:lnTo>
                    <a:pt x="21579" y="464"/>
                  </a:lnTo>
                  <a:cubicBezTo>
                    <a:pt x="11914" y="-875"/>
                    <a:pt x="13118" y="19416"/>
                    <a:pt x="4965" y="20558"/>
                  </a:cubicBezTo>
                  <a:cubicBezTo>
                    <a:pt x="3768" y="20725"/>
                    <a:pt x="2591" y="20357"/>
                    <a:pt x="1459" y="19977"/>
                  </a:cubicBezTo>
                  <a:lnTo>
                    <a:pt x="266" y="19472"/>
                  </a:lnTo>
                  <a:lnTo>
                    <a:pt x="0" y="19229"/>
                  </a:lnTo>
                  <a:lnTo>
                    <a:pt x="25" y="19067"/>
                  </a:lnTo>
                  <a:lnTo>
                    <a:pt x="795" y="19226"/>
                  </a:lnTo>
                  <a:cubicBezTo>
                    <a:pt x="11037" y="20721"/>
                    <a:pt x="9202" y="1195"/>
                    <a:pt x="1794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xmlns="" id="{EB1A2EF6-89D6-432D-ACE9-5B25DFB40634}"/>
                </a:ext>
              </a:extLst>
            </p:cNvPr>
            <p:cNvSpPr/>
            <p:nvPr/>
          </p:nvSpPr>
          <p:spPr>
            <a:xfrm>
              <a:off x="988498" y="2140227"/>
              <a:ext cx="3123123" cy="1656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8" extrusionOk="0">
                  <a:moveTo>
                    <a:pt x="16616" y="0"/>
                  </a:moveTo>
                  <a:cubicBezTo>
                    <a:pt x="17817" y="0"/>
                    <a:pt x="18990" y="199"/>
                    <a:pt x="20122" y="576"/>
                  </a:cubicBezTo>
                  <a:lnTo>
                    <a:pt x="21600" y="1196"/>
                  </a:lnTo>
                  <a:lnTo>
                    <a:pt x="21573" y="1370"/>
                  </a:lnTo>
                  <a:lnTo>
                    <a:pt x="21342" y="1340"/>
                  </a:lnTo>
                  <a:cubicBezTo>
                    <a:pt x="19933" y="1166"/>
                    <a:pt x="18515" y="1040"/>
                    <a:pt x="17915" y="1040"/>
                  </a:cubicBezTo>
                  <a:cubicBezTo>
                    <a:pt x="9176" y="2226"/>
                    <a:pt x="11010" y="21600"/>
                    <a:pt x="770" y="20117"/>
                  </a:cubicBezTo>
                  <a:lnTo>
                    <a:pt x="0" y="19960"/>
                  </a:lnTo>
                  <a:lnTo>
                    <a:pt x="3" y="19938"/>
                  </a:lnTo>
                  <a:cubicBezTo>
                    <a:pt x="8800" y="19993"/>
                    <a:pt x="8811" y="0"/>
                    <a:pt x="1661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 dirty="0"/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xmlns="" id="{60CC0DCB-BE9C-4549-AB05-23BF543874D1}"/>
                </a:ext>
              </a:extLst>
            </p:cNvPr>
            <p:cNvSpPr/>
            <p:nvPr/>
          </p:nvSpPr>
          <p:spPr>
            <a:xfrm>
              <a:off x="450406" y="2122359"/>
              <a:ext cx="1761134" cy="1761134"/>
            </a:xfrm>
            <a:prstGeom prst="ellipse">
              <a:avLst/>
            </a:prstGeom>
            <a:gradFill>
              <a:gsLst>
                <a:gs pos="22846">
                  <a:srgbClr val="FFFFFF"/>
                </a:gs>
                <a:gs pos="63322">
                  <a:srgbClr val="E6EAEB"/>
                </a:gs>
                <a:gs pos="99960">
                  <a:srgbClr val="CDD5D8"/>
                </a:gs>
              </a:gsLst>
              <a:lin ang="2089255"/>
            </a:gradFill>
            <a:ln w="50800">
              <a:solidFill>
                <a:schemeClr val="accent1"/>
              </a:solidFill>
              <a:miter/>
            </a:ln>
            <a:effectLst>
              <a:outerShdw blurRad="152400" dist="90035" dir="2315233" rotWithShape="0">
                <a:srgbClr val="000000">
                  <a:alpha val="38297"/>
                </a:srgbClr>
              </a:outerShdw>
            </a:effectLst>
          </p:spPr>
          <p:txBody>
            <a:bodyPr lIns="34289" rIns="34289" anchor="ctr"/>
            <a:lstStyle/>
            <a:p>
              <a:endParaRPr sz="1350" dirty="0"/>
            </a:p>
          </p:txBody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xmlns="" id="{302E4CBD-1C24-431A-B375-F6B7B655D3E7}"/>
                </a:ext>
              </a:extLst>
            </p:cNvPr>
            <p:cNvSpPr/>
            <p:nvPr/>
          </p:nvSpPr>
          <p:spPr>
            <a:xfrm>
              <a:off x="2914970" y="2139478"/>
              <a:ext cx="1761134" cy="1761134"/>
            </a:xfrm>
            <a:prstGeom prst="ellipse">
              <a:avLst/>
            </a:prstGeom>
            <a:gradFill>
              <a:gsLst>
                <a:gs pos="22846">
                  <a:srgbClr val="FFFFFF"/>
                </a:gs>
                <a:gs pos="63322">
                  <a:srgbClr val="E6EAEB"/>
                </a:gs>
                <a:gs pos="99960">
                  <a:srgbClr val="CDD5D8"/>
                </a:gs>
              </a:gsLst>
              <a:lin ang="2089255"/>
            </a:gradFill>
            <a:ln w="50800">
              <a:solidFill>
                <a:schemeClr val="accent2"/>
              </a:solidFill>
              <a:miter/>
            </a:ln>
            <a:effectLst>
              <a:outerShdw blurRad="152400" dist="90035" dir="2315233" rotWithShape="0">
                <a:srgbClr val="000000">
                  <a:alpha val="38297"/>
                </a:srgbClr>
              </a:outerShdw>
            </a:effectLst>
          </p:spPr>
          <p:txBody>
            <a:bodyPr lIns="34289" rIns="34289" anchor="ctr"/>
            <a:lstStyle/>
            <a:p>
              <a:endParaRPr sz="1350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xmlns="" id="{8BA57000-ADA9-43DF-B4DA-4C438D39F08D}"/>
                </a:ext>
              </a:extLst>
            </p:cNvPr>
            <p:cNvSpPr/>
            <p:nvPr/>
          </p:nvSpPr>
          <p:spPr>
            <a:xfrm>
              <a:off x="5400575" y="2131099"/>
              <a:ext cx="1761134" cy="1761134"/>
            </a:xfrm>
            <a:prstGeom prst="ellipse">
              <a:avLst/>
            </a:prstGeom>
            <a:gradFill>
              <a:gsLst>
                <a:gs pos="22846">
                  <a:srgbClr val="FFFFFF"/>
                </a:gs>
                <a:gs pos="63322">
                  <a:srgbClr val="E6EAEB"/>
                </a:gs>
                <a:gs pos="99960">
                  <a:srgbClr val="CDD5D8"/>
                </a:gs>
              </a:gsLst>
              <a:lin ang="2089255"/>
            </a:gradFill>
            <a:ln w="50800">
              <a:solidFill>
                <a:schemeClr val="accent1"/>
              </a:solidFill>
              <a:miter/>
            </a:ln>
            <a:effectLst>
              <a:outerShdw blurRad="152400" dist="90035" dir="2315233" rotWithShape="0">
                <a:srgbClr val="000000">
                  <a:alpha val="38297"/>
                </a:srgbClr>
              </a:outerShdw>
            </a:effectLst>
          </p:spPr>
          <p:txBody>
            <a:bodyPr lIns="34289" rIns="34289" anchor="ctr"/>
            <a:lstStyle/>
            <a:p>
              <a:endParaRPr sz="1350"/>
            </a:p>
          </p:txBody>
        </p:sp>
        <p:sp>
          <p:nvSpPr>
            <p:cNvPr id="16" name="TextBox 34">
              <a:extLst>
                <a:ext uri="{FF2B5EF4-FFF2-40B4-BE49-F238E27FC236}">
                  <a16:creationId xmlns:a16="http://schemas.microsoft.com/office/drawing/2014/main" xmlns="" id="{B3EC0478-1DD7-41B6-B59A-3C34A72F302E}"/>
                </a:ext>
              </a:extLst>
            </p:cNvPr>
            <p:cNvSpPr txBox="1"/>
            <p:nvPr/>
          </p:nvSpPr>
          <p:spPr>
            <a:xfrm>
              <a:off x="806643" y="2552646"/>
              <a:ext cx="1097981" cy="83099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>
              <a:spAutoFit/>
            </a:bodyPr>
            <a:lstStyle>
              <a:lvl1pPr>
                <a:defRPr sz="4000">
                  <a:solidFill>
                    <a:srgbClr val="535353"/>
                  </a:solidFill>
                  <a:latin typeface="Arial Rounded MT Bold"/>
                  <a:ea typeface="Arial Rounded MT Bold"/>
                  <a:cs typeface="Arial Rounded MT Bold"/>
                  <a:sym typeface="Arial Rounded MT Bold"/>
                </a:defRPr>
              </a:lvl1pPr>
            </a:lstStyle>
            <a:p>
              <a:pPr algn="ctr"/>
              <a:r>
                <a:rPr lang="en-IN" sz="3600" dirty="0">
                  <a:latin typeface="Georgia" panose="02040502050405020303" pitchFamily="18" charset="0"/>
                  <a:ea typeface="Cambria" panose="02040503050406030204" pitchFamily="18" charset="0"/>
                </a:rPr>
                <a:t>1, 2</a:t>
              </a:r>
              <a:endParaRPr sz="3600" dirty="0"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TextBox 34">
              <a:extLst>
                <a:ext uri="{FF2B5EF4-FFF2-40B4-BE49-F238E27FC236}">
                  <a16:creationId xmlns:a16="http://schemas.microsoft.com/office/drawing/2014/main" xmlns="" id="{AB8C6FE1-3434-48DF-9066-DB771284901C}"/>
                </a:ext>
              </a:extLst>
            </p:cNvPr>
            <p:cNvSpPr txBox="1"/>
            <p:nvPr/>
          </p:nvSpPr>
          <p:spPr>
            <a:xfrm>
              <a:off x="3471007" y="2607784"/>
              <a:ext cx="649061" cy="707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tIns="34289" rIns="34289" bIns="34289">
              <a:spAutoFit/>
            </a:bodyPr>
            <a:lstStyle>
              <a:lvl1pPr>
                <a:defRPr sz="4000">
                  <a:solidFill>
                    <a:srgbClr val="535353"/>
                  </a:solidFill>
                  <a:latin typeface="Arial Rounded MT Bold"/>
                  <a:ea typeface="Arial Rounded MT Bold"/>
                  <a:cs typeface="Arial Rounded MT Bold"/>
                  <a:sym typeface="Arial Rounded MT Bold"/>
                </a:defRPr>
              </a:lvl1pPr>
            </a:lstStyle>
            <a:p>
              <a:pPr algn="ctr"/>
              <a:r>
                <a:rPr lang="en-IN" sz="3000" dirty="0">
                  <a:latin typeface="Georgia" panose="02040502050405020303" pitchFamily="18" charset="0"/>
                  <a:ea typeface="Cambria" panose="02040503050406030204" pitchFamily="18" charset="0"/>
                </a:rPr>
                <a:t>3</a:t>
              </a:r>
              <a:endParaRPr sz="3000" dirty="0"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TextBox 34">
              <a:extLst>
                <a:ext uri="{FF2B5EF4-FFF2-40B4-BE49-F238E27FC236}">
                  <a16:creationId xmlns:a16="http://schemas.microsoft.com/office/drawing/2014/main" xmlns="" id="{43C5FE51-5D9D-4B52-98A6-DB93067BC7BE}"/>
                </a:ext>
              </a:extLst>
            </p:cNvPr>
            <p:cNvSpPr txBox="1"/>
            <p:nvPr/>
          </p:nvSpPr>
          <p:spPr>
            <a:xfrm>
              <a:off x="5964750" y="2645767"/>
              <a:ext cx="649061" cy="707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tIns="34289" rIns="34289" bIns="34289">
              <a:spAutoFit/>
            </a:bodyPr>
            <a:lstStyle>
              <a:lvl1pPr>
                <a:defRPr sz="4000">
                  <a:solidFill>
                    <a:srgbClr val="535353"/>
                  </a:solidFill>
                  <a:latin typeface="Arial Rounded MT Bold"/>
                  <a:ea typeface="Arial Rounded MT Bold"/>
                  <a:cs typeface="Arial Rounded MT Bold"/>
                  <a:sym typeface="Arial Rounded MT Bold"/>
                </a:defRPr>
              </a:lvl1pPr>
            </a:lstStyle>
            <a:p>
              <a:pPr algn="ctr"/>
              <a:r>
                <a:rPr lang="en-IN" sz="3000" dirty="0">
                  <a:latin typeface="Georgia" panose="02040502050405020303" pitchFamily="18" charset="0"/>
                  <a:ea typeface="Cambria" panose="02040503050406030204" pitchFamily="18" charset="0"/>
                </a:rPr>
                <a:t>4</a:t>
              </a:r>
              <a:endParaRPr sz="3000" dirty="0">
                <a:latin typeface="Georgia" panose="02040502050405020303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B90B8599-8F30-49B1-AAB9-C58F0CB8748B}"/>
                </a:ext>
              </a:extLst>
            </p:cNvPr>
            <p:cNvSpPr/>
            <p:nvPr/>
          </p:nvSpPr>
          <p:spPr>
            <a:xfrm>
              <a:off x="312332" y="4298542"/>
              <a:ext cx="2288333" cy="10399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Simple Local Storage, Hot and Cold Storage</a:t>
              </a:r>
              <a:r>
                <a:rPr lang="en-US" sz="1050" dirty="0">
                  <a:latin typeface="Georgia Pro Light" panose="02040302050405020303" pitchFamily="18" charset="0"/>
                </a:rPr>
                <a:t>. 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28504240-14F4-4FF5-869B-786AE903027E}"/>
                </a:ext>
              </a:extLst>
            </p:cNvPr>
            <p:cNvSpPr/>
            <p:nvPr/>
          </p:nvSpPr>
          <p:spPr>
            <a:xfrm>
              <a:off x="2925709" y="4425495"/>
              <a:ext cx="1998213" cy="724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Splitting and Sharing Keys</a:t>
              </a:r>
              <a:r>
                <a:rPr lang="en-US" sz="2000" dirty="0">
                  <a:solidFill>
                    <a:schemeClr val="bg1"/>
                  </a:solidFill>
                </a:rPr>
                <a:t>. 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11301D47-F01D-4908-87D3-913B23DDFF6D}"/>
                </a:ext>
              </a:extLst>
            </p:cNvPr>
            <p:cNvSpPr/>
            <p:nvPr/>
          </p:nvSpPr>
          <p:spPr>
            <a:xfrm>
              <a:off x="5463093" y="4488972"/>
              <a:ext cx="2040826" cy="724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Online Wallets and Exchanges</a:t>
              </a:r>
              <a:r>
                <a:rPr lang="en-US" sz="2000" b="1" dirty="0"/>
                <a:t>.  </a:t>
              </a:r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xmlns="" id="{D2B66579-2BED-4905-9FCF-841CF52F52EF}"/>
                </a:ext>
              </a:extLst>
            </p:cNvPr>
            <p:cNvSpPr/>
            <p:nvPr/>
          </p:nvSpPr>
          <p:spPr>
            <a:xfrm>
              <a:off x="8296956" y="2235473"/>
              <a:ext cx="3122813" cy="1675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99" extrusionOk="0">
                  <a:moveTo>
                    <a:pt x="17942" y="0"/>
                  </a:moveTo>
                  <a:cubicBezTo>
                    <a:pt x="18542" y="0"/>
                    <a:pt x="19960" y="127"/>
                    <a:pt x="21369" y="302"/>
                  </a:cubicBezTo>
                  <a:lnTo>
                    <a:pt x="21600" y="333"/>
                  </a:lnTo>
                  <a:lnTo>
                    <a:pt x="21579" y="464"/>
                  </a:lnTo>
                  <a:cubicBezTo>
                    <a:pt x="11914" y="-875"/>
                    <a:pt x="13118" y="19416"/>
                    <a:pt x="4965" y="20558"/>
                  </a:cubicBezTo>
                  <a:cubicBezTo>
                    <a:pt x="3768" y="20725"/>
                    <a:pt x="2591" y="20357"/>
                    <a:pt x="1459" y="19977"/>
                  </a:cubicBezTo>
                  <a:lnTo>
                    <a:pt x="266" y="19472"/>
                  </a:lnTo>
                  <a:lnTo>
                    <a:pt x="0" y="19229"/>
                  </a:lnTo>
                  <a:lnTo>
                    <a:pt x="25" y="19067"/>
                  </a:lnTo>
                  <a:lnTo>
                    <a:pt x="795" y="19226"/>
                  </a:lnTo>
                  <a:cubicBezTo>
                    <a:pt x="11037" y="20721"/>
                    <a:pt x="9202" y="1195"/>
                    <a:pt x="17942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 dirty="0"/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xmlns="" id="{5CCF2F29-5CD3-411A-96A8-F5F5693D3AA8}"/>
                </a:ext>
              </a:extLst>
            </p:cNvPr>
            <p:cNvSpPr/>
            <p:nvPr/>
          </p:nvSpPr>
          <p:spPr>
            <a:xfrm>
              <a:off x="8300606" y="2157056"/>
              <a:ext cx="3123123" cy="1656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98" extrusionOk="0">
                  <a:moveTo>
                    <a:pt x="16616" y="0"/>
                  </a:moveTo>
                  <a:cubicBezTo>
                    <a:pt x="17817" y="0"/>
                    <a:pt x="18990" y="199"/>
                    <a:pt x="20122" y="576"/>
                  </a:cubicBezTo>
                  <a:lnTo>
                    <a:pt x="21600" y="1196"/>
                  </a:lnTo>
                  <a:lnTo>
                    <a:pt x="21573" y="1370"/>
                  </a:lnTo>
                  <a:lnTo>
                    <a:pt x="21342" y="1340"/>
                  </a:lnTo>
                  <a:cubicBezTo>
                    <a:pt x="19933" y="1166"/>
                    <a:pt x="18515" y="1040"/>
                    <a:pt x="17915" y="1040"/>
                  </a:cubicBezTo>
                  <a:cubicBezTo>
                    <a:pt x="9176" y="2226"/>
                    <a:pt x="11010" y="21600"/>
                    <a:pt x="770" y="20117"/>
                  </a:cubicBezTo>
                  <a:lnTo>
                    <a:pt x="0" y="19960"/>
                  </a:lnTo>
                  <a:lnTo>
                    <a:pt x="3" y="19938"/>
                  </a:lnTo>
                  <a:cubicBezTo>
                    <a:pt x="8800" y="19993"/>
                    <a:pt x="8811" y="0"/>
                    <a:pt x="16616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endParaRPr sz="1350"/>
            </a:p>
          </p:txBody>
        </p:sp>
        <p:sp>
          <p:nvSpPr>
            <p:cNvPr id="41" name="Oval 5">
              <a:extLst>
                <a:ext uri="{FF2B5EF4-FFF2-40B4-BE49-F238E27FC236}">
                  <a16:creationId xmlns:a16="http://schemas.microsoft.com/office/drawing/2014/main" xmlns="" id="{2D0247DB-4A7C-4B1F-B253-C54E858437C1}"/>
                </a:ext>
              </a:extLst>
            </p:cNvPr>
            <p:cNvSpPr/>
            <p:nvPr/>
          </p:nvSpPr>
          <p:spPr>
            <a:xfrm>
              <a:off x="7871741" y="2131099"/>
              <a:ext cx="1761134" cy="1761134"/>
            </a:xfrm>
            <a:prstGeom prst="ellipse">
              <a:avLst/>
            </a:prstGeom>
            <a:gradFill>
              <a:gsLst>
                <a:gs pos="22846">
                  <a:srgbClr val="FFFFFF"/>
                </a:gs>
                <a:gs pos="63322">
                  <a:srgbClr val="E6EAEB"/>
                </a:gs>
                <a:gs pos="99960">
                  <a:srgbClr val="CDD5D8"/>
                </a:gs>
              </a:gsLst>
              <a:lin ang="2089255"/>
            </a:gradFill>
            <a:ln w="50800">
              <a:solidFill>
                <a:schemeClr val="accent2"/>
              </a:solidFill>
              <a:miter/>
            </a:ln>
            <a:effectLst>
              <a:outerShdw blurRad="152400" dist="90035" dir="2315233" rotWithShape="0">
                <a:srgbClr val="000000">
                  <a:alpha val="38297"/>
                </a:srgbClr>
              </a:outerShdw>
            </a:effectLst>
          </p:spPr>
          <p:txBody>
            <a:bodyPr lIns="34289" rIns="34289" anchor="ctr"/>
            <a:lstStyle/>
            <a:p>
              <a:endParaRPr sz="1350"/>
            </a:p>
          </p:txBody>
        </p:sp>
        <p:sp>
          <p:nvSpPr>
            <p:cNvPr id="43" name="TextBox 34">
              <a:extLst>
                <a:ext uri="{FF2B5EF4-FFF2-40B4-BE49-F238E27FC236}">
                  <a16:creationId xmlns:a16="http://schemas.microsoft.com/office/drawing/2014/main" xmlns="" id="{B9986605-5A55-41BE-A851-087D508DF69F}"/>
                </a:ext>
              </a:extLst>
            </p:cNvPr>
            <p:cNvSpPr txBox="1"/>
            <p:nvPr/>
          </p:nvSpPr>
          <p:spPr>
            <a:xfrm>
              <a:off x="8272167" y="2689892"/>
              <a:ext cx="1021500" cy="81047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>
              <a:spAutoFit/>
            </a:bodyPr>
            <a:lstStyle>
              <a:lvl1pPr>
                <a:defRPr sz="4000">
                  <a:solidFill>
                    <a:srgbClr val="535353"/>
                  </a:solidFill>
                  <a:latin typeface="Arial Rounded MT Bold"/>
                  <a:ea typeface="Arial Rounded MT Bold"/>
                  <a:cs typeface="Arial Rounded MT Bold"/>
                  <a:sym typeface="Arial Rounded MT Bold"/>
                </a:defRPr>
              </a:lvl1pPr>
            </a:lstStyle>
            <a:p>
              <a:pPr algn="ctr"/>
              <a:r>
                <a:rPr lang="en-US" sz="3500" dirty="0">
                  <a:latin typeface="+mn-lt"/>
                  <a:ea typeface="Cambria" panose="02040503050406030204" pitchFamily="18" charset="0"/>
                </a:rPr>
                <a:t>5, 6</a:t>
              </a:r>
              <a:endParaRPr sz="3500" dirty="0">
                <a:latin typeface="+mn-lt"/>
                <a:ea typeface="Cambria" panose="02040503050406030204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xmlns="" id="{A0EBA0B0-D715-4DC7-A783-031A2F4C49D5}"/>
                </a:ext>
              </a:extLst>
            </p:cNvPr>
            <p:cNvSpPr/>
            <p:nvPr/>
          </p:nvSpPr>
          <p:spPr>
            <a:xfrm>
              <a:off x="7777020" y="4362020"/>
              <a:ext cx="2397011" cy="10399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Payment Services and Transaction Fees</a:t>
              </a:r>
              <a:r>
                <a:rPr lang="en-US" b="1" dirty="0"/>
                <a:t>.  </a:t>
              </a:r>
            </a:p>
          </p:txBody>
        </p:sp>
        <p:sp>
          <p:nvSpPr>
            <p:cNvPr id="45" name="Oval 6">
              <a:extLst>
                <a:ext uri="{FF2B5EF4-FFF2-40B4-BE49-F238E27FC236}">
                  <a16:creationId xmlns:a16="http://schemas.microsoft.com/office/drawing/2014/main" xmlns="" id="{7B3F71F2-B49F-4FD9-B1FD-E08E8DFD5679}"/>
                </a:ext>
              </a:extLst>
            </p:cNvPr>
            <p:cNvSpPr/>
            <p:nvPr/>
          </p:nvSpPr>
          <p:spPr>
            <a:xfrm>
              <a:off x="10304991" y="2122359"/>
              <a:ext cx="1761134" cy="1761134"/>
            </a:xfrm>
            <a:prstGeom prst="ellipse">
              <a:avLst/>
            </a:prstGeom>
            <a:gradFill>
              <a:gsLst>
                <a:gs pos="22846">
                  <a:srgbClr val="FFFFFF"/>
                </a:gs>
                <a:gs pos="63322">
                  <a:srgbClr val="E6EAEB"/>
                </a:gs>
                <a:gs pos="99960">
                  <a:srgbClr val="CDD5D8"/>
                </a:gs>
              </a:gsLst>
              <a:lin ang="2089255"/>
            </a:gradFill>
            <a:ln w="50800">
              <a:solidFill>
                <a:schemeClr val="accent1"/>
              </a:solidFill>
              <a:miter/>
            </a:ln>
            <a:effectLst>
              <a:outerShdw blurRad="152400" dist="90035" dir="2315233" rotWithShape="0">
                <a:srgbClr val="000000">
                  <a:alpha val="38297"/>
                </a:srgbClr>
              </a:outerShdw>
            </a:effectLst>
          </p:spPr>
          <p:txBody>
            <a:bodyPr lIns="34289" rIns="34289" anchor="ctr"/>
            <a:lstStyle/>
            <a:p>
              <a:endParaRPr sz="1350"/>
            </a:p>
          </p:txBody>
        </p:sp>
        <p:sp>
          <p:nvSpPr>
            <p:cNvPr id="47" name="TextBox 34">
              <a:extLst>
                <a:ext uri="{FF2B5EF4-FFF2-40B4-BE49-F238E27FC236}">
                  <a16:creationId xmlns:a16="http://schemas.microsoft.com/office/drawing/2014/main" xmlns="" id="{FAABFCEB-3657-4FBF-8BA4-5FB04DA76F6F}"/>
                </a:ext>
              </a:extLst>
            </p:cNvPr>
            <p:cNvSpPr txBox="1"/>
            <p:nvPr/>
          </p:nvSpPr>
          <p:spPr>
            <a:xfrm>
              <a:off x="10809250" y="2695173"/>
              <a:ext cx="649061" cy="81047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4289" tIns="34289" rIns="34289" bIns="34289">
              <a:spAutoFit/>
            </a:bodyPr>
            <a:lstStyle>
              <a:lvl1pPr>
                <a:defRPr sz="4000">
                  <a:solidFill>
                    <a:srgbClr val="535353"/>
                  </a:solidFill>
                  <a:latin typeface="Arial Rounded MT Bold"/>
                  <a:ea typeface="Arial Rounded MT Bold"/>
                  <a:cs typeface="Arial Rounded MT Bold"/>
                  <a:sym typeface="Arial Rounded MT Bold"/>
                </a:defRPr>
              </a:lvl1pPr>
            </a:lstStyle>
            <a:p>
              <a:pPr algn="ctr"/>
              <a:r>
                <a:rPr lang="en-US" sz="3500" b="1" dirty="0">
                  <a:latin typeface="+mn-lt"/>
                  <a:ea typeface="Cambria" panose="02040503050406030204" pitchFamily="18" charset="0"/>
                </a:rPr>
                <a:t>7</a:t>
              </a:r>
              <a:endParaRPr sz="3500" b="1" dirty="0">
                <a:latin typeface="+mn-lt"/>
                <a:ea typeface="Cambria" panose="020405030504060302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6A7D66CB-FFF1-46DD-987A-F23F9E532425}"/>
                </a:ext>
              </a:extLst>
            </p:cNvPr>
            <p:cNvSpPr/>
            <p:nvPr/>
          </p:nvSpPr>
          <p:spPr>
            <a:xfrm>
              <a:off x="10434385" y="4298543"/>
              <a:ext cx="1740239" cy="10399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Currency Exchange Markets</a:t>
              </a:r>
              <a:r>
                <a:rPr lang="en-US" sz="1050" dirty="0">
                  <a:latin typeface="Georgia Pro Light" panose="02040302050405020303" pitchFamily="18" charset="0"/>
                </a:rPr>
                <a:t>.  </a:t>
              </a:r>
            </a:p>
          </p:txBody>
        </p:sp>
      </p:grpSp>
      <p:sp>
        <p:nvSpPr>
          <p:cNvPr id="2" name="Arrow: Down 1">
            <a:extLst>
              <a:ext uri="{FF2B5EF4-FFF2-40B4-BE49-F238E27FC236}">
                <a16:creationId xmlns:a16="http://schemas.microsoft.com/office/drawing/2014/main" xmlns="" id="{94ECB0CD-5BD1-5307-47AC-33A60055512C}"/>
              </a:ext>
            </a:extLst>
          </p:cNvPr>
          <p:cNvSpPr/>
          <p:nvPr/>
        </p:nvSpPr>
        <p:spPr>
          <a:xfrm>
            <a:off x="1698414" y="4172830"/>
            <a:ext cx="316365" cy="49216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E1FED0-7EEB-61B7-4365-A0AEEAE7D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430" y="4125566"/>
            <a:ext cx="339848" cy="4863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E41AC99-5685-528C-6B6E-B3CCF50E4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777" y="4146032"/>
            <a:ext cx="341406" cy="4877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23ABA0CE-468F-2996-19A4-D81D9AF85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533" y="4146034"/>
            <a:ext cx="341406" cy="4877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352B3F50-BA22-E56C-7A13-26A558B55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1798" y="4146034"/>
            <a:ext cx="341406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4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7090D04-C997-4637-868E-DF1F09B394A5}"/>
              </a:ext>
            </a:extLst>
          </p:cNvPr>
          <p:cNvSpPr/>
          <p:nvPr/>
        </p:nvSpPr>
        <p:spPr>
          <a:xfrm>
            <a:off x="0" y="-2307"/>
            <a:ext cx="12192000" cy="7010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41EFB2EE-9AF6-4358-9738-09E9AEFD0C36}"/>
              </a:ext>
            </a:extLst>
          </p:cNvPr>
          <p:cNvGrpSpPr/>
          <p:nvPr/>
        </p:nvGrpSpPr>
        <p:grpSpPr>
          <a:xfrm>
            <a:off x="3768352" y="1989873"/>
            <a:ext cx="7974195" cy="4735286"/>
            <a:chOff x="3656744" y="1568961"/>
            <a:chExt cx="6990417" cy="47352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9BDB6870-CF9A-44A4-889A-504067272F78}"/>
                </a:ext>
              </a:extLst>
            </p:cNvPr>
            <p:cNvGrpSpPr/>
            <p:nvPr/>
          </p:nvGrpSpPr>
          <p:grpSpPr>
            <a:xfrm>
              <a:off x="4985445" y="1568961"/>
              <a:ext cx="5619294" cy="4735286"/>
              <a:chOff x="4975017" y="1568961"/>
              <a:chExt cx="5619294" cy="473528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xmlns="" id="{84910FE0-60CD-4B74-AE9E-8809272542D6}"/>
                  </a:ext>
                </a:extLst>
              </p:cNvPr>
              <p:cNvGrpSpPr/>
              <p:nvPr/>
            </p:nvGrpSpPr>
            <p:grpSpPr>
              <a:xfrm>
                <a:off x="4975017" y="1568961"/>
                <a:ext cx="5548789" cy="771896"/>
                <a:chOff x="4975017" y="1923803"/>
                <a:chExt cx="5548789" cy="771896"/>
              </a:xfrm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xmlns="" id="{DDB01CE1-2147-48A7-B573-1EAA89225342}"/>
                    </a:ext>
                  </a:extLst>
                </p:cNvPr>
                <p:cNvSpPr/>
                <p:nvPr/>
              </p:nvSpPr>
              <p:spPr>
                <a:xfrm>
                  <a:off x="4975017" y="1923803"/>
                  <a:ext cx="5548789" cy="7718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xmlns="" id="{46E19C4F-E43D-404E-AB57-5C9D2AE286CD}"/>
                    </a:ext>
                  </a:extLst>
                </p:cNvPr>
                <p:cNvSpPr/>
                <p:nvPr/>
              </p:nvSpPr>
              <p:spPr>
                <a:xfrm>
                  <a:off x="5059877" y="2018805"/>
                  <a:ext cx="605642" cy="6056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Georgia Pro Cond" panose="02040506050405020303" pitchFamily="18" charset="0"/>
                    </a:rPr>
                    <a:t>01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xmlns="" id="{F081CB86-6E56-4ACC-A171-47D7CA6A38BD}"/>
                  </a:ext>
                </a:extLst>
              </p:cNvPr>
              <p:cNvGrpSpPr/>
              <p:nvPr/>
            </p:nvGrpSpPr>
            <p:grpSpPr>
              <a:xfrm>
                <a:off x="5008381" y="2559808"/>
                <a:ext cx="5548789" cy="771896"/>
                <a:chOff x="5008381" y="1923803"/>
                <a:chExt cx="5548789" cy="771896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xmlns="" id="{01FA5D5F-3101-4678-A71C-6EC32459084C}"/>
                    </a:ext>
                  </a:extLst>
                </p:cNvPr>
                <p:cNvSpPr/>
                <p:nvPr/>
              </p:nvSpPr>
              <p:spPr>
                <a:xfrm>
                  <a:off x="5008381" y="1923803"/>
                  <a:ext cx="5548789" cy="771896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2"/>
                  <a:tile tx="0" ty="0" sx="100000" sy="100000" flip="none" algn="tl"/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xmlns="" id="{73616C34-078D-4813-A0D3-EAF2498B46B5}"/>
                    </a:ext>
                  </a:extLst>
                </p:cNvPr>
                <p:cNvSpPr/>
                <p:nvPr/>
              </p:nvSpPr>
              <p:spPr>
                <a:xfrm>
                  <a:off x="5107344" y="2018805"/>
                  <a:ext cx="605642" cy="6056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Georgia Pro Cond" panose="02040506050405020303" pitchFamily="18" charset="0"/>
                    </a:rPr>
                    <a:t>02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xmlns="" id="{56A0289B-E5D6-4630-9BCA-29E490188014}"/>
                  </a:ext>
                </a:extLst>
              </p:cNvPr>
              <p:cNvGrpSpPr/>
              <p:nvPr/>
            </p:nvGrpSpPr>
            <p:grpSpPr>
              <a:xfrm>
                <a:off x="5038133" y="3550655"/>
                <a:ext cx="5548789" cy="771896"/>
                <a:chOff x="5038133" y="1923803"/>
                <a:chExt cx="5548789" cy="77189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xmlns="" id="{A288801E-113A-4E26-A64C-90C2D7C708A7}"/>
                    </a:ext>
                  </a:extLst>
                </p:cNvPr>
                <p:cNvSpPr/>
                <p:nvPr/>
              </p:nvSpPr>
              <p:spPr>
                <a:xfrm>
                  <a:off x="5038133" y="1923803"/>
                  <a:ext cx="5548789" cy="771896"/>
                </a:xfrm>
                <a:prstGeom prst="roundRect">
                  <a:avLst>
                    <a:gd name="adj" fmla="val 50000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xmlns="" id="{7C245686-A547-4245-87B9-B7BB58E4A572}"/>
                    </a:ext>
                  </a:extLst>
                </p:cNvPr>
                <p:cNvSpPr/>
                <p:nvPr/>
              </p:nvSpPr>
              <p:spPr>
                <a:xfrm>
                  <a:off x="5137096" y="2018805"/>
                  <a:ext cx="605642" cy="6056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Georgia Pro Cond" panose="02040506050405020303" pitchFamily="18" charset="0"/>
                    </a:rPr>
                    <a:t>03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xmlns="" id="{FC374723-FAB7-4263-A709-2890174ACEFA}"/>
                  </a:ext>
                </a:extLst>
              </p:cNvPr>
              <p:cNvGrpSpPr/>
              <p:nvPr/>
            </p:nvGrpSpPr>
            <p:grpSpPr>
              <a:xfrm>
                <a:off x="5045522" y="4541502"/>
                <a:ext cx="5548789" cy="771896"/>
                <a:chOff x="5045522" y="1923803"/>
                <a:chExt cx="5548789" cy="771896"/>
              </a:xfrm>
            </p:grpSpPr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xmlns="" id="{0F60485F-F62E-4AB5-801B-FABC768C915C}"/>
                    </a:ext>
                  </a:extLst>
                </p:cNvPr>
                <p:cNvSpPr/>
                <p:nvPr/>
              </p:nvSpPr>
              <p:spPr>
                <a:xfrm>
                  <a:off x="5045522" y="1923803"/>
                  <a:ext cx="5548789" cy="771896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3"/>
                  <a:tile tx="0" ty="0" sx="100000" sy="100000" flip="none" algn="tl"/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xmlns="" id="{94E92573-BC53-45FD-A688-C5E8D87EA53B}"/>
                    </a:ext>
                  </a:extLst>
                </p:cNvPr>
                <p:cNvSpPr/>
                <p:nvPr/>
              </p:nvSpPr>
              <p:spPr>
                <a:xfrm>
                  <a:off x="5144484" y="2018805"/>
                  <a:ext cx="605642" cy="6056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Georgia Pro Cond" panose="02040506050405020303" pitchFamily="18" charset="0"/>
                    </a:rPr>
                    <a:t>04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xmlns="" id="{C3A6CC4B-AD60-41E9-99DB-335051AC1EE8}"/>
                  </a:ext>
                </a:extLst>
              </p:cNvPr>
              <p:cNvGrpSpPr/>
              <p:nvPr/>
            </p:nvGrpSpPr>
            <p:grpSpPr>
              <a:xfrm>
                <a:off x="5031421" y="5532351"/>
                <a:ext cx="5548789" cy="771896"/>
                <a:chOff x="5031421" y="1923803"/>
                <a:chExt cx="5548789" cy="771896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xmlns="" id="{C80A9938-A07F-4D93-AFB9-C5BC3BAD48E0}"/>
                    </a:ext>
                  </a:extLst>
                </p:cNvPr>
                <p:cNvSpPr/>
                <p:nvPr/>
              </p:nvSpPr>
              <p:spPr>
                <a:xfrm>
                  <a:off x="5031421" y="1923803"/>
                  <a:ext cx="5548789" cy="77189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xmlns="" id="{728FBE04-839C-4AA3-A353-3F6A3A656775}"/>
                    </a:ext>
                  </a:extLst>
                </p:cNvPr>
                <p:cNvSpPr/>
                <p:nvPr/>
              </p:nvSpPr>
              <p:spPr>
                <a:xfrm>
                  <a:off x="5130383" y="2018805"/>
                  <a:ext cx="605642" cy="6056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  <a:latin typeface="Georgia Pro Cond" panose="02040506050405020303" pitchFamily="18" charset="0"/>
                    </a:rPr>
                    <a:t>05</a:t>
                  </a:r>
                </a:p>
              </p:txBody>
            </p:sp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54AC6DDB-5D1B-473F-81D2-D6B688C317C0}"/>
                </a:ext>
              </a:extLst>
            </p:cNvPr>
            <p:cNvSpPr txBox="1"/>
            <p:nvPr/>
          </p:nvSpPr>
          <p:spPr>
            <a:xfrm>
              <a:off x="5739309" y="1642745"/>
              <a:ext cx="49078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Understand bitcoin storage types: local, hot, and cold wallets.</a:t>
              </a:r>
              <a:endPara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Light" panose="02040302050405020303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08D45691-314F-460F-B27E-01EF7616774B}"/>
                </a:ext>
              </a:extLst>
            </p:cNvPr>
            <p:cNvSpPr txBox="1"/>
            <p:nvPr/>
          </p:nvSpPr>
          <p:spPr>
            <a:xfrm>
              <a:off x="5778789" y="2606219"/>
              <a:ext cx="48441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Learn secure key management using hierarchical, brain, and paper wallets</a:t>
              </a:r>
              <a:endPara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Light" panose="02040302050405020303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05F9A03F-D25A-4E53-A35F-7D7153A88477}"/>
                </a:ext>
              </a:extLst>
            </p:cNvPr>
            <p:cNvSpPr txBox="1"/>
            <p:nvPr/>
          </p:nvSpPr>
          <p:spPr>
            <a:xfrm>
              <a:off x="5775524" y="3630844"/>
              <a:ext cx="47587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Explore address encoding methods like base58 and QR codes.</a:t>
              </a:r>
              <a:endPara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Light" panose="02040302050405020303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AD4F9AAC-59B4-47D1-82FB-A9A3FF72E21C}"/>
                </a:ext>
              </a:extLst>
            </p:cNvPr>
            <p:cNvSpPr txBox="1"/>
            <p:nvPr/>
          </p:nvSpPr>
          <p:spPr>
            <a:xfrm>
              <a:off x="5802700" y="5575139"/>
              <a:ext cx="47315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Analyze online wallets, exchanges, transaction fees, and payment services</a:t>
              </a:r>
              <a:r>
                <a:rPr lang="en-US" sz="2000" dirty="0"/>
                <a:t>.</a:t>
              </a:r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xmlns="" id="{C8AD8876-C80B-45D0-BED2-3A94255FA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6752" y="1954909"/>
              <a:ext cx="1427408" cy="1981695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xmlns="" id="{E9734128-B32D-4C13-97CD-1B3BCA5048C4}"/>
                </a:ext>
              </a:extLst>
            </p:cNvPr>
            <p:cNvCxnSpPr>
              <a:cxnSpLocks/>
            </p:cNvCxnSpPr>
            <p:nvPr/>
          </p:nvCxnSpPr>
          <p:spPr>
            <a:xfrm>
              <a:off x="3670850" y="3936604"/>
              <a:ext cx="1427408" cy="198169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xmlns="" id="{2B5E10F1-0B2F-4618-B8E0-37253DAEE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6752" y="2945756"/>
              <a:ext cx="1427408" cy="990848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xmlns="" id="{9396FE42-F76F-48AF-B18B-F729B6DEA657}"/>
                </a:ext>
              </a:extLst>
            </p:cNvPr>
            <p:cNvCxnSpPr>
              <a:cxnSpLocks/>
            </p:cNvCxnSpPr>
            <p:nvPr/>
          </p:nvCxnSpPr>
          <p:spPr>
            <a:xfrm>
              <a:off x="3656744" y="3936604"/>
              <a:ext cx="1427408" cy="990846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xmlns="" id="{E767D2EF-CD89-469F-8E88-65D96ED9FF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5001" y="3936603"/>
              <a:ext cx="1286388" cy="1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2BDA4D-F5C4-49A4-8DC2-F007C6E86B3D}"/>
              </a:ext>
            </a:extLst>
          </p:cNvPr>
          <p:cNvSpPr txBox="1"/>
          <p:nvPr/>
        </p:nvSpPr>
        <p:spPr>
          <a:xfrm>
            <a:off x="95533" y="-83510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 to Store and Use Bitcoins</a:t>
            </a:r>
            <a:endParaRPr lang="en-US" sz="4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680F031-C704-1CFB-BE62-D5F6941B2067}"/>
              </a:ext>
            </a:extLst>
          </p:cNvPr>
          <p:cNvSpPr txBox="1"/>
          <p:nvPr/>
        </p:nvSpPr>
        <p:spPr>
          <a:xfrm>
            <a:off x="22963" y="719079"/>
            <a:ext cx="12052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/>
              <a:t>Aim 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To understand practical methods of storing, managing, and using bitcoins securely, while evaluating key management strategies and associated risks..</a:t>
            </a:r>
            <a:endParaRPr lang="en-IN" sz="2400" dirty="0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xmlns="" id="{D3597D0F-D004-6260-107D-F235D464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0B1A13B-274B-EBE2-A99E-024B1E27F34C}"/>
              </a:ext>
            </a:extLst>
          </p:cNvPr>
          <p:cNvSpPr txBox="1"/>
          <p:nvPr/>
        </p:nvSpPr>
        <p:spPr>
          <a:xfrm>
            <a:off x="6185313" y="5010922"/>
            <a:ext cx="5290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Study cryptographic techniques for key sharing and enhanced security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B64A2A2F-0094-58BB-D700-FE602E85B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74" y="2500484"/>
            <a:ext cx="3678267" cy="345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7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 Diagonal Corner Rectangle 2"/>
          <p:cNvSpPr/>
          <p:nvPr/>
        </p:nvSpPr>
        <p:spPr>
          <a:xfrm>
            <a:off x="743711" y="390144"/>
            <a:ext cx="4888993" cy="5827776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5632704" y="4194048"/>
            <a:ext cx="5937504" cy="121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23869" y="2890766"/>
            <a:ext cx="3795078" cy="1031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Simple Local </a:t>
            </a:r>
            <a:r>
              <a:rPr lang="en-US" sz="2800" b="1" dirty="0" smtClean="0"/>
              <a:t>Storage</a:t>
            </a:r>
          </a:p>
          <a:p>
            <a:pPr algn="ctr">
              <a:spcAft>
                <a:spcPts val="600"/>
              </a:spcAft>
            </a:pPr>
            <a:r>
              <a:rPr lang="en-US" sz="2800" b="1" dirty="0" smtClean="0"/>
              <a:t>How </a:t>
            </a:r>
            <a:r>
              <a:rPr lang="en-US" sz="2800" b="1" dirty="0"/>
              <a:t>Bitcoins Are Stored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4389120"/>
            <a:ext cx="5193792" cy="7315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23868" y="4561070"/>
            <a:ext cx="42075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Understanding Local Storage Methods</a:t>
            </a:r>
          </a:p>
        </p:txBody>
      </p:sp>
    </p:spTree>
    <p:extLst>
      <p:ext uri="{BB962C8B-B14F-4D97-AF65-F5344CB8AC3E}">
        <p14:creationId xmlns:p14="http://schemas.microsoft.com/office/powerpoint/2010/main" val="233505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B7C62F4-F0EA-403B-B13E-7D98FC6F5AF4}"/>
              </a:ext>
            </a:extLst>
          </p:cNvPr>
          <p:cNvSpPr/>
          <p:nvPr/>
        </p:nvSpPr>
        <p:spPr>
          <a:xfrm>
            <a:off x="1234936" y="5114443"/>
            <a:ext cx="10869239" cy="14255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171A7D60-21C7-41F5-7358-D69865928627}"/>
              </a:ext>
            </a:extLst>
          </p:cNvPr>
          <p:cNvSpPr/>
          <p:nvPr/>
        </p:nvSpPr>
        <p:spPr>
          <a:xfrm>
            <a:off x="108486" y="318042"/>
            <a:ext cx="10869239" cy="13270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6D356FA-F7B3-7F6B-73F1-9607F2BE53D5}"/>
              </a:ext>
            </a:extLst>
          </p:cNvPr>
          <p:cNvSpPr txBox="1"/>
          <p:nvPr/>
        </p:nvSpPr>
        <p:spPr>
          <a:xfrm>
            <a:off x="511440" y="1004503"/>
            <a:ext cx="11189780" cy="5088573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What Does It Mean to Store Bitcoins?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Bitcoins are not files, they are records on the blockchain.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What you actually store is the private key that gives you access to your coins.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To spend bitcoins, you need:</a:t>
            </a:r>
          </a:p>
          <a:p>
            <a:pPr indent="712788">
              <a:spcAft>
                <a:spcPts val="800"/>
              </a:spcAft>
              <a:tabLst>
                <a:tab pos="1069975" algn="l"/>
              </a:tabLst>
            </a:pPr>
            <a:r>
              <a:rPr lang="en-US" sz="2100" dirty="0"/>
              <a:t>o	Public Info: blockchain data (coin ID, amount, address)</a:t>
            </a:r>
          </a:p>
          <a:p>
            <a:pPr indent="712788">
              <a:spcAft>
                <a:spcPts val="800"/>
              </a:spcAft>
              <a:tabLst>
                <a:tab pos="1069975" algn="l"/>
              </a:tabLst>
            </a:pPr>
            <a:r>
              <a:rPr lang="en-US" sz="2100" dirty="0"/>
              <a:t>o	Private Key: secret info to authorize spending Real-life Example: Like storing your ATM PIN 	to access your bank balance. </a:t>
            </a:r>
          </a:p>
          <a:p>
            <a:pPr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</a:rPr>
              <a:t>Goals of Bitcoin Storage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Availability: Access and use coins when needed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Security: Prevent unauthorized access or theft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Convenience: Easy to manage and use</a:t>
            </a:r>
          </a:p>
          <a:p>
            <a:pPr indent="357188">
              <a:spcAft>
                <a:spcPts val="800"/>
              </a:spcAft>
              <a:tabLst>
                <a:tab pos="542925" algn="l"/>
              </a:tabLst>
            </a:pPr>
            <a:r>
              <a:rPr lang="en-US" sz="2100" dirty="0"/>
              <a:t>•	Challenge: Balancing all three is difficult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DD5349B-9B75-4188-8A16-AE571656B24C}"/>
              </a:ext>
            </a:extLst>
          </p:cNvPr>
          <p:cNvSpPr txBox="1"/>
          <p:nvPr/>
        </p:nvSpPr>
        <p:spPr>
          <a:xfrm>
            <a:off x="2060469" y="317212"/>
            <a:ext cx="8431882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Simple Local Storage – How Bitcoins Are Stored</a:t>
            </a:r>
            <a:endParaRPr lang="ko-KR" altLang="en-US" sz="3200" dirty="0">
              <a:solidFill>
                <a:schemeClr val="bg1"/>
              </a:solidFill>
              <a:latin typeface="Georgia" panose="02040502050405020303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37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DD08C45-66BB-7688-AB7C-BF3119EEE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5988"/>
            <a:ext cx="12192000" cy="240203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6D356FA-F7B3-7F6B-73F1-9607F2BE53D5}"/>
              </a:ext>
            </a:extLst>
          </p:cNvPr>
          <p:cNvSpPr txBox="1"/>
          <p:nvPr/>
        </p:nvSpPr>
        <p:spPr>
          <a:xfrm>
            <a:off x="0" y="49069"/>
            <a:ext cx="11732218" cy="63094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dirty="0">
                <a:solidFill>
                  <a:srgbClr val="0070C0"/>
                </a:solidFill>
              </a:rPr>
              <a:t>Simple Local Storage – How Bitcoins Are Stored</a:t>
            </a:r>
            <a:endParaRPr lang="ko-KR" altLang="en-US" sz="2800" b="1" dirty="0">
              <a:solidFill>
                <a:srgbClr val="0070C0"/>
              </a:solidFill>
              <a:cs typeface="Segoe UI" panose="020B0502040204020203" pitchFamily="34" charset="0"/>
            </a:endParaRPr>
          </a:p>
          <a:p>
            <a:pPr>
              <a:spcAft>
                <a:spcPts val="300"/>
              </a:spcAft>
            </a:pP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Local Device Storage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Store private keys on: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Laptop/Desktop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Mobile phone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USB or external drive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Fast and convenient for everyday use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Device loss or damage = lost keys = lost coins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Malware or theft = coins can be stolen </a:t>
            </a: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Real-life Example:</a:t>
            </a: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Like carrying cash in your wallet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Wallet Software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Software that: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Manages keys and addresses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Displays balance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3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Simplifies sending/receiving coins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Generates multiple addresses for privacy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Example Use:</a:t>
            </a:r>
            <a:r>
              <a:rPr lang="en-IN" sz="21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Paying for coffee worth $4.25 via app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8263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F4A3FA3-84F7-CC3A-7162-F18A91D1C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3044" y="-37819"/>
            <a:ext cx="7999579" cy="240812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6D356FA-F7B3-7F6B-73F1-9607F2BE53D5}"/>
              </a:ext>
            </a:extLst>
          </p:cNvPr>
          <p:cNvSpPr txBox="1"/>
          <p:nvPr/>
        </p:nvSpPr>
        <p:spPr>
          <a:xfrm>
            <a:off x="387457" y="405535"/>
            <a:ext cx="11515242" cy="6263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Simple Local Storage – How Bitcoins Are Stored</a:t>
            </a:r>
            <a:endParaRPr lang="ko-KR" altLang="en-US" sz="2800" b="1" dirty="0"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</a:rPr>
              <a:t>Address Encoding Methods </a:t>
            </a:r>
            <a:endParaRPr lang="en-US" sz="2100" b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100" dirty="0"/>
              <a:t>1. Base58 Notation</a:t>
            </a:r>
          </a:p>
          <a:p>
            <a:pPr indent="263525">
              <a:spcAft>
                <a:spcPts val="600"/>
              </a:spcAft>
              <a:tabLst>
                <a:tab pos="263525" algn="l"/>
                <a:tab pos="449263" algn="l"/>
              </a:tabLst>
            </a:pPr>
            <a:r>
              <a:rPr lang="en-US" sz="2100" dirty="0"/>
              <a:t>•	Converts binary keys to readable strings</a:t>
            </a:r>
          </a:p>
          <a:p>
            <a:pPr indent="263525">
              <a:spcAft>
                <a:spcPts val="600"/>
              </a:spcAft>
              <a:tabLst>
                <a:tab pos="263525" algn="l"/>
                <a:tab pos="449263" algn="l"/>
              </a:tabLst>
            </a:pPr>
            <a:r>
              <a:rPr lang="en-US" sz="2100" dirty="0"/>
              <a:t>•	Omits confusing characters (e.g., 0, O, l, I)</a:t>
            </a:r>
          </a:p>
          <a:p>
            <a:pPr indent="263525">
              <a:spcAft>
                <a:spcPts val="600"/>
              </a:spcAft>
              <a:tabLst>
                <a:tab pos="263525" algn="l"/>
                <a:tab pos="449263" algn="l"/>
              </a:tabLst>
            </a:pPr>
            <a:r>
              <a:rPr lang="en-US" sz="2100" dirty="0"/>
              <a:t>•	Example: 1A1zP1eP5QGefi2DMPTfTL5SLmv7DivfNa (Genesis address)</a:t>
            </a:r>
          </a:p>
          <a:p>
            <a:pPr>
              <a:spcAft>
                <a:spcPts val="600"/>
              </a:spcAft>
            </a:pPr>
            <a:r>
              <a:rPr lang="en-US" sz="2100" dirty="0"/>
              <a:t>2. QR Codes</a:t>
            </a:r>
          </a:p>
          <a:p>
            <a:pPr indent="263525">
              <a:spcAft>
                <a:spcPts val="600"/>
              </a:spcAft>
              <a:tabLst>
                <a:tab pos="263525" algn="l"/>
                <a:tab pos="542925" algn="l"/>
              </a:tabLst>
            </a:pPr>
            <a:r>
              <a:rPr lang="en-US" sz="2100" dirty="0"/>
              <a:t>•	Encodes addresses for easy scanning</a:t>
            </a:r>
          </a:p>
          <a:p>
            <a:pPr indent="263525">
              <a:spcAft>
                <a:spcPts val="600"/>
              </a:spcAft>
              <a:tabLst>
                <a:tab pos="263525" algn="l"/>
                <a:tab pos="542925" algn="l"/>
              </a:tabLst>
            </a:pPr>
            <a:r>
              <a:rPr lang="en-US" sz="2100" dirty="0"/>
              <a:t>•	Example: Pay by scanning code at a retail store Visual: Show QR code + Bitcoin address side-by-side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Vanity Addresses</a:t>
            </a:r>
          </a:p>
          <a:p>
            <a:pPr indent="357188">
              <a:spcAft>
                <a:spcPts val="600"/>
              </a:spcAft>
              <a:tabLst>
                <a:tab pos="620713" algn="l"/>
              </a:tabLst>
            </a:pPr>
            <a:r>
              <a:rPr lang="en-US" sz="2100" dirty="0"/>
              <a:t>•	Custom addresses with readable patterns (e.g., "bones")</a:t>
            </a:r>
          </a:p>
          <a:p>
            <a:pPr indent="357188">
              <a:spcAft>
                <a:spcPts val="600"/>
              </a:spcAft>
              <a:tabLst>
                <a:tab pos="620713" algn="l"/>
              </a:tabLst>
            </a:pPr>
            <a:r>
              <a:rPr lang="en-US" sz="2100" dirty="0"/>
              <a:t>•	Created by generating millions of keys until one matches desired prefix</a:t>
            </a:r>
          </a:p>
          <a:p>
            <a:pPr indent="357188">
              <a:spcAft>
                <a:spcPts val="600"/>
              </a:spcAft>
              <a:tabLst>
                <a:tab pos="620713" algn="l"/>
              </a:tabLst>
            </a:pPr>
            <a:r>
              <a:rPr lang="en-US" sz="2100" dirty="0"/>
              <a:t>•	 Use Case: Merchants like Satoshi Bones for branding</a:t>
            </a:r>
          </a:p>
          <a:p>
            <a:pPr indent="357188">
              <a:spcAft>
                <a:spcPts val="600"/>
              </a:spcAft>
              <a:tabLst>
                <a:tab pos="620713" algn="l"/>
              </a:tabLst>
            </a:pPr>
            <a:r>
              <a:rPr lang="en-US" sz="2100" dirty="0"/>
              <a:t>•	 Drawback: Computation-heavy process </a:t>
            </a:r>
          </a:p>
          <a:p>
            <a:pPr>
              <a:spcAft>
                <a:spcPts val="600"/>
              </a:spcAft>
              <a:tabLst>
                <a:tab pos="620713" algn="l"/>
              </a:tabLst>
            </a:pPr>
            <a:r>
              <a:rPr lang="en-US" sz="2400" b="1" dirty="0"/>
              <a:t>Real-life Example</a:t>
            </a:r>
            <a:r>
              <a:rPr lang="en-US" sz="2100" dirty="0"/>
              <a:t>: Like getting a car number plate that spells your name</a:t>
            </a:r>
          </a:p>
        </p:txBody>
      </p:sp>
    </p:spTree>
    <p:extLst>
      <p:ext uri="{BB962C8B-B14F-4D97-AF65-F5344CB8AC3E}">
        <p14:creationId xmlns:p14="http://schemas.microsoft.com/office/powerpoint/2010/main" val="409768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463296"/>
            <a:ext cx="10753344" cy="4486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78624" y="463296"/>
            <a:ext cx="4803649" cy="41574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90027" y="2950464"/>
            <a:ext cx="5360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/>
              <a:t>Hot and Cold Storage in Bitcoin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3" y="134112"/>
            <a:ext cx="10911840" cy="32918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C8897EA-89BE-DECA-921E-D5A4763895FE}"/>
              </a:ext>
            </a:extLst>
          </p:cNvPr>
          <p:cNvSpPr/>
          <p:nvPr/>
        </p:nvSpPr>
        <p:spPr>
          <a:xfrm>
            <a:off x="0" y="1"/>
            <a:ext cx="12192000" cy="11772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13CEB0C-7648-EE29-9AA7-FE4560066D21}"/>
              </a:ext>
            </a:extLst>
          </p:cNvPr>
          <p:cNvSpPr txBox="1"/>
          <p:nvPr/>
        </p:nvSpPr>
        <p:spPr>
          <a:xfrm>
            <a:off x="123990" y="102056"/>
            <a:ext cx="6927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Hot and Cold Storage in Bitcoin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F305A80-24AF-A51B-60E4-8F7389780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9" y="495353"/>
            <a:ext cx="4675321" cy="47430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8576A30-500D-A285-8AD1-96B4D4F3CA89}"/>
              </a:ext>
            </a:extLst>
          </p:cNvPr>
          <p:cNvSpPr txBox="1"/>
          <p:nvPr/>
        </p:nvSpPr>
        <p:spPr>
          <a:xfrm>
            <a:off x="263471" y="1153897"/>
            <a:ext cx="6912244" cy="56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en-IN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is Hot Storage?</a:t>
            </a:r>
            <a:endParaRPr lang="en-IN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100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Hot storage refers to Bitcoin wallets that are connected to the internet (e.g., software wallets, mobile wallets, exchange wallets).</a:t>
            </a:r>
            <a:endParaRPr lang="en-IN" sz="2100" kern="100" dirty="0">
              <a:solidFill>
                <a:srgbClr val="40404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Font typeface="Symbol" panose="05050102010706020507" pitchFamily="18" charset="2"/>
              <a:buChar char=""/>
            </a:pPr>
            <a:r>
              <a:rPr lang="en-IN" sz="21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Real-Life Example:</a:t>
            </a:r>
            <a:r>
              <a:rPr lang="en-IN" sz="2100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Like carrying </a:t>
            </a:r>
            <a:r>
              <a:rPr lang="en-IN" sz="21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cash in your wallet</a:t>
            </a:r>
            <a:r>
              <a:rPr lang="en-IN" sz="2100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—easy to access but risky if lost or stolen. </a:t>
            </a:r>
            <a:endParaRPr lang="en-IN" sz="2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IN" sz="2100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Convenient for daily transactions.</a:t>
            </a:r>
            <a:endParaRPr lang="en-IN" sz="2100" kern="100" dirty="0">
              <a:solidFill>
                <a:srgbClr val="40404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IN" sz="2100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Vulnerable to hacking, phishing, or malware.</a:t>
            </a:r>
            <a:endParaRPr lang="en-IN" sz="2100" kern="100" dirty="0">
              <a:solidFill>
                <a:srgbClr val="40404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en-IN" sz="2400" b="1" kern="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is Cold Storage?</a:t>
            </a:r>
            <a:endParaRPr lang="en-IN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Cold storage keeps Bitcoin keys </a:t>
            </a: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away from internet threats.</a:t>
            </a:r>
            <a:endParaRPr lang="en-IN" sz="1600" kern="100" dirty="0">
              <a:solidFill>
                <a:srgbClr val="40404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Real-Life Example: 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storing </a:t>
            </a: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savings in a bank vault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—safe but less convenient for daily spending.</a:t>
            </a:r>
            <a:endParaRPr lang="en-IN" sz="1600" kern="100" dirty="0">
              <a:solidFill>
                <a:srgbClr val="40404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: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Highly secure against cyber threats.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Cons:</a:t>
            </a:r>
            <a:r>
              <a:rPr lang="en-IN" sz="1800" kern="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Slower access for transactions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95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5B1F69B-E34D-61ED-A141-C666CEDB9F33}"/>
              </a:ext>
            </a:extLst>
          </p:cNvPr>
          <p:cNvSpPr txBox="1"/>
          <p:nvPr/>
        </p:nvSpPr>
        <p:spPr>
          <a:xfrm>
            <a:off x="743921" y="635893"/>
            <a:ext cx="10910804" cy="566308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100" b="1" dirty="0">
                <a:solidFill>
                  <a:srgbClr val="FF0000"/>
                </a:solidFill>
              </a:rPr>
              <a:t>What is Hot and Cold Storage?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Hot Storage</a:t>
            </a:r>
            <a:r>
              <a:rPr lang="en-US" sz="2100" dirty="0"/>
              <a:t> = Online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Cold Storage</a:t>
            </a:r>
            <a:r>
              <a:rPr lang="en-US" sz="2100" dirty="0"/>
              <a:t> = Offline</a:t>
            </a:r>
          </a:p>
          <a:p>
            <a:pPr>
              <a:spcAft>
                <a:spcPts val="600"/>
              </a:spcAft>
            </a:pPr>
            <a:r>
              <a:rPr lang="en-US" sz="2100" dirty="0"/>
              <a:t>Think of managing your cryptocurrency like managing cash: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Hot Storage</a:t>
            </a:r>
            <a:r>
              <a:rPr lang="en-US" sz="2100" dirty="0"/>
              <a:t> is like the </a:t>
            </a:r>
            <a:r>
              <a:rPr lang="en-US" sz="2100" b="1" dirty="0"/>
              <a:t>cash in your wallet</a:t>
            </a:r>
            <a:r>
              <a:rPr lang="en-US" sz="2100" dirty="0"/>
              <a:t> – easy to use, always ready, but at risk if stolen.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Cold Storage</a:t>
            </a:r>
            <a:r>
              <a:rPr lang="en-US" sz="2100" dirty="0"/>
              <a:t> is like the </a:t>
            </a:r>
            <a:r>
              <a:rPr lang="en-US" sz="2100" b="1" dirty="0"/>
              <a:t>money in your locker or bank vault</a:t>
            </a:r>
            <a:r>
              <a:rPr lang="en-US" sz="2100" dirty="0"/>
              <a:t> – safer, but not as easy to access.</a:t>
            </a:r>
          </a:p>
          <a:p>
            <a:pPr>
              <a:spcAft>
                <a:spcPts val="600"/>
              </a:spcAft>
            </a:pPr>
            <a:r>
              <a:rPr lang="en-IN" sz="22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How Do Hot &amp; Cold Storage Work Together?</a:t>
            </a: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Hot Wallet (Online):</a:t>
            </a: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Used for small, frequent transactions.</a:t>
            </a:r>
            <a:endParaRPr lang="en-IN" sz="22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Cold Wallet (Offline):</a:t>
            </a: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Stores large amounts securely.</a:t>
            </a:r>
            <a:endParaRPr lang="en-IN" sz="22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Example Workflow:</a:t>
            </a:r>
            <a:endParaRPr lang="en-IN" sz="2200" dirty="0">
              <a:effectLst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600"/>
              </a:spcAft>
              <a:tabLst>
                <a:tab pos="914400" algn="l"/>
              </a:tabLst>
            </a:pP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You keep </a:t>
            </a: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$100 in a hot wallet</a:t>
            </a: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(like pocket cash).</a:t>
            </a:r>
            <a:endParaRPr lang="en-IN" sz="2200" dirty="0">
              <a:effectLst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600"/>
              </a:spcAft>
              <a:tabLst>
                <a:tab pos="914400" algn="l"/>
              </a:tabLst>
            </a:pP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You store </a:t>
            </a: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$10,000 in a cold wallet</a:t>
            </a: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(like a savings account).</a:t>
            </a:r>
            <a:endParaRPr lang="en-IN" sz="2200" dirty="0">
              <a:effectLst/>
              <a:ea typeface="Times New Roman" panose="02020603050405020304" pitchFamily="18" charset="0"/>
            </a:endParaRPr>
          </a:p>
          <a:p>
            <a:pPr marL="449263" lvl="1">
              <a:spcAft>
                <a:spcPts val="600"/>
              </a:spcAft>
              <a:tabLst>
                <a:tab pos="914400" algn="l"/>
              </a:tabLst>
            </a:pP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If your hot wallet balance grows too large, you </a:t>
            </a:r>
            <a:r>
              <a:rPr lang="en-IN" sz="2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transfer excess to cold storage</a:t>
            </a:r>
            <a:r>
              <a:rPr lang="en-IN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(like depositing cash into a bank).</a:t>
            </a:r>
            <a:endParaRPr lang="en-US" sz="21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9ADEAED-D2F2-4F85-A5BE-1D2317DE5886}"/>
              </a:ext>
            </a:extLst>
          </p:cNvPr>
          <p:cNvSpPr/>
          <p:nvPr/>
        </p:nvSpPr>
        <p:spPr>
          <a:xfrm rot="4608469" flipH="1">
            <a:off x="10404023" y="4611601"/>
            <a:ext cx="3267215" cy="973194"/>
          </a:xfrm>
          <a:custGeom>
            <a:avLst/>
            <a:gdLst>
              <a:gd name="connsiteX0" fmla="*/ 0 w 4851948"/>
              <a:gd name="connsiteY0" fmla="*/ 1240678 h 1578163"/>
              <a:gd name="connsiteX1" fmla="*/ 4851948 w 4851948"/>
              <a:gd name="connsiteY1" fmla="*/ 0 h 1578163"/>
              <a:gd name="connsiteX2" fmla="*/ 4851947 w 4851948"/>
              <a:gd name="connsiteY2" fmla="*/ 359551 h 1578163"/>
              <a:gd name="connsiteX3" fmla="*/ 86297 w 4851948"/>
              <a:gd name="connsiteY3" fmla="*/ 1578163 h 1578163"/>
              <a:gd name="connsiteX4" fmla="*/ 0 w 4851948"/>
              <a:gd name="connsiteY4" fmla="*/ 1240678 h 157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1948" h="1578163">
                <a:moveTo>
                  <a:pt x="0" y="1240678"/>
                </a:moveTo>
                <a:lnTo>
                  <a:pt x="4851948" y="0"/>
                </a:lnTo>
                <a:lnTo>
                  <a:pt x="4851947" y="359551"/>
                </a:lnTo>
                <a:lnTo>
                  <a:pt x="86297" y="1578163"/>
                </a:lnTo>
                <a:lnTo>
                  <a:pt x="0" y="124067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754CB5E-965D-4377-962B-ED90E341E6B2}"/>
              </a:ext>
            </a:extLst>
          </p:cNvPr>
          <p:cNvSpPr/>
          <p:nvPr/>
        </p:nvSpPr>
        <p:spPr>
          <a:xfrm rot="20739384" flipH="1">
            <a:off x="8966755" y="6139812"/>
            <a:ext cx="2992016" cy="973194"/>
          </a:xfrm>
          <a:custGeom>
            <a:avLst/>
            <a:gdLst>
              <a:gd name="connsiteX0" fmla="*/ 0 w 4851948"/>
              <a:gd name="connsiteY0" fmla="*/ 1240678 h 1578163"/>
              <a:gd name="connsiteX1" fmla="*/ 4851948 w 4851948"/>
              <a:gd name="connsiteY1" fmla="*/ 0 h 1578163"/>
              <a:gd name="connsiteX2" fmla="*/ 4851947 w 4851948"/>
              <a:gd name="connsiteY2" fmla="*/ 359551 h 1578163"/>
              <a:gd name="connsiteX3" fmla="*/ 86297 w 4851948"/>
              <a:gd name="connsiteY3" fmla="*/ 1578163 h 1578163"/>
              <a:gd name="connsiteX4" fmla="*/ 0 w 4851948"/>
              <a:gd name="connsiteY4" fmla="*/ 1240678 h 157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1948" h="1578163">
                <a:moveTo>
                  <a:pt x="0" y="1240678"/>
                </a:moveTo>
                <a:lnTo>
                  <a:pt x="4851948" y="0"/>
                </a:lnTo>
                <a:lnTo>
                  <a:pt x="4851947" y="359551"/>
                </a:lnTo>
                <a:lnTo>
                  <a:pt x="86297" y="1578163"/>
                </a:lnTo>
                <a:lnTo>
                  <a:pt x="0" y="124067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F23FB1C6-AF31-4E66-A4AB-77D4B91D3B96}"/>
              </a:ext>
            </a:extLst>
          </p:cNvPr>
          <p:cNvSpPr/>
          <p:nvPr/>
        </p:nvSpPr>
        <p:spPr>
          <a:xfrm rot="791531">
            <a:off x="251475" y="-178536"/>
            <a:ext cx="3267215" cy="973194"/>
          </a:xfrm>
          <a:custGeom>
            <a:avLst/>
            <a:gdLst>
              <a:gd name="connsiteX0" fmla="*/ 0 w 4851948"/>
              <a:gd name="connsiteY0" fmla="*/ 1240678 h 1578163"/>
              <a:gd name="connsiteX1" fmla="*/ 4851948 w 4851948"/>
              <a:gd name="connsiteY1" fmla="*/ 0 h 1578163"/>
              <a:gd name="connsiteX2" fmla="*/ 4851947 w 4851948"/>
              <a:gd name="connsiteY2" fmla="*/ 359551 h 1578163"/>
              <a:gd name="connsiteX3" fmla="*/ 86297 w 4851948"/>
              <a:gd name="connsiteY3" fmla="*/ 1578163 h 1578163"/>
              <a:gd name="connsiteX4" fmla="*/ 0 w 4851948"/>
              <a:gd name="connsiteY4" fmla="*/ 1240678 h 157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1948" h="1578163">
                <a:moveTo>
                  <a:pt x="0" y="1240678"/>
                </a:moveTo>
                <a:lnTo>
                  <a:pt x="4851948" y="0"/>
                </a:lnTo>
                <a:lnTo>
                  <a:pt x="4851947" y="359551"/>
                </a:lnTo>
                <a:lnTo>
                  <a:pt x="86297" y="1578163"/>
                </a:lnTo>
                <a:lnTo>
                  <a:pt x="0" y="124067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60E65713-0A11-4F8F-AEFE-9FC6ADC65F10}"/>
              </a:ext>
            </a:extLst>
          </p:cNvPr>
          <p:cNvSpPr/>
          <p:nvPr/>
        </p:nvSpPr>
        <p:spPr>
          <a:xfrm rot="6260616">
            <a:off x="-1139137" y="1396331"/>
            <a:ext cx="2992016" cy="973194"/>
          </a:xfrm>
          <a:custGeom>
            <a:avLst/>
            <a:gdLst>
              <a:gd name="connsiteX0" fmla="*/ 0 w 4851948"/>
              <a:gd name="connsiteY0" fmla="*/ 1240678 h 1578163"/>
              <a:gd name="connsiteX1" fmla="*/ 4851948 w 4851948"/>
              <a:gd name="connsiteY1" fmla="*/ 0 h 1578163"/>
              <a:gd name="connsiteX2" fmla="*/ 4851947 w 4851948"/>
              <a:gd name="connsiteY2" fmla="*/ 359551 h 1578163"/>
              <a:gd name="connsiteX3" fmla="*/ 86297 w 4851948"/>
              <a:gd name="connsiteY3" fmla="*/ 1578163 h 1578163"/>
              <a:gd name="connsiteX4" fmla="*/ 0 w 4851948"/>
              <a:gd name="connsiteY4" fmla="*/ 1240678 h 157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1948" h="1578163">
                <a:moveTo>
                  <a:pt x="0" y="1240678"/>
                </a:moveTo>
                <a:lnTo>
                  <a:pt x="4851948" y="0"/>
                </a:lnTo>
                <a:lnTo>
                  <a:pt x="4851947" y="359551"/>
                </a:lnTo>
                <a:lnTo>
                  <a:pt x="86297" y="1578163"/>
                </a:lnTo>
                <a:lnTo>
                  <a:pt x="0" y="124067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4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E4D76F4-9E37-0912-CA91-7916C1384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1C17BEA-C88A-2E9E-2522-CB490A81038E}"/>
              </a:ext>
            </a:extLst>
          </p:cNvPr>
          <p:cNvSpPr txBox="1"/>
          <p:nvPr/>
        </p:nvSpPr>
        <p:spPr>
          <a:xfrm>
            <a:off x="898901" y="734790"/>
            <a:ext cx="10538847" cy="48512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400" b="1" i="0" dirty="0">
                <a:solidFill>
                  <a:srgbClr val="404040"/>
                </a:solidFill>
                <a:effectLst/>
              </a:rPr>
              <a:t>Managing Cold Storage Addresses</a:t>
            </a: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Problem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Cold wallets are offline for security, but we often need </a:t>
            </a: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new addresses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for privacy. Generating them requires going online, which is risky.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Solution 1: Blunt Method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Generate a batch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of addresses in advance.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Drawback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Must reconnect wallet to generate more — not secure or scalable.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Solution 2: Hierarchical Deterministic (HD) Wallets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a </a:t>
            </a: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single master seed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to derive unlimited addresses.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Only the </a:t>
            </a: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public key (</a:t>
            </a:r>
            <a:r>
              <a:rPr lang="en-IN" sz="1800" b="1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xpub</a:t>
            </a: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is used online; private keys stay offline.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Secure, scalable, and private.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Analogy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Like a </a:t>
            </a:r>
            <a:r>
              <a:rPr lang="en-IN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master key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that can create many unique locks — no need to reveal or reuse the key each time.</a:t>
            </a:r>
            <a:endParaRPr lang="en-US" sz="2400" b="1" i="0" dirty="0">
              <a:solidFill>
                <a:srgbClr val="40404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074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0B1A8CD-4AB2-4F1A-BAB6-146F9200BDC7}"/>
              </a:ext>
            </a:extLst>
          </p:cNvPr>
          <p:cNvSpPr txBox="1"/>
          <p:nvPr/>
        </p:nvSpPr>
        <p:spPr>
          <a:xfrm>
            <a:off x="35626" y="3865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Types of Cold Storage</a:t>
            </a:r>
            <a:endParaRPr lang="en-US" sz="7200" b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C404E975-C5CB-4896-9F6F-9D6F4FB8D563}"/>
              </a:ext>
            </a:extLst>
          </p:cNvPr>
          <p:cNvGrpSpPr/>
          <p:nvPr/>
        </p:nvGrpSpPr>
        <p:grpSpPr>
          <a:xfrm>
            <a:off x="785891" y="1661430"/>
            <a:ext cx="10620218" cy="4501955"/>
            <a:chOff x="785891" y="1377537"/>
            <a:chExt cx="10620218" cy="4501955"/>
          </a:xfrm>
        </p:grpSpPr>
        <p:sp>
          <p:nvSpPr>
            <p:cNvPr id="38" name="Google Shape;1599;p41">
              <a:extLst>
                <a:ext uri="{FF2B5EF4-FFF2-40B4-BE49-F238E27FC236}">
                  <a16:creationId xmlns:a16="http://schemas.microsoft.com/office/drawing/2014/main" xmlns="" id="{B345C0C4-2FEF-4304-80E9-DF7913448D64}"/>
                </a:ext>
              </a:extLst>
            </p:cNvPr>
            <p:cNvSpPr/>
            <p:nvPr/>
          </p:nvSpPr>
          <p:spPr>
            <a:xfrm>
              <a:off x="4416027" y="2182478"/>
              <a:ext cx="899161" cy="820140"/>
            </a:xfrm>
            <a:custGeom>
              <a:avLst/>
              <a:gdLst/>
              <a:ahLst/>
              <a:cxnLst/>
              <a:rect l="l" t="t" r="r" b="b"/>
              <a:pathLst>
                <a:path w="51514" h="47025" extrusionOk="0">
                  <a:moveTo>
                    <a:pt x="32049" y="23185"/>
                  </a:moveTo>
                  <a:cubicBezTo>
                    <a:pt x="32818" y="23185"/>
                    <a:pt x="33403" y="24236"/>
                    <a:pt x="32620" y="24896"/>
                  </a:cubicBezTo>
                  <a:cubicBezTo>
                    <a:pt x="31002" y="26096"/>
                    <a:pt x="29280" y="27192"/>
                    <a:pt x="27453" y="28079"/>
                  </a:cubicBezTo>
                  <a:cubicBezTo>
                    <a:pt x="26774" y="28497"/>
                    <a:pt x="26044" y="28862"/>
                    <a:pt x="25417" y="29227"/>
                  </a:cubicBezTo>
                  <a:cubicBezTo>
                    <a:pt x="25261" y="29332"/>
                    <a:pt x="25104" y="29332"/>
                    <a:pt x="24948" y="29384"/>
                  </a:cubicBezTo>
                  <a:lnTo>
                    <a:pt x="24895" y="29384"/>
                  </a:lnTo>
                  <a:cubicBezTo>
                    <a:pt x="23956" y="29384"/>
                    <a:pt x="23591" y="28079"/>
                    <a:pt x="24426" y="27610"/>
                  </a:cubicBezTo>
                  <a:cubicBezTo>
                    <a:pt x="25104" y="27192"/>
                    <a:pt x="25835" y="26827"/>
                    <a:pt x="26566" y="26409"/>
                  </a:cubicBezTo>
                  <a:cubicBezTo>
                    <a:pt x="28288" y="25574"/>
                    <a:pt x="29906" y="24582"/>
                    <a:pt x="31419" y="23434"/>
                  </a:cubicBezTo>
                  <a:cubicBezTo>
                    <a:pt x="31628" y="23259"/>
                    <a:pt x="31845" y="23185"/>
                    <a:pt x="32049" y="23185"/>
                  </a:cubicBezTo>
                  <a:close/>
                  <a:moveTo>
                    <a:pt x="24913" y="23178"/>
                  </a:moveTo>
                  <a:cubicBezTo>
                    <a:pt x="25812" y="23178"/>
                    <a:pt x="26310" y="24502"/>
                    <a:pt x="25313" y="25000"/>
                  </a:cubicBezTo>
                  <a:cubicBezTo>
                    <a:pt x="22912" y="26305"/>
                    <a:pt x="20616" y="27870"/>
                    <a:pt x="18528" y="29645"/>
                  </a:cubicBezTo>
                  <a:lnTo>
                    <a:pt x="17902" y="30115"/>
                  </a:lnTo>
                  <a:cubicBezTo>
                    <a:pt x="17745" y="30219"/>
                    <a:pt x="17536" y="30323"/>
                    <a:pt x="17328" y="30323"/>
                  </a:cubicBezTo>
                  <a:cubicBezTo>
                    <a:pt x="16388" y="30323"/>
                    <a:pt x="16023" y="29175"/>
                    <a:pt x="16754" y="28601"/>
                  </a:cubicBezTo>
                  <a:lnTo>
                    <a:pt x="17328" y="28131"/>
                  </a:lnTo>
                  <a:cubicBezTo>
                    <a:pt x="19572" y="26253"/>
                    <a:pt x="21921" y="24635"/>
                    <a:pt x="24478" y="23278"/>
                  </a:cubicBezTo>
                  <a:cubicBezTo>
                    <a:pt x="24630" y="23209"/>
                    <a:pt x="24776" y="23178"/>
                    <a:pt x="24913" y="23178"/>
                  </a:cubicBezTo>
                  <a:close/>
                  <a:moveTo>
                    <a:pt x="36065" y="0"/>
                  </a:moveTo>
                  <a:lnTo>
                    <a:pt x="0" y="32672"/>
                  </a:lnTo>
                  <a:lnTo>
                    <a:pt x="18789" y="47025"/>
                  </a:lnTo>
                  <a:cubicBezTo>
                    <a:pt x="30167" y="36378"/>
                    <a:pt x="41179" y="25156"/>
                    <a:pt x="51513" y="13570"/>
                  </a:cubicBezTo>
                  <a:cubicBezTo>
                    <a:pt x="46920" y="8507"/>
                    <a:pt x="41388" y="4175"/>
                    <a:pt x="36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00;p41">
              <a:extLst>
                <a:ext uri="{FF2B5EF4-FFF2-40B4-BE49-F238E27FC236}">
                  <a16:creationId xmlns:a16="http://schemas.microsoft.com/office/drawing/2014/main" xmlns="" id="{CA598D94-44EE-441E-AF7C-5B5948A4A8D7}"/>
                </a:ext>
              </a:extLst>
            </p:cNvPr>
            <p:cNvSpPr/>
            <p:nvPr/>
          </p:nvSpPr>
          <p:spPr>
            <a:xfrm>
              <a:off x="7166292" y="2182478"/>
              <a:ext cx="899178" cy="819233"/>
            </a:xfrm>
            <a:custGeom>
              <a:avLst/>
              <a:gdLst/>
              <a:ahLst/>
              <a:cxnLst/>
              <a:rect l="l" t="t" r="r" b="b"/>
              <a:pathLst>
                <a:path w="51515" h="46973" extrusionOk="0">
                  <a:moveTo>
                    <a:pt x="27478" y="21746"/>
                  </a:moveTo>
                  <a:cubicBezTo>
                    <a:pt x="27934" y="21746"/>
                    <a:pt x="28353" y="22085"/>
                    <a:pt x="28446" y="22547"/>
                  </a:cubicBezTo>
                  <a:lnTo>
                    <a:pt x="28393" y="22547"/>
                  </a:lnTo>
                  <a:cubicBezTo>
                    <a:pt x="28498" y="23069"/>
                    <a:pt x="28185" y="23539"/>
                    <a:pt x="27663" y="23643"/>
                  </a:cubicBezTo>
                  <a:cubicBezTo>
                    <a:pt x="26514" y="23904"/>
                    <a:pt x="25418" y="24269"/>
                    <a:pt x="24375" y="24687"/>
                  </a:cubicBezTo>
                  <a:cubicBezTo>
                    <a:pt x="23644" y="25000"/>
                    <a:pt x="22861" y="25313"/>
                    <a:pt x="22078" y="25522"/>
                  </a:cubicBezTo>
                  <a:cubicBezTo>
                    <a:pt x="21974" y="25522"/>
                    <a:pt x="21869" y="25574"/>
                    <a:pt x="21817" y="25574"/>
                  </a:cubicBezTo>
                  <a:cubicBezTo>
                    <a:pt x="20721" y="25522"/>
                    <a:pt x="20512" y="24008"/>
                    <a:pt x="21504" y="23695"/>
                  </a:cubicBezTo>
                  <a:cubicBezTo>
                    <a:pt x="22235" y="23486"/>
                    <a:pt x="22965" y="23225"/>
                    <a:pt x="23696" y="22912"/>
                  </a:cubicBezTo>
                  <a:cubicBezTo>
                    <a:pt x="24844" y="22443"/>
                    <a:pt x="26045" y="22025"/>
                    <a:pt x="27297" y="21764"/>
                  </a:cubicBezTo>
                  <a:cubicBezTo>
                    <a:pt x="27358" y="21752"/>
                    <a:pt x="27418" y="21746"/>
                    <a:pt x="27478" y="21746"/>
                  </a:cubicBezTo>
                  <a:close/>
                  <a:moveTo>
                    <a:pt x="33189" y="25099"/>
                  </a:moveTo>
                  <a:cubicBezTo>
                    <a:pt x="33670" y="25099"/>
                    <a:pt x="34086" y="25454"/>
                    <a:pt x="34134" y="25992"/>
                  </a:cubicBezTo>
                  <a:lnTo>
                    <a:pt x="34082" y="25939"/>
                  </a:lnTo>
                  <a:lnTo>
                    <a:pt x="34082" y="25939"/>
                  </a:lnTo>
                  <a:cubicBezTo>
                    <a:pt x="34134" y="26461"/>
                    <a:pt x="33769" y="26931"/>
                    <a:pt x="33247" y="26983"/>
                  </a:cubicBezTo>
                  <a:cubicBezTo>
                    <a:pt x="31681" y="27192"/>
                    <a:pt x="30168" y="27610"/>
                    <a:pt x="28759" y="28288"/>
                  </a:cubicBezTo>
                  <a:cubicBezTo>
                    <a:pt x="27819" y="28706"/>
                    <a:pt x="26828" y="29019"/>
                    <a:pt x="25836" y="29332"/>
                  </a:cubicBezTo>
                  <a:lnTo>
                    <a:pt x="25575" y="29332"/>
                  </a:lnTo>
                  <a:cubicBezTo>
                    <a:pt x="24479" y="29280"/>
                    <a:pt x="24270" y="27766"/>
                    <a:pt x="25314" y="27453"/>
                  </a:cubicBezTo>
                  <a:cubicBezTo>
                    <a:pt x="26253" y="27192"/>
                    <a:pt x="27193" y="26879"/>
                    <a:pt x="28080" y="26513"/>
                  </a:cubicBezTo>
                  <a:cubicBezTo>
                    <a:pt x="29698" y="25783"/>
                    <a:pt x="31368" y="25313"/>
                    <a:pt x="33091" y="25104"/>
                  </a:cubicBezTo>
                  <a:cubicBezTo>
                    <a:pt x="33124" y="25101"/>
                    <a:pt x="33157" y="25099"/>
                    <a:pt x="33189" y="25099"/>
                  </a:cubicBezTo>
                  <a:close/>
                  <a:moveTo>
                    <a:pt x="37929" y="27460"/>
                  </a:moveTo>
                  <a:cubicBezTo>
                    <a:pt x="38215" y="27460"/>
                    <a:pt x="38496" y="27580"/>
                    <a:pt x="38675" y="27818"/>
                  </a:cubicBezTo>
                  <a:cubicBezTo>
                    <a:pt x="38988" y="28236"/>
                    <a:pt x="38884" y="28810"/>
                    <a:pt x="38519" y="29123"/>
                  </a:cubicBezTo>
                  <a:cubicBezTo>
                    <a:pt x="37162" y="30219"/>
                    <a:pt x="35491" y="30793"/>
                    <a:pt x="33769" y="30793"/>
                  </a:cubicBezTo>
                  <a:lnTo>
                    <a:pt x="33091" y="30793"/>
                  </a:lnTo>
                  <a:cubicBezTo>
                    <a:pt x="32569" y="30741"/>
                    <a:pt x="32203" y="30271"/>
                    <a:pt x="32256" y="29802"/>
                  </a:cubicBezTo>
                  <a:cubicBezTo>
                    <a:pt x="32305" y="29309"/>
                    <a:pt x="32679" y="28910"/>
                    <a:pt x="33159" y="28910"/>
                  </a:cubicBezTo>
                  <a:cubicBezTo>
                    <a:pt x="33188" y="28910"/>
                    <a:pt x="33217" y="28911"/>
                    <a:pt x="33247" y="28914"/>
                  </a:cubicBezTo>
                  <a:cubicBezTo>
                    <a:pt x="33393" y="28925"/>
                    <a:pt x="33539" y="28930"/>
                    <a:pt x="33685" y="28930"/>
                  </a:cubicBezTo>
                  <a:cubicBezTo>
                    <a:pt x="34998" y="28930"/>
                    <a:pt x="36285" y="28507"/>
                    <a:pt x="37318" y="27662"/>
                  </a:cubicBezTo>
                  <a:cubicBezTo>
                    <a:pt x="37497" y="27527"/>
                    <a:pt x="37714" y="27460"/>
                    <a:pt x="37929" y="27460"/>
                  </a:cubicBezTo>
                  <a:close/>
                  <a:moveTo>
                    <a:pt x="15502" y="0"/>
                  </a:moveTo>
                  <a:cubicBezTo>
                    <a:pt x="10126" y="4175"/>
                    <a:pt x="4646" y="8507"/>
                    <a:pt x="1" y="13570"/>
                  </a:cubicBezTo>
                  <a:cubicBezTo>
                    <a:pt x="10335" y="25156"/>
                    <a:pt x="21347" y="36378"/>
                    <a:pt x="32725" y="46973"/>
                  </a:cubicBezTo>
                  <a:lnTo>
                    <a:pt x="51514" y="32620"/>
                  </a:lnTo>
                  <a:lnTo>
                    <a:pt x="155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01;p41">
              <a:extLst>
                <a:ext uri="{FF2B5EF4-FFF2-40B4-BE49-F238E27FC236}">
                  <a16:creationId xmlns:a16="http://schemas.microsoft.com/office/drawing/2014/main" xmlns="" id="{09EF0B1E-B39D-44FF-8003-AF64CFA03630}"/>
                </a:ext>
              </a:extLst>
            </p:cNvPr>
            <p:cNvSpPr/>
            <p:nvPr/>
          </p:nvSpPr>
          <p:spPr>
            <a:xfrm>
              <a:off x="4371378" y="2115184"/>
              <a:ext cx="3739631" cy="3641055"/>
            </a:xfrm>
            <a:custGeom>
              <a:avLst/>
              <a:gdLst/>
              <a:ahLst/>
              <a:cxnLst/>
              <a:rect l="l" t="t" r="r" b="b"/>
              <a:pathLst>
                <a:path w="214248" h="208770" extrusionOk="0">
                  <a:moveTo>
                    <a:pt x="38623" y="2194"/>
                  </a:moveTo>
                  <a:cubicBezTo>
                    <a:pt x="43946" y="6369"/>
                    <a:pt x="49478" y="10649"/>
                    <a:pt x="54123" y="15764"/>
                  </a:cubicBezTo>
                  <a:cubicBezTo>
                    <a:pt x="43737" y="27350"/>
                    <a:pt x="32725" y="38572"/>
                    <a:pt x="21347" y="49167"/>
                  </a:cubicBezTo>
                  <a:lnTo>
                    <a:pt x="2558" y="34866"/>
                  </a:lnTo>
                  <a:lnTo>
                    <a:pt x="38623" y="2194"/>
                  </a:lnTo>
                  <a:close/>
                  <a:moveTo>
                    <a:pt x="175626" y="2194"/>
                  </a:moveTo>
                  <a:lnTo>
                    <a:pt x="211638" y="34866"/>
                  </a:lnTo>
                  <a:lnTo>
                    <a:pt x="192849" y="49219"/>
                  </a:lnTo>
                  <a:cubicBezTo>
                    <a:pt x="181471" y="38572"/>
                    <a:pt x="170459" y="27350"/>
                    <a:pt x="160125" y="15764"/>
                  </a:cubicBezTo>
                  <a:cubicBezTo>
                    <a:pt x="164770" y="10701"/>
                    <a:pt x="170250" y="6369"/>
                    <a:pt x="175626" y="2194"/>
                  </a:cubicBezTo>
                  <a:close/>
                  <a:moveTo>
                    <a:pt x="44781" y="28655"/>
                  </a:moveTo>
                  <a:cubicBezTo>
                    <a:pt x="61326" y="31108"/>
                    <a:pt x="89353" y="34449"/>
                    <a:pt x="118580" y="34449"/>
                  </a:cubicBezTo>
                  <a:cubicBezTo>
                    <a:pt x="138309" y="34449"/>
                    <a:pt x="155741" y="32935"/>
                    <a:pt x="170563" y="29960"/>
                  </a:cubicBezTo>
                  <a:cubicBezTo>
                    <a:pt x="175208" y="34762"/>
                    <a:pt x="179958" y="39511"/>
                    <a:pt x="184812" y="44208"/>
                  </a:cubicBezTo>
                  <a:cubicBezTo>
                    <a:pt x="186012" y="85179"/>
                    <a:pt x="188465" y="179959"/>
                    <a:pt x="186743" y="196922"/>
                  </a:cubicBezTo>
                  <a:cubicBezTo>
                    <a:pt x="181576" y="198226"/>
                    <a:pt x="145250" y="206942"/>
                    <a:pt x="103132" y="206942"/>
                  </a:cubicBezTo>
                  <a:cubicBezTo>
                    <a:pt x="74478" y="206942"/>
                    <a:pt x="49322" y="202976"/>
                    <a:pt x="28341" y="195199"/>
                  </a:cubicBezTo>
                  <a:cubicBezTo>
                    <a:pt x="28445" y="186222"/>
                    <a:pt x="29593" y="90137"/>
                    <a:pt x="30428" y="43217"/>
                  </a:cubicBezTo>
                  <a:cubicBezTo>
                    <a:pt x="35282" y="38467"/>
                    <a:pt x="40084" y="33614"/>
                    <a:pt x="44781" y="28655"/>
                  </a:cubicBezTo>
                  <a:close/>
                  <a:moveTo>
                    <a:pt x="38513" y="0"/>
                  </a:moveTo>
                  <a:cubicBezTo>
                    <a:pt x="38281" y="0"/>
                    <a:pt x="38037" y="93"/>
                    <a:pt x="37840" y="263"/>
                  </a:cubicBezTo>
                  <a:lnTo>
                    <a:pt x="418" y="34240"/>
                  </a:lnTo>
                  <a:cubicBezTo>
                    <a:pt x="1" y="34605"/>
                    <a:pt x="1" y="35284"/>
                    <a:pt x="470" y="35649"/>
                  </a:cubicBezTo>
                  <a:lnTo>
                    <a:pt x="20825" y="51202"/>
                  </a:lnTo>
                  <a:cubicBezTo>
                    <a:pt x="20990" y="51320"/>
                    <a:pt x="21186" y="51374"/>
                    <a:pt x="21381" y="51374"/>
                  </a:cubicBezTo>
                  <a:cubicBezTo>
                    <a:pt x="21618" y="51374"/>
                    <a:pt x="21853" y="51293"/>
                    <a:pt x="22026" y="51150"/>
                  </a:cubicBezTo>
                  <a:cubicBezTo>
                    <a:pt x="24218" y="49114"/>
                    <a:pt x="26357" y="47079"/>
                    <a:pt x="28497" y="45044"/>
                  </a:cubicBezTo>
                  <a:lnTo>
                    <a:pt x="28497" y="45044"/>
                  </a:lnTo>
                  <a:cubicBezTo>
                    <a:pt x="27662" y="94730"/>
                    <a:pt x="26462" y="194625"/>
                    <a:pt x="26462" y="195773"/>
                  </a:cubicBezTo>
                  <a:cubicBezTo>
                    <a:pt x="26462" y="196191"/>
                    <a:pt x="26723" y="196556"/>
                    <a:pt x="27088" y="196713"/>
                  </a:cubicBezTo>
                  <a:cubicBezTo>
                    <a:pt x="48382" y="204698"/>
                    <a:pt x="73956" y="208769"/>
                    <a:pt x="103132" y="208769"/>
                  </a:cubicBezTo>
                  <a:cubicBezTo>
                    <a:pt x="148643" y="208769"/>
                    <a:pt x="187473" y="198644"/>
                    <a:pt x="187839" y="198540"/>
                  </a:cubicBezTo>
                  <a:cubicBezTo>
                    <a:pt x="188256" y="198435"/>
                    <a:pt x="188517" y="198122"/>
                    <a:pt x="188570" y="197757"/>
                  </a:cubicBezTo>
                  <a:cubicBezTo>
                    <a:pt x="190448" y="182621"/>
                    <a:pt x="187995" y="88728"/>
                    <a:pt x="186795" y="46035"/>
                  </a:cubicBezTo>
                  <a:lnTo>
                    <a:pt x="186795" y="46035"/>
                  </a:lnTo>
                  <a:cubicBezTo>
                    <a:pt x="188570" y="47757"/>
                    <a:pt x="190344" y="49428"/>
                    <a:pt x="192171" y="51150"/>
                  </a:cubicBezTo>
                  <a:cubicBezTo>
                    <a:pt x="192327" y="51307"/>
                    <a:pt x="192588" y="51359"/>
                    <a:pt x="192797" y="51359"/>
                  </a:cubicBezTo>
                  <a:cubicBezTo>
                    <a:pt x="193006" y="51359"/>
                    <a:pt x="193215" y="51307"/>
                    <a:pt x="193371" y="51202"/>
                  </a:cubicBezTo>
                  <a:lnTo>
                    <a:pt x="213726" y="35649"/>
                  </a:lnTo>
                  <a:cubicBezTo>
                    <a:pt x="214196" y="35284"/>
                    <a:pt x="214248" y="34605"/>
                    <a:pt x="213778" y="34240"/>
                  </a:cubicBezTo>
                  <a:lnTo>
                    <a:pt x="176304" y="263"/>
                  </a:lnTo>
                  <a:cubicBezTo>
                    <a:pt x="176135" y="93"/>
                    <a:pt x="175904" y="0"/>
                    <a:pt x="175670" y="0"/>
                  </a:cubicBezTo>
                  <a:cubicBezTo>
                    <a:pt x="175472" y="0"/>
                    <a:pt x="175272" y="67"/>
                    <a:pt x="175104" y="211"/>
                  </a:cubicBezTo>
                  <a:cubicBezTo>
                    <a:pt x="169206" y="4751"/>
                    <a:pt x="163152" y="9449"/>
                    <a:pt x="158142" y="15138"/>
                  </a:cubicBezTo>
                  <a:cubicBezTo>
                    <a:pt x="157829" y="15451"/>
                    <a:pt x="157829" y="16025"/>
                    <a:pt x="158142" y="16390"/>
                  </a:cubicBezTo>
                  <a:cubicBezTo>
                    <a:pt x="161691" y="20409"/>
                    <a:pt x="165292" y="24376"/>
                    <a:pt x="169050" y="28238"/>
                  </a:cubicBezTo>
                  <a:cubicBezTo>
                    <a:pt x="154593" y="31056"/>
                    <a:pt x="137683" y="32517"/>
                    <a:pt x="118580" y="32517"/>
                  </a:cubicBezTo>
                  <a:cubicBezTo>
                    <a:pt x="90240" y="32517"/>
                    <a:pt x="62996" y="29334"/>
                    <a:pt x="46347" y="26933"/>
                  </a:cubicBezTo>
                  <a:cubicBezTo>
                    <a:pt x="49635" y="23488"/>
                    <a:pt x="52871" y="19939"/>
                    <a:pt x="56002" y="16390"/>
                  </a:cubicBezTo>
                  <a:cubicBezTo>
                    <a:pt x="56368" y="16025"/>
                    <a:pt x="56368" y="15451"/>
                    <a:pt x="56002" y="15138"/>
                  </a:cubicBezTo>
                  <a:cubicBezTo>
                    <a:pt x="50992" y="9449"/>
                    <a:pt x="44938" y="4751"/>
                    <a:pt x="39040" y="211"/>
                  </a:cubicBezTo>
                  <a:cubicBezTo>
                    <a:pt x="38896" y="67"/>
                    <a:pt x="38709" y="0"/>
                    <a:pt x="38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1602;p41">
              <a:extLst>
                <a:ext uri="{FF2B5EF4-FFF2-40B4-BE49-F238E27FC236}">
                  <a16:creationId xmlns:a16="http://schemas.microsoft.com/office/drawing/2014/main" xmlns="" id="{0179A56A-98CF-429C-BBA7-2616E53C9AF4}"/>
                </a:ext>
              </a:extLst>
            </p:cNvPr>
            <p:cNvSpPr/>
            <p:nvPr/>
          </p:nvSpPr>
          <p:spPr>
            <a:xfrm>
              <a:off x="7524322" y="3041489"/>
              <a:ext cx="145275" cy="65995"/>
            </a:xfrm>
            <a:custGeom>
              <a:avLst/>
              <a:gdLst/>
              <a:ahLst/>
              <a:cxnLst/>
              <a:rect l="l" t="t" r="r" b="b"/>
              <a:pathLst>
                <a:path w="8323" h="3784" extrusionOk="0">
                  <a:moveTo>
                    <a:pt x="7017" y="0"/>
                  </a:moveTo>
                  <a:cubicBezTo>
                    <a:pt x="6944" y="0"/>
                    <a:pt x="6866" y="8"/>
                    <a:pt x="6785" y="25"/>
                  </a:cubicBezTo>
                  <a:cubicBezTo>
                    <a:pt x="5585" y="286"/>
                    <a:pt x="4332" y="652"/>
                    <a:pt x="3184" y="1173"/>
                  </a:cubicBezTo>
                  <a:cubicBezTo>
                    <a:pt x="2453" y="1434"/>
                    <a:pt x="1723" y="1695"/>
                    <a:pt x="1044" y="1904"/>
                  </a:cubicBezTo>
                  <a:cubicBezTo>
                    <a:pt x="0" y="2269"/>
                    <a:pt x="209" y="3731"/>
                    <a:pt x="1305" y="3783"/>
                  </a:cubicBezTo>
                  <a:cubicBezTo>
                    <a:pt x="1410" y="3783"/>
                    <a:pt x="1462" y="3783"/>
                    <a:pt x="1566" y="3731"/>
                  </a:cubicBezTo>
                  <a:cubicBezTo>
                    <a:pt x="2349" y="3522"/>
                    <a:pt x="3132" y="3209"/>
                    <a:pt x="3863" y="2896"/>
                  </a:cubicBezTo>
                  <a:cubicBezTo>
                    <a:pt x="4959" y="2478"/>
                    <a:pt x="6002" y="2113"/>
                    <a:pt x="7151" y="1852"/>
                  </a:cubicBezTo>
                  <a:cubicBezTo>
                    <a:pt x="8322" y="1657"/>
                    <a:pt x="8078" y="0"/>
                    <a:pt x="7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03;p41">
              <a:extLst>
                <a:ext uri="{FF2B5EF4-FFF2-40B4-BE49-F238E27FC236}">
                  <a16:creationId xmlns:a16="http://schemas.microsoft.com/office/drawing/2014/main" xmlns="" id="{3F56A381-98D7-409A-8276-2370C39C5B9A}"/>
                </a:ext>
              </a:extLst>
            </p:cNvPr>
            <p:cNvSpPr/>
            <p:nvPr/>
          </p:nvSpPr>
          <p:spPr>
            <a:xfrm>
              <a:off x="7590825" y="3099199"/>
              <a:ext cx="177078" cy="74733"/>
            </a:xfrm>
            <a:custGeom>
              <a:avLst/>
              <a:gdLst/>
              <a:ahLst/>
              <a:cxnLst/>
              <a:rect l="l" t="t" r="r" b="b"/>
              <a:pathLst>
                <a:path w="10145" h="4285" extrusionOk="0">
                  <a:moveTo>
                    <a:pt x="8869" y="0"/>
                  </a:moveTo>
                  <a:cubicBezTo>
                    <a:pt x="8836" y="0"/>
                    <a:pt x="8803" y="2"/>
                    <a:pt x="8769" y="4"/>
                  </a:cubicBezTo>
                  <a:cubicBezTo>
                    <a:pt x="7046" y="213"/>
                    <a:pt x="5376" y="735"/>
                    <a:pt x="3758" y="1466"/>
                  </a:cubicBezTo>
                  <a:cubicBezTo>
                    <a:pt x="2871" y="1831"/>
                    <a:pt x="1984" y="2144"/>
                    <a:pt x="1044" y="2405"/>
                  </a:cubicBezTo>
                  <a:cubicBezTo>
                    <a:pt x="0" y="2718"/>
                    <a:pt x="209" y="4232"/>
                    <a:pt x="1305" y="4284"/>
                  </a:cubicBezTo>
                  <a:lnTo>
                    <a:pt x="1514" y="4284"/>
                  </a:lnTo>
                  <a:cubicBezTo>
                    <a:pt x="2506" y="3971"/>
                    <a:pt x="3497" y="3606"/>
                    <a:pt x="4489" y="3240"/>
                  </a:cubicBezTo>
                  <a:cubicBezTo>
                    <a:pt x="5898" y="2562"/>
                    <a:pt x="7412" y="2144"/>
                    <a:pt x="8925" y="1935"/>
                  </a:cubicBezTo>
                  <a:cubicBezTo>
                    <a:pt x="10145" y="1834"/>
                    <a:pt x="10078" y="0"/>
                    <a:pt x="8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04;p41">
              <a:extLst>
                <a:ext uri="{FF2B5EF4-FFF2-40B4-BE49-F238E27FC236}">
                  <a16:creationId xmlns:a16="http://schemas.microsoft.com/office/drawing/2014/main" xmlns="" id="{5435FB3B-E4E7-46CA-A197-5CA15EBF15BC}"/>
                </a:ext>
              </a:extLst>
            </p:cNvPr>
            <p:cNvSpPr/>
            <p:nvPr/>
          </p:nvSpPr>
          <p:spPr>
            <a:xfrm>
              <a:off x="7728385" y="3139958"/>
              <a:ext cx="124085" cy="58548"/>
            </a:xfrm>
            <a:custGeom>
              <a:avLst/>
              <a:gdLst/>
              <a:ahLst/>
              <a:cxnLst/>
              <a:rect l="l" t="t" r="r" b="b"/>
              <a:pathLst>
                <a:path w="7109" h="3357" extrusionOk="0">
                  <a:moveTo>
                    <a:pt x="5765" y="1"/>
                  </a:moveTo>
                  <a:cubicBezTo>
                    <a:pt x="5572" y="1"/>
                    <a:pt x="5366" y="68"/>
                    <a:pt x="5167" y="225"/>
                  </a:cubicBezTo>
                  <a:cubicBezTo>
                    <a:pt x="4088" y="1023"/>
                    <a:pt x="2839" y="1441"/>
                    <a:pt x="1535" y="1441"/>
                  </a:cubicBezTo>
                  <a:cubicBezTo>
                    <a:pt x="1390" y="1441"/>
                    <a:pt x="1243" y="1436"/>
                    <a:pt x="1096" y="1425"/>
                  </a:cubicBezTo>
                  <a:cubicBezTo>
                    <a:pt x="1064" y="1422"/>
                    <a:pt x="1032" y="1421"/>
                    <a:pt x="1000" y="1421"/>
                  </a:cubicBezTo>
                  <a:cubicBezTo>
                    <a:pt x="471" y="1421"/>
                    <a:pt x="53" y="1823"/>
                    <a:pt x="53" y="2365"/>
                  </a:cubicBezTo>
                  <a:cubicBezTo>
                    <a:pt x="0" y="2834"/>
                    <a:pt x="366" y="3304"/>
                    <a:pt x="888" y="3356"/>
                  </a:cubicBezTo>
                  <a:lnTo>
                    <a:pt x="1566" y="3356"/>
                  </a:lnTo>
                  <a:cubicBezTo>
                    <a:pt x="3288" y="3356"/>
                    <a:pt x="4959" y="2730"/>
                    <a:pt x="6316" y="1686"/>
                  </a:cubicBezTo>
                  <a:cubicBezTo>
                    <a:pt x="7108" y="1060"/>
                    <a:pt x="6534" y="1"/>
                    <a:pt x="5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05;p41">
              <a:extLst>
                <a:ext uri="{FF2B5EF4-FFF2-40B4-BE49-F238E27FC236}">
                  <a16:creationId xmlns:a16="http://schemas.microsoft.com/office/drawing/2014/main" xmlns="" id="{C1FFA217-0795-4C34-AC5F-71F8D6B9EF3D}"/>
                </a:ext>
              </a:extLst>
            </p:cNvPr>
            <p:cNvSpPr/>
            <p:nvPr/>
          </p:nvSpPr>
          <p:spPr>
            <a:xfrm>
              <a:off x="4695686" y="3065993"/>
              <a:ext cx="174023" cy="124316"/>
            </a:xfrm>
            <a:custGeom>
              <a:avLst/>
              <a:gdLst/>
              <a:ahLst/>
              <a:cxnLst/>
              <a:rect l="l" t="t" r="r" b="b"/>
              <a:pathLst>
                <a:path w="9970" h="7128" extrusionOk="0">
                  <a:moveTo>
                    <a:pt x="8841" y="1"/>
                  </a:moveTo>
                  <a:cubicBezTo>
                    <a:pt x="8710" y="1"/>
                    <a:pt x="8579" y="27"/>
                    <a:pt x="8456" y="82"/>
                  </a:cubicBezTo>
                  <a:cubicBezTo>
                    <a:pt x="5951" y="1439"/>
                    <a:pt x="3550" y="3057"/>
                    <a:pt x="1358" y="4935"/>
                  </a:cubicBezTo>
                  <a:lnTo>
                    <a:pt x="732" y="5405"/>
                  </a:lnTo>
                  <a:cubicBezTo>
                    <a:pt x="1" y="5979"/>
                    <a:pt x="418" y="7127"/>
                    <a:pt x="1306" y="7127"/>
                  </a:cubicBezTo>
                  <a:cubicBezTo>
                    <a:pt x="1514" y="7127"/>
                    <a:pt x="1723" y="7023"/>
                    <a:pt x="1880" y="6919"/>
                  </a:cubicBezTo>
                  <a:lnTo>
                    <a:pt x="2558" y="6449"/>
                  </a:lnTo>
                  <a:cubicBezTo>
                    <a:pt x="4646" y="4674"/>
                    <a:pt x="6942" y="3109"/>
                    <a:pt x="9343" y="1804"/>
                  </a:cubicBezTo>
                  <a:cubicBezTo>
                    <a:pt x="9813" y="1543"/>
                    <a:pt x="9970" y="969"/>
                    <a:pt x="9761" y="551"/>
                  </a:cubicBezTo>
                  <a:cubicBezTo>
                    <a:pt x="9568" y="205"/>
                    <a:pt x="9206" y="1"/>
                    <a:pt x="8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06;p41">
              <a:extLst>
                <a:ext uri="{FF2B5EF4-FFF2-40B4-BE49-F238E27FC236}">
                  <a16:creationId xmlns:a16="http://schemas.microsoft.com/office/drawing/2014/main" xmlns="" id="{EAD20EF2-AABA-4D3E-A5D0-FE75B7C4CE91}"/>
                </a:ext>
              </a:extLst>
            </p:cNvPr>
            <p:cNvSpPr/>
            <p:nvPr/>
          </p:nvSpPr>
          <p:spPr>
            <a:xfrm>
              <a:off x="4827783" y="3065783"/>
              <a:ext cx="171300" cy="108149"/>
            </a:xfrm>
            <a:custGeom>
              <a:avLst/>
              <a:gdLst/>
              <a:ahLst/>
              <a:cxnLst/>
              <a:rect l="l" t="t" r="r" b="b"/>
              <a:pathLst>
                <a:path w="9814" h="6201" extrusionOk="0">
                  <a:moveTo>
                    <a:pt x="8459" y="1"/>
                  </a:moveTo>
                  <a:cubicBezTo>
                    <a:pt x="8255" y="1"/>
                    <a:pt x="8038" y="75"/>
                    <a:pt x="7829" y="250"/>
                  </a:cubicBezTo>
                  <a:cubicBezTo>
                    <a:pt x="6316" y="1398"/>
                    <a:pt x="4698" y="2390"/>
                    <a:pt x="2976" y="3225"/>
                  </a:cubicBezTo>
                  <a:cubicBezTo>
                    <a:pt x="2245" y="3643"/>
                    <a:pt x="1514" y="4008"/>
                    <a:pt x="836" y="4426"/>
                  </a:cubicBezTo>
                  <a:cubicBezTo>
                    <a:pt x="1" y="4895"/>
                    <a:pt x="366" y="6200"/>
                    <a:pt x="1358" y="6200"/>
                  </a:cubicBezTo>
                  <a:cubicBezTo>
                    <a:pt x="1514" y="6148"/>
                    <a:pt x="1671" y="6148"/>
                    <a:pt x="1827" y="6043"/>
                  </a:cubicBezTo>
                  <a:cubicBezTo>
                    <a:pt x="2454" y="5678"/>
                    <a:pt x="3184" y="5313"/>
                    <a:pt x="3863" y="4895"/>
                  </a:cubicBezTo>
                  <a:cubicBezTo>
                    <a:pt x="5690" y="4008"/>
                    <a:pt x="7412" y="2912"/>
                    <a:pt x="9030" y="1712"/>
                  </a:cubicBezTo>
                  <a:cubicBezTo>
                    <a:pt x="9813" y="1052"/>
                    <a:pt x="9228" y="1"/>
                    <a:pt x="8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07;p41">
              <a:extLst>
                <a:ext uri="{FF2B5EF4-FFF2-40B4-BE49-F238E27FC236}">
                  <a16:creationId xmlns:a16="http://schemas.microsoft.com/office/drawing/2014/main" xmlns="" id="{A2503505-EDA3-423A-AF90-31FFB2417FD2}"/>
                </a:ext>
              </a:extLst>
            </p:cNvPr>
            <p:cNvSpPr/>
            <p:nvPr/>
          </p:nvSpPr>
          <p:spPr>
            <a:xfrm>
              <a:off x="7296573" y="5763495"/>
              <a:ext cx="116789" cy="115997"/>
            </a:xfrm>
            <a:custGeom>
              <a:avLst/>
              <a:gdLst/>
              <a:ahLst/>
              <a:cxnLst/>
              <a:rect l="l" t="t" r="r" b="b"/>
              <a:pathLst>
                <a:path w="6691" h="6651" extrusionOk="0">
                  <a:moveTo>
                    <a:pt x="5330" y="0"/>
                  </a:moveTo>
                  <a:cubicBezTo>
                    <a:pt x="5118" y="0"/>
                    <a:pt x="4897" y="84"/>
                    <a:pt x="4698" y="283"/>
                  </a:cubicBezTo>
                  <a:cubicBezTo>
                    <a:pt x="4280" y="648"/>
                    <a:pt x="3863" y="1014"/>
                    <a:pt x="3445" y="1379"/>
                  </a:cubicBezTo>
                  <a:cubicBezTo>
                    <a:pt x="2088" y="2475"/>
                    <a:pt x="731" y="3675"/>
                    <a:pt x="157" y="5398"/>
                  </a:cubicBezTo>
                  <a:cubicBezTo>
                    <a:pt x="0" y="5920"/>
                    <a:pt x="314" y="6442"/>
                    <a:pt x="783" y="6598"/>
                  </a:cubicBezTo>
                  <a:cubicBezTo>
                    <a:pt x="888" y="6650"/>
                    <a:pt x="992" y="6650"/>
                    <a:pt x="1096" y="6650"/>
                  </a:cubicBezTo>
                  <a:cubicBezTo>
                    <a:pt x="1514" y="6650"/>
                    <a:pt x="1879" y="6389"/>
                    <a:pt x="1984" y="5972"/>
                  </a:cubicBezTo>
                  <a:cubicBezTo>
                    <a:pt x="2401" y="4719"/>
                    <a:pt x="3497" y="3780"/>
                    <a:pt x="4698" y="2788"/>
                  </a:cubicBezTo>
                  <a:cubicBezTo>
                    <a:pt x="5115" y="2423"/>
                    <a:pt x="5585" y="2058"/>
                    <a:pt x="6002" y="1640"/>
                  </a:cubicBezTo>
                  <a:cubicBezTo>
                    <a:pt x="6690" y="993"/>
                    <a:pt x="6061" y="0"/>
                    <a:pt x="5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08;p41">
              <a:extLst>
                <a:ext uri="{FF2B5EF4-FFF2-40B4-BE49-F238E27FC236}">
                  <a16:creationId xmlns:a16="http://schemas.microsoft.com/office/drawing/2014/main" xmlns="" id="{F9E14FA7-4243-4D3A-8011-63C851128DB7}"/>
                </a:ext>
              </a:extLst>
            </p:cNvPr>
            <p:cNvSpPr/>
            <p:nvPr/>
          </p:nvSpPr>
          <p:spPr>
            <a:xfrm>
              <a:off x="7305685" y="5477631"/>
              <a:ext cx="243248" cy="222925"/>
            </a:xfrm>
            <a:custGeom>
              <a:avLst/>
              <a:gdLst/>
              <a:ahLst/>
              <a:cxnLst/>
              <a:rect l="l" t="t" r="r" b="b"/>
              <a:pathLst>
                <a:path w="13936" h="12782" extrusionOk="0">
                  <a:moveTo>
                    <a:pt x="12836" y="1"/>
                  </a:moveTo>
                  <a:cubicBezTo>
                    <a:pt x="12671" y="1"/>
                    <a:pt x="12509" y="41"/>
                    <a:pt x="12370" y="128"/>
                  </a:cubicBezTo>
                  <a:cubicBezTo>
                    <a:pt x="7359" y="3364"/>
                    <a:pt x="2662" y="8479"/>
                    <a:pt x="313" y="11245"/>
                  </a:cubicBezTo>
                  <a:cubicBezTo>
                    <a:pt x="0" y="11663"/>
                    <a:pt x="53" y="12237"/>
                    <a:pt x="418" y="12602"/>
                  </a:cubicBezTo>
                  <a:cubicBezTo>
                    <a:pt x="602" y="12717"/>
                    <a:pt x="817" y="12782"/>
                    <a:pt x="1027" y="12782"/>
                  </a:cubicBezTo>
                  <a:cubicBezTo>
                    <a:pt x="1291" y="12782"/>
                    <a:pt x="1548" y="12679"/>
                    <a:pt x="1723" y="12446"/>
                  </a:cubicBezTo>
                  <a:cubicBezTo>
                    <a:pt x="4019" y="9784"/>
                    <a:pt x="8560" y="4826"/>
                    <a:pt x="13361" y="1746"/>
                  </a:cubicBezTo>
                  <a:cubicBezTo>
                    <a:pt x="13831" y="1485"/>
                    <a:pt x="13936" y="859"/>
                    <a:pt x="13675" y="441"/>
                  </a:cubicBezTo>
                  <a:cubicBezTo>
                    <a:pt x="13501" y="163"/>
                    <a:pt x="13164" y="1"/>
                    <a:pt x="12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09;p41">
              <a:extLst>
                <a:ext uri="{FF2B5EF4-FFF2-40B4-BE49-F238E27FC236}">
                  <a16:creationId xmlns:a16="http://schemas.microsoft.com/office/drawing/2014/main" xmlns="" id="{04A2DA74-5BA7-4D2B-BE5C-84BD84209A75}"/>
                </a:ext>
              </a:extLst>
            </p:cNvPr>
            <p:cNvSpPr/>
            <p:nvPr/>
          </p:nvSpPr>
          <p:spPr>
            <a:xfrm>
              <a:off x="7470579" y="5617818"/>
              <a:ext cx="109266" cy="99446"/>
            </a:xfrm>
            <a:custGeom>
              <a:avLst/>
              <a:gdLst/>
              <a:ahLst/>
              <a:cxnLst/>
              <a:rect l="l" t="t" r="r" b="b"/>
              <a:pathLst>
                <a:path w="6260" h="5702" extrusionOk="0">
                  <a:moveTo>
                    <a:pt x="4878" y="1"/>
                  </a:moveTo>
                  <a:cubicBezTo>
                    <a:pt x="4738" y="1"/>
                    <a:pt x="4589" y="36"/>
                    <a:pt x="4436" y="117"/>
                  </a:cubicBezTo>
                  <a:cubicBezTo>
                    <a:pt x="2662" y="1108"/>
                    <a:pt x="1253" y="2517"/>
                    <a:pt x="261" y="4292"/>
                  </a:cubicBezTo>
                  <a:cubicBezTo>
                    <a:pt x="0" y="4709"/>
                    <a:pt x="104" y="5284"/>
                    <a:pt x="574" y="5597"/>
                  </a:cubicBezTo>
                  <a:cubicBezTo>
                    <a:pt x="731" y="5649"/>
                    <a:pt x="887" y="5701"/>
                    <a:pt x="1044" y="5701"/>
                  </a:cubicBezTo>
                  <a:cubicBezTo>
                    <a:pt x="1409" y="5701"/>
                    <a:pt x="1670" y="5544"/>
                    <a:pt x="1879" y="5284"/>
                  </a:cubicBezTo>
                  <a:cubicBezTo>
                    <a:pt x="2662" y="3822"/>
                    <a:pt x="3862" y="2622"/>
                    <a:pt x="5271" y="1839"/>
                  </a:cubicBezTo>
                  <a:cubicBezTo>
                    <a:pt x="6259" y="1345"/>
                    <a:pt x="5740" y="1"/>
                    <a:pt x="4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14;p41">
              <a:extLst>
                <a:ext uri="{FF2B5EF4-FFF2-40B4-BE49-F238E27FC236}">
                  <a16:creationId xmlns:a16="http://schemas.microsoft.com/office/drawing/2014/main" xmlns="" id="{1991E0B9-C4A0-4208-B93F-CC0DDB18336C}"/>
                </a:ext>
              </a:extLst>
            </p:cNvPr>
            <p:cNvSpPr/>
            <p:nvPr/>
          </p:nvSpPr>
          <p:spPr>
            <a:xfrm>
              <a:off x="948221" y="2258001"/>
              <a:ext cx="358549" cy="273544"/>
            </a:xfrm>
            <a:custGeom>
              <a:avLst/>
              <a:gdLst/>
              <a:ahLst/>
              <a:cxnLst/>
              <a:rect l="l" t="t" r="r" b="b"/>
              <a:pathLst>
                <a:path w="15214" h="11695" extrusionOk="0">
                  <a:moveTo>
                    <a:pt x="5548" y="1"/>
                  </a:moveTo>
                  <a:cubicBezTo>
                    <a:pt x="5346" y="1"/>
                    <a:pt x="5151" y="91"/>
                    <a:pt x="5031" y="270"/>
                  </a:cubicBezTo>
                  <a:lnTo>
                    <a:pt x="1857" y="3385"/>
                  </a:lnTo>
                  <a:cubicBezTo>
                    <a:pt x="1558" y="3684"/>
                    <a:pt x="1558" y="4163"/>
                    <a:pt x="1917" y="4463"/>
                  </a:cubicBezTo>
                  <a:cubicBezTo>
                    <a:pt x="2037" y="4583"/>
                    <a:pt x="2216" y="4702"/>
                    <a:pt x="2456" y="4702"/>
                  </a:cubicBezTo>
                  <a:cubicBezTo>
                    <a:pt x="2636" y="4702"/>
                    <a:pt x="2815" y="4583"/>
                    <a:pt x="2995" y="4463"/>
                  </a:cubicBezTo>
                  <a:lnTo>
                    <a:pt x="6109" y="1348"/>
                  </a:lnTo>
                  <a:cubicBezTo>
                    <a:pt x="6409" y="1049"/>
                    <a:pt x="6409" y="570"/>
                    <a:pt x="6109" y="270"/>
                  </a:cubicBezTo>
                  <a:cubicBezTo>
                    <a:pt x="5960" y="91"/>
                    <a:pt x="5750" y="1"/>
                    <a:pt x="5548" y="1"/>
                  </a:cubicBezTo>
                  <a:close/>
                  <a:moveTo>
                    <a:pt x="14116" y="3129"/>
                  </a:moveTo>
                  <a:cubicBezTo>
                    <a:pt x="14010" y="3129"/>
                    <a:pt x="13896" y="3153"/>
                    <a:pt x="13776" y="3205"/>
                  </a:cubicBezTo>
                  <a:cubicBezTo>
                    <a:pt x="12338" y="3744"/>
                    <a:pt x="11081" y="4583"/>
                    <a:pt x="10062" y="5721"/>
                  </a:cubicBezTo>
                  <a:cubicBezTo>
                    <a:pt x="9703" y="6020"/>
                    <a:pt x="9703" y="6499"/>
                    <a:pt x="10002" y="6799"/>
                  </a:cubicBezTo>
                  <a:cubicBezTo>
                    <a:pt x="10182" y="6918"/>
                    <a:pt x="10362" y="7038"/>
                    <a:pt x="10541" y="7038"/>
                  </a:cubicBezTo>
                  <a:cubicBezTo>
                    <a:pt x="10781" y="7038"/>
                    <a:pt x="10961" y="6918"/>
                    <a:pt x="11140" y="6799"/>
                  </a:cubicBezTo>
                  <a:cubicBezTo>
                    <a:pt x="12039" y="5840"/>
                    <a:pt x="13117" y="5122"/>
                    <a:pt x="14375" y="4643"/>
                  </a:cubicBezTo>
                  <a:cubicBezTo>
                    <a:pt x="15213" y="4276"/>
                    <a:pt x="14859" y="3129"/>
                    <a:pt x="14116" y="3129"/>
                  </a:cubicBezTo>
                  <a:close/>
                  <a:moveTo>
                    <a:pt x="6699" y="4678"/>
                  </a:moveTo>
                  <a:cubicBezTo>
                    <a:pt x="6536" y="4678"/>
                    <a:pt x="6373" y="4726"/>
                    <a:pt x="6229" y="4822"/>
                  </a:cubicBezTo>
                  <a:cubicBezTo>
                    <a:pt x="4552" y="6080"/>
                    <a:pt x="3055" y="7457"/>
                    <a:pt x="1617" y="9015"/>
                  </a:cubicBezTo>
                  <a:cubicBezTo>
                    <a:pt x="1198" y="9494"/>
                    <a:pt x="779" y="9913"/>
                    <a:pt x="300" y="10332"/>
                  </a:cubicBezTo>
                  <a:cubicBezTo>
                    <a:pt x="0" y="10632"/>
                    <a:pt x="0" y="11171"/>
                    <a:pt x="300" y="11470"/>
                  </a:cubicBezTo>
                  <a:cubicBezTo>
                    <a:pt x="450" y="11620"/>
                    <a:pt x="659" y="11695"/>
                    <a:pt x="869" y="11695"/>
                  </a:cubicBezTo>
                  <a:cubicBezTo>
                    <a:pt x="1078" y="11695"/>
                    <a:pt x="1288" y="11620"/>
                    <a:pt x="1438" y="11470"/>
                  </a:cubicBezTo>
                  <a:cubicBezTo>
                    <a:pt x="1857" y="10991"/>
                    <a:pt x="2336" y="10572"/>
                    <a:pt x="2755" y="10093"/>
                  </a:cubicBezTo>
                  <a:cubicBezTo>
                    <a:pt x="4073" y="8595"/>
                    <a:pt x="5570" y="7278"/>
                    <a:pt x="7128" y="6080"/>
                  </a:cubicBezTo>
                  <a:cubicBezTo>
                    <a:pt x="7487" y="5840"/>
                    <a:pt x="7607" y="5361"/>
                    <a:pt x="7367" y="5002"/>
                  </a:cubicBezTo>
                  <a:cubicBezTo>
                    <a:pt x="7187" y="4786"/>
                    <a:pt x="6943" y="4678"/>
                    <a:pt x="6699" y="4678"/>
                  </a:cubicBezTo>
                  <a:close/>
                </a:path>
              </a:pathLst>
            </a:custGeom>
            <a:solidFill>
              <a:srgbClr val="FCD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15;p41">
              <a:extLst>
                <a:ext uri="{FF2B5EF4-FFF2-40B4-BE49-F238E27FC236}">
                  <a16:creationId xmlns:a16="http://schemas.microsoft.com/office/drawing/2014/main" xmlns="" id="{51FBFF12-3AF0-4BE9-BFAB-187C7A0D2697}"/>
                </a:ext>
              </a:extLst>
            </p:cNvPr>
            <p:cNvSpPr/>
            <p:nvPr/>
          </p:nvSpPr>
          <p:spPr>
            <a:xfrm>
              <a:off x="3357996" y="4723126"/>
              <a:ext cx="198694" cy="165670"/>
            </a:xfrm>
            <a:custGeom>
              <a:avLst/>
              <a:gdLst/>
              <a:ahLst/>
              <a:cxnLst/>
              <a:rect l="l" t="t" r="r" b="b"/>
              <a:pathLst>
                <a:path w="8431" h="7083" extrusionOk="0">
                  <a:moveTo>
                    <a:pt x="7476" y="0"/>
                  </a:moveTo>
                  <a:cubicBezTo>
                    <a:pt x="7350" y="0"/>
                    <a:pt x="7226" y="34"/>
                    <a:pt x="7113" y="109"/>
                  </a:cubicBezTo>
                  <a:cubicBezTo>
                    <a:pt x="6215" y="648"/>
                    <a:pt x="5256" y="1008"/>
                    <a:pt x="4238" y="1187"/>
                  </a:cubicBezTo>
                  <a:lnTo>
                    <a:pt x="4298" y="1187"/>
                  </a:lnTo>
                  <a:cubicBezTo>
                    <a:pt x="3300" y="1305"/>
                    <a:pt x="3395" y="2746"/>
                    <a:pt x="4359" y="2746"/>
                  </a:cubicBezTo>
                  <a:cubicBezTo>
                    <a:pt x="4378" y="2746"/>
                    <a:pt x="4398" y="2746"/>
                    <a:pt x="4418" y="2745"/>
                  </a:cubicBezTo>
                  <a:lnTo>
                    <a:pt x="4598" y="2745"/>
                  </a:lnTo>
                  <a:cubicBezTo>
                    <a:pt x="5736" y="2505"/>
                    <a:pt x="6874" y="2086"/>
                    <a:pt x="7892" y="1487"/>
                  </a:cubicBezTo>
                  <a:cubicBezTo>
                    <a:pt x="8311" y="1247"/>
                    <a:pt x="8431" y="768"/>
                    <a:pt x="8191" y="409"/>
                  </a:cubicBezTo>
                  <a:cubicBezTo>
                    <a:pt x="8027" y="162"/>
                    <a:pt x="7750" y="0"/>
                    <a:pt x="7476" y="0"/>
                  </a:cubicBezTo>
                  <a:close/>
                  <a:moveTo>
                    <a:pt x="6400" y="3125"/>
                  </a:moveTo>
                  <a:cubicBezTo>
                    <a:pt x="6323" y="3125"/>
                    <a:pt x="6241" y="3137"/>
                    <a:pt x="6155" y="3164"/>
                  </a:cubicBezTo>
                  <a:cubicBezTo>
                    <a:pt x="4478" y="3643"/>
                    <a:pt x="2861" y="4362"/>
                    <a:pt x="1423" y="5260"/>
                  </a:cubicBezTo>
                  <a:lnTo>
                    <a:pt x="944" y="5560"/>
                  </a:lnTo>
                  <a:cubicBezTo>
                    <a:pt x="1" y="5782"/>
                    <a:pt x="240" y="7083"/>
                    <a:pt x="1090" y="7083"/>
                  </a:cubicBezTo>
                  <a:cubicBezTo>
                    <a:pt x="1157" y="7083"/>
                    <a:pt x="1229" y="7075"/>
                    <a:pt x="1303" y="7057"/>
                  </a:cubicBezTo>
                  <a:cubicBezTo>
                    <a:pt x="1423" y="7057"/>
                    <a:pt x="1543" y="6997"/>
                    <a:pt x="1663" y="6937"/>
                  </a:cubicBezTo>
                  <a:lnTo>
                    <a:pt x="2142" y="6698"/>
                  </a:lnTo>
                  <a:cubicBezTo>
                    <a:pt x="3520" y="5859"/>
                    <a:pt x="5017" y="5140"/>
                    <a:pt x="6574" y="4661"/>
                  </a:cubicBezTo>
                  <a:cubicBezTo>
                    <a:pt x="7446" y="4389"/>
                    <a:pt x="7177" y="3125"/>
                    <a:pt x="6400" y="3125"/>
                  </a:cubicBezTo>
                  <a:close/>
                </a:path>
              </a:pathLst>
            </a:custGeom>
            <a:solidFill>
              <a:srgbClr val="F7BF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6;p41">
              <a:extLst>
                <a:ext uri="{FF2B5EF4-FFF2-40B4-BE49-F238E27FC236}">
                  <a16:creationId xmlns:a16="http://schemas.microsoft.com/office/drawing/2014/main" xmlns="" id="{F5214701-74A6-43BD-91EC-4D462D5E3298}"/>
                </a:ext>
              </a:extLst>
            </p:cNvPr>
            <p:cNvSpPr/>
            <p:nvPr/>
          </p:nvSpPr>
          <p:spPr>
            <a:xfrm>
              <a:off x="1535393" y="1825482"/>
              <a:ext cx="1786993" cy="393674"/>
            </a:xfrm>
            <a:custGeom>
              <a:avLst/>
              <a:gdLst/>
              <a:ahLst/>
              <a:cxnLst/>
              <a:rect l="l" t="t" r="r" b="b"/>
              <a:pathLst>
                <a:path w="75826" h="16831" extrusionOk="0">
                  <a:moveTo>
                    <a:pt x="70441" y="6704"/>
                  </a:moveTo>
                  <a:cubicBezTo>
                    <a:pt x="70712" y="6704"/>
                    <a:pt x="70978" y="6836"/>
                    <a:pt x="71094" y="7068"/>
                  </a:cubicBezTo>
                  <a:cubicBezTo>
                    <a:pt x="71334" y="7428"/>
                    <a:pt x="71214" y="7907"/>
                    <a:pt x="70854" y="8146"/>
                  </a:cubicBezTo>
                  <a:cubicBezTo>
                    <a:pt x="69477" y="8985"/>
                    <a:pt x="68219" y="9943"/>
                    <a:pt x="67141" y="11141"/>
                  </a:cubicBezTo>
                  <a:cubicBezTo>
                    <a:pt x="66959" y="11338"/>
                    <a:pt x="66751" y="11420"/>
                    <a:pt x="66551" y="11420"/>
                  </a:cubicBezTo>
                  <a:cubicBezTo>
                    <a:pt x="65962" y="11420"/>
                    <a:pt x="65451" y="10704"/>
                    <a:pt x="65943" y="10123"/>
                  </a:cubicBezTo>
                  <a:cubicBezTo>
                    <a:pt x="67141" y="8805"/>
                    <a:pt x="68519" y="7727"/>
                    <a:pt x="70016" y="6829"/>
                  </a:cubicBezTo>
                  <a:cubicBezTo>
                    <a:pt x="70143" y="6744"/>
                    <a:pt x="70293" y="6704"/>
                    <a:pt x="70441" y="6704"/>
                  </a:cubicBezTo>
                  <a:close/>
                  <a:moveTo>
                    <a:pt x="66210" y="7090"/>
                  </a:moveTo>
                  <a:cubicBezTo>
                    <a:pt x="66406" y="7090"/>
                    <a:pt x="66597" y="7180"/>
                    <a:pt x="66722" y="7368"/>
                  </a:cubicBezTo>
                  <a:cubicBezTo>
                    <a:pt x="67021" y="7667"/>
                    <a:pt x="67021" y="8146"/>
                    <a:pt x="66722" y="8446"/>
                  </a:cubicBezTo>
                  <a:cubicBezTo>
                    <a:pt x="65943" y="9105"/>
                    <a:pt x="65105" y="9763"/>
                    <a:pt x="64206" y="10302"/>
                  </a:cubicBezTo>
                  <a:cubicBezTo>
                    <a:pt x="63308" y="10901"/>
                    <a:pt x="62469" y="11560"/>
                    <a:pt x="61691" y="12279"/>
                  </a:cubicBezTo>
                  <a:cubicBezTo>
                    <a:pt x="61571" y="12459"/>
                    <a:pt x="61331" y="12519"/>
                    <a:pt x="61152" y="12519"/>
                  </a:cubicBezTo>
                  <a:cubicBezTo>
                    <a:pt x="60912" y="12519"/>
                    <a:pt x="60732" y="12459"/>
                    <a:pt x="60613" y="12339"/>
                  </a:cubicBezTo>
                  <a:cubicBezTo>
                    <a:pt x="60253" y="12039"/>
                    <a:pt x="60253" y="11500"/>
                    <a:pt x="60613" y="11201"/>
                  </a:cubicBezTo>
                  <a:cubicBezTo>
                    <a:pt x="61451" y="10422"/>
                    <a:pt x="62350" y="9644"/>
                    <a:pt x="63368" y="9045"/>
                  </a:cubicBezTo>
                  <a:cubicBezTo>
                    <a:pt x="64206" y="8506"/>
                    <a:pt x="64985" y="7907"/>
                    <a:pt x="65704" y="7308"/>
                  </a:cubicBezTo>
                  <a:cubicBezTo>
                    <a:pt x="65846" y="7165"/>
                    <a:pt x="66030" y="7090"/>
                    <a:pt x="66210" y="7090"/>
                  </a:cubicBezTo>
                  <a:close/>
                  <a:moveTo>
                    <a:pt x="60371" y="6692"/>
                  </a:moveTo>
                  <a:cubicBezTo>
                    <a:pt x="60546" y="6692"/>
                    <a:pt x="60717" y="6754"/>
                    <a:pt x="60852" y="6889"/>
                  </a:cubicBezTo>
                  <a:cubicBezTo>
                    <a:pt x="61212" y="7188"/>
                    <a:pt x="61212" y="7667"/>
                    <a:pt x="60912" y="8027"/>
                  </a:cubicBezTo>
                  <a:cubicBezTo>
                    <a:pt x="59714" y="9224"/>
                    <a:pt x="58397" y="10302"/>
                    <a:pt x="56959" y="11201"/>
                  </a:cubicBezTo>
                  <a:cubicBezTo>
                    <a:pt x="55522" y="12039"/>
                    <a:pt x="54264" y="12998"/>
                    <a:pt x="53186" y="14196"/>
                  </a:cubicBezTo>
                  <a:cubicBezTo>
                    <a:pt x="53066" y="14375"/>
                    <a:pt x="52827" y="14495"/>
                    <a:pt x="52587" y="14495"/>
                  </a:cubicBezTo>
                  <a:cubicBezTo>
                    <a:pt x="52407" y="14495"/>
                    <a:pt x="52228" y="14435"/>
                    <a:pt x="52108" y="14315"/>
                  </a:cubicBezTo>
                  <a:cubicBezTo>
                    <a:pt x="51748" y="14016"/>
                    <a:pt x="51689" y="13537"/>
                    <a:pt x="51988" y="13237"/>
                  </a:cubicBezTo>
                  <a:cubicBezTo>
                    <a:pt x="53186" y="11920"/>
                    <a:pt x="54563" y="10782"/>
                    <a:pt x="56121" y="9883"/>
                  </a:cubicBezTo>
                  <a:cubicBezTo>
                    <a:pt x="57438" y="9045"/>
                    <a:pt x="58696" y="8086"/>
                    <a:pt x="59774" y="6948"/>
                  </a:cubicBezTo>
                  <a:cubicBezTo>
                    <a:pt x="59939" y="6784"/>
                    <a:pt x="60158" y="6692"/>
                    <a:pt x="60371" y="6692"/>
                  </a:cubicBezTo>
                  <a:close/>
                  <a:moveTo>
                    <a:pt x="75826" y="1"/>
                  </a:moveTo>
                  <a:lnTo>
                    <a:pt x="1" y="2516"/>
                  </a:lnTo>
                  <a:lnTo>
                    <a:pt x="1079" y="14854"/>
                  </a:lnTo>
                  <a:cubicBezTo>
                    <a:pt x="13357" y="16172"/>
                    <a:pt x="25755" y="16831"/>
                    <a:pt x="38093" y="16831"/>
                  </a:cubicBezTo>
                  <a:cubicBezTo>
                    <a:pt x="50071" y="16831"/>
                    <a:pt x="61990" y="16232"/>
                    <a:pt x="73909" y="14974"/>
                  </a:cubicBezTo>
                  <a:lnTo>
                    <a:pt x="75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7;p41">
              <a:extLst>
                <a:ext uri="{FF2B5EF4-FFF2-40B4-BE49-F238E27FC236}">
                  <a16:creationId xmlns:a16="http://schemas.microsoft.com/office/drawing/2014/main" xmlns="" id="{3811AF57-A44A-4E86-864A-69CACAC16D62}"/>
                </a:ext>
              </a:extLst>
            </p:cNvPr>
            <p:cNvSpPr/>
            <p:nvPr/>
          </p:nvSpPr>
          <p:spPr>
            <a:xfrm>
              <a:off x="785891" y="1746550"/>
              <a:ext cx="3103918" cy="3319112"/>
            </a:xfrm>
            <a:custGeom>
              <a:avLst/>
              <a:gdLst/>
              <a:ahLst/>
              <a:cxnLst/>
              <a:rect l="l" t="t" r="r" b="b"/>
              <a:pathLst>
                <a:path w="131706" h="141904" extrusionOk="0">
                  <a:moveTo>
                    <a:pt x="107629" y="1514"/>
                  </a:moveTo>
                  <a:lnTo>
                    <a:pt x="105712" y="16487"/>
                  </a:lnTo>
                  <a:cubicBezTo>
                    <a:pt x="93793" y="17685"/>
                    <a:pt x="81874" y="18284"/>
                    <a:pt x="69896" y="18284"/>
                  </a:cubicBezTo>
                  <a:cubicBezTo>
                    <a:pt x="57558" y="18284"/>
                    <a:pt x="45160" y="17625"/>
                    <a:pt x="32882" y="16307"/>
                  </a:cubicBezTo>
                  <a:lnTo>
                    <a:pt x="31804" y="3969"/>
                  </a:lnTo>
                  <a:lnTo>
                    <a:pt x="107629" y="1514"/>
                  </a:lnTo>
                  <a:close/>
                  <a:moveTo>
                    <a:pt x="129430" y="44876"/>
                  </a:moveTo>
                  <a:lnTo>
                    <a:pt x="129430" y="44876"/>
                  </a:lnTo>
                  <a:cubicBezTo>
                    <a:pt x="128052" y="75961"/>
                    <a:pt x="123141" y="106806"/>
                    <a:pt x="114876" y="136872"/>
                  </a:cubicBezTo>
                  <a:cubicBezTo>
                    <a:pt x="112839" y="130404"/>
                    <a:pt x="107149" y="127768"/>
                    <a:pt x="104694" y="126930"/>
                  </a:cubicBezTo>
                  <a:cubicBezTo>
                    <a:pt x="118409" y="109561"/>
                    <a:pt x="126195" y="67216"/>
                    <a:pt x="129430" y="44876"/>
                  </a:cubicBezTo>
                  <a:close/>
                  <a:moveTo>
                    <a:pt x="30846" y="10498"/>
                  </a:moveTo>
                  <a:lnTo>
                    <a:pt x="31385" y="17146"/>
                  </a:lnTo>
                  <a:cubicBezTo>
                    <a:pt x="31444" y="17505"/>
                    <a:pt x="31684" y="17805"/>
                    <a:pt x="32103" y="17865"/>
                  </a:cubicBezTo>
                  <a:cubicBezTo>
                    <a:pt x="44621" y="19182"/>
                    <a:pt x="57258" y="19901"/>
                    <a:pt x="69896" y="19901"/>
                  </a:cubicBezTo>
                  <a:cubicBezTo>
                    <a:pt x="82114" y="19901"/>
                    <a:pt x="94332" y="19242"/>
                    <a:pt x="106431" y="17984"/>
                  </a:cubicBezTo>
                  <a:cubicBezTo>
                    <a:pt x="106790" y="17925"/>
                    <a:pt x="107089" y="17625"/>
                    <a:pt x="107149" y="17266"/>
                  </a:cubicBezTo>
                  <a:lnTo>
                    <a:pt x="107988" y="10797"/>
                  </a:lnTo>
                  <a:cubicBezTo>
                    <a:pt x="119008" y="10917"/>
                    <a:pt x="127094" y="11037"/>
                    <a:pt x="129430" y="11097"/>
                  </a:cubicBezTo>
                  <a:cubicBezTo>
                    <a:pt x="130148" y="17505"/>
                    <a:pt x="130208" y="23974"/>
                    <a:pt x="129729" y="30382"/>
                  </a:cubicBezTo>
                  <a:cubicBezTo>
                    <a:pt x="129609" y="31640"/>
                    <a:pt x="121584" y="104590"/>
                    <a:pt x="102777" y="126870"/>
                  </a:cubicBezTo>
                  <a:cubicBezTo>
                    <a:pt x="102538" y="127050"/>
                    <a:pt x="102538" y="127349"/>
                    <a:pt x="102597" y="127589"/>
                  </a:cubicBezTo>
                  <a:cubicBezTo>
                    <a:pt x="102717" y="127828"/>
                    <a:pt x="102897" y="128068"/>
                    <a:pt x="103196" y="128128"/>
                  </a:cubicBezTo>
                  <a:cubicBezTo>
                    <a:pt x="103556" y="128188"/>
                    <a:pt x="112540" y="130164"/>
                    <a:pt x="113857" y="139507"/>
                  </a:cubicBezTo>
                  <a:cubicBezTo>
                    <a:pt x="111462" y="139927"/>
                    <a:pt x="101819" y="140406"/>
                    <a:pt x="81036" y="140406"/>
                  </a:cubicBezTo>
                  <a:cubicBezTo>
                    <a:pt x="44741" y="140406"/>
                    <a:pt x="6888" y="139148"/>
                    <a:pt x="3235" y="137830"/>
                  </a:cubicBezTo>
                  <a:cubicBezTo>
                    <a:pt x="2875" y="134596"/>
                    <a:pt x="2217" y="106087"/>
                    <a:pt x="1977" y="75003"/>
                  </a:cubicBezTo>
                  <a:cubicBezTo>
                    <a:pt x="1678" y="31281"/>
                    <a:pt x="2336" y="13492"/>
                    <a:pt x="3055" y="11396"/>
                  </a:cubicBezTo>
                  <a:cubicBezTo>
                    <a:pt x="4133" y="11037"/>
                    <a:pt x="9583" y="10618"/>
                    <a:pt x="30846" y="10498"/>
                  </a:cubicBezTo>
                  <a:close/>
                  <a:moveTo>
                    <a:pt x="108534" y="1"/>
                  </a:moveTo>
                  <a:cubicBezTo>
                    <a:pt x="108492" y="1"/>
                    <a:pt x="108450" y="6"/>
                    <a:pt x="108407" y="17"/>
                  </a:cubicBezTo>
                  <a:lnTo>
                    <a:pt x="30846" y="2532"/>
                  </a:lnTo>
                  <a:cubicBezTo>
                    <a:pt x="30666" y="2532"/>
                    <a:pt x="30426" y="2592"/>
                    <a:pt x="30307" y="2772"/>
                  </a:cubicBezTo>
                  <a:cubicBezTo>
                    <a:pt x="30187" y="2951"/>
                    <a:pt x="30127" y="3131"/>
                    <a:pt x="30127" y="3371"/>
                  </a:cubicBezTo>
                  <a:lnTo>
                    <a:pt x="30666" y="9000"/>
                  </a:lnTo>
                  <a:cubicBezTo>
                    <a:pt x="3295" y="9180"/>
                    <a:pt x="2516" y="9839"/>
                    <a:pt x="2037" y="10198"/>
                  </a:cubicBezTo>
                  <a:cubicBezTo>
                    <a:pt x="1558" y="10558"/>
                    <a:pt x="1" y="11935"/>
                    <a:pt x="420" y="74404"/>
                  </a:cubicBezTo>
                  <a:cubicBezTo>
                    <a:pt x="659" y="103392"/>
                    <a:pt x="1258" y="136992"/>
                    <a:pt x="1797" y="138549"/>
                  </a:cubicBezTo>
                  <a:cubicBezTo>
                    <a:pt x="2037" y="139328"/>
                    <a:pt x="2336" y="140286"/>
                    <a:pt x="29648" y="141184"/>
                  </a:cubicBezTo>
                  <a:cubicBezTo>
                    <a:pt x="44861" y="141664"/>
                    <a:pt x="64086" y="141903"/>
                    <a:pt x="81036" y="141903"/>
                  </a:cubicBezTo>
                  <a:cubicBezTo>
                    <a:pt x="95231" y="141903"/>
                    <a:pt x="112480" y="141723"/>
                    <a:pt x="114995" y="140765"/>
                  </a:cubicBezTo>
                  <a:lnTo>
                    <a:pt x="115055" y="140765"/>
                  </a:lnTo>
                  <a:cubicBezTo>
                    <a:pt x="115115" y="140765"/>
                    <a:pt x="115175" y="140645"/>
                    <a:pt x="115295" y="140585"/>
                  </a:cubicBezTo>
                  <a:cubicBezTo>
                    <a:pt x="115295" y="140526"/>
                    <a:pt x="115355" y="140466"/>
                    <a:pt x="115415" y="140346"/>
                  </a:cubicBezTo>
                  <a:cubicBezTo>
                    <a:pt x="115534" y="139927"/>
                    <a:pt x="128471" y="98361"/>
                    <a:pt x="130867" y="46494"/>
                  </a:cubicBezTo>
                  <a:cubicBezTo>
                    <a:pt x="131466" y="39426"/>
                    <a:pt x="131706" y="33377"/>
                    <a:pt x="131226" y="30502"/>
                  </a:cubicBezTo>
                  <a:cubicBezTo>
                    <a:pt x="131706" y="23794"/>
                    <a:pt x="131586" y="16966"/>
                    <a:pt x="130747" y="10258"/>
                  </a:cubicBezTo>
                  <a:cubicBezTo>
                    <a:pt x="130687" y="9899"/>
                    <a:pt x="130388" y="9599"/>
                    <a:pt x="130029" y="9599"/>
                  </a:cubicBezTo>
                  <a:cubicBezTo>
                    <a:pt x="129789" y="9599"/>
                    <a:pt x="121045" y="9480"/>
                    <a:pt x="108108" y="9360"/>
                  </a:cubicBezTo>
                  <a:lnTo>
                    <a:pt x="109246" y="855"/>
                  </a:lnTo>
                  <a:cubicBezTo>
                    <a:pt x="109246" y="615"/>
                    <a:pt x="109186" y="436"/>
                    <a:pt x="109006" y="256"/>
                  </a:cubicBezTo>
                  <a:cubicBezTo>
                    <a:pt x="108907" y="108"/>
                    <a:pt x="108728" y="1"/>
                    <a:pt x="108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8;p41">
              <a:extLst>
                <a:ext uri="{FF2B5EF4-FFF2-40B4-BE49-F238E27FC236}">
                  <a16:creationId xmlns:a16="http://schemas.microsoft.com/office/drawing/2014/main" xmlns="" id="{E52C448A-EACD-486E-B140-4B81F323EBF5}"/>
                </a:ext>
              </a:extLst>
            </p:cNvPr>
            <p:cNvSpPr/>
            <p:nvPr/>
          </p:nvSpPr>
          <p:spPr>
            <a:xfrm>
              <a:off x="984914" y="2258001"/>
              <a:ext cx="114347" cy="110002"/>
            </a:xfrm>
            <a:custGeom>
              <a:avLst/>
              <a:gdLst/>
              <a:ahLst/>
              <a:cxnLst/>
              <a:rect l="l" t="t" r="r" b="b"/>
              <a:pathLst>
                <a:path w="4852" h="4703" extrusionOk="0">
                  <a:moveTo>
                    <a:pt x="3983" y="1"/>
                  </a:moveTo>
                  <a:cubicBezTo>
                    <a:pt x="3774" y="1"/>
                    <a:pt x="3564" y="91"/>
                    <a:pt x="3414" y="270"/>
                  </a:cubicBezTo>
                  <a:lnTo>
                    <a:pt x="300" y="3385"/>
                  </a:lnTo>
                  <a:cubicBezTo>
                    <a:pt x="1" y="3684"/>
                    <a:pt x="1" y="4163"/>
                    <a:pt x="300" y="4463"/>
                  </a:cubicBezTo>
                  <a:cubicBezTo>
                    <a:pt x="480" y="4583"/>
                    <a:pt x="659" y="4702"/>
                    <a:pt x="839" y="4702"/>
                  </a:cubicBezTo>
                  <a:cubicBezTo>
                    <a:pt x="1079" y="4702"/>
                    <a:pt x="1258" y="4583"/>
                    <a:pt x="1438" y="4463"/>
                  </a:cubicBezTo>
                  <a:lnTo>
                    <a:pt x="4552" y="1348"/>
                  </a:lnTo>
                  <a:cubicBezTo>
                    <a:pt x="4852" y="1049"/>
                    <a:pt x="4852" y="570"/>
                    <a:pt x="4552" y="270"/>
                  </a:cubicBezTo>
                  <a:cubicBezTo>
                    <a:pt x="4403" y="91"/>
                    <a:pt x="4193" y="1"/>
                    <a:pt x="3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9;p41">
              <a:extLst>
                <a:ext uri="{FF2B5EF4-FFF2-40B4-BE49-F238E27FC236}">
                  <a16:creationId xmlns:a16="http://schemas.microsoft.com/office/drawing/2014/main" xmlns="" id="{7BAE4936-5BEA-4AA6-A6C3-45C46A3B1F0D}"/>
                </a:ext>
              </a:extLst>
            </p:cNvPr>
            <p:cNvSpPr/>
            <p:nvPr/>
          </p:nvSpPr>
          <p:spPr>
            <a:xfrm>
              <a:off x="948221" y="2367418"/>
              <a:ext cx="179274" cy="164477"/>
            </a:xfrm>
            <a:custGeom>
              <a:avLst/>
              <a:gdLst/>
              <a:ahLst/>
              <a:cxnLst/>
              <a:rect l="l" t="t" r="r" b="b"/>
              <a:pathLst>
                <a:path w="7607" h="7032" extrusionOk="0">
                  <a:moveTo>
                    <a:pt x="6699" y="0"/>
                  </a:moveTo>
                  <a:cubicBezTo>
                    <a:pt x="6536" y="0"/>
                    <a:pt x="6373" y="48"/>
                    <a:pt x="6229" y="144"/>
                  </a:cubicBezTo>
                  <a:cubicBezTo>
                    <a:pt x="4552" y="1402"/>
                    <a:pt x="3055" y="2779"/>
                    <a:pt x="1617" y="4337"/>
                  </a:cubicBezTo>
                  <a:cubicBezTo>
                    <a:pt x="1198" y="4816"/>
                    <a:pt x="779" y="5235"/>
                    <a:pt x="300" y="5654"/>
                  </a:cubicBezTo>
                  <a:cubicBezTo>
                    <a:pt x="0" y="5954"/>
                    <a:pt x="0" y="6493"/>
                    <a:pt x="300" y="6792"/>
                  </a:cubicBezTo>
                  <a:cubicBezTo>
                    <a:pt x="479" y="6912"/>
                    <a:pt x="659" y="7032"/>
                    <a:pt x="839" y="7032"/>
                  </a:cubicBezTo>
                  <a:cubicBezTo>
                    <a:pt x="1078" y="7032"/>
                    <a:pt x="1258" y="6912"/>
                    <a:pt x="1438" y="6792"/>
                  </a:cubicBezTo>
                  <a:cubicBezTo>
                    <a:pt x="1857" y="6313"/>
                    <a:pt x="2276" y="5894"/>
                    <a:pt x="2755" y="5415"/>
                  </a:cubicBezTo>
                  <a:cubicBezTo>
                    <a:pt x="4073" y="3917"/>
                    <a:pt x="5570" y="2600"/>
                    <a:pt x="7128" y="1402"/>
                  </a:cubicBezTo>
                  <a:cubicBezTo>
                    <a:pt x="7487" y="1162"/>
                    <a:pt x="7607" y="683"/>
                    <a:pt x="7367" y="324"/>
                  </a:cubicBezTo>
                  <a:cubicBezTo>
                    <a:pt x="7187" y="108"/>
                    <a:pt x="6943" y="0"/>
                    <a:pt x="6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20;p41">
              <a:extLst>
                <a:ext uri="{FF2B5EF4-FFF2-40B4-BE49-F238E27FC236}">
                  <a16:creationId xmlns:a16="http://schemas.microsoft.com/office/drawing/2014/main" xmlns="" id="{1D09F82E-C40D-432A-A2E0-64B4A64E240A}"/>
                </a:ext>
              </a:extLst>
            </p:cNvPr>
            <p:cNvSpPr/>
            <p:nvPr/>
          </p:nvSpPr>
          <p:spPr>
            <a:xfrm>
              <a:off x="1178282" y="2331187"/>
              <a:ext cx="128487" cy="91454"/>
            </a:xfrm>
            <a:custGeom>
              <a:avLst/>
              <a:gdLst/>
              <a:ahLst/>
              <a:cxnLst/>
              <a:rect l="l" t="t" r="r" b="b"/>
              <a:pathLst>
                <a:path w="5452" h="3910" extrusionOk="0">
                  <a:moveTo>
                    <a:pt x="4354" y="0"/>
                  </a:moveTo>
                  <a:cubicBezTo>
                    <a:pt x="4248" y="0"/>
                    <a:pt x="4134" y="24"/>
                    <a:pt x="4014" y="76"/>
                  </a:cubicBezTo>
                  <a:cubicBezTo>
                    <a:pt x="2636" y="615"/>
                    <a:pt x="1378" y="1454"/>
                    <a:pt x="300" y="2592"/>
                  </a:cubicBezTo>
                  <a:cubicBezTo>
                    <a:pt x="1" y="2891"/>
                    <a:pt x="1" y="3370"/>
                    <a:pt x="300" y="3670"/>
                  </a:cubicBezTo>
                  <a:cubicBezTo>
                    <a:pt x="420" y="3789"/>
                    <a:pt x="600" y="3909"/>
                    <a:pt x="839" y="3909"/>
                  </a:cubicBezTo>
                  <a:cubicBezTo>
                    <a:pt x="1019" y="3909"/>
                    <a:pt x="1259" y="3789"/>
                    <a:pt x="1378" y="3670"/>
                  </a:cubicBezTo>
                  <a:cubicBezTo>
                    <a:pt x="2277" y="2711"/>
                    <a:pt x="3415" y="1993"/>
                    <a:pt x="4613" y="1514"/>
                  </a:cubicBezTo>
                  <a:cubicBezTo>
                    <a:pt x="5451" y="1147"/>
                    <a:pt x="5097" y="0"/>
                    <a:pt x="4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21;p41">
              <a:extLst>
                <a:ext uri="{FF2B5EF4-FFF2-40B4-BE49-F238E27FC236}">
                  <a16:creationId xmlns:a16="http://schemas.microsoft.com/office/drawing/2014/main" xmlns="" id="{F30EABDB-E596-4423-9605-562D09E1408A}"/>
                </a:ext>
              </a:extLst>
            </p:cNvPr>
            <p:cNvSpPr/>
            <p:nvPr/>
          </p:nvSpPr>
          <p:spPr>
            <a:xfrm>
              <a:off x="2955377" y="2121661"/>
              <a:ext cx="165276" cy="127264"/>
            </a:xfrm>
            <a:custGeom>
              <a:avLst/>
              <a:gdLst/>
              <a:ahLst/>
              <a:cxnLst/>
              <a:rect l="l" t="t" r="r" b="b"/>
              <a:pathLst>
                <a:path w="7013" h="5441" extrusionOk="0">
                  <a:moveTo>
                    <a:pt x="5904" y="1"/>
                  </a:moveTo>
                  <a:cubicBezTo>
                    <a:pt x="5731" y="1"/>
                    <a:pt x="5552" y="69"/>
                    <a:pt x="5391" y="230"/>
                  </a:cubicBezTo>
                  <a:cubicBezTo>
                    <a:pt x="4672" y="829"/>
                    <a:pt x="3893" y="1428"/>
                    <a:pt x="3115" y="1967"/>
                  </a:cubicBezTo>
                  <a:cubicBezTo>
                    <a:pt x="2097" y="2566"/>
                    <a:pt x="1138" y="3284"/>
                    <a:pt x="300" y="4123"/>
                  </a:cubicBezTo>
                  <a:cubicBezTo>
                    <a:pt x="0" y="4422"/>
                    <a:pt x="0" y="4901"/>
                    <a:pt x="300" y="5201"/>
                  </a:cubicBezTo>
                  <a:cubicBezTo>
                    <a:pt x="479" y="5381"/>
                    <a:pt x="659" y="5441"/>
                    <a:pt x="839" y="5441"/>
                  </a:cubicBezTo>
                  <a:cubicBezTo>
                    <a:pt x="1078" y="5441"/>
                    <a:pt x="1258" y="5381"/>
                    <a:pt x="1438" y="5201"/>
                  </a:cubicBezTo>
                  <a:cubicBezTo>
                    <a:pt x="2156" y="4422"/>
                    <a:pt x="3055" y="3763"/>
                    <a:pt x="3953" y="3224"/>
                  </a:cubicBezTo>
                  <a:cubicBezTo>
                    <a:pt x="4792" y="2626"/>
                    <a:pt x="5630" y="2027"/>
                    <a:pt x="6409" y="1368"/>
                  </a:cubicBezTo>
                  <a:cubicBezTo>
                    <a:pt x="7013" y="810"/>
                    <a:pt x="6500" y="1"/>
                    <a:pt x="5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22;p41">
              <a:extLst>
                <a:ext uri="{FF2B5EF4-FFF2-40B4-BE49-F238E27FC236}">
                  <a16:creationId xmlns:a16="http://schemas.microsoft.com/office/drawing/2014/main" xmlns="" id="{D44CAE99-4493-4289-87B1-518FB812AE66}"/>
                </a:ext>
              </a:extLst>
            </p:cNvPr>
            <p:cNvSpPr/>
            <p:nvPr/>
          </p:nvSpPr>
          <p:spPr>
            <a:xfrm>
              <a:off x="3077996" y="2111463"/>
              <a:ext cx="145173" cy="110961"/>
            </a:xfrm>
            <a:custGeom>
              <a:avLst/>
              <a:gdLst/>
              <a:ahLst/>
              <a:cxnLst/>
              <a:rect l="l" t="t" r="r" b="b"/>
              <a:pathLst>
                <a:path w="6160" h="4744" extrusionOk="0">
                  <a:moveTo>
                    <a:pt x="5045" y="0"/>
                  </a:moveTo>
                  <a:cubicBezTo>
                    <a:pt x="4911" y="0"/>
                    <a:pt x="4767" y="38"/>
                    <a:pt x="4620" y="127"/>
                  </a:cubicBezTo>
                  <a:cubicBezTo>
                    <a:pt x="3122" y="1025"/>
                    <a:pt x="1745" y="2163"/>
                    <a:pt x="547" y="3421"/>
                  </a:cubicBezTo>
                  <a:cubicBezTo>
                    <a:pt x="0" y="4013"/>
                    <a:pt x="562" y="4744"/>
                    <a:pt x="1153" y="4744"/>
                  </a:cubicBezTo>
                  <a:cubicBezTo>
                    <a:pt x="1338" y="4744"/>
                    <a:pt x="1527" y="4671"/>
                    <a:pt x="1685" y="4499"/>
                  </a:cubicBezTo>
                  <a:cubicBezTo>
                    <a:pt x="2763" y="3301"/>
                    <a:pt x="4021" y="2283"/>
                    <a:pt x="5458" y="1504"/>
                  </a:cubicBezTo>
                  <a:cubicBezTo>
                    <a:pt x="6159" y="1003"/>
                    <a:pt x="5730" y="0"/>
                    <a:pt x="5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23;p41">
              <a:extLst>
                <a:ext uri="{FF2B5EF4-FFF2-40B4-BE49-F238E27FC236}">
                  <a16:creationId xmlns:a16="http://schemas.microsoft.com/office/drawing/2014/main" xmlns="" id="{B9A8CE03-C818-48B1-A799-312ED719792A}"/>
                </a:ext>
              </a:extLst>
            </p:cNvPr>
            <p:cNvSpPr/>
            <p:nvPr/>
          </p:nvSpPr>
          <p:spPr>
            <a:xfrm>
              <a:off x="2753525" y="2112609"/>
              <a:ext cx="225866" cy="182534"/>
            </a:xfrm>
            <a:custGeom>
              <a:avLst/>
              <a:gdLst/>
              <a:ahLst/>
              <a:cxnLst/>
              <a:rect l="l" t="t" r="r" b="b"/>
              <a:pathLst>
                <a:path w="9584" h="7804" extrusionOk="0">
                  <a:moveTo>
                    <a:pt x="8693" y="1"/>
                  </a:moveTo>
                  <a:cubicBezTo>
                    <a:pt x="8470" y="1"/>
                    <a:pt x="8251" y="93"/>
                    <a:pt x="8086" y="257"/>
                  </a:cubicBezTo>
                  <a:cubicBezTo>
                    <a:pt x="7008" y="1395"/>
                    <a:pt x="5750" y="2354"/>
                    <a:pt x="4373" y="3192"/>
                  </a:cubicBezTo>
                  <a:cubicBezTo>
                    <a:pt x="2875" y="4091"/>
                    <a:pt x="1498" y="5229"/>
                    <a:pt x="300" y="6546"/>
                  </a:cubicBezTo>
                  <a:cubicBezTo>
                    <a:pt x="1" y="6846"/>
                    <a:pt x="1" y="7325"/>
                    <a:pt x="360" y="7624"/>
                  </a:cubicBezTo>
                  <a:cubicBezTo>
                    <a:pt x="540" y="7744"/>
                    <a:pt x="659" y="7804"/>
                    <a:pt x="899" y="7804"/>
                  </a:cubicBezTo>
                  <a:cubicBezTo>
                    <a:pt x="1079" y="7804"/>
                    <a:pt x="1318" y="7684"/>
                    <a:pt x="1498" y="7505"/>
                  </a:cubicBezTo>
                  <a:cubicBezTo>
                    <a:pt x="2576" y="6307"/>
                    <a:pt x="3834" y="5348"/>
                    <a:pt x="5211" y="4510"/>
                  </a:cubicBezTo>
                  <a:cubicBezTo>
                    <a:pt x="6709" y="3611"/>
                    <a:pt x="8026" y="2533"/>
                    <a:pt x="9284" y="1336"/>
                  </a:cubicBezTo>
                  <a:cubicBezTo>
                    <a:pt x="9583" y="976"/>
                    <a:pt x="9524" y="497"/>
                    <a:pt x="9224" y="198"/>
                  </a:cubicBezTo>
                  <a:cubicBezTo>
                    <a:pt x="9062" y="63"/>
                    <a:pt x="8876" y="1"/>
                    <a:pt x="8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24;p41">
              <a:extLst>
                <a:ext uri="{FF2B5EF4-FFF2-40B4-BE49-F238E27FC236}">
                  <a16:creationId xmlns:a16="http://schemas.microsoft.com/office/drawing/2014/main" xmlns="" id="{221843B7-9DD9-4B31-9ED1-F1F28CD421C8}"/>
                </a:ext>
              </a:extLst>
            </p:cNvPr>
            <p:cNvSpPr/>
            <p:nvPr/>
          </p:nvSpPr>
          <p:spPr>
            <a:xfrm>
              <a:off x="3357996" y="4796406"/>
              <a:ext cx="170460" cy="92390"/>
            </a:xfrm>
            <a:custGeom>
              <a:avLst/>
              <a:gdLst/>
              <a:ahLst/>
              <a:cxnLst/>
              <a:rect l="l" t="t" r="r" b="b"/>
              <a:pathLst>
                <a:path w="7233" h="3950" extrusionOk="0">
                  <a:moveTo>
                    <a:pt x="6372" y="0"/>
                  </a:moveTo>
                  <a:cubicBezTo>
                    <a:pt x="6301" y="0"/>
                    <a:pt x="6228" y="10"/>
                    <a:pt x="6155" y="31"/>
                  </a:cubicBezTo>
                  <a:cubicBezTo>
                    <a:pt x="4478" y="570"/>
                    <a:pt x="2861" y="1289"/>
                    <a:pt x="1423" y="2187"/>
                  </a:cubicBezTo>
                  <a:lnTo>
                    <a:pt x="944" y="2427"/>
                  </a:lnTo>
                  <a:cubicBezTo>
                    <a:pt x="1" y="2649"/>
                    <a:pt x="240" y="3950"/>
                    <a:pt x="1090" y="3950"/>
                  </a:cubicBezTo>
                  <a:cubicBezTo>
                    <a:pt x="1157" y="3950"/>
                    <a:pt x="1229" y="3942"/>
                    <a:pt x="1303" y="3924"/>
                  </a:cubicBezTo>
                  <a:cubicBezTo>
                    <a:pt x="1423" y="3924"/>
                    <a:pt x="1543" y="3864"/>
                    <a:pt x="1663" y="3804"/>
                  </a:cubicBezTo>
                  <a:lnTo>
                    <a:pt x="2142" y="3565"/>
                  </a:lnTo>
                  <a:cubicBezTo>
                    <a:pt x="3520" y="2726"/>
                    <a:pt x="5017" y="2067"/>
                    <a:pt x="6574" y="1588"/>
                  </a:cubicBezTo>
                  <a:cubicBezTo>
                    <a:pt x="6993" y="1468"/>
                    <a:pt x="7233" y="989"/>
                    <a:pt x="7113" y="570"/>
                  </a:cubicBezTo>
                  <a:cubicBezTo>
                    <a:pt x="7014" y="224"/>
                    <a:pt x="6711" y="0"/>
                    <a:pt x="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25;p41">
              <a:extLst>
                <a:ext uri="{FF2B5EF4-FFF2-40B4-BE49-F238E27FC236}">
                  <a16:creationId xmlns:a16="http://schemas.microsoft.com/office/drawing/2014/main" xmlns="" id="{8823939E-536A-4BD3-8E25-218598930111}"/>
                </a:ext>
              </a:extLst>
            </p:cNvPr>
            <p:cNvSpPr/>
            <p:nvPr/>
          </p:nvSpPr>
          <p:spPr>
            <a:xfrm>
              <a:off x="3434753" y="4724155"/>
              <a:ext cx="121936" cy="63340"/>
            </a:xfrm>
            <a:custGeom>
              <a:avLst/>
              <a:gdLst/>
              <a:ahLst/>
              <a:cxnLst/>
              <a:rect l="l" t="t" r="r" b="b"/>
              <a:pathLst>
                <a:path w="5174" h="2708" extrusionOk="0">
                  <a:moveTo>
                    <a:pt x="4267" y="1"/>
                  </a:moveTo>
                  <a:cubicBezTo>
                    <a:pt x="4126" y="1"/>
                    <a:pt x="3983" y="40"/>
                    <a:pt x="3856" y="125"/>
                  </a:cubicBezTo>
                  <a:cubicBezTo>
                    <a:pt x="2958" y="604"/>
                    <a:pt x="1999" y="964"/>
                    <a:pt x="981" y="1203"/>
                  </a:cubicBezTo>
                  <a:cubicBezTo>
                    <a:pt x="1" y="1261"/>
                    <a:pt x="76" y="2707"/>
                    <a:pt x="1045" y="2707"/>
                  </a:cubicBezTo>
                  <a:cubicBezTo>
                    <a:pt x="1082" y="2707"/>
                    <a:pt x="1121" y="2705"/>
                    <a:pt x="1161" y="2701"/>
                  </a:cubicBezTo>
                  <a:lnTo>
                    <a:pt x="1281" y="2701"/>
                  </a:lnTo>
                  <a:cubicBezTo>
                    <a:pt x="2479" y="2461"/>
                    <a:pt x="3617" y="2042"/>
                    <a:pt x="4635" y="1443"/>
                  </a:cubicBezTo>
                  <a:cubicBezTo>
                    <a:pt x="5054" y="1263"/>
                    <a:pt x="5174" y="724"/>
                    <a:pt x="4934" y="365"/>
                  </a:cubicBezTo>
                  <a:cubicBezTo>
                    <a:pt x="4779" y="133"/>
                    <a:pt x="4525" y="1"/>
                    <a:pt x="4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30;p41">
              <a:extLst>
                <a:ext uri="{FF2B5EF4-FFF2-40B4-BE49-F238E27FC236}">
                  <a16:creationId xmlns:a16="http://schemas.microsoft.com/office/drawing/2014/main" xmlns="" id="{C6BDBF25-D0F4-4CB7-AA73-67B99C03B644}"/>
                </a:ext>
              </a:extLst>
            </p:cNvPr>
            <p:cNvSpPr/>
            <p:nvPr/>
          </p:nvSpPr>
          <p:spPr>
            <a:xfrm>
              <a:off x="9726581" y="1644740"/>
              <a:ext cx="131897" cy="108289"/>
            </a:xfrm>
            <a:custGeom>
              <a:avLst/>
              <a:gdLst/>
              <a:ahLst/>
              <a:cxnLst/>
              <a:rect l="l" t="t" r="r" b="b"/>
              <a:pathLst>
                <a:path w="3442" h="2830" extrusionOk="0">
                  <a:moveTo>
                    <a:pt x="2902" y="0"/>
                  </a:moveTo>
                  <a:cubicBezTo>
                    <a:pt x="2802" y="0"/>
                    <a:pt x="2699" y="38"/>
                    <a:pt x="2608" y="113"/>
                  </a:cubicBezTo>
                  <a:cubicBezTo>
                    <a:pt x="2174" y="439"/>
                    <a:pt x="1666" y="838"/>
                    <a:pt x="1232" y="1200"/>
                  </a:cubicBezTo>
                  <a:cubicBezTo>
                    <a:pt x="906" y="1490"/>
                    <a:pt x="580" y="1743"/>
                    <a:pt x="254" y="1997"/>
                  </a:cubicBezTo>
                  <a:cubicBezTo>
                    <a:pt x="36" y="2142"/>
                    <a:pt x="0" y="2432"/>
                    <a:pt x="145" y="2649"/>
                  </a:cubicBezTo>
                  <a:cubicBezTo>
                    <a:pt x="254" y="2758"/>
                    <a:pt x="362" y="2830"/>
                    <a:pt x="507" y="2830"/>
                  </a:cubicBezTo>
                  <a:cubicBezTo>
                    <a:pt x="616" y="2830"/>
                    <a:pt x="725" y="2794"/>
                    <a:pt x="797" y="2721"/>
                  </a:cubicBezTo>
                  <a:cubicBezTo>
                    <a:pt x="1123" y="2504"/>
                    <a:pt x="1449" y="2214"/>
                    <a:pt x="1811" y="1924"/>
                  </a:cubicBezTo>
                  <a:cubicBezTo>
                    <a:pt x="2246" y="1562"/>
                    <a:pt x="2717" y="1200"/>
                    <a:pt x="3151" y="874"/>
                  </a:cubicBezTo>
                  <a:cubicBezTo>
                    <a:pt x="3369" y="729"/>
                    <a:pt x="3441" y="403"/>
                    <a:pt x="3260" y="222"/>
                  </a:cubicBezTo>
                  <a:cubicBezTo>
                    <a:pt x="3176" y="74"/>
                    <a:pt x="3042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31;p41">
              <a:extLst>
                <a:ext uri="{FF2B5EF4-FFF2-40B4-BE49-F238E27FC236}">
                  <a16:creationId xmlns:a16="http://schemas.microsoft.com/office/drawing/2014/main" xmlns="" id="{8CD6FD86-083F-431F-AF28-045D71A0FD16}"/>
                </a:ext>
              </a:extLst>
            </p:cNvPr>
            <p:cNvSpPr/>
            <p:nvPr/>
          </p:nvSpPr>
          <p:spPr>
            <a:xfrm>
              <a:off x="8491258" y="4452568"/>
              <a:ext cx="2667880" cy="333055"/>
            </a:xfrm>
            <a:custGeom>
              <a:avLst/>
              <a:gdLst/>
              <a:ahLst/>
              <a:cxnLst/>
              <a:rect l="l" t="t" r="r" b="b"/>
              <a:pathLst>
                <a:path w="69621" h="8704" extrusionOk="0">
                  <a:moveTo>
                    <a:pt x="68963" y="1"/>
                  </a:moveTo>
                  <a:cubicBezTo>
                    <a:pt x="68838" y="1"/>
                    <a:pt x="68709" y="56"/>
                    <a:pt x="68603" y="191"/>
                  </a:cubicBezTo>
                  <a:cubicBezTo>
                    <a:pt x="68096" y="771"/>
                    <a:pt x="67589" y="1278"/>
                    <a:pt x="67010" y="1821"/>
                  </a:cubicBezTo>
                  <a:cubicBezTo>
                    <a:pt x="66539" y="2256"/>
                    <a:pt x="66032" y="2727"/>
                    <a:pt x="65561" y="3234"/>
                  </a:cubicBezTo>
                  <a:cubicBezTo>
                    <a:pt x="65380" y="3415"/>
                    <a:pt x="65380" y="3704"/>
                    <a:pt x="65597" y="3886"/>
                  </a:cubicBezTo>
                  <a:cubicBezTo>
                    <a:pt x="65670" y="3958"/>
                    <a:pt x="65814" y="3994"/>
                    <a:pt x="65923" y="3994"/>
                  </a:cubicBezTo>
                  <a:cubicBezTo>
                    <a:pt x="66032" y="3994"/>
                    <a:pt x="66177" y="3958"/>
                    <a:pt x="66249" y="3849"/>
                  </a:cubicBezTo>
                  <a:cubicBezTo>
                    <a:pt x="66684" y="3415"/>
                    <a:pt x="67191" y="2944"/>
                    <a:pt x="67662" y="2509"/>
                  </a:cubicBezTo>
                  <a:cubicBezTo>
                    <a:pt x="68241" y="1966"/>
                    <a:pt x="68821" y="1386"/>
                    <a:pt x="69328" y="771"/>
                  </a:cubicBezTo>
                  <a:cubicBezTo>
                    <a:pt x="69620" y="425"/>
                    <a:pt x="69308" y="1"/>
                    <a:pt x="68963" y="1"/>
                  </a:cubicBezTo>
                  <a:close/>
                  <a:moveTo>
                    <a:pt x="65670" y="481"/>
                  </a:moveTo>
                  <a:cubicBezTo>
                    <a:pt x="64329" y="481"/>
                    <a:pt x="61214" y="4393"/>
                    <a:pt x="60599" y="5407"/>
                  </a:cubicBezTo>
                  <a:cubicBezTo>
                    <a:pt x="60417" y="5624"/>
                    <a:pt x="60490" y="5914"/>
                    <a:pt x="60743" y="6059"/>
                  </a:cubicBezTo>
                  <a:cubicBezTo>
                    <a:pt x="60816" y="6095"/>
                    <a:pt x="60888" y="6131"/>
                    <a:pt x="60961" y="6131"/>
                  </a:cubicBezTo>
                  <a:cubicBezTo>
                    <a:pt x="61142" y="6131"/>
                    <a:pt x="61287" y="6059"/>
                    <a:pt x="61359" y="5914"/>
                  </a:cubicBezTo>
                  <a:cubicBezTo>
                    <a:pt x="62373" y="4320"/>
                    <a:pt x="65054" y="1459"/>
                    <a:pt x="65670" y="1423"/>
                  </a:cubicBezTo>
                  <a:cubicBezTo>
                    <a:pt x="66285" y="1423"/>
                    <a:pt x="66285" y="481"/>
                    <a:pt x="65670" y="481"/>
                  </a:cubicBezTo>
                  <a:close/>
                  <a:moveTo>
                    <a:pt x="2877" y="4720"/>
                  </a:moveTo>
                  <a:cubicBezTo>
                    <a:pt x="2764" y="4720"/>
                    <a:pt x="2645" y="4763"/>
                    <a:pt x="2536" y="4864"/>
                  </a:cubicBezTo>
                  <a:cubicBezTo>
                    <a:pt x="1956" y="5479"/>
                    <a:pt x="1377" y="6168"/>
                    <a:pt x="906" y="6892"/>
                  </a:cubicBezTo>
                  <a:cubicBezTo>
                    <a:pt x="652" y="7254"/>
                    <a:pt x="435" y="7616"/>
                    <a:pt x="145" y="7942"/>
                  </a:cubicBezTo>
                  <a:cubicBezTo>
                    <a:pt x="0" y="8160"/>
                    <a:pt x="36" y="8449"/>
                    <a:pt x="254" y="8631"/>
                  </a:cubicBezTo>
                  <a:cubicBezTo>
                    <a:pt x="326" y="8667"/>
                    <a:pt x="435" y="8703"/>
                    <a:pt x="507" y="8703"/>
                  </a:cubicBezTo>
                  <a:cubicBezTo>
                    <a:pt x="688" y="8703"/>
                    <a:pt x="797" y="8667"/>
                    <a:pt x="906" y="8522"/>
                  </a:cubicBezTo>
                  <a:cubicBezTo>
                    <a:pt x="1159" y="8196"/>
                    <a:pt x="1449" y="7797"/>
                    <a:pt x="1703" y="7435"/>
                  </a:cubicBezTo>
                  <a:cubicBezTo>
                    <a:pt x="2137" y="6747"/>
                    <a:pt x="2644" y="6131"/>
                    <a:pt x="3224" y="5516"/>
                  </a:cubicBezTo>
                  <a:cubicBezTo>
                    <a:pt x="3558" y="5182"/>
                    <a:pt x="3251" y="4720"/>
                    <a:pt x="2877" y="4720"/>
                  </a:cubicBezTo>
                  <a:close/>
                </a:path>
              </a:pathLst>
            </a:custGeom>
            <a:solidFill>
              <a:srgbClr val="213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32;p41">
              <a:extLst>
                <a:ext uri="{FF2B5EF4-FFF2-40B4-BE49-F238E27FC236}">
                  <a16:creationId xmlns:a16="http://schemas.microsoft.com/office/drawing/2014/main" xmlns="" id="{87770706-3916-4342-8423-ECE63E1C21EC}"/>
                </a:ext>
              </a:extLst>
            </p:cNvPr>
            <p:cNvSpPr/>
            <p:nvPr/>
          </p:nvSpPr>
          <p:spPr>
            <a:xfrm>
              <a:off x="8302493" y="1377537"/>
              <a:ext cx="3103616" cy="3541135"/>
            </a:xfrm>
            <a:custGeom>
              <a:avLst/>
              <a:gdLst/>
              <a:ahLst/>
              <a:cxnLst/>
              <a:rect l="l" t="t" r="r" b="b"/>
              <a:pathLst>
                <a:path w="80992" h="92543" extrusionOk="0">
                  <a:moveTo>
                    <a:pt x="38286" y="939"/>
                  </a:moveTo>
                  <a:cubicBezTo>
                    <a:pt x="38395" y="975"/>
                    <a:pt x="38503" y="1011"/>
                    <a:pt x="38576" y="1084"/>
                  </a:cubicBezTo>
                  <a:cubicBezTo>
                    <a:pt x="39409" y="1663"/>
                    <a:pt x="40206" y="2315"/>
                    <a:pt x="40894" y="3040"/>
                  </a:cubicBezTo>
                  <a:cubicBezTo>
                    <a:pt x="40982" y="3127"/>
                    <a:pt x="41109" y="3175"/>
                    <a:pt x="41237" y="3175"/>
                  </a:cubicBezTo>
                  <a:cubicBezTo>
                    <a:pt x="41319" y="3175"/>
                    <a:pt x="41402" y="3155"/>
                    <a:pt x="41474" y="3112"/>
                  </a:cubicBezTo>
                  <a:cubicBezTo>
                    <a:pt x="42234" y="2714"/>
                    <a:pt x="43031" y="2315"/>
                    <a:pt x="43828" y="1989"/>
                  </a:cubicBezTo>
                  <a:cubicBezTo>
                    <a:pt x="44009" y="1881"/>
                    <a:pt x="44190" y="1844"/>
                    <a:pt x="44371" y="1844"/>
                  </a:cubicBezTo>
                  <a:cubicBezTo>
                    <a:pt x="44589" y="1844"/>
                    <a:pt x="44806" y="1953"/>
                    <a:pt x="44987" y="2098"/>
                  </a:cubicBezTo>
                  <a:cubicBezTo>
                    <a:pt x="45494" y="2424"/>
                    <a:pt x="45929" y="2931"/>
                    <a:pt x="46219" y="3510"/>
                  </a:cubicBezTo>
                  <a:cubicBezTo>
                    <a:pt x="46298" y="3670"/>
                    <a:pt x="46455" y="3770"/>
                    <a:pt x="46633" y="3770"/>
                  </a:cubicBezTo>
                  <a:cubicBezTo>
                    <a:pt x="46698" y="3770"/>
                    <a:pt x="46766" y="3757"/>
                    <a:pt x="46834" y="3728"/>
                  </a:cubicBezTo>
                  <a:lnTo>
                    <a:pt x="49877" y="2532"/>
                  </a:lnTo>
                  <a:lnTo>
                    <a:pt x="49877" y="2532"/>
                  </a:lnTo>
                  <a:cubicBezTo>
                    <a:pt x="49442" y="5177"/>
                    <a:pt x="49189" y="7821"/>
                    <a:pt x="49152" y="10501"/>
                  </a:cubicBezTo>
                  <a:cubicBezTo>
                    <a:pt x="49008" y="14232"/>
                    <a:pt x="48863" y="18071"/>
                    <a:pt x="47595" y="21694"/>
                  </a:cubicBezTo>
                  <a:cubicBezTo>
                    <a:pt x="47052" y="21186"/>
                    <a:pt x="46508" y="20752"/>
                    <a:pt x="45893" y="20390"/>
                  </a:cubicBezTo>
                  <a:cubicBezTo>
                    <a:pt x="45675" y="20208"/>
                    <a:pt x="45422" y="20136"/>
                    <a:pt x="45168" y="20100"/>
                  </a:cubicBezTo>
                  <a:lnTo>
                    <a:pt x="45096" y="20100"/>
                  </a:lnTo>
                  <a:cubicBezTo>
                    <a:pt x="44842" y="20136"/>
                    <a:pt x="44589" y="20245"/>
                    <a:pt x="44371" y="20462"/>
                  </a:cubicBezTo>
                  <a:lnTo>
                    <a:pt x="43430" y="21295"/>
                  </a:lnTo>
                  <a:cubicBezTo>
                    <a:pt x="43246" y="21494"/>
                    <a:pt x="42997" y="21590"/>
                    <a:pt x="42749" y="21590"/>
                  </a:cubicBezTo>
                  <a:cubicBezTo>
                    <a:pt x="42411" y="21590"/>
                    <a:pt x="42075" y="21412"/>
                    <a:pt x="41908" y="21078"/>
                  </a:cubicBezTo>
                  <a:lnTo>
                    <a:pt x="41800" y="20897"/>
                  </a:lnTo>
                  <a:cubicBezTo>
                    <a:pt x="41510" y="20390"/>
                    <a:pt x="41039" y="20027"/>
                    <a:pt x="40496" y="19846"/>
                  </a:cubicBezTo>
                  <a:cubicBezTo>
                    <a:pt x="40314" y="19774"/>
                    <a:pt x="40097" y="19738"/>
                    <a:pt x="39916" y="19738"/>
                  </a:cubicBezTo>
                  <a:cubicBezTo>
                    <a:pt x="39300" y="19774"/>
                    <a:pt x="38721" y="19955"/>
                    <a:pt x="38214" y="20208"/>
                  </a:cubicBezTo>
                  <a:lnTo>
                    <a:pt x="35533" y="21331"/>
                  </a:lnTo>
                  <a:cubicBezTo>
                    <a:pt x="34773" y="20788"/>
                    <a:pt x="34012" y="20136"/>
                    <a:pt x="33360" y="19448"/>
                  </a:cubicBezTo>
                  <a:cubicBezTo>
                    <a:pt x="33276" y="19342"/>
                    <a:pt x="33142" y="19286"/>
                    <a:pt x="33009" y="19286"/>
                  </a:cubicBezTo>
                  <a:cubicBezTo>
                    <a:pt x="32914" y="19286"/>
                    <a:pt x="32820" y="19315"/>
                    <a:pt x="32744" y="19375"/>
                  </a:cubicBezTo>
                  <a:lnTo>
                    <a:pt x="31875" y="20027"/>
                  </a:lnTo>
                  <a:cubicBezTo>
                    <a:pt x="32020" y="13978"/>
                    <a:pt x="32636" y="7966"/>
                    <a:pt x="33795" y="2025"/>
                  </a:cubicBezTo>
                  <a:lnTo>
                    <a:pt x="35497" y="2750"/>
                  </a:lnTo>
                  <a:cubicBezTo>
                    <a:pt x="35557" y="2786"/>
                    <a:pt x="35622" y="2802"/>
                    <a:pt x="35686" y="2802"/>
                  </a:cubicBezTo>
                  <a:cubicBezTo>
                    <a:pt x="35815" y="2802"/>
                    <a:pt x="35944" y="2738"/>
                    <a:pt x="36040" y="2641"/>
                  </a:cubicBezTo>
                  <a:cubicBezTo>
                    <a:pt x="36620" y="2025"/>
                    <a:pt x="37272" y="1482"/>
                    <a:pt x="37996" y="1047"/>
                  </a:cubicBezTo>
                  <a:cubicBezTo>
                    <a:pt x="38069" y="1011"/>
                    <a:pt x="38177" y="939"/>
                    <a:pt x="38286" y="939"/>
                  </a:cubicBezTo>
                  <a:close/>
                  <a:moveTo>
                    <a:pt x="14090" y="12892"/>
                  </a:moveTo>
                  <a:cubicBezTo>
                    <a:pt x="19089" y="12892"/>
                    <a:pt x="25065" y="12928"/>
                    <a:pt x="31295" y="12964"/>
                  </a:cubicBezTo>
                  <a:cubicBezTo>
                    <a:pt x="31078" y="15645"/>
                    <a:pt x="30969" y="18289"/>
                    <a:pt x="30933" y="20969"/>
                  </a:cubicBezTo>
                  <a:cubicBezTo>
                    <a:pt x="30933" y="21114"/>
                    <a:pt x="31006" y="21295"/>
                    <a:pt x="31187" y="21368"/>
                  </a:cubicBezTo>
                  <a:cubicBezTo>
                    <a:pt x="31252" y="21400"/>
                    <a:pt x="31332" y="21418"/>
                    <a:pt x="31410" y="21418"/>
                  </a:cubicBezTo>
                  <a:cubicBezTo>
                    <a:pt x="31505" y="21418"/>
                    <a:pt x="31598" y="21391"/>
                    <a:pt x="31658" y="21331"/>
                  </a:cubicBezTo>
                  <a:lnTo>
                    <a:pt x="32962" y="20390"/>
                  </a:lnTo>
                  <a:cubicBezTo>
                    <a:pt x="33650" y="21078"/>
                    <a:pt x="34410" y="21694"/>
                    <a:pt x="35244" y="22237"/>
                  </a:cubicBezTo>
                  <a:cubicBezTo>
                    <a:pt x="35312" y="22306"/>
                    <a:pt x="35410" y="22331"/>
                    <a:pt x="35510" y="22331"/>
                  </a:cubicBezTo>
                  <a:cubicBezTo>
                    <a:pt x="35567" y="22331"/>
                    <a:pt x="35625" y="22323"/>
                    <a:pt x="35678" y="22309"/>
                  </a:cubicBezTo>
                  <a:lnTo>
                    <a:pt x="38576" y="21042"/>
                  </a:lnTo>
                  <a:cubicBezTo>
                    <a:pt x="38979" y="20840"/>
                    <a:pt x="39429" y="20730"/>
                    <a:pt x="39888" y="20730"/>
                  </a:cubicBezTo>
                  <a:cubicBezTo>
                    <a:pt x="40005" y="20730"/>
                    <a:pt x="40124" y="20737"/>
                    <a:pt x="40242" y="20752"/>
                  </a:cubicBezTo>
                  <a:cubicBezTo>
                    <a:pt x="40568" y="20824"/>
                    <a:pt x="40749" y="21078"/>
                    <a:pt x="41003" y="21440"/>
                  </a:cubicBezTo>
                  <a:lnTo>
                    <a:pt x="41184" y="21657"/>
                  </a:lnTo>
                  <a:cubicBezTo>
                    <a:pt x="41546" y="22164"/>
                    <a:pt x="42162" y="22490"/>
                    <a:pt x="42814" y="22527"/>
                  </a:cubicBezTo>
                  <a:cubicBezTo>
                    <a:pt x="42959" y="22527"/>
                    <a:pt x="43067" y="22490"/>
                    <a:pt x="43212" y="22490"/>
                  </a:cubicBezTo>
                  <a:cubicBezTo>
                    <a:pt x="43502" y="22382"/>
                    <a:pt x="43792" y="22201"/>
                    <a:pt x="44045" y="21983"/>
                  </a:cubicBezTo>
                  <a:lnTo>
                    <a:pt x="44987" y="21186"/>
                  </a:lnTo>
                  <a:cubicBezTo>
                    <a:pt x="45023" y="21150"/>
                    <a:pt x="45096" y="21078"/>
                    <a:pt x="45132" y="21078"/>
                  </a:cubicBezTo>
                  <a:cubicBezTo>
                    <a:pt x="45204" y="21078"/>
                    <a:pt x="45277" y="21114"/>
                    <a:pt x="45349" y="21186"/>
                  </a:cubicBezTo>
                  <a:cubicBezTo>
                    <a:pt x="46110" y="21657"/>
                    <a:pt x="46798" y="22237"/>
                    <a:pt x="47450" y="22853"/>
                  </a:cubicBezTo>
                  <a:cubicBezTo>
                    <a:pt x="47523" y="22925"/>
                    <a:pt x="47667" y="22997"/>
                    <a:pt x="47776" y="22997"/>
                  </a:cubicBezTo>
                  <a:lnTo>
                    <a:pt x="47885" y="22997"/>
                  </a:lnTo>
                  <a:cubicBezTo>
                    <a:pt x="48030" y="22961"/>
                    <a:pt x="48175" y="22853"/>
                    <a:pt x="48211" y="22708"/>
                  </a:cubicBezTo>
                  <a:cubicBezTo>
                    <a:pt x="49442" y="19593"/>
                    <a:pt x="49804" y="16369"/>
                    <a:pt x="49986" y="13182"/>
                  </a:cubicBezTo>
                  <a:cubicBezTo>
                    <a:pt x="64112" y="13363"/>
                    <a:pt x="76391" y="13544"/>
                    <a:pt x="78782" y="13580"/>
                  </a:cubicBezTo>
                  <a:cubicBezTo>
                    <a:pt x="79941" y="26982"/>
                    <a:pt x="77369" y="83559"/>
                    <a:pt x="77188" y="88087"/>
                  </a:cubicBezTo>
                  <a:cubicBezTo>
                    <a:pt x="72044" y="90369"/>
                    <a:pt x="57157" y="91637"/>
                    <a:pt x="36149" y="91637"/>
                  </a:cubicBezTo>
                  <a:cubicBezTo>
                    <a:pt x="18799" y="91637"/>
                    <a:pt x="3441" y="90695"/>
                    <a:pt x="2137" y="89934"/>
                  </a:cubicBezTo>
                  <a:cubicBezTo>
                    <a:pt x="725" y="87508"/>
                    <a:pt x="1304" y="42847"/>
                    <a:pt x="2029" y="13037"/>
                  </a:cubicBezTo>
                  <a:cubicBezTo>
                    <a:pt x="4274" y="12928"/>
                    <a:pt x="8331" y="12892"/>
                    <a:pt x="14090" y="12892"/>
                  </a:cubicBezTo>
                  <a:close/>
                  <a:moveTo>
                    <a:pt x="38269" y="0"/>
                  </a:moveTo>
                  <a:cubicBezTo>
                    <a:pt x="37999" y="0"/>
                    <a:pt x="37725" y="82"/>
                    <a:pt x="37489" y="251"/>
                  </a:cubicBezTo>
                  <a:cubicBezTo>
                    <a:pt x="36801" y="685"/>
                    <a:pt x="36149" y="1192"/>
                    <a:pt x="35569" y="1772"/>
                  </a:cubicBezTo>
                  <a:lnTo>
                    <a:pt x="33650" y="866"/>
                  </a:lnTo>
                  <a:cubicBezTo>
                    <a:pt x="33577" y="830"/>
                    <a:pt x="33505" y="812"/>
                    <a:pt x="33432" y="812"/>
                  </a:cubicBezTo>
                  <a:cubicBezTo>
                    <a:pt x="33360" y="812"/>
                    <a:pt x="33288" y="830"/>
                    <a:pt x="33215" y="866"/>
                  </a:cubicBezTo>
                  <a:cubicBezTo>
                    <a:pt x="33106" y="939"/>
                    <a:pt x="32998" y="1047"/>
                    <a:pt x="32998" y="1192"/>
                  </a:cubicBezTo>
                  <a:cubicBezTo>
                    <a:pt x="32273" y="4778"/>
                    <a:pt x="31730" y="8364"/>
                    <a:pt x="31404" y="12022"/>
                  </a:cubicBezTo>
                  <a:cubicBezTo>
                    <a:pt x="25102" y="11950"/>
                    <a:pt x="19125" y="11914"/>
                    <a:pt x="14090" y="11914"/>
                  </a:cubicBezTo>
                  <a:cubicBezTo>
                    <a:pt x="7933" y="11914"/>
                    <a:pt x="3695" y="11986"/>
                    <a:pt x="1521" y="12059"/>
                  </a:cubicBezTo>
                  <a:cubicBezTo>
                    <a:pt x="1268" y="12095"/>
                    <a:pt x="1087" y="12276"/>
                    <a:pt x="1051" y="12530"/>
                  </a:cubicBezTo>
                  <a:cubicBezTo>
                    <a:pt x="1051" y="12711"/>
                    <a:pt x="616" y="31691"/>
                    <a:pt x="399" y="50671"/>
                  </a:cubicBezTo>
                  <a:cubicBezTo>
                    <a:pt x="0" y="89282"/>
                    <a:pt x="1051" y="90188"/>
                    <a:pt x="1485" y="90586"/>
                  </a:cubicBezTo>
                  <a:cubicBezTo>
                    <a:pt x="2862" y="91782"/>
                    <a:pt x="20501" y="92542"/>
                    <a:pt x="36149" y="92542"/>
                  </a:cubicBezTo>
                  <a:cubicBezTo>
                    <a:pt x="46291" y="92542"/>
                    <a:pt x="70740" y="92180"/>
                    <a:pt x="77840" y="88811"/>
                  </a:cubicBezTo>
                  <a:cubicBezTo>
                    <a:pt x="77985" y="88739"/>
                    <a:pt x="78093" y="88558"/>
                    <a:pt x="78093" y="88413"/>
                  </a:cubicBezTo>
                  <a:cubicBezTo>
                    <a:pt x="78130" y="87761"/>
                    <a:pt x="80991" y="26185"/>
                    <a:pt x="79687" y="13037"/>
                  </a:cubicBezTo>
                  <a:cubicBezTo>
                    <a:pt x="79651" y="12819"/>
                    <a:pt x="79470" y="12638"/>
                    <a:pt x="79216" y="12602"/>
                  </a:cubicBezTo>
                  <a:cubicBezTo>
                    <a:pt x="78999" y="12602"/>
                    <a:pt x="65669" y="12421"/>
                    <a:pt x="50022" y="12204"/>
                  </a:cubicBezTo>
                  <a:cubicBezTo>
                    <a:pt x="50058" y="11660"/>
                    <a:pt x="50058" y="11117"/>
                    <a:pt x="50094" y="10537"/>
                  </a:cubicBezTo>
                  <a:cubicBezTo>
                    <a:pt x="50203" y="7676"/>
                    <a:pt x="50312" y="4706"/>
                    <a:pt x="50927" y="1881"/>
                  </a:cubicBezTo>
                  <a:cubicBezTo>
                    <a:pt x="51013" y="1565"/>
                    <a:pt x="50782" y="1318"/>
                    <a:pt x="50520" y="1318"/>
                  </a:cubicBezTo>
                  <a:cubicBezTo>
                    <a:pt x="50451" y="1318"/>
                    <a:pt x="50380" y="1336"/>
                    <a:pt x="50312" y="1373"/>
                  </a:cubicBezTo>
                  <a:lnTo>
                    <a:pt x="46834" y="2714"/>
                  </a:lnTo>
                  <a:cubicBezTo>
                    <a:pt x="46508" y="2170"/>
                    <a:pt x="46037" y="1699"/>
                    <a:pt x="45530" y="1337"/>
                  </a:cubicBezTo>
                  <a:cubicBezTo>
                    <a:pt x="45168" y="1047"/>
                    <a:pt x="44770" y="903"/>
                    <a:pt x="44371" y="903"/>
                  </a:cubicBezTo>
                  <a:cubicBezTo>
                    <a:pt x="44045" y="903"/>
                    <a:pt x="43719" y="975"/>
                    <a:pt x="43466" y="1120"/>
                  </a:cubicBezTo>
                  <a:cubicBezTo>
                    <a:pt x="42705" y="1446"/>
                    <a:pt x="42017" y="1772"/>
                    <a:pt x="41329" y="2134"/>
                  </a:cubicBezTo>
                  <a:cubicBezTo>
                    <a:pt x="40640" y="1482"/>
                    <a:pt x="39916" y="866"/>
                    <a:pt x="39119" y="323"/>
                  </a:cubicBezTo>
                  <a:cubicBezTo>
                    <a:pt x="38886" y="110"/>
                    <a:pt x="38581" y="0"/>
                    <a:pt x="38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  </a:t>
              </a:r>
              <a:endParaRPr/>
            </a:p>
          </p:txBody>
        </p:sp>
        <p:sp>
          <p:nvSpPr>
            <p:cNvPr id="14" name="Google Shape;1633;p41">
              <a:extLst>
                <a:ext uri="{FF2B5EF4-FFF2-40B4-BE49-F238E27FC236}">
                  <a16:creationId xmlns:a16="http://schemas.microsoft.com/office/drawing/2014/main" xmlns="" id="{E748F113-808F-44EF-A35A-528F9499CAAB}"/>
                </a:ext>
              </a:extLst>
            </p:cNvPr>
            <p:cNvSpPr/>
            <p:nvPr/>
          </p:nvSpPr>
          <p:spPr>
            <a:xfrm>
              <a:off x="9715468" y="1626182"/>
              <a:ext cx="267933" cy="243862"/>
            </a:xfrm>
            <a:custGeom>
              <a:avLst/>
              <a:gdLst/>
              <a:ahLst/>
              <a:cxnLst/>
              <a:rect l="l" t="t" r="r" b="b"/>
              <a:pathLst>
                <a:path w="6992" h="6373" extrusionOk="0">
                  <a:moveTo>
                    <a:pt x="6448" y="1"/>
                  </a:moveTo>
                  <a:cubicBezTo>
                    <a:pt x="6330" y="1"/>
                    <a:pt x="6212" y="55"/>
                    <a:pt x="6122" y="164"/>
                  </a:cubicBezTo>
                  <a:cubicBezTo>
                    <a:pt x="4311" y="2011"/>
                    <a:pt x="2210" y="4148"/>
                    <a:pt x="326" y="5488"/>
                  </a:cubicBezTo>
                  <a:cubicBezTo>
                    <a:pt x="73" y="5633"/>
                    <a:pt x="0" y="5959"/>
                    <a:pt x="182" y="6176"/>
                  </a:cubicBezTo>
                  <a:cubicBezTo>
                    <a:pt x="269" y="6307"/>
                    <a:pt x="408" y="6372"/>
                    <a:pt x="552" y="6372"/>
                  </a:cubicBezTo>
                  <a:cubicBezTo>
                    <a:pt x="648" y="6372"/>
                    <a:pt x="747" y="6343"/>
                    <a:pt x="834" y="6285"/>
                  </a:cubicBezTo>
                  <a:cubicBezTo>
                    <a:pt x="2826" y="4872"/>
                    <a:pt x="4963" y="2735"/>
                    <a:pt x="6774" y="816"/>
                  </a:cubicBezTo>
                  <a:cubicBezTo>
                    <a:pt x="6991" y="635"/>
                    <a:pt x="6991" y="345"/>
                    <a:pt x="6774" y="164"/>
                  </a:cubicBezTo>
                  <a:cubicBezTo>
                    <a:pt x="6683" y="55"/>
                    <a:pt x="6566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34;p41">
              <a:extLst>
                <a:ext uri="{FF2B5EF4-FFF2-40B4-BE49-F238E27FC236}">
                  <a16:creationId xmlns:a16="http://schemas.microsoft.com/office/drawing/2014/main" xmlns="" id="{4EE3CC85-7B56-4DF2-8CD7-97F288533627}"/>
                </a:ext>
              </a:extLst>
            </p:cNvPr>
            <p:cNvSpPr/>
            <p:nvPr/>
          </p:nvSpPr>
          <p:spPr>
            <a:xfrm>
              <a:off x="9883848" y="1725248"/>
              <a:ext cx="109251" cy="91605"/>
            </a:xfrm>
            <a:custGeom>
              <a:avLst/>
              <a:gdLst/>
              <a:ahLst/>
              <a:cxnLst/>
              <a:rect l="l" t="t" r="r" b="b"/>
              <a:pathLst>
                <a:path w="2851" h="2394" extrusionOk="0">
                  <a:moveTo>
                    <a:pt x="2320" y="0"/>
                  </a:moveTo>
                  <a:cubicBezTo>
                    <a:pt x="2232" y="0"/>
                    <a:pt x="2141" y="24"/>
                    <a:pt x="2054" y="74"/>
                  </a:cubicBezTo>
                  <a:cubicBezTo>
                    <a:pt x="1366" y="472"/>
                    <a:pt x="786" y="980"/>
                    <a:pt x="315" y="1595"/>
                  </a:cubicBezTo>
                  <a:cubicBezTo>
                    <a:pt x="0" y="1910"/>
                    <a:pt x="226" y="2394"/>
                    <a:pt x="634" y="2394"/>
                  </a:cubicBezTo>
                  <a:cubicBezTo>
                    <a:pt x="648" y="2394"/>
                    <a:pt x="663" y="2393"/>
                    <a:pt x="677" y="2392"/>
                  </a:cubicBezTo>
                  <a:cubicBezTo>
                    <a:pt x="822" y="2356"/>
                    <a:pt x="931" y="2320"/>
                    <a:pt x="1040" y="2211"/>
                  </a:cubicBezTo>
                  <a:cubicBezTo>
                    <a:pt x="1438" y="1668"/>
                    <a:pt x="1945" y="1233"/>
                    <a:pt x="2525" y="907"/>
                  </a:cubicBezTo>
                  <a:cubicBezTo>
                    <a:pt x="2778" y="798"/>
                    <a:pt x="2851" y="472"/>
                    <a:pt x="2742" y="255"/>
                  </a:cubicBezTo>
                  <a:cubicBezTo>
                    <a:pt x="2647" y="89"/>
                    <a:pt x="2489" y="0"/>
                    <a:pt x="2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35;p41">
              <a:extLst>
                <a:ext uri="{FF2B5EF4-FFF2-40B4-BE49-F238E27FC236}">
                  <a16:creationId xmlns:a16="http://schemas.microsoft.com/office/drawing/2014/main" xmlns="" id="{69C47B14-EECB-44DB-A40E-5812045D7260}"/>
                </a:ext>
              </a:extLst>
            </p:cNvPr>
            <p:cNvSpPr/>
            <p:nvPr/>
          </p:nvSpPr>
          <p:spPr>
            <a:xfrm>
              <a:off x="10806440" y="4470935"/>
              <a:ext cx="226280" cy="216272"/>
            </a:xfrm>
            <a:custGeom>
              <a:avLst/>
              <a:gdLst/>
              <a:ahLst/>
              <a:cxnLst/>
              <a:rect l="l" t="t" r="r" b="b"/>
              <a:pathLst>
                <a:path w="5905" h="5652" extrusionOk="0">
                  <a:moveTo>
                    <a:pt x="5253" y="1"/>
                  </a:moveTo>
                  <a:cubicBezTo>
                    <a:pt x="3912" y="1"/>
                    <a:pt x="797" y="3913"/>
                    <a:pt x="182" y="4927"/>
                  </a:cubicBezTo>
                  <a:cubicBezTo>
                    <a:pt x="0" y="5144"/>
                    <a:pt x="73" y="5434"/>
                    <a:pt x="326" y="5579"/>
                  </a:cubicBezTo>
                  <a:cubicBezTo>
                    <a:pt x="399" y="5615"/>
                    <a:pt x="471" y="5651"/>
                    <a:pt x="544" y="5651"/>
                  </a:cubicBezTo>
                  <a:cubicBezTo>
                    <a:pt x="725" y="5651"/>
                    <a:pt x="870" y="5579"/>
                    <a:pt x="942" y="5434"/>
                  </a:cubicBezTo>
                  <a:cubicBezTo>
                    <a:pt x="1956" y="3840"/>
                    <a:pt x="4637" y="979"/>
                    <a:pt x="5253" y="943"/>
                  </a:cubicBezTo>
                  <a:cubicBezTo>
                    <a:pt x="5904" y="943"/>
                    <a:pt x="5904" y="1"/>
                    <a:pt x="5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36;p41">
              <a:extLst>
                <a:ext uri="{FF2B5EF4-FFF2-40B4-BE49-F238E27FC236}">
                  <a16:creationId xmlns:a16="http://schemas.microsoft.com/office/drawing/2014/main" xmlns="" id="{2FA65DF8-617F-493E-825D-5879142AA40E}"/>
                </a:ext>
              </a:extLst>
            </p:cNvPr>
            <p:cNvSpPr/>
            <p:nvPr/>
          </p:nvSpPr>
          <p:spPr>
            <a:xfrm>
              <a:off x="10996583" y="4453218"/>
              <a:ext cx="164010" cy="153594"/>
            </a:xfrm>
            <a:custGeom>
              <a:avLst/>
              <a:gdLst/>
              <a:ahLst/>
              <a:cxnLst/>
              <a:rect l="l" t="t" r="r" b="b"/>
              <a:pathLst>
                <a:path w="4280" h="4014" extrusionOk="0">
                  <a:moveTo>
                    <a:pt x="3613" y="0"/>
                  </a:moveTo>
                  <a:cubicBezTo>
                    <a:pt x="3490" y="0"/>
                    <a:pt x="3364" y="51"/>
                    <a:pt x="3261" y="174"/>
                  </a:cubicBezTo>
                  <a:cubicBezTo>
                    <a:pt x="2754" y="754"/>
                    <a:pt x="2210" y="1297"/>
                    <a:pt x="1631" y="1804"/>
                  </a:cubicBezTo>
                  <a:cubicBezTo>
                    <a:pt x="1160" y="2239"/>
                    <a:pt x="653" y="2710"/>
                    <a:pt x="182" y="3217"/>
                  </a:cubicBezTo>
                  <a:cubicBezTo>
                    <a:pt x="1" y="3398"/>
                    <a:pt x="37" y="3687"/>
                    <a:pt x="254" y="3869"/>
                  </a:cubicBezTo>
                  <a:cubicBezTo>
                    <a:pt x="327" y="3941"/>
                    <a:pt x="435" y="4013"/>
                    <a:pt x="544" y="4013"/>
                  </a:cubicBezTo>
                  <a:cubicBezTo>
                    <a:pt x="689" y="4013"/>
                    <a:pt x="798" y="3941"/>
                    <a:pt x="906" y="3832"/>
                  </a:cubicBezTo>
                  <a:cubicBezTo>
                    <a:pt x="1341" y="3398"/>
                    <a:pt x="1812" y="2927"/>
                    <a:pt x="2283" y="2492"/>
                  </a:cubicBezTo>
                  <a:cubicBezTo>
                    <a:pt x="2898" y="1949"/>
                    <a:pt x="3442" y="1369"/>
                    <a:pt x="3985" y="790"/>
                  </a:cubicBezTo>
                  <a:cubicBezTo>
                    <a:pt x="4280" y="415"/>
                    <a:pt x="3960" y="0"/>
                    <a:pt x="3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37;p41">
              <a:extLst>
                <a:ext uri="{FF2B5EF4-FFF2-40B4-BE49-F238E27FC236}">
                  <a16:creationId xmlns:a16="http://schemas.microsoft.com/office/drawing/2014/main" xmlns="" id="{07376453-2772-41DB-ACF7-B4A5CCBFBF46}"/>
                </a:ext>
              </a:extLst>
            </p:cNvPr>
            <p:cNvSpPr/>
            <p:nvPr/>
          </p:nvSpPr>
          <p:spPr>
            <a:xfrm>
              <a:off x="10212364" y="2130970"/>
              <a:ext cx="113850" cy="134883"/>
            </a:xfrm>
            <a:custGeom>
              <a:avLst/>
              <a:gdLst/>
              <a:ahLst/>
              <a:cxnLst/>
              <a:rect l="l" t="t" r="r" b="b"/>
              <a:pathLst>
                <a:path w="2971" h="3525" extrusionOk="0">
                  <a:moveTo>
                    <a:pt x="2423" y="1"/>
                  </a:moveTo>
                  <a:cubicBezTo>
                    <a:pt x="2312" y="1"/>
                    <a:pt x="2199" y="38"/>
                    <a:pt x="2102" y="120"/>
                  </a:cubicBezTo>
                  <a:cubicBezTo>
                    <a:pt x="1558" y="663"/>
                    <a:pt x="1087" y="1243"/>
                    <a:pt x="725" y="1931"/>
                  </a:cubicBezTo>
                  <a:cubicBezTo>
                    <a:pt x="544" y="2257"/>
                    <a:pt x="363" y="2547"/>
                    <a:pt x="182" y="2800"/>
                  </a:cubicBezTo>
                  <a:cubicBezTo>
                    <a:pt x="1" y="2981"/>
                    <a:pt x="37" y="3307"/>
                    <a:pt x="254" y="3452"/>
                  </a:cubicBezTo>
                  <a:cubicBezTo>
                    <a:pt x="327" y="3489"/>
                    <a:pt x="435" y="3525"/>
                    <a:pt x="544" y="3525"/>
                  </a:cubicBezTo>
                  <a:cubicBezTo>
                    <a:pt x="689" y="3525"/>
                    <a:pt x="834" y="3452"/>
                    <a:pt x="906" y="3344"/>
                  </a:cubicBezTo>
                  <a:cubicBezTo>
                    <a:pt x="1124" y="3054"/>
                    <a:pt x="1341" y="2764"/>
                    <a:pt x="1522" y="2402"/>
                  </a:cubicBezTo>
                  <a:cubicBezTo>
                    <a:pt x="1848" y="1822"/>
                    <a:pt x="2246" y="1315"/>
                    <a:pt x="2717" y="844"/>
                  </a:cubicBezTo>
                  <a:cubicBezTo>
                    <a:pt x="2935" y="663"/>
                    <a:pt x="2971" y="374"/>
                    <a:pt x="2790" y="156"/>
                  </a:cubicBezTo>
                  <a:cubicBezTo>
                    <a:pt x="2690" y="57"/>
                    <a:pt x="2558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38;p41">
              <a:extLst>
                <a:ext uri="{FF2B5EF4-FFF2-40B4-BE49-F238E27FC236}">
                  <a16:creationId xmlns:a16="http://schemas.microsoft.com/office/drawing/2014/main" xmlns="" id="{BF78B849-4E91-47AB-B955-332209BDF1D4}"/>
                </a:ext>
              </a:extLst>
            </p:cNvPr>
            <p:cNvSpPr/>
            <p:nvPr/>
          </p:nvSpPr>
          <p:spPr>
            <a:xfrm>
              <a:off x="10369974" y="2112946"/>
              <a:ext cx="96797" cy="81082"/>
            </a:xfrm>
            <a:custGeom>
              <a:avLst/>
              <a:gdLst/>
              <a:ahLst/>
              <a:cxnLst/>
              <a:rect l="l" t="t" r="r" b="b"/>
              <a:pathLst>
                <a:path w="2526" h="2119" extrusionOk="0">
                  <a:moveTo>
                    <a:pt x="1813" y="0"/>
                  </a:moveTo>
                  <a:cubicBezTo>
                    <a:pt x="1710" y="0"/>
                    <a:pt x="1602" y="36"/>
                    <a:pt x="1502" y="120"/>
                  </a:cubicBezTo>
                  <a:cubicBezTo>
                    <a:pt x="1104" y="482"/>
                    <a:pt x="705" y="917"/>
                    <a:pt x="307" y="1315"/>
                  </a:cubicBezTo>
                  <a:cubicBezTo>
                    <a:pt x="1" y="1621"/>
                    <a:pt x="205" y="2119"/>
                    <a:pt x="591" y="2119"/>
                  </a:cubicBezTo>
                  <a:cubicBezTo>
                    <a:pt x="616" y="2119"/>
                    <a:pt x="642" y="2117"/>
                    <a:pt x="669" y="2112"/>
                  </a:cubicBezTo>
                  <a:cubicBezTo>
                    <a:pt x="778" y="2112"/>
                    <a:pt x="922" y="2076"/>
                    <a:pt x="995" y="1967"/>
                  </a:cubicBezTo>
                  <a:cubicBezTo>
                    <a:pt x="1357" y="1569"/>
                    <a:pt x="1756" y="1171"/>
                    <a:pt x="2154" y="808"/>
                  </a:cubicBezTo>
                  <a:cubicBezTo>
                    <a:pt x="2525" y="494"/>
                    <a:pt x="2199" y="0"/>
                    <a:pt x="18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39;p41">
              <a:extLst>
                <a:ext uri="{FF2B5EF4-FFF2-40B4-BE49-F238E27FC236}">
                  <a16:creationId xmlns:a16="http://schemas.microsoft.com/office/drawing/2014/main" xmlns="" id="{1C98DC0F-834D-4681-8F38-D388792447FE}"/>
                </a:ext>
              </a:extLst>
            </p:cNvPr>
            <p:cNvSpPr/>
            <p:nvPr/>
          </p:nvSpPr>
          <p:spPr>
            <a:xfrm>
              <a:off x="8491258" y="4633178"/>
              <a:ext cx="136343" cy="152446"/>
            </a:xfrm>
            <a:custGeom>
              <a:avLst/>
              <a:gdLst/>
              <a:ahLst/>
              <a:cxnLst/>
              <a:rect l="l" t="t" r="r" b="b"/>
              <a:pathLst>
                <a:path w="3558" h="3984" extrusionOk="0">
                  <a:moveTo>
                    <a:pt x="2894" y="0"/>
                  </a:moveTo>
                  <a:cubicBezTo>
                    <a:pt x="2786" y="0"/>
                    <a:pt x="2673" y="43"/>
                    <a:pt x="2572" y="144"/>
                  </a:cubicBezTo>
                  <a:cubicBezTo>
                    <a:pt x="1956" y="759"/>
                    <a:pt x="1377" y="1448"/>
                    <a:pt x="906" y="2172"/>
                  </a:cubicBezTo>
                  <a:cubicBezTo>
                    <a:pt x="688" y="2534"/>
                    <a:pt x="435" y="2896"/>
                    <a:pt x="145" y="3222"/>
                  </a:cubicBezTo>
                  <a:cubicBezTo>
                    <a:pt x="0" y="3440"/>
                    <a:pt x="36" y="3729"/>
                    <a:pt x="254" y="3911"/>
                  </a:cubicBezTo>
                  <a:cubicBezTo>
                    <a:pt x="326" y="3947"/>
                    <a:pt x="435" y="3983"/>
                    <a:pt x="544" y="3983"/>
                  </a:cubicBezTo>
                  <a:cubicBezTo>
                    <a:pt x="688" y="3983"/>
                    <a:pt x="797" y="3947"/>
                    <a:pt x="906" y="3802"/>
                  </a:cubicBezTo>
                  <a:cubicBezTo>
                    <a:pt x="1196" y="3476"/>
                    <a:pt x="1449" y="3077"/>
                    <a:pt x="1703" y="2715"/>
                  </a:cubicBezTo>
                  <a:cubicBezTo>
                    <a:pt x="2137" y="2027"/>
                    <a:pt x="2644" y="1411"/>
                    <a:pt x="3224" y="796"/>
                  </a:cubicBezTo>
                  <a:cubicBezTo>
                    <a:pt x="3558" y="462"/>
                    <a:pt x="3251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40;p41">
              <a:extLst>
                <a:ext uri="{FF2B5EF4-FFF2-40B4-BE49-F238E27FC236}">
                  <a16:creationId xmlns:a16="http://schemas.microsoft.com/office/drawing/2014/main" xmlns="" id="{4B613C84-E8F8-4555-98A8-4A93B854FAFA}"/>
                </a:ext>
              </a:extLst>
            </p:cNvPr>
            <p:cNvSpPr/>
            <p:nvPr/>
          </p:nvSpPr>
          <p:spPr>
            <a:xfrm>
              <a:off x="9523907" y="1412051"/>
              <a:ext cx="688496" cy="794224"/>
            </a:xfrm>
            <a:custGeom>
              <a:avLst/>
              <a:gdLst/>
              <a:ahLst/>
              <a:cxnLst/>
              <a:rect l="l" t="t" r="r" b="b"/>
              <a:pathLst>
                <a:path w="17967" h="20756" extrusionOk="0">
                  <a:moveTo>
                    <a:pt x="8175" y="6081"/>
                  </a:moveTo>
                  <a:cubicBezTo>
                    <a:pt x="8318" y="6081"/>
                    <a:pt x="8465" y="6155"/>
                    <a:pt x="8549" y="6303"/>
                  </a:cubicBezTo>
                  <a:cubicBezTo>
                    <a:pt x="8694" y="6484"/>
                    <a:pt x="8658" y="6810"/>
                    <a:pt x="8440" y="6955"/>
                  </a:cubicBezTo>
                  <a:cubicBezTo>
                    <a:pt x="7970" y="7281"/>
                    <a:pt x="7535" y="7643"/>
                    <a:pt x="7064" y="8005"/>
                  </a:cubicBezTo>
                  <a:cubicBezTo>
                    <a:pt x="6738" y="8295"/>
                    <a:pt x="6412" y="8585"/>
                    <a:pt x="6086" y="8802"/>
                  </a:cubicBezTo>
                  <a:cubicBezTo>
                    <a:pt x="5977" y="8875"/>
                    <a:pt x="5905" y="8911"/>
                    <a:pt x="5796" y="8911"/>
                  </a:cubicBezTo>
                  <a:cubicBezTo>
                    <a:pt x="5651" y="8911"/>
                    <a:pt x="5507" y="8839"/>
                    <a:pt x="5398" y="8730"/>
                  </a:cubicBezTo>
                  <a:cubicBezTo>
                    <a:pt x="5253" y="8513"/>
                    <a:pt x="5289" y="8223"/>
                    <a:pt x="5507" y="8078"/>
                  </a:cubicBezTo>
                  <a:cubicBezTo>
                    <a:pt x="5833" y="7824"/>
                    <a:pt x="6159" y="7571"/>
                    <a:pt x="6485" y="7281"/>
                  </a:cubicBezTo>
                  <a:cubicBezTo>
                    <a:pt x="6955" y="6919"/>
                    <a:pt x="7390" y="6520"/>
                    <a:pt x="7897" y="6194"/>
                  </a:cubicBezTo>
                  <a:cubicBezTo>
                    <a:pt x="7973" y="6119"/>
                    <a:pt x="8073" y="6081"/>
                    <a:pt x="8175" y="6081"/>
                  </a:cubicBezTo>
                  <a:close/>
                  <a:moveTo>
                    <a:pt x="11674" y="8193"/>
                  </a:moveTo>
                  <a:cubicBezTo>
                    <a:pt x="11847" y="8193"/>
                    <a:pt x="12024" y="8291"/>
                    <a:pt x="12099" y="8440"/>
                  </a:cubicBezTo>
                  <a:cubicBezTo>
                    <a:pt x="12244" y="8657"/>
                    <a:pt x="12135" y="8983"/>
                    <a:pt x="11918" y="9092"/>
                  </a:cubicBezTo>
                  <a:cubicBezTo>
                    <a:pt x="11338" y="9418"/>
                    <a:pt x="10831" y="9853"/>
                    <a:pt x="10396" y="10396"/>
                  </a:cubicBezTo>
                  <a:cubicBezTo>
                    <a:pt x="10324" y="10505"/>
                    <a:pt x="10179" y="10541"/>
                    <a:pt x="10034" y="10577"/>
                  </a:cubicBezTo>
                  <a:cubicBezTo>
                    <a:pt x="10019" y="10578"/>
                    <a:pt x="10005" y="10579"/>
                    <a:pt x="9991" y="10579"/>
                  </a:cubicBezTo>
                  <a:cubicBezTo>
                    <a:pt x="9585" y="10579"/>
                    <a:pt x="9392" y="10095"/>
                    <a:pt x="9672" y="9780"/>
                  </a:cubicBezTo>
                  <a:cubicBezTo>
                    <a:pt x="10179" y="9165"/>
                    <a:pt x="10759" y="8657"/>
                    <a:pt x="11447" y="8259"/>
                  </a:cubicBezTo>
                  <a:cubicBezTo>
                    <a:pt x="11515" y="8214"/>
                    <a:pt x="11594" y="8193"/>
                    <a:pt x="11674" y="8193"/>
                  </a:cubicBezTo>
                  <a:close/>
                  <a:moveTo>
                    <a:pt x="11447" y="5624"/>
                  </a:moveTo>
                  <a:cubicBezTo>
                    <a:pt x="11565" y="5624"/>
                    <a:pt x="11682" y="5669"/>
                    <a:pt x="11773" y="5760"/>
                  </a:cubicBezTo>
                  <a:cubicBezTo>
                    <a:pt x="11954" y="5941"/>
                    <a:pt x="11954" y="6267"/>
                    <a:pt x="11773" y="6448"/>
                  </a:cubicBezTo>
                  <a:cubicBezTo>
                    <a:pt x="9926" y="8331"/>
                    <a:pt x="7789" y="10468"/>
                    <a:pt x="5833" y="11881"/>
                  </a:cubicBezTo>
                  <a:cubicBezTo>
                    <a:pt x="5748" y="11952"/>
                    <a:pt x="5652" y="11984"/>
                    <a:pt x="5558" y="11984"/>
                  </a:cubicBezTo>
                  <a:cubicBezTo>
                    <a:pt x="5411" y="11984"/>
                    <a:pt x="5269" y="11905"/>
                    <a:pt x="5181" y="11772"/>
                  </a:cubicBezTo>
                  <a:cubicBezTo>
                    <a:pt x="4999" y="11591"/>
                    <a:pt x="5072" y="11265"/>
                    <a:pt x="5289" y="11120"/>
                  </a:cubicBezTo>
                  <a:cubicBezTo>
                    <a:pt x="7209" y="9744"/>
                    <a:pt x="9310" y="7643"/>
                    <a:pt x="11121" y="5760"/>
                  </a:cubicBezTo>
                  <a:cubicBezTo>
                    <a:pt x="11211" y="5669"/>
                    <a:pt x="11329" y="5624"/>
                    <a:pt x="11447" y="5624"/>
                  </a:cubicBezTo>
                  <a:close/>
                  <a:moveTo>
                    <a:pt x="6412" y="1"/>
                  </a:moveTo>
                  <a:cubicBezTo>
                    <a:pt x="6303" y="37"/>
                    <a:pt x="6195" y="73"/>
                    <a:pt x="6122" y="145"/>
                  </a:cubicBezTo>
                  <a:cubicBezTo>
                    <a:pt x="5398" y="580"/>
                    <a:pt x="4746" y="1123"/>
                    <a:pt x="4166" y="1739"/>
                  </a:cubicBezTo>
                  <a:cubicBezTo>
                    <a:pt x="4070" y="1836"/>
                    <a:pt x="3941" y="1884"/>
                    <a:pt x="3812" y="1884"/>
                  </a:cubicBezTo>
                  <a:cubicBezTo>
                    <a:pt x="3748" y="1884"/>
                    <a:pt x="3683" y="1872"/>
                    <a:pt x="3623" y="1848"/>
                  </a:cubicBezTo>
                  <a:lnTo>
                    <a:pt x="1921" y="1051"/>
                  </a:lnTo>
                  <a:cubicBezTo>
                    <a:pt x="762" y="6991"/>
                    <a:pt x="146" y="13040"/>
                    <a:pt x="1" y="19089"/>
                  </a:cubicBezTo>
                  <a:lnTo>
                    <a:pt x="870" y="18437"/>
                  </a:lnTo>
                  <a:cubicBezTo>
                    <a:pt x="946" y="18377"/>
                    <a:pt x="1040" y="18348"/>
                    <a:pt x="1135" y="18348"/>
                  </a:cubicBezTo>
                  <a:cubicBezTo>
                    <a:pt x="1268" y="18348"/>
                    <a:pt x="1402" y="18404"/>
                    <a:pt x="1486" y="18510"/>
                  </a:cubicBezTo>
                  <a:cubicBezTo>
                    <a:pt x="2138" y="19198"/>
                    <a:pt x="2899" y="19850"/>
                    <a:pt x="3659" y="20393"/>
                  </a:cubicBezTo>
                  <a:lnTo>
                    <a:pt x="6340" y="19270"/>
                  </a:lnTo>
                  <a:cubicBezTo>
                    <a:pt x="6847" y="19017"/>
                    <a:pt x="7426" y="18836"/>
                    <a:pt x="8042" y="18799"/>
                  </a:cubicBezTo>
                  <a:cubicBezTo>
                    <a:pt x="8223" y="18799"/>
                    <a:pt x="8440" y="18836"/>
                    <a:pt x="8622" y="18908"/>
                  </a:cubicBezTo>
                  <a:cubicBezTo>
                    <a:pt x="9165" y="19089"/>
                    <a:pt x="9636" y="19451"/>
                    <a:pt x="9926" y="19958"/>
                  </a:cubicBezTo>
                  <a:lnTo>
                    <a:pt x="10034" y="20140"/>
                  </a:lnTo>
                  <a:cubicBezTo>
                    <a:pt x="10201" y="20474"/>
                    <a:pt x="10537" y="20652"/>
                    <a:pt x="10875" y="20652"/>
                  </a:cubicBezTo>
                  <a:cubicBezTo>
                    <a:pt x="11123" y="20652"/>
                    <a:pt x="11372" y="20556"/>
                    <a:pt x="11556" y="20357"/>
                  </a:cubicBezTo>
                  <a:lnTo>
                    <a:pt x="12497" y="19524"/>
                  </a:lnTo>
                  <a:cubicBezTo>
                    <a:pt x="12678" y="19343"/>
                    <a:pt x="12932" y="19234"/>
                    <a:pt x="13222" y="19198"/>
                  </a:cubicBezTo>
                  <a:lnTo>
                    <a:pt x="13258" y="19198"/>
                  </a:lnTo>
                  <a:cubicBezTo>
                    <a:pt x="13548" y="19198"/>
                    <a:pt x="13801" y="19306"/>
                    <a:pt x="14019" y="19451"/>
                  </a:cubicBezTo>
                  <a:cubicBezTo>
                    <a:pt x="14598" y="19850"/>
                    <a:pt x="15178" y="20284"/>
                    <a:pt x="15721" y="20755"/>
                  </a:cubicBezTo>
                  <a:cubicBezTo>
                    <a:pt x="16989" y="17133"/>
                    <a:pt x="17134" y="13294"/>
                    <a:pt x="17278" y="9599"/>
                  </a:cubicBezTo>
                  <a:cubicBezTo>
                    <a:pt x="17315" y="6919"/>
                    <a:pt x="17532" y="4238"/>
                    <a:pt x="17967" y="1594"/>
                  </a:cubicBezTo>
                  <a:lnTo>
                    <a:pt x="17967" y="1594"/>
                  </a:lnTo>
                  <a:lnTo>
                    <a:pt x="14924" y="2826"/>
                  </a:lnTo>
                  <a:cubicBezTo>
                    <a:pt x="14867" y="2854"/>
                    <a:pt x="14806" y="2868"/>
                    <a:pt x="14743" y="2868"/>
                  </a:cubicBezTo>
                  <a:cubicBezTo>
                    <a:pt x="14568" y="2868"/>
                    <a:pt x="14389" y="2760"/>
                    <a:pt x="14308" y="2572"/>
                  </a:cubicBezTo>
                  <a:cubicBezTo>
                    <a:pt x="14055" y="1993"/>
                    <a:pt x="13620" y="1522"/>
                    <a:pt x="13077" y="1160"/>
                  </a:cubicBezTo>
                  <a:cubicBezTo>
                    <a:pt x="12932" y="1015"/>
                    <a:pt x="12715" y="942"/>
                    <a:pt x="12461" y="906"/>
                  </a:cubicBezTo>
                  <a:cubicBezTo>
                    <a:pt x="12280" y="942"/>
                    <a:pt x="12099" y="979"/>
                    <a:pt x="11954" y="1051"/>
                  </a:cubicBezTo>
                  <a:cubicBezTo>
                    <a:pt x="11121" y="1413"/>
                    <a:pt x="10360" y="1775"/>
                    <a:pt x="9600" y="2210"/>
                  </a:cubicBezTo>
                  <a:cubicBezTo>
                    <a:pt x="9532" y="2251"/>
                    <a:pt x="9454" y="2271"/>
                    <a:pt x="9375" y="2271"/>
                  </a:cubicBezTo>
                  <a:cubicBezTo>
                    <a:pt x="9244" y="2271"/>
                    <a:pt x="9111" y="2215"/>
                    <a:pt x="9020" y="2101"/>
                  </a:cubicBezTo>
                  <a:cubicBezTo>
                    <a:pt x="8332" y="1413"/>
                    <a:pt x="7535" y="761"/>
                    <a:pt x="6702" y="145"/>
                  </a:cubicBezTo>
                  <a:cubicBezTo>
                    <a:pt x="6629" y="73"/>
                    <a:pt x="6521" y="37"/>
                    <a:pt x="6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9DECED93-6263-45F0-AC34-8A8701D941A6}"/>
                </a:ext>
              </a:extLst>
            </p:cNvPr>
            <p:cNvSpPr txBox="1"/>
            <p:nvPr/>
          </p:nvSpPr>
          <p:spPr>
            <a:xfrm>
              <a:off x="837861" y="3137893"/>
              <a:ext cx="2798196" cy="94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7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IN" sz="2400" b="1" kern="0" dirty="0">
                  <a:effectLst/>
                  <a:ea typeface="Times New Roman" panose="02020603050405020304" pitchFamily="18" charset="0"/>
                  <a:cs typeface="Segoe UI Emoji" panose="020B0502040204020203" pitchFamily="34" charset="0"/>
                </a:rPr>
                <a:t>📝</a:t>
              </a:r>
              <a:r>
                <a:rPr lang="en-IN" sz="2400" b="1" kern="0" dirty="0">
                  <a:effectLst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</a:p>
            <a:p>
              <a:pPr algn="ctr">
                <a:lnSpc>
                  <a:spcPct val="107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IN" sz="2400" b="1" kern="0" dirty="0">
                  <a:effectLst/>
                  <a:ea typeface="Times New Roman" panose="02020603050405020304" pitchFamily="18" charset="0"/>
                  <a:cs typeface="Calibri" panose="020F0502020204030204" pitchFamily="34" charset="0"/>
                </a:rPr>
                <a:t>A. Paper Wallet</a:t>
              </a:r>
              <a:endPara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5570866A-4F61-4AA4-843B-D59205BCAC7A}"/>
                </a:ext>
              </a:extLst>
            </p:cNvPr>
            <p:cNvSpPr txBox="1"/>
            <p:nvPr/>
          </p:nvSpPr>
          <p:spPr>
            <a:xfrm>
              <a:off x="5109916" y="3641810"/>
              <a:ext cx="2262554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  <a:defRPr/>
              </a:pPr>
              <a:r>
                <a:rPr lang="en-IN" sz="2400" b="1" kern="0" dirty="0">
                  <a:effectLst/>
                  <a:ea typeface="Times New Roman" panose="02020603050405020304" pitchFamily="18" charset="0"/>
                  <a:cs typeface="Segoe UI Emoji" panose="020B0502040204020203" pitchFamily="34" charset="0"/>
                </a:rPr>
                <a:t>🧠</a:t>
              </a:r>
            </a:p>
            <a:p>
              <a:pPr algn="ctr">
                <a:spcBef>
                  <a:spcPts val="600"/>
                </a:spcBef>
                <a:defRPr/>
              </a:pPr>
              <a:r>
                <a:rPr lang="en-IN" sz="2400" b="1" kern="0" dirty="0">
                  <a:effectLst/>
                  <a:ea typeface="Times New Roman" panose="02020603050405020304" pitchFamily="18" charset="0"/>
                  <a:cs typeface="Calibri" panose="020F0502020204030204" pitchFamily="34" charset="0"/>
                </a:rPr>
                <a:t> B. Brain Wallet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" name="Google Shape;1628;p41">
              <a:extLst>
                <a:ext uri="{FF2B5EF4-FFF2-40B4-BE49-F238E27FC236}">
                  <a16:creationId xmlns:a16="http://schemas.microsoft.com/office/drawing/2014/main" xmlns="" id="{46775A17-252D-442A-A168-D376EB5F13D7}"/>
                </a:ext>
              </a:extLst>
            </p:cNvPr>
            <p:cNvSpPr txBox="1"/>
            <p:nvPr/>
          </p:nvSpPr>
          <p:spPr>
            <a:xfrm>
              <a:off x="8435317" y="3152898"/>
              <a:ext cx="2534368" cy="392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kern="0" dirty="0">
                  <a:effectLst/>
                  <a:ea typeface="Times New Roman" panose="02020603050405020304" pitchFamily="18" charset="0"/>
                  <a:cs typeface="Segoe UI Emoji" panose="020B0502040204020203" pitchFamily="34" charset="0"/>
                </a:rPr>
                <a:t>💾</a:t>
              </a:r>
              <a:r>
                <a:rPr lang="en-IN" sz="2400" b="1" kern="0" dirty="0">
                  <a:effectLst/>
                  <a:ea typeface="Times New Roman" panose="02020603050405020304" pitchFamily="18" charset="0"/>
                </a:rPr>
                <a:t>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kern="0" dirty="0">
                  <a:effectLst/>
                  <a:ea typeface="Times New Roman" panose="02020603050405020304" pitchFamily="18" charset="0"/>
                </a:rPr>
                <a:t>C. Hardware Wallet </a:t>
              </a:r>
              <a:endParaRPr sz="2400" b="1" dirty="0">
                <a:solidFill>
                  <a:schemeClr val="dk1"/>
                </a:solidFill>
                <a:ea typeface="Permanent Marker"/>
                <a:cs typeface="Permanent Marker"/>
                <a:sym typeface="Permanent Marker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91B53A-697E-36C7-A882-9355DC32EAD1}"/>
              </a:ext>
            </a:extLst>
          </p:cNvPr>
          <p:cNvSpPr txBox="1"/>
          <p:nvPr/>
        </p:nvSpPr>
        <p:spPr>
          <a:xfrm>
            <a:off x="325092" y="692218"/>
            <a:ext cx="115466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kern="0" dirty="0">
                <a:ea typeface="Times New Roman" panose="02020603050405020304" pitchFamily="18" charset="0"/>
              </a:rPr>
              <a:t>It </a:t>
            </a:r>
            <a:r>
              <a:rPr lang="en-IN" sz="2200" b="1" kern="0" dirty="0">
                <a:effectLst/>
                <a:ea typeface="Times New Roman" panose="02020603050405020304" pitchFamily="18" charset="0"/>
              </a:rPr>
              <a:t>refers to offline methods of storing cryptocurrency private keys — reducing exposure to online threats like hacking</a:t>
            </a:r>
            <a:r>
              <a:rPr lang="en-US" sz="2200" b="1" dirty="0"/>
              <a:t>:</a:t>
            </a:r>
            <a:endParaRPr lang="en-IN" sz="2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2291C4F-F5F9-E344-E117-23211F02E3E0}"/>
              </a:ext>
            </a:extLst>
          </p:cNvPr>
          <p:cNvSpPr txBox="1"/>
          <p:nvPr/>
        </p:nvSpPr>
        <p:spPr>
          <a:xfrm>
            <a:off x="309966" y="6250193"/>
            <a:ext cx="11685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tx2">
                    <a:lumMod val="50000"/>
                  </a:schemeClr>
                </a:solidFill>
              </a:rPr>
              <a:t>Let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 us explore each in details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494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FF4CAA1-2C1A-2BFE-D3BC-14C1B8197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92"/>
            <a:ext cx="12191999" cy="6741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8253E7E-2C32-9E75-17B0-112DBC1FEA26}"/>
              </a:ext>
            </a:extLst>
          </p:cNvPr>
          <p:cNvSpPr txBox="1"/>
          <p:nvPr/>
        </p:nvSpPr>
        <p:spPr>
          <a:xfrm>
            <a:off x="232475" y="1484881"/>
            <a:ext cx="10027403" cy="3657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it is: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printed copy of your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private and public keys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or a QR code on paper.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Example: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Like writing down your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bank password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and locking it in a physical safe.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Completely offline and immune to online attacks.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Easy to create using trusted tools.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 / Security Risks: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Fragile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Paper can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burn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fade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or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tear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Theft-prone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If someone finds it, they can steal your funds.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 backup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If lost or destroyed, your crypto is unrecoverable.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A51BCF1-F362-94C8-FC5B-AE975E876883}"/>
              </a:ext>
            </a:extLst>
          </p:cNvPr>
          <p:cNvSpPr txBox="1"/>
          <p:nvPr/>
        </p:nvSpPr>
        <p:spPr>
          <a:xfrm>
            <a:off x="2313123" y="399745"/>
            <a:ext cx="6207070" cy="7176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4000" b="1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📝</a:t>
            </a:r>
            <a:r>
              <a:rPr lang="en-IN" sz="4000" b="1" kern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A. Paper Wallet</a:t>
            </a:r>
            <a:endParaRPr lang="en-IN" sz="3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0002794-EFBA-0FDE-0566-DDC6E41ED06F}"/>
              </a:ext>
            </a:extLst>
          </p:cNvPr>
          <p:cNvSpPr/>
          <p:nvPr/>
        </p:nvSpPr>
        <p:spPr>
          <a:xfrm>
            <a:off x="8214102" y="2650210"/>
            <a:ext cx="3068665" cy="295231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8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BCC54EF-F164-978C-67F7-C88B9222B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5159"/>
            <a:ext cx="12192000" cy="3742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A7664B5-468F-DAB4-5E47-F18554ECE711}"/>
              </a:ext>
            </a:extLst>
          </p:cNvPr>
          <p:cNvSpPr txBox="1"/>
          <p:nvPr/>
        </p:nvSpPr>
        <p:spPr>
          <a:xfrm>
            <a:off x="464950" y="694866"/>
            <a:ext cx="11623727" cy="3580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it is: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memorize a passphrase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which is used to generate your wallet’s private key using a hashing algorithm.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Example: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Like remembering a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secret phrase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to unlock a treasure chest.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 physical object needed.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Always with you — just your brain.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 / Security Risks: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Very risky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if you choose a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simple or common phrase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— easily guessed or cracked.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Memory can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fail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— if you forget the phrase, your crypto is lost forever.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0A15CB-2D47-A24E-7064-037CF4BD7B9E}"/>
              </a:ext>
            </a:extLst>
          </p:cNvPr>
          <p:cNvSpPr txBox="1"/>
          <p:nvPr/>
        </p:nvSpPr>
        <p:spPr>
          <a:xfrm>
            <a:off x="2992465" y="115370"/>
            <a:ext cx="6207070" cy="592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3200" b="1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🧠</a:t>
            </a:r>
            <a:r>
              <a:rPr lang="en-IN" sz="3200" b="1" kern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B. Brain Wallet</a:t>
            </a:r>
            <a:endParaRPr lang="en-IN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24E97CB-CC7B-B2F9-1793-2A167CA8C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28" y="4275077"/>
            <a:ext cx="3735091" cy="261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FC3292-8C74-827A-59DB-78A6F1AC8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xmlns="" id="{5800DE49-FA68-91FF-481B-C216B625AFBA}"/>
              </a:ext>
            </a:extLst>
          </p:cNvPr>
          <p:cNvSpPr/>
          <p:nvPr/>
        </p:nvSpPr>
        <p:spPr>
          <a:xfrm>
            <a:off x="743919" y="1503337"/>
            <a:ext cx="3611105" cy="344062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B1707F9-573A-F254-DD06-ED6800DAC1E2}"/>
              </a:ext>
            </a:extLst>
          </p:cNvPr>
          <p:cNvSpPr txBox="1"/>
          <p:nvPr/>
        </p:nvSpPr>
        <p:spPr>
          <a:xfrm>
            <a:off x="4645616" y="612305"/>
            <a:ext cx="7546384" cy="464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it is: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USB-like physical device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(e.g., Ledger, </a:t>
            </a:r>
            <a:r>
              <a:rPr lang="en-IN" sz="20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Trezor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that securely stores private keys and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signs transactions internally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without exposing keys.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Example: 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Like a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biometric safe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that only opens for you — even if stolen, it’s hard to break into.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Pros / Security Benefits: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Highly secure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Keys never leave the device.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User-friendly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Designed for safety and ease of use.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Tamper-resistant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Built-in protections against physical hacking.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Cost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More expensive than other methods.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Still needs care: can be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lost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or </a:t>
            </a:r>
            <a:r>
              <a:rPr lang="en-IN" sz="2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damaged</a:t>
            </a:r>
            <a:r>
              <a:rPr lang="en-I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if not backed up.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4312F3C-9CA4-A30E-2185-F1AAE8BA4C7F}"/>
              </a:ext>
            </a:extLst>
          </p:cNvPr>
          <p:cNvSpPr txBox="1"/>
          <p:nvPr/>
        </p:nvSpPr>
        <p:spPr>
          <a:xfrm>
            <a:off x="151106" y="5530338"/>
            <a:ext cx="3413505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100" b="1" dirty="0">
                <a:solidFill>
                  <a:schemeClr val="bg1"/>
                </a:solidFill>
              </a:rPr>
              <a:t>C. Hardware Wallet </a:t>
            </a:r>
          </a:p>
        </p:txBody>
      </p:sp>
    </p:spTree>
    <p:extLst>
      <p:ext uri="{BB962C8B-B14F-4D97-AF65-F5344CB8AC3E}">
        <p14:creationId xmlns:p14="http://schemas.microsoft.com/office/powerpoint/2010/main" val="407468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6273FD6-F3A7-E618-0020-89EB1D351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F1148C3-C9BD-F50B-9E0D-8A47B5CF5D4D}"/>
              </a:ext>
            </a:extLst>
          </p:cNvPr>
          <p:cNvSpPr txBox="1"/>
          <p:nvPr/>
        </p:nvSpPr>
        <p:spPr>
          <a:xfrm>
            <a:off x="1038386" y="9062"/>
            <a:ext cx="6923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Cold Storage Options with Real-Life Examples</a:t>
            </a:r>
            <a:endParaRPr lang="en-IN" sz="28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173A1C7F-A0DC-8A75-BEE0-9E19C3B5E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34144"/>
              </p:ext>
            </p:extLst>
          </p:nvPr>
        </p:nvGraphicFramePr>
        <p:xfrm>
          <a:off x="402957" y="976394"/>
          <a:ext cx="8517177" cy="336962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57219">
                  <a:extLst>
                    <a:ext uri="{9D8B030D-6E8A-4147-A177-3AD203B41FA5}">
                      <a16:colId xmlns:a16="http://schemas.microsoft.com/office/drawing/2014/main" xmlns="" val="2158541469"/>
                    </a:ext>
                  </a:extLst>
                </a:gridCol>
                <a:gridCol w="3120899">
                  <a:extLst>
                    <a:ext uri="{9D8B030D-6E8A-4147-A177-3AD203B41FA5}">
                      <a16:colId xmlns:a16="http://schemas.microsoft.com/office/drawing/2014/main" xmlns="" val="3537839902"/>
                    </a:ext>
                  </a:extLst>
                </a:gridCol>
                <a:gridCol w="2839059">
                  <a:extLst>
                    <a:ext uri="{9D8B030D-6E8A-4147-A177-3AD203B41FA5}">
                      <a16:colId xmlns:a16="http://schemas.microsoft.com/office/drawing/2014/main" xmlns="" val="3942561603"/>
                    </a:ext>
                  </a:extLst>
                </a:gridCol>
              </a:tblGrid>
              <a:tr h="47898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b="1" kern="0" dirty="0">
                          <a:effectLst/>
                        </a:rPr>
                        <a:t>Storage Type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b="1" kern="0" dirty="0">
                          <a:effectLst/>
                        </a:rPr>
                        <a:t>Description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b="1" kern="0" dirty="0">
                          <a:effectLst/>
                        </a:rPr>
                        <a:t>Real-Life Analogy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67448583"/>
                  </a:ext>
                </a:extLst>
              </a:tr>
              <a:tr h="4789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💾 </a:t>
                      </a:r>
                      <a:r>
                        <a:rPr lang="en-IN" sz="2200" b="1" kern="0" dirty="0">
                          <a:effectLst/>
                        </a:rPr>
                        <a:t>Offline Device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Turned-off laptop or USB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Safe with a hard drive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74426088"/>
                  </a:ext>
                </a:extLst>
              </a:tr>
              <a:tr h="5918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🧠 </a:t>
                      </a:r>
                      <a:r>
                        <a:rPr lang="en-IN" sz="2200" b="1" kern="0" dirty="0">
                          <a:effectLst/>
                        </a:rPr>
                        <a:t>Brain Wallet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Memorized passphrase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>
                          <a:effectLst/>
                        </a:rPr>
                        <a:t>Remembering locker combo</a:t>
                      </a:r>
                      <a:endParaRPr lang="en-IN" sz="2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62324324"/>
                  </a:ext>
                </a:extLst>
              </a:tr>
              <a:tr h="552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📄 </a:t>
                      </a:r>
                      <a:r>
                        <a:rPr lang="en-IN" sz="2200" b="1" kern="0" dirty="0">
                          <a:effectLst/>
                        </a:rPr>
                        <a:t>Paper Wallet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Keys printed on paper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Bank account info on paper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93236925"/>
                  </a:ext>
                </a:extLst>
              </a:tr>
              <a:tr h="9894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>
                          <a:effectLst/>
                        </a:rPr>
                        <a:t>🔐 </a:t>
                      </a:r>
                      <a:r>
                        <a:rPr lang="en-IN" sz="2200" b="1" kern="0">
                          <a:effectLst/>
                        </a:rPr>
                        <a:t>Tamper-resistant Device</a:t>
                      </a:r>
                      <a:endParaRPr lang="en-IN" sz="2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Hardware wallet (e.g. Ledger)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2200" kern="0" dirty="0">
                          <a:effectLst/>
                        </a:rPr>
                        <a:t>Smart locker – secure &amp; tamper-proof</a:t>
                      </a:r>
                      <a:endParaRPr lang="en-IN" sz="2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184762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3B5A24E-0860-DD2E-E11B-68CFF9EAE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286" y="4494508"/>
            <a:ext cx="3177152" cy="23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0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2CCACF8-BF7F-163B-FC6C-F287BDC4E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8F92994-47BE-DA2B-5854-AE1AE18D1BBE}"/>
              </a:ext>
            </a:extLst>
          </p:cNvPr>
          <p:cNvSpPr txBox="1"/>
          <p:nvPr/>
        </p:nvSpPr>
        <p:spPr>
          <a:xfrm>
            <a:off x="5548393" y="466396"/>
            <a:ext cx="6643607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/>
              <a:t>What is a Hierarchical Wallet?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/>
              <a:t>Smart way to manage multiple addresses securely.</a:t>
            </a:r>
          </a:p>
          <a:p>
            <a:pPr marL="620713" indent="-263525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Cold wallet creates a </a:t>
            </a:r>
            <a:r>
              <a:rPr lang="en-US" sz="2100" b="1" dirty="0"/>
              <a:t>master key</a:t>
            </a:r>
            <a:r>
              <a:rPr lang="en-US" sz="2100" dirty="0"/>
              <a:t>.</a:t>
            </a:r>
          </a:p>
          <a:p>
            <a:pPr marL="620713" indent="-263525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Hot wallet gets </a:t>
            </a:r>
            <a:r>
              <a:rPr lang="en-US" sz="2100" b="1" dirty="0"/>
              <a:t>address generation info</a:t>
            </a:r>
            <a:r>
              <a:rPr lang="en-US" sz="2100" dirty="0"/>
              <a:t> (not private keys).</a:t>
            </a:r>
          </a:p>
          <a:p>
            <a:pPr marL="620713" indent="-263525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Hot wallet can create </a:t>
            </a:r>
            <a:r>
              <a:rPr lang="en-US" sz="2100" b="1" dirty="0"/>
              <a:t>new addresses</a:t>
            </a:r>
            <a:r>
              <a:rPr lang="en-US" sz="2100" dirty="0"/>
              <a:t> without compromising security.</a:t>
            </a:r>
          </a:p>
          <a:p>
            <a:r>
              <a:rPr lang="en-US" sz="2100" b="1" dirty="0"/>
              <a:t>More privacy</a:t>
            </a:r>
          </a:p>
          <a:p>
            <a:r>
              <a:rPr lang="en-US" sz="2100" b="1" dirty="0"/>
              <a:t>Less need to reconnect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b="1" dirty="0"/>
              <a:t>Perfect for large-scale or business use</a:t>
            </a:r>
            <a:endParaRPr lang="en-US" sz="21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059742C-755C-E0DF-213E-CA557AED91C7}"/>
              </a:ext>
            </a:extLst>
          </p:cNvPr>
          <p:cNvSpPr/>
          <p:nvPr/>
        </p:nvSpPr>
        <p:spPr>
          <a:xfrm>
            <a:off x="1472339" y="1658319"/>
            <a:ext cx="3905573" cy="392107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D0C3307D-2951-D0F8-EBBA-D5FDEA03A81D}"/>
              </a:ext>
            </a:extLst>
          </p:cNvPr>
          <p:cNvSpPr/>
          <p:nvPr/>
        </p:nvSpPr>
        <p:spPr>
          <a:xfrm>
            <a:off x="5253925" y="5226908"/>
            <a:ext cx="6276814" cy="228495"/>
          </a:xfrm>
          <a:prstGeom prst="parallelogram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1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577145D-65D2-3338-4A58-A57A9F3DE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E6D81A4-5C02-4E14-DB4E-EF7A5022034A}"/>
              </a:ext>
            </a:extLst>
          </p:cNvPr>
          <p:cNvSpPr txBox="1"/>
          <p:nvPr/>
        </p:nvSpPr>
        <p:spPr>
          <a:xfrm>
            <a:off x="5722750" y="2723237"/>
            <a:ext cx="6207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Splitting and Sharing Keys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E9D096-2357-65C1-4ED2-EC24CC207CED}"/>
              </a:ext>
            </a:extLst>
          </p:cNvPr>
          <p:cNvSpPr txBox="1"/>
          <p:nvPr/>
        </p:nvSpPr>
        <p:spPr>
          <a:xfrm>
            <a:off x="5594888" y="3765432"/>
            <a:ext cx="63349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How to securely manage Bitcoin keys without a single point of failure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558FBF95-A2D3-4A0F-34B8-3D871700CAF7}"/>
              </a:ext>
            </a:extLst>
          </p:cNvPr>
          <p:cNvCxnSpPr/>
          <p:nvPr/>
        </p:nvCxnSpPr>
        <p:spPr>
          <a:xfrm flipV="1">
            <a:off x="5951349" y="3540046"/>
            <a:ext cx="5734373" cy="59432"/>
          </a:xfrm>
          <a:prstGeom prst="line">
            <a:avLst/>
          </a:prstGeom>
          <a:ln w="762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0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B54A623-D8B0-C7EB-CD33-5D0BFBD88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D12B6C2-1E62-323F-AC15-5D5E33BE9FC5}"/>
              </a:ext>
            </a:extLst>
          </p:cNvPr>
          <p:cNvSpPr txBox="1"/>
          <p:nvPr/>
        </p:nvSpPr>
        <p:spPr>
          <a:xfrm>
            <a:off x="4179376" y="542902"/>
            <a:ext cx="8012624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/>
              <a:t>🔐 </a:t>
            </a:r>
            <a:r>
              <a:rPr lang="en-US" sz="2800" b="1" dirty="0"/>
              <a:t>The Problem with Keeping Keys in One Place</a:t>
            </a:r>
            <a:endParaRPr lang="en-US" sz="2100" b="1" dirty="0"/>
          </a:p>
          <a:p>
            <a:pPr marL="449263" indent="-185738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Bitcoin is controlled using </a:t>
            </a:r>
            <a:r>
              <a:rPr lang="en-US" sz="2100" b="1" dirty="0"/>
              <a:t>private keys</a:t>
            </a:r>
            <a:r>
              <a:rPr lang="en-US" sz="2100" dirty="0"/>
              <a:t>.</a:t>
            </a:r>
          </a:p>
          <a:p>
            <a:pPr marL="449263" indent="-185738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Storing a key in one place (USB, paper, software) creates a </a:t>
            </a:r>
            <a:r>
              <a:rPr lang="en-US" sz="2100" b="1" dirty="0"/>
              <a:t>single point of failure</a:t>
            </a:r>
            <a:r>
              <a:rPr lang="en-US" sz="2100" dirty="0"/>
              <a:t>.</a:t>
            </a:r>
          </a:p>
          <a:p>
            <a:pPr marL="449263" indent="-185738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Backing up keys helps with </a:t>
            </a:r>
            <a:r>
              <a:rPr lang="en-US" sz="2100" b="1" dirty="0"/>
              <a:t>availability</a:t>
            </a:r>
            <a:r>
              <a:rPr lang="en-US" sz="2100" dirty="0"/>
              <a:t>, but increases the risk of </a:t>
            </a:r>
            <a:r>
              <a:rPr lang="en-US" sz="2100" b="1" dirty="0"/>
              <a:t>theft</a:t>
            </a:r>
            <a:r>
              <a:rPr lang="en-US" sz="2100" dirty="0"/>
              <a:t>.</a:t>
            </a:r>
          </a:p>
          <a:p>
            <a:pPr marL="449263" indent="-185738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Can we make it both </a:t>
            </a:r>
            <a:r>
              <a:rPr lang="en-US" sz="2100" b="1" dirty="0"/>
              <a:t>secure</a:t>
            </a:r>
            <a:r>
              <a:rPr lang="en-US" sz="2100" dirty="0"/>
              <a:t> and </a:t>
            </a:r>
            <a:r>
              <a:rPr lang="en-US" sz="2100" b="1" dirty="0"/>
              <a:t>reliable</a:t>
            </a:r>
            <a:r>
              <a:rPr lang="en-US" sz="2100" dirty="0"/>
              <a:t>?</a:t>
            </a:r>
            <a:br>
              <a:rPr lang="en-US" sz="2100" dirty="0"/>
            </a:br>
            <a:r>
              <a:rPr lang="en-US" sz="2100" dirty="0"/>
              <a:t>Yes — with </a:t>
            </a:r>
            <a:r>
              <a:rPr lang="en-US" sz="2100" b="1" dirty="0"/>
              <a:t>Secret Sharing</a:t>
            </a:r>
            <a:r>
              <a:rPr lang="en-US" sz="21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D49629B-9A9A-8E01-222E-61503DCC9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36" y="4068581"/>
            <a:ext cx="5390101" cy="27224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AA4A436-3070-17E5-A243-9F7B15837E21}"/>
              </a:ext>
            </a:extLst>
          </p:cNvPr>
          <p:cNvSpPr txBox="1"/>
          <p:nvPr/>
        </p:nvSpPr>
        <p:spPr>
          <a:xfrm>
            <a:off x="7319074" y="4068581"/>
            <a:ext cx="48729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b="1" dirty="0"/>
              <a:t>Why It’s Useful</a:t>
            </a:r>
          </a:p>
          <a:p>
            <a:pPr marL="93663" indent="169863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Store shares on </a:t>
            </a:r>
            <a:r>
              <a:rPr lang="en-US" sz="2000" b="1" dirty="0"/>
              <a:t>different devices/places</a:t>
            </a:r>
            <a:r>
              <a:rPr lang="en-US" sz="2000" dirty="0"/>
              <a:t>.</a:t>
            </a:r>
          </a:p>
          <a:p>
            <a:pPr marL="93663" indent="169863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Even if </a:t>
            </a:r>
            <a:r>
              <a:rPr lang="en-US" sz="2000" b="1" dirty="0"/>
              <a:t>some are stolen or lost</a:t>
            </a:r>
            <a:r>
              <a:rPr lang="en-US" sz="2000" dirty="0"/>
              <a:t>, the secret is still safe.</a:t>
            </a:r>
          </a:p>
          <a:p>
            <a:pPr marL="93663" indent="169863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Increases </a:t>
            </a:r>
            <a:r>
              <a:rPr lang="en-US" sz="2000" b="1" dirty="0"/>
              <a:t>security</a:t>
            </a:r>
            <a:r>
              <a:rPr lang="en-US" sz="2000" dirty="0"/>
              <a:t> and </a:t>
            </a:r>
            <a:r>
              <a:rPr lang="en-US" sz="2000" b="1" dirty="0"/>
              <a:t>availability</a:t>
            </a:r>
            <a:r>
              <a:rPr lang="en-US" sz="2000" dirty="0"/>
              <a:t> at the same 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505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B5A212E-07F5-F2B1-9D55-837488724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4478B8-8D70-3098-C8CE-280642A3BA7C}"/>
              </a:ext>
            </a:extLst>
          </p:cNvPr>
          <p:cNvSpPr txBox="1"/>
          <p:nvPr/>
        </p:nvSpPr>
        <p:spPr>
          <a:xfrm>
            <a:off x="701303" y="889264"/>
            <a:ext cx="9217617" cy="393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IN" sz="2400" b="1" kern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is Secret Sharing?</a:t>
            </a:r>
            <a:endParaRPr lang="en-IN" sz="240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Goal: A method to </a:t>
            </a:r>
            <a:r>
              <a:rPr lang="en-IN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split a key</a:t>
            </a: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IN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 parts</a:t>
            </a: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(called </a:t>
            </a:r>
            <a:r>
              <a:rPr lang="en-IN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shares</a:t>
            </a: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 can reconstruct the original key using </a:t>
            </a:r>
            <a:r>
              <a:rPr lang="en-IN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 out of N</a:t>
            </a:r>
            <a:r>
              <a:rPr lang="en-IN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shares.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someone has </a:t>
            </a:r>
            <a:r>
              <a:rPr lang="en-IN" sz="2000" b="1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less than K</a:t>
            </a:r>
            <a:r>
              <a:rPr lang="en-IN" sz="20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they learn </a:t>
            </a:r>
            <a:r>
              <a:rPr lang="en-IN" sz="2000" b="1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lang="en-IN" sz="20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kern="100" dirty="0">
              <a:solidFill>
                <a:srgbClr val="40404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Rule:</a:t>
            </a: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 Need 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K shares</a:t>
            </a: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 to reconstruct the key (where 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K ≤ N</a:t>
            </a: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).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Example: 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2-out-of-2 (N=2, K=2)</a:t>
            </a:r>
            <a:endParaRPr lang="en-IN" sz="2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2" indent="-228600">
              <a:spcAft>
                <a:spcPts val="6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Share 1: Random number (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R</a:t>
            </a: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)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1143000" lvl="2" indent="-228600">
              <a:spcAft>
                <a:spcPts val="6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Share 2: 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Secret XOR R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1143000" lvl="2" indent="-228600">
              <a:spcAft>
                <a:spcPts val="6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Alone: Each share reveals </a:t>
            </a:r>
            <a:r>
              <a:rPr lang="en-IN" sz="2000" b="1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nothing</a:t>
            </a:r>
            <a:r>
              <a:rPr lang="en-IN" sz="2000" dirty="0">
                <a:solidFill>
                  <a:srgbClr val="404040"/>
                </a:solidFill>
                <a:effectLst/>
                <a:ea typeface="Times New Roman" panose="02020603050405020304" pitchFamily="18" charset="0"/>
              </a:rPr>
              <a:t>. Together: XOR to recover the secret</a:t>
            </a:r>
            <a:r>
              <a:rPr lang="en-IN" sz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.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02F928-C138-94ED-8006-E950D1343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805"/>
            <a:ext cx="5098942" cy="3981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4A8569-52D4-4CD8-30BF-F6E567405541}"/>
              </a:ext>
            </a:extLst>
          </p:cNvPr>
          <p:cNvSpPr txBox="1"/>
          <p:nvPr/>
        </p:nvSpPr>
        <p:spPr>
          <a:xfrm>
            <a:off x="0" y="5464467"/>
            <a:ext cx="49904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200" dirty="0"/>
              <a:t>Depiction of Secret Sharing between n participants</a:t>
            </a:r>
            <a:endParaRPr lang="en-I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46ADE97-4610-F950-C4D9-775A6D91BBCC}"/>
              </a:ext>
            </a:extLst>
          </p:cNvPr>
          <p:cNvSpPr txBox="1"/>
          <p:nvPr/>
        </p:nvSpPr>
        <p:spPr>
          <a:xfrm>
            <a:off x="5098942" y="1030805"/>
            <a:ext cx="6718515" cy="398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Secret Sharing schemes distribute a secret among multiple participants (shareholders).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secret is divided into fragments called </a:t>
            </a:r>
            <a:r>
              <a:rPr lang="en-IN" sz="190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shares</a:t>
            </a: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single shareholder cannot gain any meaningful information from their share alone.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original secret can only be reconstructed by combining multiple shares.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ensures the control of the secret is distributed.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These schemes are examples of </a:t>
            </a:r>
            <a:r>
              <a:rPr lang="en-IN" sz="190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Threshold Cryptosystems</a:t>
            </a: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IN" sz="19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 such systems, a minimum number (threshold) of participants must collaborate to recover the secret.</a:t>
            </a:r>
            <a:endParaRPr lang="en-IN" sz="1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2B70975-AD7C-59EE-E4F4-DE2E5965B24B}"/>
              </a:ext>
            </a:extLst>
          </p:cNvPr>
          <p:cNvSpPr txBox="1"/>
          <p:nvPr/>
        </p:nvSpPr>
        <p:spPr>
          <a:xfrm>
            <a:off x="1894667" y="130657"/>
            <a:ext cx="81482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4000" b="1" i="0" dirty="0">
                <a:solidFill>
                  <a:srgbClr val="273239"/>
                </a:solidFill>
                <a:effectLst/>
              </a:rPr>
              <a:t>Shamir's Secret Sharing Scheme</a:t>
            </a:r>
          </a:p>
        </p:txBody>
      </p:sp>
      <p:sp>
        <p:nvSpPr>
          <p:cNvPr id="15" name="Flowchart: Delay 14">
            <a:extLst>
              <a:ext uri="{FF2B5EF4-FFF2-40B4-BE49-F238E27FC236}">
                <a16:creationId xmlns:a16="http://schemas.microsoft.com/office/drawing/2014/main" xmlns="" id="{2B89A534-BAA9-7554-5F16-C91BF07FAC2A}"/>
              </a:ext>
            </a:extLst>
          </p:cNvPr>
          <p:cNvSpPr/>
          <p:nvPr/>
        </p:nvSpPr>
        <p:spPr>
          <a:xfrm>
            <a:off x="9975742" y="5275746"/>
            <a:ext cx="2216258" cy="158225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xmlns="" id="{0722D735-B551-F325-8F79-4D59A3EA14EF}"/>
              </a:ext>
            </a:extLst>
          </p:cNvPr>
          <p:cNvSpPr/>
          <p:nvPr/>
        </p:nvSpPr>
        <p:spPr>
          <a:xfrm rot="10800000">
            <a:off x="5447653" y="5204542"/>
            <a:ext cx="2216258" cy="1582254"/>
          </a:xfrm>
          <a:prstGeom prst="flowChartDelay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E1007F0-BE56-BCA9-E099-2A8441C3B364}"/>
              </a:ext>
            </a:extLst>
          </p:cNvPr>
          <p:cNvSpPr/>
          <p:nvPr/>
        </p:nvSpPr>
        <p:spPr>
          <a:xfrm>
            <a:off x="7516678" y="5517395"/>
            <a:ext cx="2634712" cy="3719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CEC970FE-174B-188F-8FD7-889C7D7D60F0}"/>
              </a:ext>
            </a:extLst>
          </p:cNvPr>
          <p:cNvSpPr/>
          <p:nvPr/>
        </p:nvSpPr>
        <p:spPr>
          <a:xfrm>
            <a:off x="7502471" y="6208489"/>
            <a:ext cx="2634712" cy="37195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6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B733D48-33BF-46C3-9716-E28873D3911B}"/>
              </a:ext>
            </a:extLst>
          </p:cNvPr>
          <p:cNvSpPr/>
          <p:nvPr/>
        </p:nvSpPr>
        <p:spPr>
          <a:xfrm>
            <a:off x="3259782" y="68908"/>
            <a:ext cx="56724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/>
              <a:t>Splitting and Sharing Keys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BC69F31-3535-445A-863B-DA7218EE6409}"/>
              </a:ext>
            </a:extLst>
          </p:cNvPr>
          <p:cNvGrpSpPr/>
          <p:nvPr/>
        </p:nvGrpSpPr>
        <p:grpSpPr>
          <a:xfrm>
            <a:off x="168404" y="975066"/>
            <a:ext cx="11854455" cy="5725496"/>
            <a:chOff x="2364422" y="2369019"/>
            <a:chExt cx="3018429" cy="280582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B73863D8-E5E8-4B1A-87FC-0C1CCEA992B6}"/>
                </a:ext>
              </a:extLst>
            </p:cNvPr>
            <p:cNvCxnSpPr/>
            <p:nvPr/>
          </p:nvCxnSpPr>
          <p:spPr>
            <a:xfrm flipH="1">
              <a:off x="3770355" y="2369019"/>
              <a:ext cx="1" cy="2789726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B0DCDFFC-4356-4598-8CE9-3A6B1966CD10}"/>
                </a:ext>
              </a:extLst>
            </p:cNvPr>
            <p:cNvCxnSpPr/>
            <p:nvPr/>
          </p:nvCxnSpPr>
          <p:spPr>
            <a:xfrm flipH="1">
              <a:off x="5382850" y="2369019"/>
              <a:ext cx="1" cy="2789726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5A23A6CE-9A18-4B1B-88A0-FA102A2C6E05}"/>
                </a:ext>
              </a:extLst>
            </p:cNvPr>
            <p:cNvSpPr/>
            <p:nvPr/>
          </p:nvSpPr>
          <p:spPr>
            <a:xfrm>
              <a:off x="2404157" y="2369020"/>
              <a:ext cx="1300876" cy="5032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b="1" i="0" dirty="0">
                  <a:solidFill>
                    <a:schemeClr val="bg1"/>
                  </a:solidFill>
                  <a:effectLst/>
                  <a:latin typeface="+mj-lt"/>
                </a:rPr>
                <a:t>How Secret Sharing Works </a:t>
              </a:r>
            </a:p>
            <a:p>
              <a:pPr algn="ctr"/>
              <a:r>
                <a:rPr lang="en-US" sz="2600" b="1" i="0" dirty="0">
                  <a:solidFill>
                    <a:schemeClr val="bg1"/>
                  </a:solidFill>
                  <a:effectLst/>
                  <a:latin typeface="+mj-lt"/>
                </a:rPr>
                <a:t>(Real-Life Analogy)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0A5FB310-EF06-4366-9C51-84B3441264CF}"/>
                </a:ext>
              </a:extLst>
            </p:cNvPr>
            <p:cNvSpPr/>
            <p:nvPr/>
          </p:nvSpPr>
          <p:spPr>
            <a:xfrm>
              <a:off x="3914235" y="2369019"/>
              <a:ext cx="1300876" cy="50320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i="0" dirty="0">
                  <a:solidFill>
                    <a:schemeClr val="bg1"/>
                  </a:solidFill>
                  <a:effectLst/>
                  <a:latin typeface="+mj-lt"/>
                </a:rPr>
                <a:t>Visual Example – The "Line Trick" (K=2)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49A2118A-4DD3-439D-9B95-8CA4A8A0BC6D}"/>
                </a:ext>
              </a:extLst>
            </p:cNvPr>
            <p:cNvCxnSpPr/>
            <p:nvPr/>
          </p:nvCxnSpPr>
          <p:spPr>
            <a:xfrm rot="16200000" flipH="1">
              <a:off x="4564674" y="2306871"/>
              <a:ext cx="1" cy="1301428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D3CE1C75-3F23-406C-8D1C-9CE42F049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8690" y="2956134"/>
              <a:ext cx="1282945" cy="484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7CC05865-A90B-4A95-A752-2CAFA277BE5C}"/>
                </a:ext>
              </a:extLst>
            </p:cNvPr>
            <p:cNvSpPr/>
            <p:nvPr/>
          </p:nvSpPr>
          <p:spPr>
            <a:xfrm>
              <a:off x="2364422" y="2957666"/>
              <a:ext cx="1402467" cy="2217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sz="2100" b="1" i="0" dirty="0">
                  <a:solidFill>
                    <a:srgbClr val="404040"/>
                  </a:solidFill>
                  <a:effectLst/>
                  <a:latin typeface="+mj-lt"/>
                </a:rPr>
                <a:t>Think of a treasure map torn into pieces:</a:t>
              </a:r>
              <a:endParaRPr lang="en-US" sz="2100" b="0" i="0" dirty="0">
                <a:solidFill>
                  <a:srgbClr val="404040"/>
                </a:solidFill>
                <a:effectLst/>
                <a:latin typeface="+mj-lt"/>
              </a:endParaRPr>
            </a:p>
            <a:p>
              <a:pPr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1" i="0" dirty="0">
                  <a:solidFill>
                    <a:srgbClr val="404040"/>
                  </a:solidFill>
                  <a:effectLst/>
                  <a:latin typeface="+mj-lt"/>
                </a:rPr>
                <a:t>Rule:</a:t>
              </a: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 Need </a:t>
              </a:r>
              <a:r>
                <a:rPr lang="en-US" sz="2100" b="1" i="0" dirty="0">
                  <a:solidFill>
                    <a:srgbClr val="404040"/>
                  </a:solidFill>
                  <a:effectLst/>
                  <a:latin typeface="+mj-lt"/>
                </a:rPr>
                <a:t>2 out of 3 pieces</a:t>
              </a: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 (N=3, K=2) to find the treasure.</a:t>
              </a:r>
            </a:p>
            <a:p>
              <a:pPr marL="742950" lvl="1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Piece 1: Hidden in a safe.</a:t>
              </a:r>
            </a:p>
            <a:p>
              <a:pPr marL="742950" lvl="1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Piece 2: Buried in the backyard.</a:t>
              </a:r>
            </a:p>
            <a:p>
              <a:pPr marL="742950" lvl="1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Piece 3: Given to your lawyer.</a:t>
              </a:r>
            </a:p>
            <a:p>
              <a:pPr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1" i="0" dirty="0">
                  <a:solidFill>
                    <a:srgbClr val="404040"/>
                  </a:solidFill>
                  <a:effectLst/>
                  <a:latin typeface="+mj-lt"/>
                </a:rPr>
                <a:t>Why it works:</a:t>
              </a:r>
              <a:endParaRPr lang="en-US" sz="2100" b="0" i="0" dirty="0">
                <a:solidFill>
                  <a:srgbClr val="404040"/>
                </a:solidFill>
                <a:effectLst/>
                <a:latin typeface="+mj-lt"/>
              </a:endParaRPr>
            </a:p>
            <a:p>
              <a:pPr marL="742950" lvl="1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Lose 1 piece? Recover with the other 2.</a:t>
              </a:r>
            </a:p>
            <a:p>
              <a:pPr marL="742950" lvl="1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Thief steals 1 piece? Useless alone.</a:t>
              </a:r>
            </a:p>
            <a:p>
              <a:pPr algn="l">
                <a:spcAft>
                  <a:spcPts val="600"/>
                </a:spcAft>
              </a:pPr>
              <a:r>
                <a:rPr lang="en-US" sz="2100" b="1" i="0" dirty="0">
                  <a:solidFill>
                    <a:srgbClr val="404040"/>
                  </a:solidFill>
                  <a:effectLst/>
                  <a:latin typeface="+mj-lt"/>
                </a:rPr>
                <a:t>Crypto Version:</a:t>
              </a:r>
              <a:r>
                <a:rPr lang="en-US" sz="2100" b="0" i="0" dirty="0">
                  <a:solidFill>
                    <a:srgbClr val="404040"/>
                  </a:solidFill>
                  <a:effectLst/>
                  <a:latin typeface="+mj-lt"/>
                </a:rPr>
                <a:t> Uses math (XOR or polynomial curves) instead of paper.</a:t>
              </a:r>
            </a:p>
            <a:p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xmlns="" id="{5922E99B-D864-4A6C-86E0-E10D793C921A}"/>
                </a:ext>
              </a:extLst>
            </p:cNvPr>
            <p:cNvSpPr/>
            <p:nvPr/>
          </p:nvSpPr>
          <p:spPr>
            <a:xfrm>
              <a:off x="3792475" y="3225130"/>
              <a:ext cx="1546969" cy="135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B34097E3-3610-3B5F-1D92-9BA639E95B0C}"/>
              </a:ext>
            </a:extLst>
          </p:cNvPr>
          <p:cNvCxnSpPr/>
          <p:nvPr/>
        </p:nvCxnSpPr>
        <p:spPr>
          <a:xfrm flipH="1">
            <a:off x="179965" y="972457"/>
            <a:ext cx="4" cy="5692651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7C70E7E-B219-BDEC-6D0E-D5835E536F18}"/>
              </a:ext>
            </a:extLst>
          </p:cNvPr>
          <p:cNvSpPr txBox="1"/>
          <p:nvPr/>
        </p:nvSpPr>
        <p:spPr>
          <a:xfrm>
            <a:off x="5842182" y="2329709"/>
            <a:ext cx="619515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Your secret (S) is a point on a graph at (0, S).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Draw a straight line through it with random slope (R).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Pick other points on the line: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(1, S + R) → Save on phone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(2, S + 2R) → Save on USB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(3, S + 3R) → Give to spouse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To get the secret back:</a:t>
            </a:r>
            <a:br>
              <a:rPr lang="en-US" sz="2000" dirty="0"/>
            </a:br>
            <a:r>
              <a:rPr lang="en-US" sz="2000" dirty="0"/>
              <a:t>Use </a:t>
            </a:r>
            <a:r>
              <a:rPr lang="en-US" sz="2000" b="1" dirty="0"/>
              <a:t>any 2 points</a:t>
            </a:r>
            <a:r>
              <a:rPr lang="en-US" sz="2000" dirty="0"/>
              <a:t> to redraw the line → Find S at x = 0.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28844E9-A11A-C341-1620-AD46851716B7}"/>
              </a:ext>
            </a:extLst>
          </p:cNvPr>
          <p:cNvSpPr txBox="1"/>
          <p:nvPr/>
        </p:nvSpPr>
        <p:spPr>
          <a:xfrm>
            <a:off x="5739316" y="5465464"/>
            <a:ext cx="609858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Simple idea: </a:t>
            </a:r>
          </a:p>
          <a:p>
            <a:r>
              <a:rPr lang="en-US" dirty="0"/>
              <a:t>Break your secret into pieces. Any 2 pieces = full secret.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835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2953520B-F3A2-4F30-A0FA-CF67B3DF81DD}"/>
              </a:ext>
            </a:extLst>
          </p:cNvPr>
          <p:cNvGrpSpPr/>
          <p:nvPr/>
        </p:nvGrpSpPr>
        <p:grpSpPr>
          <a:xfrm>
            <a:off x="55343" y="1030971"/>
            <a:ext cx="11860852" cy="4994027"/>
            <a:chOff x="975164" y="1367908"/>
            <a:chExt cx="10108298" cy="5062577"/>
          </a:xfrm>
        </p:grpSpPr>
        <p:sp>
          <p:nvSpPr>
            <p:cNvPr id="9" name="Round Same Side Corner Rectangle 16">
              <a:extLst>
                <a:ext uri="{FF2B5EF4-FFF2-40B4-BE49-F238E27FC236}">
                  <a16:creationId xmlns:a16="http://schemas.microsoft.com/office/drawing/2014/main" xmlns="" id="{EBED8734-1DAF-434C-B4D6-ED06033270E1}"/>
                </a:ext>
              </a:extLst>
            </p:cNvPr>
            <p:cNvSpPr/>
            <p:nvPr/>
          </p:nvSpPr>
          <p:spPr>
            <a:xfrm>
              <a:off x="975164" y="1367908"/>
              <a:ext cx="4489990" cy="668652"/>
            </a:xfrm>
            <a:prstGeom prst="round2Same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xmlns="" id="{B525840D-236E-48FD-B15B-9BF787012C81}"/>
                </a:ext>
              </a:extLst>
            </p:cNvPr>
            <p:cNvSpPr txBox="1">
              <a:spLocks/>
            </p:cNvSpPr>
            <p:nvPr/>
          </p:nvSpPr>
          <p:spPr>
            <a:xfrm>
              <a:off x="1226213" y="2147043"/>
              <a:ext cx="4238942" cy="428344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>
                <a:lnSpc>
                  <a:spcPct val="150000"/>
                </a:lnSpc>
                <a:buNone/>
              </a:pP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AutoShape 16">
              <a:extLst>
                <a:ext uri="{FF2B5EF4-FFF2-40B4-BE49-F238E27FC236}">
                  <a16:creationId xmlns:a16="http://schemas.microsoft.com/office/drawing/2014/main" xmlns="" id="{0954D12C-FA25-497F-8CA7-4AD228073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505" y="2018053"/>
              <a:ext cx="5244709" cy="3692527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 Same Side Corner Rectangle 22">
              <a:extLst>
                <a:ext uri="{FF2B5EF4-FFF2-40B4-BE49-F238E27FC236}">
                  <a16:creationId xmlns:a16="http://schemas.microsoft.com/office/drawing/2014/main" xmlns="" id="{E485F252-19E9-4FD2-A9DA-9D0973F731AC}"/>
                </a:ext>
              </a:extLst>
            </p:cNvPr>
            <p:cNvSpPr/>
            <p:nvPr/>
          </p:nvSpPr>
          <p:spPr>
            <a:xfrm>
              <a:off x="6096008" y="1383615"/>
              <a:ext cx="4987454" cy="668652"/>
            </a:xfrm>
            <a:prstGeom prst="round2Same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xmlns="" id="{7FBB4268-F983-46C6-90A6-C98CB5C0EED3}"/>
                </a:ext>
              </a:extLst>
            </p:cNvPr>
            <p:cNvSpPr txBox="1">
              <a:spLocks/>
            </p:cNvSpPr>
            <p:nvPr/>
          </p:nvSpPr>
          <p:spPr>
            <a:xfrm>
              <a:off x="5816644" y="2097564"/>
              <a:ext cx="5138883" cy="4266517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Allow signing a transaction </a:t>
              </a:r>
              <a:r>
                <a:rPr lang="en-US" sz="2200" b="1" dirty="0">
                  <a:solidFill>
                    <a:schemeClr val="tx1"/>
                  </a:solidFill>
                </a:rPr>
                <a:t>without reconstructing the full key</a:t>
              </a:r>
              <a:r>
                <a:rPr lang="en-US" sz="2200" dirty="0">
                  <a:solidFill>
                    <a:schemeClr val="tx1"/>
                  </a:solidFill>
                </a:rPr>
                <a:t>.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Example: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Desktop has one share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Phone has another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Both must approve to complete the signature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Helps in </a:t>
              </a:r>
              <a:r>
                <a:rPr lang="en-US" sz="2200" b="1" dirty="0">
                  <a:solidFill>
                    <a:schemeClr val="tx1"/>
                  </a:solidFill>
                </a:rPr>
                <a:t>2-factor wallets</a:t>
              </a:r>
              <a:endParaRPr lang="en-US" sz="2200" dirty="0">
                <a:solidFill>
                  <a:schemeClr val="tx1"/>
                </a:solidFill>
              </a:endParaRPr>
            </a:p>
            <a:p>
              <a:pPr fontAlgn="ctr">
                <a:lnSpc>
                  <a:spcPct val="150000"/>
                </a:lnSpc>
                <a:buNone/>
              </a:pP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itle 13">
              <a:extLst>
                <a:ext uri="{FF2B5EF4-FFF2-40B4-BE49-F238E27FC236}">
                  <a16:creationId xmlns:a16="http://schemas.microsoft.com/office/drawing/2014/main" xmlns="" id="{42A9D4E8-21A5-4820-9C57-1BA0E63E2F74}"/>
                </a:ext>
              </a:extLst>
            </p:cNvPr>
            <p:cNvSpPr txBox="1">
              <a:spLocks/>
            </p:cNvSpPr>
            <p:nvPr/>
          </p:nvSpPr>
          <p:spPr>
            <a:xfrm>
              <a:off x="9123907" y="2378724"/>
              <a:ext cx="1831713" cy="3934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Platinum</a:t>
              </a:r>
            </a:p>
          </p:txBody>
        </p:sp>
        <p:sp>
          <p:nvSpPr>
            <p:cNvPr id="28" name="Round Same Side Corner Rectangle 43">
              <a:extLst>
                <a:ext uri="{FF2B5EF4-FFF2-40B4-BE49-F238E27FC236}">
                  <a16:creationId xmlns:a16="http://schemas.microsoft.com/office/drawing/2014/main" xmlns="" id="{DC2AB555-C712-46E9-89C8-384026D77C9E}"/>
                </a:ext>
              </a:extLst>
            </p:cNvPr>
            <p:cNvSpPr/>
            <p:nvPr/>
          </p:nvSpPr>
          <p:spPr>
            <a:xfrm rot="10800000">
              <a:off x="6177985" y="5739196"/>
              <a:ext cx="4883366" cy="602654"/>
            </a:xfrm>
            <a:prstGeom prst="round2Same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ound Same Side Corner Rectangle 44">
              <a:extLst>
                <a:ext uri="{FF2B5EF4-FFF2-40B4-BE49-F238E27FC236}">
                  <a16:creationId xmlns:a16="http://schemas.microsoft.com/office/drawing/2014/main" xmlns="" id="{4027CDCE-C4CB-4824-99EB-CAC225590A86}"/>
                </a:ext>
              </a:extLst>
            </p:cNvPr>
            <p:cNvSpPr/>
            <p:nvPr/>
          </p:nvSpPr>
          <p:spPr>
            <a:xfrm rot="10800000">
              <a:off x="975164" y="5677089"/>
              <a:ext cx="4391033" cy="602656"/>
            </a:xfrm>
            <a:prstGeom prst="round2Same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911A75D-5CC9-9E54-25DA-86831C01AC1F}"/>
              </a:ext>
            </a:extLst>
          </p:cNvPr>
          <p:cNvSpPr txBox="1"/>
          <p:nvPr/>
        </p:nvSpPr>
        <p:spPr>
          <a:xfrm>
            <a:off x="6761102" y="1061773"/>
            <a:ext cx="46326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2800" b="1" dirty="0">
                <a:solidFill>
                  <a:schemeClr val="bg1"/>
                </a:solidFill>
              </a:rPr>
              <a:t>Threshold Signatures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5061DE1-8EC6-81EF-96EE-3829F0E7C543}"/>
              </a:ext>
            </a:extLst>
          </p:cNvPr>
          <p:cNvSpPr txBox="1"/>
          <p:nvPr/>
        </p:nvSpPr>
        <p:spPr>
          <a:xfrm>
            <a:off x="275805" y="1030971"/>
            <a:ext cx="43736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600" b="1" dirty="0">
                <a:solidFill>
                  <a:schemeClr val="bg1"/>
                </a:solidFill>
              </a:rPr>
              <a:t> </a:t>
            </a:r>
            <a:r>
              <a:rPr lang="en-US" sz="2500" b="1" i="0" dirty="0">
                <a:solidFill>
                  <a:schemeClr val="bg1"/>
                </a:solidFill>
                <a:effectLst/>
                <a:latin typeface="+mj-lt"/>
              </a:rPr>
              <a:t>Flexible Security (Any K and N)</a:t>
            </a:r>
            <a:endParaRPr lang="en-IN" sz="25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641EA38A-748A-7C6E-951B-9F80EF27D5FB}"/>
              </a:ext>
            </a:extLst>
          </p:cNvPr>
          <p:cNvSpPr/>
          <p:nvPr/>
        </p:nvSpPr>
        <p:spPr>
          <a:xfrm>
            <a:off x="93342" y="1613198"/>
            <a:ext cx="5505028" cy="36506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EB83E342-DF64-FC6E-9E79-31798B4014E1}"/>
              </a:ext>
            </a:extLst>
          </p:cNvPr>
          <p:cNvSpPr txBox="1"/>
          <p:nvPr/>
        </p:nvSpPr>
        <p:spPr>
          <a:xfrm>
            <a:off x="61994" y="1594171"/>
            <a:ext cx="5505029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Need stronger security? Use more shares!</a:t>
            </a:r>
            <a:endParaRPr lang="en-US" sz="2200" b="0" i="0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Example 1: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</a:t>
            </a: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2-of-3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for personal use (lose 1 device? Still safe).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Example 2: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</a:t>
            </a: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3-of-5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for a company (needs 3 execs to approve funds).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404040"/>
                </a:solidFill>
                <a:effectLst/>
                <a:latin typeface="+mj-lt"/>
              </a:rPr>
              <a:t>Math Magic: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Uses </a:t>
            </a:r>
            <a:r>
              <a:rPr lang="en-US" sz="2200" b="0" i="1" dirty="0">
                <a:solidFill>
                  <a:srgbClr val="404040"/>
                </a:solidFill>
                <a:effectLst/>
                <a:latin typeface="+mj-lt"/>
              </a:rPr>
              <a:t>polynomial curves</a:t>
            </a:r>
            <a:r>
              <a:rPr lang="en-US" sz="2200" b="0" i="0" dirty="0">
                <a:solidFill>
                  <a:srgbClr val="404040"/>
                </a:solidFill>
                <a:effectLst/>
                <a:latin typeface="+mj-lt"/>
              </a:rPr>
              <a:t> (e.g., parabolas for K=3).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8F2E183-BF88-D5BE-8C28-14FB98100742}"/>
              </a:ext>
            </a:extLst>
          </p:cNvPr>
          <p:cNvSpPr/>
          <p:nvPr/>
        </p:nvSpPr>
        <p:spPr>
          <a:xfrm>
            <a:off x="3259782" y="68908"/>
            <a:ext cx="56724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/>
              <a:t>Splitting and Sharing Keys</a:t>
            </a:r>
          </a:p>
        </p:txBody>
      </p:sp>
    </p:spTree>
    <p:extLst>
      <p:ext uri="{BB962C8B-B14F-4D97-AF65-F5344CB8AC3E}">
        <p14:creationId xmlns:p14="http://schemas.microsoft.com/office/powerpoint/2010/main" val="3340689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4">
            <a:extLst>
              <a:ext uri="{FF2B5EF4-FFF2-40B4-BE49-F238E27FC236}">
                <a16:creationId xmlns:a16="http://schemas.microsoft.com/office/drawing/2014/main" xmlns="" id="{FCC04450-915E-C7E0-886F-CBA33711B666}"/>
              </a:ext>
            </a:extLst>
          </p:cNvPr>
          <p:cNvSpPr/>
          <p:nvPr/>
        </p:nvSpPr>
        <p:spPr>
          <a:xfrm>
            <a:off x="7689063" y="1193332"/>
            <a:ext cx="3801896" cy="5028915"/>
          </a:xfrm>
          <a:custGeom>
            <a:avLst/>
            <a:gdLst>
              <a:gd name="connsiteX0" fmla="*/ 1714956 w 1715007"/>
              <a:gd name="connsiteY0" fmla="*/ 2978911 h 4302304"/>
              <a:gd name="connsiteX1" fmla="*/ 1714956 w 1715007"/>
              <a:gd name="connsiteY1" fmla="*/ -103 h 4302304"/>
              <a:gd name="connsiteX2" fmla="*/ -52 w 1715007"/>
              <a:gd name="connsiteY2" fmla="*/ -103 h 4302304"/>
              <a:gd name="connsiteX3" fmla="*/ -52 w 1715007"/>
              <a:gd name="connsiteY3" fmla="*/ 2978911 h 4302304"/>
              <a:gd name="connsiteX4" fmla="*/ 301231 w 1715007"/>
              <a:gd name="connsiteY4" fmla="*/ 3280194 h 4302304"/>
              <a:gd name="connsiteX5" fmla="*/ 301385 w 1715007"/>
              <a:gd name="connsiteY5" fmla="*/ 3280194 h 4302304"/>
              <a:gd name="connsiteX6" fmla="*/ 457868 w 1715007"/>
              <a:gd name="connsiteY6" fmla="*/ 3280194 h 4302304"/>
              <a:gd name="connsiteX7" fmla="*/ 746854 w 1715007"/>
              <a:gd name="connsiteY7" fmla="*/ 3569333 h 4302304"/>
              <a:gd name="connsiteX8" fmla="*/ 746854 w 1715007"/>
              <a:gd name="connsiteY8" fmla="*/ 3683083 h 4302304"/>
              <a:gd name="connsiteX9" fmla="*/ 669996 w 1715007"/>
              <a:gd name="connsiteY9" fmla="*/ 3959772 h 4302304"/>
              <a:gd name="connsiteX10" fmla="*/ 737323 w 1715007"/>
              <a:gd name="connsiteY10" fmla="*/ 4267050 h 4302304"/>
              <a:gd name="connsiteX11" fmla="*/ 1044586 w 1715007"/>
              <a:gd name="connsiteY11" fmla="*/ 4199723 h 4302304"/>
              <a:gd name="connsiteX12" fmla="*/ 1048752 w 1715007"/>
              <a:gd name="connsiteY12" fmla="*/ 3966535 h 4302304"/>
              <a:gd name="connsiteX13" fmla="*/ 967897 w 1715007"/>
              <a:gd name="connsiteY13" fmla="*/ 3687388 h 4302304"/>
              <a:gd name="connsiteX14" fmla="*/ 967897 w 1715007"/>
              <a:gd name="connsiteY14" fmla="*/ 3569026 h 4302304"/>
              <a:gd name="connsiteX15" fmla="*/ 1257037 w 1715007"/>
              <a:gd name="connsiteY15" fmla="*/ 3279887 h 4302304"/>
              <a:gd name="connsiteX16" fmla="*/ 1413520 w 1715007"/>
              <a:gd name="connsiteY16" fmla="*/ 3279887 h 4302304"/>
              <a:gd name="connsiteX17" fmla="*/ 1714956 w 1715007"/>
              <a:gd name="connsiteY17" fmla="*/ 2978911 h 4302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15007" h="4302304">
                <a:moveTo>
                  <a:pt x="1714956" y="2978911"/>
                </a:moveTo>
                <a:lnTo>
                  <a:pt x="1714956" y="-103"/>
                </a:lnTo>
                <a:lnTo>
                  <a:pt x="-52" y="-103"/>
                </a:lnTo>
                <a:lnTo>
                  <a:pt x="-52" y="2978911"/>
                </a:lnTo>
                <a:cubicBezTo>
                  <a:pt x="-52" y="3145308"/>
                  <a:pt x="134834" y="3280194"/>
                  <a:pt x="301231" y="3280194"/>
                </a:cubicBezTo>
                <a:cubicBezTo>
                  <a:pt x="301278" y="3280194"/>
                  <a:pt x="301339" y="3280194"/>
                  <a:pt x="301385" y="3280194"/>
                </a:cubicBezTo>
                <a:lnTo>
                  <a:pt x="457868" y="3280194"/>
                </a:lnTo>
                <a:cubicBezTo>
                  <a:pt x="617502" y="3280286"/>
                  <a:pt x="746854" y="3409700"/>
                  <a:pt x="746854" y="3569333"/>
                </a:cubicBezTo>
                <a:lnTo>
                  <a:pt x="746854" y="3683083"/>
                </a:lnTo>
                <a:cubicBezTo>
                  <a:pt x="748191" y="3780754"/>
                  <a:pt x="721522" y="3876781"/>
                  <a:pt x="669996" y="3959772"/>
                </a:cubicBezTo>
                <a:cubicBezTo>
                  <a:pt x="603729" y="4063207"/>
                  <a:pt x="633873" y="4200783"/>
                  <a:pt x="737323" y="4267050"/>
                </a:cubicBezTo>
                <a:cubicBezTo>
                  <a:pt x="840759" y="4333302"/>
                  <a:pt x="978335" y="4303158"/>
                  <a:pt x="1044586" y="4199723"/>
                </a:cubicBezTo>
                <a:cubicBezTo>
                  <a:pt x="1089886" y="4129013"/>
                  <a:pt x="1091500" y="4038813"/>
                  <a:pt x="1048752" y="3966535"/>
                </a:cubicBezTo>
                <a:cubicBezTo>
                  <a:pt x="997180" y="3882453"/>
                  <a:pt x="969250" y="3786011"/>
                  <a:pt x="967897" y="3687388"/>
                </a:cubicBezTo>
                <a:lnTo>
                  <a:pt x="967897" y="3569026"/>
                </a:lnTo>
                <a:cubicBezTo>
                  <a:pt x="967897" y="3409346"/>
                  <a:pt x="1097342" y="3279887"/>
                  <a:pt x="1257037" y="3279887"/>
                </a:cubicBezTo>
                <a:lnTo>
                  <a:pt x="1413520" y="3279887"/>
                </a:lnTo>
                <a:cubicBezTo>
                  <a:pt x="1579856" y="3279979"/>
                  <a:pt x="1714788" y="3145247"/>
                  <a:pt x="1714956" y="2978911"/>
                </a:cubicBezTo>
                <a:close/>
              </a:path>
            </a:pathLst>
          </a:custGeom>
          <a:solidFill>
            <a:schemeClr val="bg1"/>
          </a:solidFill>
          <a:ln w="7140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3E0312A-4421-47FA-93DD-398C899BD4C8}"/>
              </a:ext>
            </a:extLst>
          </p:cNvPr>
          <p:cNvSpPr/>
          <p:nvPr/>
        </p:nvSpPr>
        <p:spPr>
          <a:xfrm>
            <a:off x="0" y="-2308"/>
            <a:ext cx="12192000" cy="7078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BDEA64-AE4F-4D4C-9C88-896D9CB765A0}"/>
              </a:ext>
            </a:extLst>
          </p:cNvPr>
          <p:cNvSpPr txBox="1"/>
          <p:nvPr/>
        </p:nvSpPr>
        <p:spPr>
          <a:xfrm>
            <a:off x="125599" y="-24923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 </a:t>
            </a:r>
            <a:r>
              <a:rPr lang="en-IN" sz="4000" b="1" dirty="0">
                <a:solidFill>
                  <a:schemeClr val="bg1"/>
                </a:solidFill>
              </a:rPr>
              <a:t>Multi-Signatures (Multi-sig)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719743E-C82E-7CB1-0429-8D9DB80EACFA}"/>
              </a:ext>
            </a:extLst>
          </p:cNvPr>
          <p:cNvSpPr/>
          <p:nvPr/>
        </p:nvSpPr>
        <p:spPr>
          <a:xfrm>
            <a:off x="0" y="6547708"/>
            <a:ext cx="12191999" cy="2912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F055489-6E50-9FB1-3CA2-950E7D057598}"/>
              </a:ext>
            </a:extLst>
          </p:cNvPr>
          <p:cNvGrpSpPr/>
          <p:nvPr/>
        </p:nvGrpSpPr>
        <p:grpSpPr>
          <a:xfrm>
            <a:off x="587223" y="1193331"/>
            <a:ext cx="11406401" cy="5028915"/>
            <a:chOff x="1212916" y="1822195"/>
            <a:chExt cx="9558660" cy="43023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42C202A-EB30-A1CC-3549-240CB5021B3F}"/>
                </a:ext>
              </a:extLst>
            </p:cNvPr>
            <p:cNvSpPr/>
            <p:nvPr/>
          </p:nvSpPr>
          <p:spPr>
            <a:xfrm>
              <a:off x="1420425" y="5837778"/>
              <a:ext cx="9351151" cy="173238"/>
            </a:xfrm>
            <a:custGeom>
              <a:avLst/>
              <a:gdLst>
                <a:gd name="connsiteX0" fmla="*/ 9264405 w 9351151"/>
                <a:gd name="connsiteY0" fmla="*/ 173135 h 173238"/>
                <a:gd name="connsiteX1" fmla="*/ 86644 w 9351151"/>
                <a:gd name="connsiteY1" fmla="*/ 173135 h 173238"/>
                <a:gd name="connsiteX2" fmla="*/ -52 w 9351151"/>
                <a:gd name="connsiteY2" fmla="*/ 86747 h 173238"/>
                <a:gd name="connsiteX3" fmla="*/ -52 w 9351151"/>
                <a:gd name="connsiteY3" fmla="*/ 86593 h 173238"/>
                <a:gd name="connsiteX4" fmla="*/ -52 w 9351151"/>
                <a:gd name="connsiteY4" fmla="*/ 86593 h 173238"/>
                <a:gd name="connsiteX5" fmla="*/ 86644 w 9351151"/>
                <a:gd name="connsiteY5" fmla="*/ -103 h 173238"/>
                <a:gd name="connsiteX6" fmla="*/ 9264405 w 9351151"/>
                <a:gd name="connsiteY6" fmla="*/ -103 h 173238"/>
                <a:gd name="connsiteX7" fmla="*/ 9351100 w 9351151"/>
                <a:gd name="connsiteY7" fmla="*/ 86593 h 173238"/>
                <a:gd name="connsiteX8" fmla="*/ 9351100 w 9351151"/>
                <a:gd name="connsiteY8" fmla="*/ 86593 h 173238"/>
                <a:gd name="connsiteX9" fmla="*/ 9264558 w 9351151"/>
                <a:gd name="connsiteY9" fmla="*/ 173135 h 173238"/>
                <a:gd name="connsiteX10" fmla="*/ 9264405 w 9351151"/>
                <a:gd name="connsiteY10" fmla="*/ 173135 h 17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51151" h="173238">
                  <a:moveTo>
                    <a:pt x="9264405" y="173135"/>
                  </a:moveTo>
                  <a:lnTo>
                    <a:pt x="86644" y="173135"/>
                  </a:lnTo>
                  <a:cubicBezTo>
                    <a:pt x="38848" y="173227"/>
                    <a:pt x="33" y="134537"/>
                    <a:pt x="-52" y="86747"/>
                  </a:cubicBezTo>
                  <a:cubicBezTo>
                    <a:pt x="-52" y="86700"/>
                    <a:pt x="-52" y="86639"/>
                    <a:pt x="-52" y="86593"/>
                  </a:cubicBezTo>
                  <a:lnTo>
                    <a:pt x="-52" y="86593"/>
                  </a:lnTo>
                  <a:cubicBezTo>
                    <a:pt x="-52" y="38711"/>
                    <a:pt x="38763" y="-103"/>
                    <a:pt x="86644" y="-103"/>
                  </a:cubicBezTo>
                  <a:lnTo>
                    <a:pt x="9264405" y="-103"/>
                  </a:lnTo>
                  <a:cubicBezTo>
                    <a:pt x="9312287" y="-103"/>
                    <a:pt x="9351100" y="38711"/>
                    <a:pt x="9351100" y="86593"/>
                  </a:cubicBezTo>
                  <a:lnTo>
                    <a:pt x="9351100" y="86593"/>
                  </a:lnTo>
                  <a:cubicBezTo>
                    <a:pt x="9351100" y="134383"/>
                    <a:pt x="9312348" y="173135"/>
                    <a:pt x="9264558" y="173135"/>
                  </a:cubicBezTo>
                  <a:cubicBezTo>
                    <a:pt x="9264512" y="173135"/>
                    <a:pt x="9264451" y="173135"/>
                    <a:pt x="9264405" y="173135"/>
                  </a:cubicBezTo>
                  <a:close/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 w="1536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620A4342-D809-FFC8-063D-539CAD99267A}"/>
                </a:ext>
              </a:extLst>
            </p:cNvPr>
            <p:cNvGrpSpPr/>
            <p:nvPr/>
          </p:nvGrpSpPr>
          <p:grpSpPr>
            <a:xfrm>
              <a:off x="1212916" y="1822195"/>
              <a:ext cx="7680676" cy="4302304"/>
              <a:chOff x="638709" y="1822195"/>
              <a:chExt cx="7680676" cy="430230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C5D3203B-9583-335F-9C5D-B7043A53F24A}"/>
                  </a:ext>
                </a:extLst>
              </p:cNvPr>
              <p:cNvGrpSpPr/>
              <p:nvPr/>
            </p:nvGrpSpPr>
            <p:grpSpPr>
              <a:xfrm>
                <a:off x="638709" y="1822195"/>
                <a:ext cx="3155371" cy="4302304"/>
                <a:chOff x="638709" y="1822195"/>
                <a:chExt cx="3155371" cy="4302304"/>
              </a:xfrm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xmlns="" id="{BB6894DF-AD74-CDF9-FC42-D9530BFD5A68}"/>
                    </a:ext>
                  </a:extLst>
                </p:cNvPr>
                <p:cNvSpPr/>
                <p:nvPr/>
              </p:nvSpPr>
              <p:spPr>
                <a:xfrm>
                  <a:off x="1269322" y="2227698"/>
                  <a:ext cx="321573" cy="587194"/>
                </a:xfrm>
                <a:custGeom>
                  <a:avLst/>
                  <a:gdLst>
                    <a:gd name="connsiteX0" fmla="*/ 0 w 321573"/>
                    <a:gd name="connsiteY0" fmla="*/ 265621 h 587194"/>
                    <a:gd name="connsiteX1" fmla="*/ 321574 w 321573"/>
                    <a:gd name="connsiteY1" fmla="*/ 587195 h 587194"/>
                    <a:gd name="connsiteX2" fmla="*/ 321574 w 321573"/>
                    <a:gd name="connsiteY2" fmla="*/ 0 h 587194"/>
                    <a:gd name="connsiteX3" fmla="*/ 0 w 321573"/>
                    <a:gd name="connsiteY3" fmla="*/ 265621 h 58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573" h="587194">
                      <a:moveTo>
                        <a:pt x="0" y="265621"/>
                      </a:moveTo>
                      <a:lnTo>
                        <a:pt x="321574" y="587195"/>
                      </a:lnTo>
                      <a:lnTo>
                        <a:pt x="321574" y="0"/>
                      </a:lnTo>
                      <a:lnTo>
                        <a:pt x="0" y="26562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xmlns="" id="{22938F9A-7F3F-505C-D7BA-AACDEA44933C}"/>
                    </a:ext>
                  </a:extLst>
                </p:cNvPr>
                <p:cNvSpPr/>
                <p:nvPr/>
              </p:nvSpPr>
              <p:spPr>
                <a:xfrm>
                  <a:off x="2899171" y="2094273"/>
                  <a:ext cx="410267" cy="809314"/>
                </a:xfrm>
                <a:custGeom>
                  <a:avLst/>
                  <a:gdLst>
                    <a:gd name="connsiteX0" fmla="*/ 410268 w 410267"/>
                    <a:gd name="connsiteY0" fmla="*/ 399046 h 809314"/>
                    <a:gd name="connsiteX1" fmla="*/ 0 w 410267"/>
                    <a:gd name="connsiteY1" fmla="*/ 809314 h 809314"/>
                    <a:gd name="connsiteX2" fmla="*/ 0 w 410267"/>
                    <a:gd name="connsiteY2" fmla="*/ 0 h 809314"/>
                    <a:gd name="connsiteX3" fmla="*/ 410268 w 410267"/>
                    <a:gd name="connsiteY3" fmla="*/ 399046 h 809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267" h="809314">
                      <a:moveTo>
                        <a:pt x="410268" y="399046"/>
                      </a:moveTo>
                      <a:lnTo>
                        <a:pt x="0" y="809314"/>
                      </a:lnTo>
                      <a:lnTo>
                        <a:pt x="0" y="0"/>
                      </a:lnTo>
                      <a:lnTo>
                        <a:pt x="410268" y="399046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xmlns="" id="{528B98CB-5D53-8607-582A-CA6A1433C412}"/>
                    </a:ext>
                  </a:extLst>
                </p:cNvPr>
                <p:cNvSpPr/>
                <p:nvPr/>
              </p:nvSpPr>
              <p:spPr>
                <a:xfrm>
                  <a:off x="638709" y="1822195"/>
                  <a:ext cx="3155371" cy="4302304"/>
                </a:xfrm>
                <a:custGeom>
                  <a:avLst/>
                  <a:gdLst>
                    <a:gd name="connsiteX0" fmla="*/ 1714956 w 1715007"/>
                    <a:gd name="connsiteY0" fmla="*/ 2978911 h 4302304"/>
                    <a:gd name="connsiteX1" fmla="*/ 1714956 w 1715007"/>
                    <a:gd name="connsiteY1" fmla="*/ -103 h 4302304"/>
                    <a:gd name="connsiteX2" fmla="*/ -52 w 1715007"/>
                    <a:gd name="connsiteY2" fmla="*/ -103 h 4302304"/>
                    <a:gd name="connsiteX3" fmla="*/ -52 w 1715007"/>
                    <a:gd name="connsiteY3" fmla="*/ 2978911 h 4302304"/>
                    <a:gd name="connsiteX4" fmla="*/ 301232 w 1715007"/>
                    <a:gd name="connsiteY4" fmla="*/ 3280194 h 4302304"/>
                    <a:gd name="connsiteX5" fmla="*/ 301385 w 1715007"/>
                    <a:gd name="connsiteY5" fmla="*/ 3280194 h 4302304"/>
                    <a:gd name="connsiteX6" fmla="*/ 457868 w 1715007"/>
                    <a:gd name="connsiteY6" fmla="*/ 3280194 h 4302304"/>
                    <a:gd name="connsiteX7" fmla="*/ 746854 w 1715007"/>
                    <a:gd name="connsiteY7" fmla="*/ 3569333 h 4302304"/>
                    <a:gd name="connsiteX8" fmla="*/ 746854 w 1715007"/>
                    <a:gd name="connsiteY8" fmla="*/ 3683083 h 4302304"/>
                    <a:gd name="connsiteX9" fmla="*/ 669996 w 1715007"/>
                    <a:gd name="connsiteY9" fmla="*/ 3959772 h 4302304"/>
                    <a:gd name="connsiteX10" fmla="*/ 737323 w 1715007"/>
                    <a:gd name="connsiteY10" fmla="*/ 4267050 h 4302304"/>
                    <a:gd name="connsiteX11" fmla="*/ 1044586 w 1715007"/>
                    <a:gd name="connsiteY11" fmla="*/ 4199723 h 4302304"/>
                    <a:gd name="connsiteX12" fmla="*/ 1048752 w 1715007"/>
                    <a:gd name="connsiteY12" fmla="*/ 3966535 h 4302304"/>
                    <a:gd name="connsiteX13" fmla="*/ 967897 w 1715007"/>
                    <a:gd name="connsiteY13" fmla="*/ 3687388 h 4302304"/>
                    <a:gd name="connsiteX14" fmla="*/ 967897 w 1715007"/>
                    <a:gd name="connsiteY14" fmla="*/ 3569026 h 4302304"/>
                    <a:gd name="connsiteX15" fmla="*/ 1257037 w 1715007"/>
                    <a:gd name="connsiteY15" fmla="*/ 3279887 h 4302304"/>
                    <a:gd name="connsiteX16" fmla="*/ 1413673 w 1715007"/>
                    <a:gd name="connsiteY16" fmla="*/ 3279887 h 4302304"/>
                    <a:gd name="connsiteX17" fmla="*/ 1714956 w 1715007"/>
                    <a:gd name="connsiteY17" fmla="*/ 2978911 h 4302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715007" h="4302304">
                      <a:moveTo>
                        <a:pt x="1714956" y="2978911"/>
                      </a:moveTo>
                      <a:lnTo>
                        <a:pt x="1714956" y="-103"/>
                      </a:lnTo>
                      <a:lnTo>
                        <a:pt x="-52" y="-103"/>
                      </a:lnTo>
                      <a:lnTo>
                        <a:pt x="-52" y="2978911"/>
                      </a:lnTo>
                      <a:cubicBezTo>
                        <a:pt x="-52" y="3145308"/>
                        <a:pt x="134837" y="3280194"/>
                        <a:pt x="301232" y="3280194"/>
                      </a:cubicBezTo>
                      <a:cubicBezTo>
                        <a:pt x="301282" y="3280194"/>
                        <a:pt x="301335" y="3280194"/>
                        <a:pt x="301385" y="3280194"/>
                      </a:cubicBezTo>
                      <a:lnTo>
                        <a:pt x="457868" y="3280194"/>
                      </a:lnTo>
                      <a:cubicBezTo>
                        <a:pt x="617502" y="3280286"/>
                        <a:pt x="746854" y="3409700"/>
                        <a:pt x="746854" y="3569333"/>
                      </a:cubicBezTo>
                      <a:lnTo>
                        <a:pt x="746854" y="3683083"/>
                      </a:lnTo>
                      <a:cubicBezTo>
                        <a:pt x="748191" y="3780754"/>
                        <a:pt x="721521" y="3876781"/>
                        <a:pt x="669996" y="3959772"/>
                      </a:cubicBezTo>
                      <a:cubicBezTo>
                        <a:pt x="603729" y="4063207"/>
                        <a:pt x="633873" y="4200783"/>
                        <a:pt x="737323" y="4267050"/>
                      </a:cubicBezTo>
                      <a:cubicBezTo>
                        <a:pt x="840759" y="4333302"/>
                        <a:pt x="978335" y="4303158"/>
                        <a:pt x="1044586" y="4199723"/>
                      </a:cubicBezTo>
                      <a:cubicBezTo>
                        <a:pt x="1089886" y="4129013"/>
                        <a:pt x="1091500" y="4038813"/>
                        <a:pt x="1048752" y="3966535"/>
                      </a:cubicBezTo>
                      <a:cubicBezTo>
                        <a:pt x="997180" y="3882453"/>
                        <a:pt x="969250" y="3786011"/>
                        <a:pt x="967897" y="3687388"/>
                      </a:cubicBezTo>
                      <a:lnTo>
                        <a:pt x="967897" y="3569026"/>
                      </a:lnTo>
                      <a:cubicBezTo>
                        <a:pt x="967897" y="3409346"/>
                        <a:pt x="1097357" y="3279887"/>
                        <a:pt x="1257037" y="3279887"/>
                      </a:cubicBezTo>
                      <a:lnTo>
                        <a:pt x="1413673" y="3279887"/>
                      </a:lnTo>
                      <a:cubicBezTo>
                        <a:pt x="1579948" y="3279887"/>
                        <a:pt x="1714787" y="3145185"/>
                        <a:pt x="1714956" y="29789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140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xmlns="" id="{47572A62-3C4A-E8F3-FD39-7C0B55F69EDA}"/>
                    </a:ext>
                  </a:extLst>
                </p:cNvPr>
                <p:cNvSpPr/>
                <p:nvPr/>
              </p:nvSpPr>
              <p:spPr>
                <a:xfrm>
                  <a:off x="2178551" y="5791293"/>
                  <a:ext cx="221350" cy="221350"/>
                </a:xfrm>
                <a:custGeom>
                  <a:avLst/>
                  <a:gdLst>
                    <a:gd name="connsiteX0" fmla="*/ 221299 w 221350"/>
                    <a:gd name="connsiteY0" fmla="*/ 110572 h 221350"/>
                    <a:gd name="connsiteX1" fmla="*/ 110624 w 221350"/>
                    <a:gd name="connsiteY1" fmla="*/ 221248 h 221350"/>
                    <a:gd name="connsiteX2" fmla="*/ -52 w 221350"/>
                    <a:gd name="connsiteY2" fmla="*/ 110572 h 221350"/>
                    <a:gd name="connsiteX3" fmla="*/ 110624 w 221350"/>
                    <a:gd name="connsiteY3" fmla="*/ -103 h 221350"/>
                    <a:gd name="connsiteX4" fmla="*/ 110778 w 221350"/>
                    <a:gd name="connsiteY4" fmla="*/ -103 h 221350"/>
                    <a:gd name="connsiteX5" fmla="*/ 221299 w 221350"/>
                    <a:gd name="connsiteY5" fmla="*/ 110419 h 221350"/>
                    <a:gd name="connsiteX6" fmla="*/ 221299 w 221350"/>
                    <a:gd name="connsiteY6" fmla="*/ 110572 h 221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1350" h="221350">
                      <a:moveTo>
                        <a:pt x="221299" y="110572"/>
                      </a:moveTo>
                      <a:cubicBezTo>
                        <a:pt x="221299" y="171690"/>
                        <a:pt x="171741" y="221248"/>
                        <a:pt x="110624" y="221248"/>
                      </a:cubicBezTo>
                      <a:cubicBezTo>
                        <a:pt x="49506" y="221248"/>
                        <a:pt x="-52" y="171690"/>
                        <a:pt x="-52" y="110572"/>
                      </a:cubicBezTo>
                      <a:cubicBezTo>
                        <a:pt x="-52" y="49455"/>
                        <a:pt x="49506" y="-103"/>
                        <a:pt x="110624" y="-103"/>
                      </a:cubicBezTo>
                      <a:cubicBezTo>
                        <a:pt x="110670" y="-103"/>
                        <a:pt x="110731" y="-103"/>
                        <a:pt x="110778" y="-103"/>
                      </a:cubicBezTo>
                      <a:cubicBezTo>
                        <a:pt x="171818" y="-103"/>
                        <a:pt x="221299" y="49378"/>
                        <a:pt x="221299" y="110419"/>
                      </a:cubicBezTo>
                      <a:cubicBezTo>
                        <a:pt x="221299" y="110465"/>
                        <a:pt x="221299" y="110527"/>
                        <a:pt x="221299" y="1105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30D67C75-9BE0-9138-891D-D05BA050FEBF}"/>
                  </a:ext>
                </a:extLst>
              </p:cNvPr>
              <p:cNvSpPr/>
              <p:nvPr/>
            </p:nvSpPr>
            <p:spPr>
              <a:xfrm>
                <a:off x="8098035" y="5791293"/>
                <a:ext cx="221350" cy="221350"/>
              </a:xfrm>
              <a:custGeom>
                <a:avLst/>
                <a:gdLst>
                  <a:gd name="connsiteX0" fmla="*/ 221299 w 221350"/>
                  <a:gd name="connsiteY0" fmla="*/ 110572 h 221350"/>
                  <a:gd name="connsiteX1" fmla="*/ 110624 w 221350"/>
                  <a:gd name="connsiteY1" fmla="*/ 221248 h 221350"/>
                  <a:gd name="connsiteX2" fmla="*/ -52 w 221350"/>
                  <a:gd name="connsiteY2" fmla="*/ 110572 h 221350"/>
                  <a:gd name="connsiteX3" fmla="*/ 110624 w 221350"/>
                  <a:gd name="connsiteY3" fmla="*/ -103 h 221350"/>
                  <a:gd name="connsiteX4" fmla="*/ 110777 w 221350"/>
                  <a:gd name="connsiteY4" fmla="*/ -103 h 221350"/>
                  <a:gd name="connsiteX5" fmla="*/ 221299 w 221350"/>
                  <a:gd name="connsiteY5" fmla="*/ 110419 h 221350"/>
                  <a:gd name="connsiteX6" fmla="*/ 221299 w 221350"/>
                  <a:gd name="connsiteY6" fmla="*/ 110572 h 2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350" h="221350">
                    <a:moveTo>
                      <a:pt x="221299" y="110572"/>
                    </a:moveTo>
                    <a:cubicBezTo>
                      <a:pt x="221299" y="171690"/>
                      <a:pt x="171741" y="221248"/>
                      <a:pt x="110624" y="221248"/>
                    </a:cubicBezTo>
                    <a:cubicBezTo>
                      <a:pt x="49506" y="221248"/>
                      <a:pt x="-52" y="171690"/>
                      <a:pt x="-52" y="110572"/>
                    </a:cubicBezTo>
                    <a:cubicBezTo>
                      <a:pt x="-52" y="49455"/>
                      <a:pt x="49506" y="-103"/>
                      <a:pt x="110624" y="-103"/>
                    </a:cubicBezTo>
                    <a:cubicBezTo>
                      <a:pt x="110670" y="-103"/>
                      <a:pt x="110731" y="-103"/>
                      <a:pt x="110777" y="-103"/>
                    </a:cubicBezTo>
                    <a:cubicBezTo>
                      <a:pt x="171818" y="-103"/>
                      <a:pt x="221299" y="49378"/>
                      <a:pt x="221299" y="110419"/>
                    </a:cubicBezTo>
                    <a:cubicBezTo>
                      <a:pt x="221299" y="110465"/>
                      <a:pt x="221299" y="110527"/>
                      <a:pt x="221299" y="110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36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38EC853D-97DA-87B2-EE0D-A0E0A0C9E52B}"/>
                  </a:ext>
                </a:extLst>
              </p:cNvPr>
              <p:cNvSpPr/>
              <p:nvPr/>
            </p:nvSpPr>
            <p:spPr>
              <a:xfrm>
                <a:off x="5200249" y="5791293"/>
                <a:ext cx="221351" cy="221350"/>
              </a:xfrm>
              <a:custGeom>
                <a:avLst/>
                <a:gdLst>
                  <a:gd name="connsiteX0" fmla="*/ 221300 w 221351"/>
                  <a:gd name="connsiteY0" fmla="*/ 110573 h 221350"/>
                  <a:gd name="connsiteX1" fmla="*/ 110624 w 221351"/>
                  <a:gd name="connsiteY1" fmla="*/ 221248 h 221350"/>
                  <a:gd name="connsiteX2" fmla="*/ -52 w 221351"/>
                  <a:gd name="connsiteY2" fmla="*/ 110573 h 221350"/>
                  <a:gd name="connsiteX3" fmla="*/ 110624 w 221351"/>
                  <a:gd name="connsiteY3" fmla="*/ -103 h 221350"/>
                  <a:gd name="connsiteX4" fmla="*/ 221300 w 221351"/>
                  <a:gd name="connsiteY4" fmla="*/ 110265 h 221350"/>
                  <a:gd name="connsiteX5" fmla="*/ 221300 w 221351"/>
                  <a:gd name="connsiteY5" fmla="*/ 110573 h 2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351" h="221350">
                    <a:moveTo>
                      <a:pt x="221300" y="110573"/>
                    </a:moveTo>
                    <a:cubicBezTo>
                      <a:pt x="221300" y="171690"/>
                      <a:pt x="171741" y="221248"/>
                      <a:pt x="110624" y="221248"/>
                    </a:cubicBezTo>
                    <a:cubicBezTo>
                      <a:pt x="49506" y="221248"/>
                      <a:pt x="-52" y="171690"/>
                      <a:pt x="-52" y="110573"/>
                    </a:cubicBezTo>
                    <a:cubicBezTo>
                      <a:pt x="-52" y="49455"/>
                      <a:pt x="49506" y="-103"/>
                      <a:pt x="110624" y="-103"/>
                    </a:cubicBezTo>
                    <a:cubicBezTo>
                      <a:pt x="171665" y="-195"/>
                      <a:pt x="221207" y="49225"/>
                      <a:pt x="221300" y="110265"/>
                    </a:cubicBezTo>
                    <a:cubicBezTo>
                      <a:pt x="221300" y="110373"/>
                      <a:pt x="221300" y="110465"/>
                      <a:pt x="221300" y="11057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536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3BB7E75-C570-3CED-6C1C-D060E114149E}"/>
              </a:ext>
            </a:extLst>
          </p:cNvPr>
          <p:cNvSpPr txBox="1"/>
          <p:nvPr/>
        </p:nvSpPr>
        <p:spPr>
          <a:xfrm>
            <a:off x="1361736" y="1242359"/>
            <a:ext cx="2144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C53FECF-A9C3-A76E-E2E8-D88F28EB8FD7}"/>
              </a:ext>
            </a:extLst>
          </p:cNvPr>
          <p:cNvSpPr txBox="1"/>
          <p:nvPr/>
        </p:nvSpPr>
        <p:spPr>
          <a:xfrm>
            <a:off x="672567" y="2085461"/>
            <a:ext cx="376532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You create a multi-signature wallet.</a:t>
            </a:r>
          </a:p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You set a rule like “3 of 5”.</a:t>
            </a:r>
          </a:p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This means:</a:t>
            </a:r>
          </a:p>
          <a:p>
            <a:pPr marL="401638" indent="-23018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900" dirty="0"/>
              <a:t>5 people each get their own private key.</a:t>
            </a:r>
          </a:p>
          <a:p>
            <a:pPr marL="401638" indent="-23018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900" dirty="0"/>
              <a:t>Any 3 out of those 5 must agree (sign) to approve a transaction.</a:t>
            </a:r>
            <a:endParaRPr lang="en-IN" sz="1900" dirty="0"/>
          </a:p>
        </p:txBody>
      </p:sp>
      <p:sp>
        <p:nvSpPr>
          <p:cNvPr id="36" name="Freeform: Shape 27">
            <a:extLst>
              <a:ext uri="{FF2B5EF4-FFF2-40B4-BE49-F238E27FC236}">
                <a16:creationId xmlns:a16="http://schemas.microsoft.com/office/drawing/2014/main" xmlns="" id="{BB6894DF-AD74-CDF9-FC42-D9530BFD5A68}"/>
              </a:ext>
            </a:extLst>
          </p:cNvPr>
          <p:cNvSpPr/>
          <p:nvPr/>
        </p:nvSpPr>
        <p:spPr>
          <a:xfrm>
            <a:off x="242457" y="1667320"/>
            <a:ext cx="332574" cy="686365"/>
          </a:xfrm>
          <a:custGeom>
            <a:avLst/>
            <a:gdLst>
              <a:gd name="connsiteX0" fmla="*/ 0 w 321573"/>
              <a:gd name="connsiteY0" fmla="*/ 265621 h 587194"/>
              <a:gd name="connsiteX1" fmla="*/ 321574 w 321573"/>
              <a:gd name="connsiteY1" fmla="*/ 587195 h 587194"/>
              <a:gd name="connsiteX2" fmla="*/ 321574 w 321573"/>
              <a:gd name="connsiteY2" fmla="*/ 0 h 587194"/>
              <a:gd name="connsiteX3" fmla="*/ 0 w 321573"/>
              <a:gd name="connsiteY3" fmla="*/ 265621 h 58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573" h="587194">
                <a:moveTo>
                  <a:pt x="0" y="265621"/>
                </a:moveTo>
                <a:lnTo>
                  <a:pt x="321574" y="587195"/>
                </a:lnTo>
                <a:lnTo>
                  <a:pt x="321574" y="0"/>
                </a:lnTo>
                <a:lnTo>
                  <a:pt x="0" y="26562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7" name="Freeform: Shape 28">
            <a:extLst>
              <a:ext uri="{FF2B5EF4-FFF2-40B4-BE49-F238E27FC236}">
                <a16:creationId xmlns:a16="http://schemas.microsoft.com/office/drawing/2014/main" xmlns="" id="{22938F9A-7F3F-505C-D7BA-AACDEA44933C}"/>
              </a:ext>
            </a:extLst>
          </p:cNvPr>
          <p:cNvSpPr/>
          <p:nvPr/>
        </p:nvSpPr>
        <p:spPr>
          <a:xfrm>
            <a:off x="4389119" y="1462593"/>
            <a:ext cx="280577" cy="945998"/>
          </a:xfrm>
          <a:custGeom>
            <a:avLst/>
            <a:gdLst>
              <a:gd name="connsiteX0" fmla="*/ 410268 w 410267"/>
              <a:gd name="connsiteY0" fmla="*/ 399046 h 809314"/>
              <a:gd name="connsiteX1" fmla="*/ 0 w 410267"/>
              <a:gd name="connsiteY1" fmla="*/ 809314 h 809314"/>
              <a:gd name="connsiteX2" fmla="*/ 0 w 410267"/>
              <a:gd name="connsiteY2" fmla="*/ 0 h 809314"/>
              <a:gd name="connsiteX3" fmla="*/ 410268 w 410267"/>
              <a:gd name="connsiteY3" fmla="*/ 399046 h 80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67" h="809314">
                <a:moveTo>
                  <a:pt x="410268" y="399046"/>
                </a:moveTo>
                <a:lnTo>
                  <a:pt x="0" y="809314"/>
                </a:lnTo>
                <a:lnTo>
                  <a:pt x="0" y="0"/>
                </a:lnTo>
                <a:lnTo>
                  <a:pt x="410268" y="3990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8" name="Freeform: Shape 30">
            <a:extLst>
              <a:ext uri="{FF2B5EF4-FFF2-40B4-BE49-F238E27FC236}">
                <a16:creationId xmlns:a16="http://schemas.microsoft.com/office/drawing/2014/main" xmlns="" id="{C1842031-847B-A975-E882-CD9C089BBF16}"/>
              </a:ext>
            </a:extLst>
          </p:cNvPr>
          <p:cNvSpPr/>
          <p:nvPr/>
        </p:nvSpPr>
        <p:spPr>
          <a:xfrm>
            <a:off x="242457" y="944121"/>
            <a:ext cx="4427079" cy="1033680"/>
          </a:xfrm>
          <a:custGeom>
            <a:avLst/>
            <a:gdLst>
              <a:gd name="connsiteX0" fmla="*/ 411497 w 2040117"/>
              <a:gd name="connsiteY0" fmla="*/ 0 h 884327"/>
              <a:gd name="connsiteX1" fmla="*/ 1628620 w 2040117"/>
              <a:gd name="connsiteY1" fmla="*/ 0 h 884327"/>
              <a:gd name="connsiteX2" fmla="*/ 2040117 w 2040117"/>
              <a:gd name="connsiteY2" fmla="*/ 411497 h 884327"/>
              <a:gd name="connsiteX3" fmla="*/ 2040117 w 2040117"/>
              <a:gd name="connsiteY3" fmla="*/ 884327 h 884327"/>
              <a:gd name="connsiteX4" fmla="*/ 2040117 w 2040117"/>
              <a:gd name="connsiteY4" fmla="*/ 884327 h 884327"/>
              <a:gd name="connsiteX5" fmla="*/ 0 w 2040117"/>
              <a:gd name="connsiteY5" fmla="*/ 884327 h 884327"/>
              <a:gd name="connsiteX6" fmla="*/ 0 w 2040117"/>
              <a:gd name="connsiteY6" fmla="*/ 884327 h 884327"/>
              <a:gd name="connsiteX7" fmla="*/ 0 w 2040117"/>
              <a:gd name="connsiteY7" fmla="*/ 411497 h 884327"/>
              <a:gd name="connsiteX8" fmla="*/ 411497 w 2040117"/>
              <a:gd name="connsiteY8" fmla="*/ 0 h 884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0117" h="884327">
                <a:moveTo>
                  <a:pt x="411497" y="0"/>
                </a:moveTo>
                <a:lnTo>
                  <a:pt x="1628620" y="0"/>
                </a:lnTo>
                <a:cubicBezTo>
                  <a:pt x="1855889" y="0"/>
                  <a:pt x="2040117" y="184233"/>
                  <a:pt x="2040117" y="411497"/>
                </a:cubicBezTo>
                <a:lnTo>
                  <a:pt x="2040117" y="884327"/>
                </a:lnTo>
                <a:lnTo>
                  <a:pt x="2040117" y="884327"/>
                </a:lnTo>
                <a:lnTo>
                  <a:pt x="0" y="884327"/>
                </a:lnTo>
                <a:lnTo>
                  <a:pt x="0" y="884327"/>
                </a:lnTo>
                <a:lnTo>
                  <a:pt x="0" y="411497"/>
                </a:lnTo>
                <a:cubicBezTo>
                  <a:pt x="0" y="184233"/>
                  <a:pt x="184233" y="0"/>
                  <a:pt x="411497" y="0"/>
                </a:cubicBezTo>
                <a:close/>
              </a:path>
            </a:pathLst>
          </a:custGeom>
          <a:solidFill>
            <a:schemeClr val="accent1"/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900" b="1" dirty="0">
                <a:solidFill>
                  <a:schemeClr val="bg1">
                    <a:lumMod val="95000"/>
                  </a:schemeClr>
                </a:solidFill>
              </a:rPr>
              <a:t>How it </a:t>
            </a:r>
            <a:r>
              <a:rPr lang="en-IN" sz="2900" b="1" dirty="0" smtClean="0">
                <a:solidFill>
                  <a:schemeClr val="bg1">
                    <a:lumMod val="95000"/>
                  </a:schemeClr>
                </a:solidFill>
              </a:rPr>
              <a:t>works</a:t>
            </a:r>
            <a:endParaRPr lang="en-IN" sz="29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Freeform: Shape 27">
            <a:extLst>
              <a:ext uri="{FF2B5EF4-FFF2-40B4-BE49-F238E27FC236}">
                <a16:creationId xmlns:a16="http://schemas.microsoft.com/office/drawing/2014/main" xmlns="" id="{BB6894DF-AD74-CDF9-FC42-D9530BFD5A68}"/>
              </a:ext>
            </a:extLst>
          </p:cNvPr>
          <p:cNvSpPr/>
          <p:nvPr/>
        </p:nvSpPr>
        <p:spPr>
          <a:xfrm>
            <a:off x="7356489" y="1709992"/>
            <a:ext cx="332574" cy="686365"/>
          </a:xfrm>
          <a:custGeom>
            <a:avLst/>
            <a:gdLst>
              <a:gd name="connsiteX0" fmla="*/ 0 w 321573"/>
              <a:gd name="connsiteY0" fmla="*/ 265621 h 587194"/>
              <a:gd name="connsiteX1" fmla="*/ 321574 w 321573"/>
              <a:gd name="connsiteY1" fmla="*/ 587195 h 587194"/>
              <a:gd name="connsiteX2" fmla="*/ 321574 w 321573"/>
              <a:gd name="connsiteY2" fmla="*/ 0 h 587194"/>
              <a:gd name="connsiteX3" fmla="*/ 0 w 321573"/>
              <a:gd name="connsiteY3" fmla="*/ 265621 h 58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573" h="587194">
                <a:moveTo>
                  <a:pt x="0" y="265621"/>
                </a:moveTo>
                <a:lnTo>
                  <a:pt x="321574" y="587195"/>
                </a:lnTo>
                <a:lnTo>
                  <a:pt x="321574" y="0"/>
                </a:lnTo>
                <a:lnTo>
                  <a:pt x="0" y="265621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4" name="Freeform: Shape 28">
            <a:extLst>
              <a:ext uri="{FF2B5EF4-FFF2-40B4-BE49-F238E27FC236}">
                <a16:creationId xmlns:a16="http://schemas.microsoft.com/office/drawing/2014/main" xmlns="" id="{22938F9A-7F3F-505C-D7BA-AACDEA44933C}"/>
              </a:ext>
            </a:extLst>
          </p:cNvPr>
          <p:cNvSpPr/>
          <p:nvPr/>
        </p:nvSpPr>
        <p:spPr>
          <a:xfrm>
            <a:off x="11490959" y="1529649"/>
            <a:ext cx="280577" cy="945998"/>
          </a:xfrm>
          <a:custGeom>
            <a:avLst/>
            <a:gdLst>
              <a:gd name="connsiteX0" fmla="*/ 410268 w 410267"/>
              <a:gd name="connsiteY0" fmla="*/ 399046 h 809314"/>
              <a:gd name="connsiteX1" fmla="*/ 0 w 410267"/>
              <a:gd name="connsiteY1" fmla="*/ 809314 h 809314"/>
              <a:gd name="connsiteX2" fmla="*/ 0 w 410267"/>
              <a:gd name="connsiteY2" fmla="*/ 0 h 809314"/>
              <a:gd name="connsiteX3" fmla="*/ 410268 w 410267"/>
              <a:gd name="connsiteY3" fmla="*/ 399046 h 80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67" h="809314">
                <a:moveTo>
                  <a:pt x="410268" y="399046"/>
                </a:moveTo>
                <a:lnTo>
                  <a:pt x="0" y="809314"/>
                </a:lnTo>
                <a:lnTo>
                  <a:pt x="0" y="0"/>
                </a:lnTo>
                <a:lnTo>
                  <a:pt x="410268" y="399046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5" name="Freeform: Shape 30">
            <a:extLst>
              <a:ext uri="{FF2B5EF4-FFF2-40B4-BE49-F238E27FC236}">
                <a16:creationId xmlns:a16="http://schemas.microsoft.com/office/drawing/2014/main" xmlns="" id="{C1842031-847B-A975-E882-CD9C089BBF16}"/>
              </a:ext>
            </a:extLst>
          </p:cNvPr>
          <p:cNvSpPr/>
          <p:nvPr/>
        </p:nvSpPr>
        <p:spPr>
          <a:xfrm>
            <a:off x="7356489" y="986793"/>
            <a:ext cx="4427079" cy="1033680"/>
          </a:xfrm>
          <a:custGeom>
            <a:avLst/>
            <a:gdLst>
              <a:gd name="connsiteX0" fmla="*/ 411497 w 2040117"/>
              <a:gd name="connsiteY0" fmla="*/ 0 h 884327"/>
              <a:gd name="connsiteX1" fmla="*/ 1628620 w 2040117"/>
              <a:gd name="connsiteY1" fmla="*/ 0 h 884327"/>
              <a:gd name="connsiteX2" fmla="*/ 2040117 w 2040117"/>
              <a:gd name="connsiteY2" fmla="*/ 411497 h 884327"/>
              <a:gd name="connsiteX3" fmla="*/ 2040117 w 2040117"/>
              <a:gd name="connsiteY3" fmla="*/ 884327 h 884327"/>
              <a:gd name="connsiteX4" fmla="*/ 2040117 w 2040117"/>
              <a:gd name="connsiteY4" fmla="*/ 884327 h 884327"/>
              <a:gd name="connsiteX5" fmla="*/ 0 w 2040117"/>
              <a:gd name="connsiteY5" fmla="*/ 884327 h 884327"/>
              <a:gd name="connsiteX6" fmla="*/ 0 w 2040117"/>
              <a:gd name="connsiteY6" fmla="*/ 884327 h 884327"/>
              <a:gd name="connsiteX7" fmla="*/ 0 w 2040117"/>
              <a:gd name="connsiteY7" fmla="*/ 411497 h 884327"/>
              <a:gd name="connsiteX8" fmla="*/ 411497 w 2040117"/>
              <a:gd name="connsiteY8" fmla="*/ 0 h 884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0117" h="884327">
                <a:moveTo>
                  <a:pt x="411497" y="0"/>
                </a:moveTo>
                <a:lnTo>
                  <a:pt x="1628620" y="0"/>
                </a:lnTo>
                <a:cubicBezTo>
                  <a:pt x="1855889" y="0"/>
                  <a:pt x="2040117" y="184233"/>
                  <a:pt x="2040117" y="411497"/>
                </a:cubicBezTo>
                <a:lnTo>
                  <a:pt x="2040117" y="884327"/>
                </a:lnTo>
                <a:lnTo>
                  <a:pt x="2040117" y="884327"/>
                </a:lnTo>
                <a:lnTo>
                  <a:pt x="0" y="884327"/>
                </a:lnTo>
                <a:lnTo>
                  <a:pt x="0" y="884327"/>
                </a:lnTo>
                <a:lnTo>
                  <a:pt x="0" y="411497"/>
                </a:lnTo>
                <a:cubicBezTo>
                  <a:pt x="0" y="184233"/>
                  <a:pt x="184233" y="0"/>
                  <a:pt x="411497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900" b="1" dirty="0">
                <a:solidFill>
                  <a:schemeClr val="bg1">
                    <a:lumMod val="95000"/>
                  </a:schemeClr>
                </a:solidFill>
              </a:rPr>
              <a:t>Why it’s </a:t>
            </a:r>
            <a:r>
              <a:rPr lang="en-US" sz="2900" b="1" dirty="0" smtClean="0">
                <a:solidFill>
                  <a:schemeClr val="bg1">
                    <a:lumMod val="95000"/>
                  </a:schemeClr>
                </a:solidFill>
              </a:rPr>
              <a:t>useful</a:t>
            </a:r>
            <a:endParaRPr lang="en-IN" sz="29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Freeform: Shape 6">
            <a:extLst>
              <a:ext uri="{FF2B5EF4-FFF2-40B4-BE49-F238E27FC236}">
                <a16:creationId xmlns:a16="http://schemas.microsoft.com/office/drawing/2014/main" xmlns="" id="{542C202A-EB30-A1CC-3549-240CB5021B3F}"/>
              </a:ext>
            </a:extLst>
          </p:cNvPr>
          <p:cNvSpPr/>
          <p:nvPr/>
        </p:nvSpPr>
        <p:spPr>
          <a:xfrm>
            <a:off x="950669" y="5978542"/>
            <a:ext cx="11158779" cy="202496"/>
          </a:xfrm>
          <a:custGeom>
            <a:avLst/>
            <a:gdLst>
              <a:gd name="connsiteX0" fmla="*/ 9264405 w 9351151"/>
              <a:gd name="connsiteY0" fmla="*/ 173135 h 173238"/>
              <a:gd name="connsiteX1" fmla="*/ 86644 w 9351151"/>
              <a:gd name="connsiteY1" fmla="*/ 173135 h 173238"/>
              <a:gd name="connsiteX2" fmla="*/ -52 w 9351151"/>
              <a:gd name="connsiteY2" fmla="*/ 86747 h 173238"/>
              <a:gd name="connsiteX3" fmla="*/ -52 w 9351151"/>
              <a:gd name="connsiteY3" fmla="*/ 86593 h 173238"/>
              <a:gd name="connsiteX4" fmla="*/ -52 w 9351151"/>
              <a:gd name="connsiteY4" fmla="*/ 86593 h 173238"/>
              <a:gd name="connsiteX5" fmla="*/ 86644 w 9351151"/>
              <a:gd name="connsiteY5" fmla="*/ -103 h 173238"/>
              <a:gd name="connsiteX6" fmla="*/ 9264405 w 9351151"/>
              <a:gd name="connsiteY6" fmla="*/ -103 h 173238"/>
              <a:gd name="connsiteX7" fmla="*/ 9351100 w 9351151"/>
              <a:gd name="connsiteY7" fmla="*/ 86593 h 173238"/>
              <a:gd name="connsiteX8" fmla="*/ 9351100 w 9351151"/>
              <a:gd name="connsiteY8" fmla="*/ 86593 h 173238"/>
              <a:gd name="connsiteX9" fmla="*/ 9264558 w 9351151"/>
              <a:gd name="connsiteY9" fmla="*/ 173135 h 173238"/>
              <a:gd name="connsiteX10" fmla="*/ 9264405 w 9351151"/>
              <a:gd name="connsiteY10" fmla="*/ 173135 h 17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51151" h="173238">
                <a:moveTo>
                  <a:pt x="9264405" y="173135"/>
                </a:moveTo>
                <a:lnTo>
                  <a:pt x="86644" y="173135"/>
                </a:lnTo>
                <a:cubicBezTo>
                  <a:pt x="38848" y="173227"/>
                  <a:pt x="33" y="134537"/>
                  <a:pt x="-52" y="86747"/>
                </a:cubicBezTo>
                <a:cubicBezTo>
                  <a:pt x="-52" y="86700"/>
                  <a:pt x="-52" y="86639"/>
                  <a:pt x="-52" y="86593"/>
                </a:cubicBezTo>
                <a:lnTo>
                  <a:pt x="-52" y="86593"/>
                </a:lnTo>
                <a:cubicBezTo>
                  <a:pt x="-52" y="38711"/>
                  <a:pt x="38763" y="-103"/>
                  <a:pt x="86644" y="-103"/>
                </a:cubicBezTo>
                <a:lnTo>
                  <a:pt x="9264405" y="-103"/>
                </a:lnTo>
                <a:cubicBezTo>
                  <a:pt x="9312287" y="-103"/>
                  <a:pt x="9351100" y="38711"/>
                  <a:pt x="9351100" y="86593"/>
                </a:cubicBezTo>
                <a:lnTo>
                  <a:pt x="9351100" y="86593"/>
                </a:lnTo>
                <a:cubicBezTo>
                  <a:pt x="9351100" y="134383"/>
                  <a:pt x="9312348" y="173135"/>
                  <a:pt x="9264558" y="173135"/>
                </a:cubicBezTo>
                <a:cubicBezTo>
                  <a:pt x="9264512" y="173135"/>
                  <a:pt x="9264451" y="173135"/>
                  <a:pt x="9264405" y="173135"/>
                </a:cubicBezTo>
                <a:close/>
              </a:path>
            </a:pathLst>
          </a:custGeom>
          <a:solidFill>
            <a:schemeClr val="bg1">
              <a:lumMod val="65000"/>
              <a:alpha val="2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790688" y="2207044"/>
            <a:ext cx="359664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Great for companies or teams where no single person should have full control.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It prevents one person from stealing or losing the money.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Makes things more secure and democratic</a:t>
            </a:r>
          </a:p>
        </p:txBody>
      </p:sp>
    </p:spTree>
    <p:extLst>
      <p:ext uri="{BB962C8B-B14F-4D97-AF65-F5344CB8AC3E}">
        <p14:creationId xmlns:p14="http://schemas.microsoft.com/office/powerpoint/2010/main" val="3808626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4">
            <a:extLst>
              <a:ext uri="{FF2B5EF4-FFF2-40B4-BE49-F238E27FC236}">
                <a16:creationId xmlns:a16="http://schemas.microsoft.com/office/drawing/2014/main" xmlns="" id="{FCC04450-915E-C7E0-886F-CBA33711B666}"/>
              </a:ext>
            </a:extLst>
          </p:cNvPr>
          <p:cNvSpPr/>
          <p:nvPr/>
        </p:nvSpPr>
        <p:spPr>
          <a:xfrm>
            <a:off x="7689063" y="1193332"/>
            <a:ext cx="3801896" cy="5028915"/>
          </a:xfrm>
          <a:custGeom>
            <a:avLst/>
            <a:gdLst>
              <a:gd name="connsiteX0" fmla="*/ 1714956 w 1715007"/>
              <a:gd name="connsiteY0" fmla="*/ 2978911 h 4302304"/>
              <a:gd name="connsiteX1" fmla="*/ 1714956 w 1715007"/>
              <a:gd name="connsiteY1" fmla="*/ -103 h 4302304"/>
              <a:gd name="connsiteX2" fmla="*/ -52 w 1715007"/>
              <a:gd name="connsiteY2" fmla="*/ -103 h 4302304"/>
              <a:gd name="connsiteX3" fmla="*/ -52 w 1715007"/>
              <a:gd name="connsiteY3" fmla="*/ 2978911 h 4302304"/>
              <a:gd name="connsiteX4" fmla="*/ 301231 w 1715007"/>
              <a:gd name="connsiteY4" fmla="*/ 3280194 h 4302304"/>
              <a:gd name="connsiteX5" fmla="*/ 301385 w 1715007"/>
              <a:gd name="connsiteY5" fmla="*/ 3280194 h 4302304"/>
              <a:gd name="connsiteX6" fmla="*/ 457868 w 1715007"/>
              <a:gd name="connsiteY6" fmla="*/ 3280194 h 4302304"/>
              <a:gd name="connsiteX7" fmla="*/ 746854 w 1715007"/>
              <a:gd name="connsiteY7" fmla="*/ 3569333 h 4302304"/>
              <a:gd name="connsiteX8" fmla="*/ 746854 w 1715007"/>
              <a:gd name="connsiteY8" fmla="*/ 3683083 h 4302304"/>
              <a:gd name="connsiteX9" fmla="*/ 669996 w 1715007"/>
              <a:gd name="connsiteY9" fmla="*/ 3959772 h 4302304"/>
              <a:gd name="connsiteX10" fmla="*/ 737323 w 1715007"/>
              <a:gd name="connsiteY10" fmla="*/ 4267050 h 4302304"/>
              <a:gd name="connsiteX11" fmla="*/ 1044586 w 1715007"/>
              <a:gd name="connsiteY11" fmla="*/ 4199723 h 4302304"/>
              <a:gd name="connsiteX12" fmla="*/ 1048752 w 1715007"/>
              <a:gd name="connsiteY12" fmla="*/ 3966535 h 4302304"/>
              <a:gd name="connsiteX13" fmla="*/ 967897 w 1715007"/>
              <a:gd name="connsiteY13" fmla="*/ 3687388 h 4302304"/>
              <a:gd name="connsiteX14" fmla="*/ 967897 w 1715007"/>
              <a:gd name="connsiteY14" fmla="*/ 3569026 h 4302304"/>
              <a:gd name="connsiteX15" fmla="*/ 1257037 w 1715007"/>
              <a:gd name="connsiteY15" fmla="*/ 3279887 h 4302304"/>
              <a:gd name="connsiteX16" fmla="*/ 1413520 w 1715007"/>
              <a:gd name="connsiteY16" fmla="*/ 3279887 h 4302304"/>
              <a:gd name="connsiteX17" fmla="*/ 1714956 w 1715007"/>
              <a:gd name="connsiteY17" fmla="*/ 2978911 h 4302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15007" h="4302304">
                <a:moveTo>
                  <a:pt x="1714956" y="2978911"/>
                </a:moveTo>
                <a:lnTo>
                  <a:pt x="1714956" y="-103"/>
                </a:lnTo>
                <a:lnTo>
                  <a:pt x="-52" y="-103"/>
                </a:lnTo>
                <a:lnTo>
                  <a:pt x="-52" y="2978911"/>
                </a:lnTo>
                <a:cubicBezTo>
                  <a:pt x="-52" y="3145308"/>
                  <a:pt x="134834" y="3280194"/>
                  <a:pt x="301231" y="3280194"/>
                </a:cubicBezTo>
                <a:cubicBezTo>
                  <a:pt x="301278" y="3280194"/>
                  <a:pt x="301339" y="3280194"/>
                  <a:pt x="301385" y="3280194"/>
                </a:cubicBezTo>
                <a:lnTo>
                  <a:pt x="457868" y="3280194"/>
                </a:lnTo>
                <a:cubicBezTo>
                  <a:pt x="617502" y="3280286"/>
                  <a:pt x="746854" y="3409700"/>
                  <a:pt x="746854" y="3569333"/>
                </a:cubicBezTo>
                <a:lnTo>
                  <a:pt x="746854" y="3683083"/>
                </a:lnTo>
                <a:cubicBezTo>
                  <a:pt x="748191" y="3780754"/>
                  <a:pt x="721522" y="3876781"/>
                  <a:pt x="669996" y="3959772"/>
                </a:cubicBezTo>
                <a:cubicBezTo>
                  <a:pt x="603729" y="4063207"/>
                  <a:pt x="633873" y="4200783"/>
                  <a:pt x="737323" y="4267050"/>
                </a:cubicBezTo>
                <a:cubicBezTo>
                  <a:pt x="840759" y="4333302"/>
                  <a:pt x="978335" y="4303158"/>
                  <a:pt x="1044586" y="4199723"/>
                </a:cubicBezTo>
                <a:cubicBezTo>
                  <a:pt x="1089886" y="4129013"/>
                  <a:pt x="1091500" y="4038813"/>
                  <a:pt x="1048752" y="3966535"/>
                </a:cubicBezTo>
                <a:cubicBezTo>
                  <a:pt x="997180" y="3882453"/>
                  <a:pt x="969250" y="3786011"/>
                  <a:pt x="967897" y="3687388"/>
                </a:cubicBezTo>
                <a:lnTo>
                  <a:pt x="967897" y="3569026"/>
                </a:lnTo>
                <a:cubicBezTo>
                  <a:pt x="967897" y="3409346"/>
                  <a:pt x="1097342" y="3279887"/>
                  <a:pt x="1257037" y="3279887"/>
                </a:cubicBezTo>
                <a:lnTo>
                  <a:pt x="1413520" y="3279887"/>
                </a:lnTo>
                <a:cubicBezTo>
                  <a:pt x="1579856" y="3279979"/>
                  <a:pt x="1714788" y="3145247"/>
                  <a:pt x="1714956" y="2978911"/>
                </a:cubicBezTo>
                <a:close/>
              </a:path>
            </a:pathLst>
          </a:custGeom>
          <a:solidFill>
            <a:schemeClr val="bg1"/>
          </a:solidFill>
          <a:ln w="7140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3E0312A-4421-47FA-93DD-398C899BD4C8}"/>
              </a:ext>
            </a:extLst>
          </p:cNvPr>
          <p:cNvSpPr/>
          <p:nvPr/>
        </p:nvSpPr>
        <p:spPr>
          <a:xfrm>
            <a:off x="0" y="-2308"/>
            <a:ext cx="12192000" cy="7078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BDEA64-AE4F-4D4C-9C88-896D9CB765A0}"/>
              </a:ext>
            </a:extLst>
          </p:cNvPr>
          <p:cNvSpPr txBox="1"/>
          <p:nvPr/>
        </p:nvSpPr>
        <p:spPr>
          <a:xfrm>
            <a:off x="125599" y="-24923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 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Multi-Signature Wallet: Example &amp; Benefit</a:t>
            </a:r>
            <a:endParaRPr lang="en-US" sz="4000" b="1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719743E-C82E-7CB1-0429-8D9DB80EACFA}"/>
              </a:ext>
            </a:extLst>
          </p:cNvPr>
          <p:cNvSpPr/>
          <p:nvPr/>
        </p:nvSpPr>
        <p:spPr>
          <a:xfrm>
            <a:off x="0" y="6547708"/>
            <a:ext cx="12191999" cy="2912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F055489-6E50-9FB1-3CA2-950E7D057598}"/>
              </a:ext>
            </a:extLst>
          </p:cNvPr>
          <p:cNvGrpSpPr/>
          <p:nvPr/>
        </p:nvGrpSpPr>
        <p:grpSpPr>
          <a:xfrm>
            <a:off x="587223" y="1193331"/>
            <a:ext cx="11406401" cy="5028915"/>
            <a:chOff x="1212916" y="1822195"/>
            <a:chExt cx="9558660" cy="43023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42C202A-EB30-A1CC-3549-240CB5021B3F}"/>
                </a:ext>
              </a:extLst>
            </p:cNvPr>
            <p:cNvSpPr/>
            <p:nvPr/>
          </p:nvSpPr>
          <p:spPr>
            <a:xfrm>
              <a:off x="1420425" y="5837778"/>
              <a:ext cx="9351151" cy="173238"/>
            </a:xfrm>
            <a:custGeom>
              <a:avLst/>
              <a:gdLst>
                <a:gd name="connsiteX0" fmla="*/ 9264405 w 9351151"/>
                <a:gd name="connsiteY0" fmla="*/ 173135 h 173238"/>
                <a:gd name="connsiteX1" fmla="*/ 86644 w 9351151"/>
                <a:gd name="connsiteY1" fmla="*/ 173135 h 173238"/>
                <a:gd name="connsiteX2" fmla="*/ -52 w 9351151"/>
                <a:gd name="connsiteY2" fmla="*/ 86747 h 173238"/>
                <a:gd name="connsiteX3" fmla="*/ -52 w 9351151"/>
                <a:gd name="connsiteY3" fmla="*/ 86593 h 173238"/>
                <a:gd name="connsiteX4" fmla="*/ -52 w 9351151"/>
                <a:gd name="connsiteY4" fmla="*/ 86593 h 173238"/>
                <a:gd name="connsiteX5" fmla="*/ 86644 w 9351151"/>
                <a:gd name="connsiteY5" fmla="*/ -103 h 173238"/>
                <a:gd name="connsiteX6" fmla="*/ 9264405 w 9351151"/>
                <a:gd name="connsiteY6" fmla="*/ -103 h 173238"/>
                <a:gd name="connsiteX7" fmla="*/ 9351100 w 9351151"/>
                <a:gd name="connsiteY7" fmla="*/ 86593 h 173238"/>
                <a:gd name="connsiteX8" fmla="*/ 9351100 w 9351151"/>
                <a:gd name="connsiteY8" fmla="*/ 86593 h 173238"/>
                <a:gd name="connsiteX9" fmla="*/ 9264558 w 9351151"/>
                <a:gd name="connsiteY9" fmla="*/ 173135 h 173238"/>
                <a:gd name="connsiteX10" fmla="*/ 9264405 w 9351151"/>
                <a:gd name="connsiteY10" fmla="*/ 173135 h 17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51151" h="173238">
                  <a:moveTo>
                    <a:pt x="9264405" y="173135"/>
                  </a:moveTo>
                  <a:lnTo>
                    <a:pt x="86644" y="173135"/>
                  </a:lnTo>
                  <a:cubicBezTo>
                    <a:pt x="38848" y="173227"/>
                    <a:pt x="33" y="134537"/>
                    <a:pt x="-52" y="86747"/>
                  </a:cubicBezTo>
                  <a:cubicBezTo>
                    <a:pt x="-52" y="86700"/>
                    <a:pt x="-52" y="86639"/>
                    <a:pt x="-52" y="86593"/>
                  </a:cubicBezTo>
                  <a:lnTo>
                    <a:pt x="-52" y="86593"/>
                  </a:lnTo>
                  <a:cubicBezTo>
                    <a:pt x="-52" y="38711"/>
                    <a:pt x="38763" y="-103"/>
                    <a:pt x="86644" y="-103"/>
                  </a:cubicBezTo>
                  <a:lnTo>
                    <a:pt x="9264405" y="-103"/>
                  </a:lnTo>
                  <a:cubicBezTo>
                    <a:pt x="9312287" y="-103"/>
                    <a:pt x="9351100" y="38711"/>
                    <a:pt x="9351100" y="86593"/>
                  </a:cubicBezTo>
                  <a:lnTo>
                    <a:pt x="9351100" y="86593"/>
                  </a:lnTo>
                  <a:cubicBezTo>
                    <a:pt x="9351100" y="134383"/>
                    <a:pt x="9312348" y="173135"/>
                    <a:pt x="9264558" y="173135"/>
                  </a:cubicBezTo>
                  <a:cubicBezTo>
                    <a:pt x="9264512" y="173135"/>
                    <a:pt x="9264451" y="173135"/>
                    <a:pt x="9264405" y="173135"/>
                  </a:cubicBezTo>
                  <a:close/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 w="1536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620A4342-D809-FFC8-063D-539CAD99267A}"/>
                </a:ext>
              </a:extLst>
            </p:cNvPr>
            <p:cNvGrpSpPr/>
            <p:nvPr/>
          </p:nvGrpSpPr>
          <p:grpSpPr>
            <a:xfrm>
              <a:off x="1212916" y="1822195"/>
              <a:ext cx="7680676" cy="4302304"/>
              <a:chOff x="638709" y="1822195"/>
              <a:chExt cx="7680676" cy="430230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C5D3203B-9583-335F-9C5D-B7043A53F24A}"/>
                  </a:ext>
                </a:extLst>
              </p:cNvPr>
              <p:cNvGrpSpPr/>
              <p:nvPr/>
            </p:nvGrpSpPr>
            <p:grpSpPr>
              <a:xfrm>
                <a:off x="638709" y="1822195"/>
                <a:ext cx="3155371" cy="4302304"/>
                <a:chOff x="638709" y="1822195"/>
                <a:chExt cx="3155371" cy="4302304"/>
              </a:xfrm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xmlns="" id="{BB6894DF-AD74-CDF9-FC42-D9530BFD5A68}"/>
                    </a:ext>
                  </a:extLst>
                </p:cNvPr>
                <p:cNvSpPr/>
                <p:nvPr/>
              </p:nvSpPr>
              <p:spPr>
                <a:xfrm>
                  <a:off x="1269322" y="2227698"/>
                  <a:ext cx="321573" cy="587194"/>
                </a:xfrm>
                <a:custGeom>
                  <a:avLst/>
                  <a:gdLst>
                    <a:gd name="connsiteX0" fmla="*/ 0 w 321573"/>
                    <a:gd name="connsiteY0" fmla="*/ 265621 h 587194"/>
                    <a:gd name="connsiteX1" fmla="*/ 321574 w 321573"/>
                    <a:gd name="connsiteY1" fmla="*/ 587195 h 587194"/>
                    <a:gd name="connsiteX2" fmla="*/ 321574 w 321573"/>
                    <a:gd name="connsiteY2" fmla="*/ 0 h 587194"/>
                    <a:gd name="connsiteX3" fmla="*/ 0 w 321573"/>
                    <a:gd name="connsiteY3" fmla="*/ 265621 h 58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573" h="587194">
                      <a:moveTo>
                        <a:pt x="0" y="265621"/>
                      </a:moveTo>
                      <a:lnTo>
                        <a:pt x="321574" y="587195"/>
                      </a:lnTo>
                      <a:lnTo>
                        <a:pt x="321574" y="0"/>
                      </a:lnTo>
                      <a:lnTo>
                        <a:pt x="0" y="26562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xmlns="" id="{22938F9A-7F3F-505C-D7BA-AACDEA44933C}"/>
                    </a:ext>
                  </a:extLst>
                </p:cNvPr>
                <p:cNvSpPr/>
                <p:nvPr/>
              </p:nvSpPr>
              <p:spPr>
                <a:xfrm>
                  <a:off x="2899171" y="2094273"/>
                  <a:ext cx="410267" cy="809314"/>
                </a:xfrm>
                <a:custGeom>
                  <a:avLst/>
                  <a:gdLst>
                    <a:gd name="connsiteX0" fmla="*/ 410268 w 410267"/>
                    <a:gd name="connsiteY0" fmla="*/ 399046 h 809314"/>
                    <a:gd name="connsiteX1" fmla="*/ 0 w 410267"/>
                    <a:gd name="connsiteY1" fmla="*/ 809314 h 809314"/>
                    <a:gd name="connsiteX2" fmla="*/ 0 w 410267"/>
                    <a:gd name="connsiteY2" fmla="*/ 0 h 809314"/>
                    <a:gd name="connsiteX3" fmla="*/ 410268 w 410267"/>
                    <a:gd name="connsiteY3" fmla="*/ 399046 h 809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267" h="809314">
                      <a:moveTo>
                        <a:pt x="410268" y="399046"/>
                      </a:moveTo>
                      <a:lnTo>
                        <a:pt x="0" y="809314"/>
                      </a:lnTo>
                      <a:lnTo>
                        <a:pt x="0" y="0"/>
                      </a:lnTo>
                      <a:lnTo>
                        <a:pt x="410268" y="399046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xmlns="" id="{528B98CB-5D53-8607-582A-CA6A1433C412}"/>
                    </a:ext>
                  </a:extLst>
                </p:cNvPr>
                <p:cNvSpPr/>
                <p:nvPr/>
              </p:nvSpPr>
              <p:spPr>
                <a:xfrm>
                  <a:off x="638709" y="1822195"/>
                  <a:ext cx="3155371" cy="4302304"/>
                </a:xfrm>
                <a:custGeom>
                  <a:avLst/>
                  <a:gdLst>
                    <a:gd name="connsiteX0" fmla="*/ 1714956 w 1715007"/>
                    <a:gd name="connsiteY0" fmla="*/ 2978911 h 4302304"/>
                    <a:gd name="connsiteX1" fmla="*/ 1714956 w 1715007"/>
                    <a:gd name="connsiteY1" fmla="*/ -103 h 4302304"/>
                    <a:gd name="connsiteX2" fmla="*/ -52 w 1715007"/>
                    <a:gd name="connsiteY2" fmla="*/ -103 h 4302304"/>
                    <a:gd name="connsiteX3" fmla="*/ -52 w 1715007"/>
                    <a:gd name="connsiteY3" fmla="*/ 2978911 h 4302304"/>
                    <a:gd name="connsiteX4" fmla="*/ 301232 w 1715007"/>
                    <a:gd name="connsiteY4" fmla="*/ 3280194 h 4302304"/>
                    <a:gd name="connsiteX5" fmla="*/ 301385 w 1715007"/>
                    <a:gd name="connsiteY5" fmla="*/ 3280194 h 4302304"/>
                    <a:gd name="connsiteX6" fmla="*/ 457868 w 1715007"/>
                    <a:gd name="connsiteY6" fmla="*/ 3280194 h 4302304"/>
                    <a:gd name="connsiteX7" fmla="*/ 746854 w 1715007"/>
                    <a:gd name="connsiteY7" fmla="*/ 3569333 h 4302304"/>
                    <a:gd name="connsiteX8" fmla="*/ 746854 w 1715007"/>
                    <a:gd name="connsiteY8" fmla="*/ 3683083 h 4302304"/>
                    <a:gd name="connsiteX9" fmla="*/ 669996 w 1715007"/>
                    <a:gd name="connsiteY9" fmla="*/ 3959772 h 4302304"/>
                    <a:gd name="connsiteX10" fmla="*/ 737323 w 1715007"/>
                    <a:gd name="connsiteY10" fmla="*/ 4267050 h 4302304"/>
                    <a:gd name="connsiteX11" fmla="*/ 1044586 w 1715007"/>
                    <a:gd name="connsiteY11" fmla="*/ 4199723 h 4302304"/>
                    <a:gd name="connsiteX12" fmla="*/ 1048752 w 1715007"/>
                    <a:gd name="connsiteY12" fmla="*/ 3966535 h 4302304"/>
                    <a:gd name="connsiteX13" fmla="*/ 967897 w 1715007"/>
                    <a:gd name="connsiteY13" fmla="*/ 3687388 h 4302304"/>
                    <a:gd name="connsiteX14" fmla="*/ 967897 w 1715007"/>
                    <a:gd name="connsiteY14" fmla="*/ 3569026 h 4302304"/>
                    <a:gd name="connsiteX15" fmla="*/ 1257037 w 1715007"/>
                    <a:gd name="connsiteY15" fmla="*/ 3279887 h 4302304"/>
                    <a:gd name="connsiteX16" fmla="*/ 1413673 w 1715007"/>
                    <a:gd name="connsiteY16" fmla="*/ 3279887 h 4302304"/>
                    <a:gd name="connsiteX17" fmla="*/ 1714956 w 1715007"/>
                    <a:gd name="connsiteY17" fmla="*/ 2978911 h 4302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715007" h="4302304">
                      <a:moveTo>
                        <a:pt x="1714956" y="2978911"/>
                      </a:moveTo>
                      <a:lnTo>
                        <a:pt x="1714956" y="-103"/>
                      </a:lnTo>
                      <a:lnTo>
                        <a:pt x="-52" y="-103"/>
                      </a:lnTo>
                      <a:lnTo>
                        <a:pt x="-52" y="2978911"/>
                      </a:lnTo>
                      <a:cubicBezTo>
                        <a:pt x="-52" y="3145308"/>
                        <a:pt x="134837" y="3280194"/>
                        <a:pt x="301232" y="3280194"/>
                      </a:cubicBezTo>
                      <a:cubicBezTo>
                        <a:pt x="301282" y="3280194"/>
                        <a:pt x="301335" y="3280194"/>
                        <a:pt x="301385" y="3280194"/>
                      </a:cubicBezTo>
                      <a:lnTo>
                        <a:pt x="457868" y="3280194"/>
                      </a:lnTo>
                      <a:cubicBezTo>
                        <a:pt x="617502" y="3280286"/>
                        <a:pt x="746854" y="3409700"/>
                        <a:pt x="746854" y="3569333"/>
                      </a:cubicBezTo>
                      <a:lnTo>
                        <a:pt x="746854" y="3683083"/>
                      </a:lnTo>
                      <a:cubicBezTo>
                        <a:pt x="748191" y="3780754"/>
                        <a:pt x="721521" y="3876781"/>
                        <a:pt x="669996" y="3959772"/>
                      </a:cubicBezTo>
                      <a:cubicBezTo>
                        <a:pt x="603729" y="4063207"/>
                        <a:pt x="633873" y="4200783"/>
                        <a:pt x="737323" y="4267050"/>
                      </a:cubicBezTo>
                      <a:cubicBezTo>
                        <a:pt x="840759" y="4333302"/>
                        <a:pt x="978335" y="4303158"/>
                        <a:pt x="1044586" y="4199723"/>
                      </a:cubicBezTo>
                      <a:cubicBezTo>
                        <a:pt x="1089886" y="4129013"/>
                        <a:pt x="1091500" y="4038813"/>
                        <a:pt x="1048752" y="3966535"/>
                      </a:cubicBezTo>
                      <a:cubicBezTo>
                        <a:pt x="997180" y="3882453"/>
                        <a:pt x="969250" y="3786011"/>
                        <a:pt x="967897" y="3687388"/>
                      </a:cubicBezTo>
                      <a:lnTo>
                        <a:pt x="967897" y="3569026"/>
                      </a:lnTo>
                      <a:cubicBezTo>
                        <a:pt x="967897" y="3409346"/>
                        <a:pt x="1097357" y="3279887"/>
                        <a:pt x="1257037" y="3279887"/>
                      </a:cubicBezTo>
                      <a:lnTo>
                        <a:pt x="1413673" y="3279887"/>
                      </a:lnTo>
                      <a:cubicBezTo>
                        <a:pt x="1579948" y="3279887"/>
                        <a:pt x="1714787" y="3145185"/>
                        <a:pt x="1714956" y="29789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140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xmlns="" id="{47572A62-3C4A-E8F3-FD39-7C0B55F69EDA}"/>
                    </a:ext>
                  </a:extLst>
                </p:cNvPr>
                <p:cNvSpPr/>
                <p:nvPr/>
              </p:nvSpPr>
              <p:spPr>
                <a:xfrm>
                  <a:off x="2178551" y="5791293"/>
                  <a:ext cx="221350" cy="221350"/>
                </a:xfrm>
                <a:custGeom>
                  <a:avLst/>
                  <a:gdLst>
                    <a:gd name="connsiteX0" fmla="*/ 221299 w 221350"/>
                    <a:gd name="connsiteY0" fmla="*/ 110572 h 221350"/>
                    <a:gd name="connsiteX1" fmla="*/ 110624 w 221350"/>
                    <a:gd name="connsiteY1" fmla="*/ 221248 h 221350"/>
                    <a:gd name="connsiteX2" fmla="*/ -52 w 221350"/>
                    <a:gd name="connsiteY2" fmla="*/ 110572 h 221350"/>
                    <a:gd name="connsiteX3" fmla="*/ 110624 w 221350"/>
                    <a:gd name="connsiteY3" fmla="*/ -103 h 221350"/>
                    <a:gd name="connsiteX4" fmla="*/ 110778 w 221350"/>
                    <a:gd name="connsiteY4" fmla="*/ -103 h 221350"/>
                    <a:gd name="connsiteX5" fmla="*/ 221299 w 221350"/>
                    <a:gd name="connsiteY5" fmla="*/ 110419 h 221350"/>
                    <a:gd name="connsiteX6" fmla="*/ 221299 w 221350"/>
                    <a:gd name="connsiteY6" fmla="*/ 110572 h 221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1350" h="221350">
                      <a:moveTo>
                        <a:pt x="221299" y="110572"/>
                      </a:moveTo>
                      <a:cubicBezTo>
                        <a:pt x="221299" y="171690"/>
                        <a:pt x="171741" y="221248"/>
                        <a:pt x="110624" y="221248"/>
                      </a:cubicBezTo>
                      <a:cubicBezTo>
                        <a:pt x="49506" y="221248"/>
                        <a:pt x="-52" y="171690"/>
                        <a:pt x="-52" y="110572"/>
                      </a:cubicBezTo>
                      <a:cubicBezTo>
                        <a:pt x="-52" y="49455"/>
                        <a:pt x="49506" y="-103"/>
                        <a:pt x="110624" y="-103"/>
                      </a:cubicBezTo>
                      <a:cubicBezTo>
                        <a:pt x="110670" y="-103"/>
                        <a:pt x="110731" y="-103"/>
                        <a:pt x="110778" y="-103"/>
                      </a:cubicBezTo>
                      <a:cubicBezTo>
                        <a:pt x="171818" y="-103"/>
                        <a:pt x="221299" y="49378"/>
                        <a:pt x="221299" y="110419"/>
                      </a:cubicBezTo>
                      <a:cubicBezTo>
                        <a:pt x="221299" y="110465"/>
                        <a:pt x="221299" y="110527"/>
                        <a:pt x="221299" y="1105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30D67C75-9BE0-9138-891D-D05BA050FEBF}"/>
                  </a:ext>
                </a:extLst>
              </p:cNvPr>
              <p:cNvSpPr/>
              <p:nvPr/>
            </p:nvSpPr>
            <p:spPr>
              <a:xfrm>
                <a:off x="8098035" y="5791293"/>
                <a:ext cx="221350" cy="221350"/>
              </a:xfrm>
              <a:custGeom>
                <a:avLst/>
                <a:gdLst>
                  <a:gd name="connsiteX0" fmla="*/ 221299 w 221350"/>
                  <a:gd name="connsiteY0" fmla="*/ 110572 h 221350"/>
                  <a:gd name="connsiteX1" fmla="*/ 110624 w 221350"/>
                  <a:gd name="connsiteY1" fmla="*/ 221248 h 221350"/>
                  <a:gd name="connsiteX2" fmla="*/ -52 w 221350"/>
                  <a:gd name="connsiteY2" fmla="*/ 110572 h 221350"/>
                  <a:gd name="connsiteX3" fmla="*/ 110624 w 221350"/>
                  <a:gd name="connsiteY3" fmla="*/ -103 h 221350"/>
                  <a:gd name="connsiteX4" fmla="*/ 110777 w 221350"/>
                  <a:gd name="connsiteY4" fmla="*/ -103 h 221350"/>
                  <a:gd name="connsiteX5" fmla="*/ 221299 w 221350"/>
                  <a:gd name="connsiteY5" fmla="*/ 110419 h 221350"/>
                  <a:gd name="connsiteX6" fmla="*/ 221299 w 221350"/>
                  <a:gd name="connsiteY6" fmla="*/ 110572 h 2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350" h="221350">
                    <a:moveTo>
                      <a:pt x="221299" y="110572"/>
                    </a:moveTo>
                    <a:cubicBezTo>
                      <a:pt x="221299" y="171690"/>
                      <a:pt x="171741" y="221248"/>
                      <a:pt x="110624" y="221248"/>
                    </a:cubicBezTo>
                    <a:cubicBezTo>
                      <a:pt x="49506" y="221248"/>
                      <a:pt x="-52" y="171690"/>
                      <a:pt x="-52" y="110572"/>
                    </a:cubicBezTo>
                    <a:cubicBezTo>
                      <a:pt x="-52" y="49455"/>
                      <a:pt x="49506" y="-103"/>
                      <a:pt x="110624" y="-103"/>
                    </a:cubicBezTo>
                    <a:cubicBezTo>
                      <a:pt x="110670" y="-103"/>
                      <a:pt x="110731" y="-103"/>
                      <a:pt x="110777" y="-103"/>
                    </a:cubicBezTo>
                    <a:cubicBezTo>
                      <a:pt x="171818" y="-103"/>
                      <a:pt x="221299" y="49378"/>
                      <a:pt x="221299" y="110419"/>
                    </a:cubicBezTo>
                    <a:cubicBezTo>
                      <a:pt x="221299" y="110465"/>
                      <a:pt x="221299" y="110527"/>
                      <a:pt x="221299" y="110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36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38EC853D-97DA-87B2-EE0D-A0E0A0C9E52B}"/>
                  </a:ext>
                </a:extLst>
              </p:cNvPr>
              <p:cNvSpPr/>
              <p:nvPr/>
            </p:nvSpPr>
            <p:spPr>
              <a:xfrm>
                <a:off x="5200249" y="5791293"/>
                <a:ext cx="221351" cy="221350"/>
              </a:xfrm>
              <a:custGeom>
                <a:avLst/>
                <a:gdLst>
                  <a:gd name="connsiteX0" fmla="*/ 221300 w 221351"/>
                  <a:gd name="connsiteY0" fmla="*/ 110573 h 221350"/>
                  <a:gd name="connsiteX1" fmla="*/ 110624 w 221351"/>
                  <a:gd name="connsiteY1" fmla="*/ 221248 h 221350"/>
                  <a:gd name="connsiteX2" fmla="*/ -52 w 221351"/>
                  <a:gd name="connsiteY2" fmla="*/ 110573 h 221350"/>
                  <a:gd name="connsiteX3" fmla="*/ 110624 w 221351"/>
                  <a:gd name="connsiteY3" fmla="*/ -103 h 221350"/>
                  <a:gd name="connsiteX4" fmla="*/ 221300 w 221351"/>
                  <a:gd name="connsiteY4" fmla="*/ 110265 h 221350"/>
                  <a:gd name="connsiteX5" fmla="*/ 221300 w 221351"/>
                  <a:gd name="connsiteY5" fmla="*/ 110573 h 2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351" h="221350">
                    <a:moveTo>
                      <a:pt x="221300" y="110573"/>
                    </a:moveTo>
                    <a:cubicBezTo>
                      <a:pt x="221300" y="171690"/>
                      <a:pt x="171741" y="221248"/>
                      <a:pt x="110624" y="221248"/>
                    </a:cubicBezTo>
                    <a:cubicBezTo>
                      <a:pt x="49506" y="221248"/>
                      <a:pt x="-52" y="171690"/>
                      <a:pt x="-52" y="110573"/>
                    </a:cubicBezTo>
                    <a:cubicBezTo>
                      <a:pt x="-52" y="49455"/>
                      <a:pt x="49506" y="-103"/>
                      <a:pt x="110624" y="-103"/>
                    </a:cubicBezTo>
                    <a:cubicBezTo>
                      <a:pt x="171665" y="-195"/>
                      <a:pt x="221207" y="49225"/>
                      <a:pt x="221300" y="110265"/>
                    </a:cubicBezTo>
                    <a:cubicBezTo>
                      <a:pt x="221300" y="110373"/>
                      <a:pt x="221300" y="110465"/>
                      <a:pt x="221300" y="11057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536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3BB7E75-C570-3CED-6C1C-D060E114149E}"/>
              </a:ext>
            </a:extLst>
          </p:cNvPr>
          <p:cNvSpPr txBox="1"/>
          <p:nvPr/>
        </p:nvSpPr>
        <p:spPr>
          <a:xfrm>
            <a:off x="1361736" y="1242359"/>
            <a:ext cx="2144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C53FECF-A9C3-A76E-E2E8-D88F28EB8FD7}"/>
              </a:ext>
            </a:extLst>
          </p:cNvPr>
          <p:cNvSpPr txBox="1"/>
          <p:nvPr/>
        </p:nvSpPr>
        <p:spPr>
          <a:xfrm>
            <a:off x="672567" y="2085461"/>
            <a:ext cx="376532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You create a multi-signature wallet.</a:t>
            </a:r>
          </a:p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You set a rule like “3 of 5”.</a:t>
            </a:r>
          </a:p>
          <a:p>
            <a:pPr marL="171450" indent="-1714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900" dirty="0"/>
              <a:t>This means:</a:t>
            </a:r>
          </a:p>
          <a:p>
            <a:pPr marL="401638" indent="-23018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900" dirty="0"/>
              <a:t>5 people each get their own private key.</a:t>
            </a:r>
          </a:p>
          <a:p>
            <a:pPr marL="401638" indent="-23018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900" dirty="0"/>
              <a:t>Any 3 out of those 5 must agree (sign) to approve a transaction.</a:t>
            </a:r>
            <a:endParaRPr lang="en-IN" sz="1900" dirty="0"/>
          </a:p>
        </p:txBody>
      </p:sp>
      <p:sp>
        <p:nvSpPr>
          <p:cNvPr id="36" name="Freeform: Shape 27">
            <a:extLst>
              <a:ext uri="{FF2B5EF4-FFF2-40B4-BE49-F238E27FC236}">
                <a16:creationId xmlns:a16="http://schemas.microsoft.com/office/drawing/2014/main" xmlns="" id="{BB6894DF-AD74-CDF9-FC42-D9530BFD5A68}"/>
              </a:ext>
            </a:extLst>
          </p:cNvPr>
          <p:cNvSpPr/>
          <p:nvPr/>
        </p:nvSpPr>
        <p:spPr>
          <a:xfrm>
            <a:off x="242457" y="1667320"/>
            <a:ext cx="332574" cy="686365"/>
          </a:xfrm>
          <a:custGeom>
            <a:avLst/>
            <a:gdLst>
              <a:gd name="connsiteX0" fmla="*/ 0 w 321573"/>
              <a:gd name="connsiteY0" fmla="*/ 265621 h 587194"/>
              <a:gd name="connsiteX1" fmla="*/ 321574 w 321573"/>
              <a:gd name="connsiteY1" fmla="*/ 587195 h 587194"/>
              <a:gd name="connsiteX2" fmla="*/ 321574 w 321573"/>
              <a:gd name="connsiteY2" fmla="*/ 0 h 587194"/>
              <a:gd name="connsiteX3" fmla="*/ 0 w 321573"/>
              <a:gd name="connsiteY3" fmla="*/ 265621 h 58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573" h="587194">
                <a:moveTo>
                  <a:pt x="0" y="265621"/>
                </a:moveTo>
                <a:lnTo>
                  <a:pt x="321574" y="587195"/>
                </a:lnTo>
                <a:lnTo>
                  <a:pt x="321574" y="0"/>
                </a:lnTo>
                <a:lnTo>
                  <a:pt x="0" y="26562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7" name="Freeform: Shape 28">
            <a:extLst>
              <a:ext uri="{FF2B5EF4-FFF2-40B4-BE49-F238E27FC236}">
                <a16:creationId xmlns:a16="http://schemas.microsoft.com/office/drawing/2014/main" xmlns="" id="{22938F9A-7F3F-505C-D7BA-AACDEA44933C}"/>
              </a:ext>
            </a:extLst>
          </p:cNvPr>
          <p:cNvSpPr/>
          <p:nvPr/>
        </p:nvSpPr>
        <p:spPr>
          <a:xfrm>
            <a:off x="4389119" y="1462593"/>
            <a:ext cx="280577" cy="945998"/>
          </a:xfrm>
          <a:custGeom>
            <a:avLst/>
            <a:gdLst>
              <a:gd name="connsiteX0" fmla="*/ 410268 w 410267"/>
              <a:gd name="connsiteY0" fmla="*/ 399046 h 809314"/>
              <a:gd name="connsiteX1" fmla="*/ 0 w 410267"/>
              <a:gd name="connsiteY1" fmla="*/ 809314 h 809314"/>
              <a:gd name="connsiteX2" fmla="*/ 0 w 410267"/>
              <a:gd name="connsiteY2" fmla="*/ 0 h 809314"/>
              <a:gd name="connsiteX3" fmla="*/ 410268 w 410267"/>
              <a:gd name="connsiteY3" fmla="*/ 399046 h 80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67" h="809314">
                <a:moveTo>
                  <a:pt x="410268" y="399046"/>
                </a:moveTo>
                <a:lnTo>
                  <a:pt x="0" y="809314"/>
                </a:lnTo>
                <a:lnTo>
                  <a:pt x="0" y="0"/>
                </a:lnTo>
                <a:lnTo>
                  <a:pt x="410268" y="3990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8" name="Freeform: Shape 30">
            <a:extLst>
              <a:ext uri="{FF2B5EF4-FFF2-40B4-BE49-F238E27FC236}">
                <a16:creationId xmlns:a16="http://schemas.microsoft.com/office/drawing/2014/main" xmlns="" id="{C1842031-847B-A975-E882-CD9C089BBF16}"/>
              </a:ext>
            </a:extLst>
          </p:cNvPr>
          <p:cNvSpPr/>
          <p:nvPr/>
        </p:nvSpPr>
        <p:spPr>
          <a:xfrm>
            <a:off x="242457" y="944121"/>
            <a:ext cx="4427079" cy="1033680"/>
          </a:xfrm>
          <a:custGeom>
            <a:avLst/>
            <a:gdLst>
              <a:gd name="connsiteX0" fmla="*/ 411497 w 2040117"/>
              <a:gd name="connsiteY0" fmla="*/ 0 h 884327"/>
              <a:gd name="connsiteX1" fmla="*/ 1628620 w 2040117"/>
              <a:gd name="connsiteY1" fmla="*/ 0 h 884327"/>
              <a:gd name="connsiteX2" fmla="*/ 2040117 w 2040117"/>
              <a:gd name="connsiteY2" fmla="*/ 411497 h 884327"/>
              <a:gd name="connsiteX3" fmla="*/ 2040117 w 2040117"/>
              <a:gd name="connsiteY3" fmla="*/ 884327 h 884327"/>
              <a:gd name="connsiteX4" fmla="*/ 2040117 w 2040117"/>
              <a:gd name="connsiteY4" fmla="*/ 884327 h 884327"/>
              <a:gd name="connsiteX5" fmla="*/ 0 w 2040117"/>
              <a:gd name="connsiteY5" fmla="*/ 884327 h 884327"/>
              <a:gd name="connsiteX6" fmla="*/ 0 w 2040117"/>
              <a:gd name="connsiteY6" fmla="*/ 884327 h 884327"/>
              <a:gd name="connsiteX7" fmla="*/ 0 w 2040117"/>
              <a:gd name="connsiteY7" fmla="*/ 411497 h 884327"/>
              <a:gd name="connsiteX8" fmla="*/ 411497 w 2040117"/>
              <a:gd name="connsiteY8" fmla="*/ 0 h 884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0117" h="884327">
                <a:moveTo>
                  <a:pt x="411497" y="0"/>
                </a:moveTo>
                <a:lnTo>
                  <a:pt x="1628620" y="0"/>
                </a:lnTo>
                <a:cubicBezTo>
                  <a:pt x="1855889" y="0"/>
                  <a:pt x="2040117" y="184233"/>
                  <a:pt x="2040117" y="411497"/>
                </a:cubicBezTo>
                <a:lnTo>
                  <a:pt x="2040117" y="884327"/>
                </a:lnTo>
                <a:lnTo>
                  <a:pt x="2040117" y="884327"/>
                </a:lnTo>
                <a:lnTo>
                  <a:pt x="0" y="884327"/>
                </a:lnTo>
                <a:lnTo>
                  <a:pt x="0" y="884327"/>
                </a:lnTo>
                <a:lnTo>
                  <a:pt x="0" y="411497"/>
                </a:lnTo>
                <a:cubicBezTo>
                  <a:pt x="0" y="184233"/>
                  <a:pt x="184233" y="0"/>
                  <a:pt x="411497" y="0"/>
                </a:cubicBezTo>
                <a:close/>
              </a:path>
            </a:pathLst>
          </a:custGeom>
          <a:solidFill>
            <a:schemeClr val="accent1"/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900" b="1" dirty="0">
                <a:solidFill>
                  <a:schemeClr val="bg1">
                    <a:lumMod val="95000"/>
                  </a:schemeClr>
                </a:solidFill>
              </a:rPr>
              <a:t>How it </a:t>
            </a:r>
            <a:r>
              <a:rPr lang="en-IN" sz="2900" b="1" dirty="0" smtClean="0">
                <a:solidFill>
                  <a:schemeClr val="bg1">
                    <a:lumMod val="95000"/>
                  </a:schemeClr>
                </a:solidFill>
              </a:rPr>
              <a:t>works</a:t>
            </a:r>
            <a:endParaRPr lang="en-IN" sz="29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Freeform: Shape 27">
            <a:extLst>
              <a:ext uri="{FF2B5EF4-FFF2-40B4-BE49-F238E27FC236}">
                <a16:creationId xmlns:a16="http://schemas.microsoft.com/office/drawing/2014/main" xmlns="" id="{BB6894DF-AD74-CDF9-FC42-D9530BFD5A68}"/>
              </a:ext>
            </a:extLst>
          </p:cNvPr>
          <p:cNvSpPr/>
          <p:nvPr/>
        </p:nvSpPr>
        <p:spPr>
          <a:xfrm>
            <a:off x="7356489" y="1709992"/>
            <a:ext cx="332574" cy="686365"/>
          </a:xfrm>
          <a:custGeom>
            <a:avLst/>
            <a:gdLst>
              <a:gd name="connsiteX0" fmla="*/ 0 w 321573"/>
              <a:gd name="connsiteY0" fmla="*/ 265621 h 587194"/>
              <a:gd name="connsiteX1" fmla="*/ 321574 w 321573"/>
              <a:gd name="connsiteY1" fmla="*/ 587195 h 587194"/>
              <a:gd name="connsiteX2" fmla="*/ 321574 w 321573"/>
              <a:gd name="connsiteY2" fmla="*/ 0 h 587194"/>
              <a:gd name="connsiteX3" fmla="*/ 0 w 321573"/>
              <a:gd name="connsiteY3" fmla="*/ 265621 h 58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573" h="587194">
                <a:moveTo>
                  <a:pt x="0" y="265621"/>
                </a:moveTo>
                <a:lnTo>
                  <a:pt x="321574" y="587195"/>
                </a:lnTo>
                <a:lnTo>
                  <a:pt x="321574" y="0"/>
                </a:lnTo>
                <a:lnTo>
                  <a:pt x="0" y="265621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4" name="Freeform: Shape 28">
            <a:extLst>
              <a:ext uri="{FF2B5EF4-FFF2-40B4-BE49-F238E27FC236}">
                <a16:creationId xmlns:a16="http://schemas.microsoft.com/office/drawing/2014/main" xmlns="" id="{22938F9A-7F3F-505C-D7BA-AACDEA44933C}"/>
              </a:ext>
            </a:extLst>
          </p:cNvPr>
          <p:cNvSpPr/>
          <p:nvPr/>
        </p:nvSpPr>
        <p:spPr>
          <a:xfrm>
            <a:off x="11490959" y="1529649"/>
            <a:ext cx="280577" cy="945998"/>
          </a:xfrm>
          <a:custGeom>
            <a:avLst/>
            <a:gdLst>
              <a:gd name="connsiteX0" fmla="*/ 410268 w 410267"/>
              <a:gd name="connsiteY0" fmla="*/ 399046 h 809314"/>
              <a:gd name="connsiteX1" fmla="*/ 0 w 410267"/>
              <a:gd name="connsiteY1" fmla="*/ 809314 h 809314"/>
              <a:gd name="connsiteX2" fmla="*/ 0 w 410267"/>
              <a:gd name="connsiteY2" fmla="*/ 0 h 809314"/>
              <a:gd name="connsiteX3" fmla="*/ 410268 w 410267"/>
              <a:gd name="connsiteY3" fmla="*/ 399046 h 80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67" h="809314">
                <a:moveTo>
                  <a:pt x="410268" y="399046"/>
                </a:moveTo>
                <a:lnTo>
                  <a:pt x="0" y="809314"/>
                </a:lnTo>
                <a:lnTo>
                  <a:pt x="0" y="0"/>
                </a:lnTo>
                <a:lnTo>
                  <a:pt x="410268" y="399046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5" name="Freeform: Shape 30">
            <a:extLst>
              <a:ext uri="{FF2B5EF4-FFF2-40B4-BE49-F238E27FC236}">
                <a16:creationId xmlns:a16="http://schemas.microsoft.com/office/drawing/2014/main" xmlns="" id="{C1842031-847B-A975-E882-CD9C089BBF16}"/>
              </a:ext>
            </a:extLst>
          </p:cNvPr>
          <p:cNvSpPr/>
          <p:nvPr/>
        </p:nvSpPr>
        <p:spPr>
          <a:xfrm>
            <a:off x="7356489" y="986793"/>
            <a:ext cx="4427079" cy="1033680"/>
          </a:xfrm>
          <a:custGeom>
            <a:avLst/>
            <a:gdLst>
              <a:gd name="connsiteX0" fmla="*/ 411497 w 2040117"/>
              <a:gd name="connsiteY0" fmla="*/ 0 h 884327"/>
              <a:gd name="connsiteX1" fmla="*/ 1628620 w 2040117"/>
              <a:gd name="connsiteY1" fmla="*/ 0 h 884327"/>
              <a:gd name="connsiteX2" fmla="*/ 2040117 w 2040117"/>
              <a:gd name="connsiteY2" fmla="*/ 411497 h 884327"/>
              <a:gd name="connsiteX3" fmla="*/ 2040117 w 2040117"/>
              <a:gd name="connsiteY3" fmla="*/ 884327 h 884327"/>
              <a:gd name="connsiteX4" fmla="*/ 2040117 w 2040117"/>
              <a:gd name="connsiteY4" fmla="*/ 884327 h 884327"/>
              <a:gd name="connsiteX5" fmla="*/ 0 w 2040117"/>
              <a:gd name="connsiteY5" fmla="*/ 884327 h 884327"/>
              <a:gd name="connsiteX6" fmla="*/ 0 w 2040117"/>
              <a:gd name="connsiteY6" fmla="*/ 884327 h 884327"/>
              <a:gd name="connsiteX7" fmla="*/ 0 w 2040117"/>
              <a:gd name="connsiteY7" fmla="*/ 411497 h 884327"/>
              <a:gd name="connsiteX8" fmla="*/ 411497 w 2040117"/>
              <a:gd name="connsiteY8" fmla="*/ 0 h 884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0117" h="884327">
                <a:moveTo>
                  <a:pt x="411497" y="0"/>
                </a:moveTo>
                <a:lnTo>
                  <a:pt x="1628620" y="0"/>
                </a:lnTo>
                <a:cubicBezTo>
                  <a:pt x="1855889" y="0"/>
                  <a:pt x="2040117" y="184233"/>
                  <a:pt x="2040117" y="411497"/>
                </a:cubicBezTo>
                <a:lnTo>
                  <a:pt x="2040117" y="884327"/>
                </a:lnTo>
                <a:lnTo>
                  <a:pt x="2040117" y="884327"/>
                </a:lnTo>
                <a:lnTo>
                  <a:pt x="0" y="884327"/>
                </a:lnTo>
                <a:lnTo>
                  <a:pt x="0" y="884327"/>
                </a:lnTo>
                <a:lnTo>
                  <a:pt x="0" y="411497"/>
                </a:lnTo>
                <a:cubicBezTo>
                  <a:pt x="0" y="184233"/>
                  <a:pt x="184233" y="0"/>
                  <a:pt x="411497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900" b="1" dirty="0">
                <a:solidFill>
                  <a:schemeClr val="bg1">
                    <a:lumMod val="95000"/>
                  </a:schemeClr>
                </a:solidFill>
              </a:rPr>
              <a:t>Why it’s </a:t>
            </a:r>
            <a:r>
              <a:rPr lang="en-US" sz="2900" b="1" dirty="0" smtClean="0">
                <a:solidFill>
                  <a:schemeClr val="bg1">
                    <a:lumMod val="95000"/>
                  </a:schemeClr>
                </a:solidFill>
              </a:rPr>
              <a:t>useful</a:t>
            </a:r>
            <a:endParaRPr lang="en-IN" sz="29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Freeform: Shape 6">
            <a:extLst>
              <a:ext uri="{FF2B5EF4-FFF2-40B4-BE49-F238E27FC236}">
                <a16:creationId xmlns:a16="http://schemas.microsoft.com/office/drawing/2014/main" xmlns="" id="{542C202A-EB30-A1CC-3549-240CB5021B3F}"/>
              </a:ext>
            </a:extLst>
          </p:cNvPr>
          <p:cNvSpPr/>
          <p:nvPr/>
        </p:nvSpPr>
        <p:spPr>
          <a:xfrm>
            <a:off x="950669" y="5978542"/>
            <a:ext cx="11158779" cy="202496"/>
          </a:xfrm>
          <a:custGeom>
            <a:avLst/>
            <a:gdLst>
              <a:gd name="connsiteX0" fmla="*/ 9264405 w 9351151"/>
              <a:gd name="connsiteY0" fmla="*/ 173135 h 173238"/>
              <a:gd name="connsiteX1" fmla="*/ 86644 w 9351151"/>
              <a:gd name="connsiteY1" fmla="*/ 173135 h 173238"/>
              <a:gd name="connsiteX2" fmla="*/ -52 w 9351151"/>
              <a:gd name="connsiteY2" fmla="*/ 86747 h 173238"/>
              <a:gd name="connsiteX3" fmla="*/ -52 w 9351151"/>
              <a:gd name="connsiteY3" fmla="*/ 86593 h 173238"/>
              <a:gd name="connsiteX4" fmla="*/ -52 w 9351151"/>
              <a:gd name="connsiteY4" fmla="*/ 86593 h 173238"/>
              <a:gd name="connsiteX5" fmla="*/ 86644 w 9351151"/>
              <a:gd name="connsiteY5" fmla="*/ -103 h 173238"/>
              <a:gd name="connsiteX6" fmla="*/ 9264405 w 9351151"/>
              <a:gd name="connsiteY6" fmla="*/ -103 h 173238"/>
              <a:gd name="connsiteX7" fmla="*/ 9351100 w 9351151"/>
              <a:gd name="connsiteY7" fmla="*/ 86593 h 173238"/>
              <a:gd name="connsiteX8" fmla="*/ 9351100 w 9351151"/>
              <a:gd name="connsiteY8" fmla="*/ 86593 h 173238"/>
              <a:gd name="connsiteX9" fmla="*/ 9264558 w 9351151"/>
              <a:gd name="connsiteY9" fmla="*/ 173135 h 173238"/>
              <a:gd name="connsiteX10" fmla="*/ 9264405 w 9351151"/>
              <a:gd name="connsiteY10" fmla="*/ 173135 h 17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51151" h="173238">
                <a:moveTo>
                  <a:pt x="9264405" y="173135"/>
                </a:moveTo>
                <a:lnTo>
                  <a:pt x="86644" y="173135"/>
                </a:lnTo>
                <a:cubicBezTo>
                  <a:pt x="38848" y="173227"/>
                  <a:pt x="33" y="134537"/>
                  <a:pt x="-52" y="86747"/>
                </a:cubicBezTo>
                <a:cubicBezTo>
                  <a:pt x="-52" y="86700"/>
                  <a:pt x="-52" y="86639"/>
                  <a:pt x="-52" y="86593"/>
                </a:cubicBezTo>
                <a:lnTo>
                  <a:pt x="-52" y="86593"/>
                </a:lnTo>
                <a:cubicBezTo>
                  <a:pt x="-52" y="38711"/>
                  <a:pt x="38763" y="-103"/>
                  <a:pt x="86644" y="-103"/>
                </a:cubicBezTo>
                <a:lnTo>
                  <a:pt x="9264405" y="-103"/>
                </a:lnTo>
                <a:cubicBezTo>
                  <a:pt x="9312287" y="-103"/>
                  <a:pt x="9351100" y="38711"/>
                  <a:pt x="9351100" y="86593"/>
                </a:cubicBezTo>
                <a:lnTo>
                  <a:pt x="9351100" y="86593"/>
                </a:lnTo>
                <a:cubicBezTo>
                  <a:pt x="9351100" y="134383"/>
                  <a:pt x="9312348" y="173135"/>
                  <a:pt x="9264558" y="173135"/>
                </a:cubicBezTo>
                <a:cubicBezTo>
                  <a:pt x="9264512" y="173135"/>
                  <a:pt x="9264451" y="173135"/>
                  <a:pt x="9264405" y="173135"/>
                </a:cubicBezTo>
                <a:close/>
              </a:path>
            </a:pathLst>
          </a:custGeom>
          <a:solidFill>
            <a:schemeClr val="bg1">
              <a:lumMod val="65000"/>
              <a:alpha val="20000"/>
            </a:schemeClr>
          </a:solidFill>
          <a:ln w="1536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790688" y="2207044"/>
            <a:ext cx="359664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Great for companies or teams where no single person should have full control.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It prevents one person from stealing or losing the money.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000" dirty="0"/>
              <a:t>Makes things more secure and democratic</a:t>
            </a:r>
          </a:p>
        </p:txBody>
      </p:sp>
    </p:spTree>
    <p:extLst>
      <p:ext uri="{BB962C8B-B14F-4D97-AF65-F5344CB8AC3E}">
        <p14:creationId xmlns:p14="http://schemas.microsoft.com/office/powerpoint/2010/main" val="154352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3E0312A-4421-47FA-93DD-398C899BD4C8}"/>
              </a:ext>
            </a:extLst>
          </p:cNvPr>
          <p:cNvSpPr/>
          <p:nvPr/>
        </p:nvSpPr>
        <p:spPr>
          <a:xfrm>
            <a:off x="0" y="-2308"/>
            <a:ext cx="12192000" cy="7078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BDEA64-AE4F-4D4C-9C88-896D9CB765A0}"/>
              </a:ext>
            </a:extLst>
          </p:cNvPr>
          <p:cNvSpPr txBox="1"/>
          <p:nvPr/>
        </p:nvSpPr>
        <p:spPr>
          <a:xfrm>
            <a:off x="125599" y="-24923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 </a:t>
            </a:r>
            <a:r>
              <a:rPr lang="en-IN" sz="4000" b="1" dirty="0">
                <a:solidFill>
                  <a:schemeClr val="bg1"/>
                </a:solidFill>
              </a:rPr>
              <a:t>Multi-Signature Wallet: Example &amp; Benefit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719743E-C82E-7CB1-0429-8D9DB80EACFA}"/>
              </a:ext>
            </a:extLst>
          </p:cNvPr>
          <p:cNvSpPr/>
          <p:nvPr/>
        </p:nvSpPr>
        <p:spPr>
          <a:xfrm>
            <a:off x="0" y="6453008"/>
            <a:ext cx="12191999" cy="385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F055489-6E50-9FB1-3CA2-950E7D057598}"/>
              </a:ext>
            </a:extLst>
          </p:cNvPr>
          <p:cNvGrpSpPr/>
          <p:nvPr/>
        </p:nvGrpSpPr>
        <p:grpSpPr>
          <a:xfrm>
            <a:off x="604439" y="934342"/>
            <a:ext cx="11158780" cy="5371133"/>
            <a:chOff x="1420425" y="1608992"/>
            <a:chExt cx="9351151" cy="459506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42C202A-EB30-A1CC-3549-240CB5021B3F}"/>
                </a:ext>
              </a:extLst>
            </p:cNvPr>
            <p:cNvSpPr/>
            <p:nvPr/>
          </p:nvSpPr>
          <p:spPr>
            <a:xfrm>
              <a:off x="1420425" y="5796058"/>
              <a:ext cx="9351151" cy="173238"/>
            </a:xfrm>
            <a:custGeom>
              <a:avLst/>
              <a:gdLst>
                <a:gd name="connsiteX0" fmla="*/ 9264405 w 9351151"/>
                <a:gd name="connsiteY0" fmla="*/ 173135 h 173238"/>
                <a:gd name="connsiteX1" fmla="*/ 86644 w 9351151"/>
                <a:gd name="connsiteY1" fmla="*/ 173135 h 173238"/>
                <a:gd name="connsiteX2" fmla="*/ -52 w 9351151"/>
                <a:gd name="connsiteY2" fmla="*/ 86747 h 173238"/>
                <a:gd name="connsiteX3" fmla="*/ -52 w 9351151"/>
                <a:gd name="connsiteY3" fmla="*/ 86593 h 173238"/>
                <a:gd name="connsiteX4" fmla="*/ -52 w 9351151"/>
                <a:gd name="connsiteY4" fmla="*/ 86593 h 173238"/>
                <a:gd name="connsiteX5" fmla="*/ 86644 w 9351151"/>
                <a:gd name="connsiteY5" fmla="*/ -103 h 173238"/>
                <a:gd name="connsiteX6" fmla="*/ 9264405 w 9351151"/>
                <a:gd name="connsiteY6" fmla="*/ -103 h 173238"/>
                <a:gd name="connsiteX7" fmla="*/ 9351100 w 9351151"/>
                <a:gd name="connsiteY7" fmla="*/ 86593 h 173238"/>
                <a:gd name="connsiteX8" fmla="*/ 9351100 w 9351151"/>
                <a:gd name="connsiteY8" fmla="*/ 86593 h 173238"/>
                <a:gd name="connsiteX9" fmla="*/ 9264558 w 9351151"/>
                <a:gd name="connsiteY9" fmla="*/ 173135 h 173238"/>
                <a:gd name="connsiteX10" fmla="*/ 9264405 w 9351151"/>
                <a:gd name="connsiteY10" fmla="*/ 173135 h 17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51151" h="173238">
                  <a:moveTo>
                    <a:pt x="9264405" y="173135"/>
                  </a:moveTo>
                  <a:lnTo>
                    <a:pt x="86644" y="173135"/>
                  </a:lnTo>
                  <a:cubicBezTo>
                    <a:pt x="38848" y="173227"/>
                    <a:pt x="33" y="134537"/>
                    <a:pt x="-52" y="86747"/>
                  </a:cubicBezTo>
                  <a:cubicBezTo>
                    <a:pt x="-52" y="86700"/>
                    <a:pt x="-52" y="86639"/>
                    <a:pt x="-52" y="86593"/>
                  </a:cubicBezTo>
                  <a:lnTo>
                    <a:pt x="-52" y="86593"/>
                  </a:lnTo>
                  <a:cubicBezTo>
                    <a:pt x="-52" y="38711"/>
                    <a:pt x="38763" y="-103"/>
                    <a:pt x="86644" y="-103"/>
                  </a:cubicBezTo>
                  <a:lnTo>
                    <a:pt x="9264405" y="-103"/>
                  </a:lnTo>
                  <a:cubicBezTo>
                    <a:pt x="9312287" y="-103"/>
                    <a:pt x="9351100" y="38711"/>
                    <a:pt x="9351100" y="86593"/>
                  </a:cubicBezTo>
                  <a:lnTo>
                    <a:pt x="9351100" y="86593"/>
                  </a:lnTo>
                  <a:cubicBezTo>
                    <a:pt x="9351100" y="134383"/>
                    <a:pt x="9312348" y="173135"/>
                    <a:pt x="9264558" y="173135"/>
                  </a:cubicBezTo>
                  <a:cubicBezTo>
                    <a:pt x="9264512" y="173135"/>
                    <a:pt x="9264451" y="173135"/>
                    <a:pt x="9264405" y="173135"/>
                  </a:cubicBezTo>
                  <a:close/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 w="1536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620A4342-D809-FFC8-063D-539CAD99267A}"/>
                </a:ext>
              </a:extLst>
            </p:cNvPr>
            <p:cNvGrpSpPr/>
            <p:nvPr/>
          </p:nvGrpSpPr>
          <p:grpSpPr>
            <a:xfrm>
              <a:off x="1596756" y="1608992"/>
              <a:ext cx="7999954" cy="4595068"/>
              <a:chOff x="1022549" y="1608992"/>
              <a:chExt cx="7999954" cy="459506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C5D3203B-9583-335F-9C5D-B7043A53F24A}"/>
                  </a:ext>
                </a:extLst>
              </p:cNvPr>
              <p:cNvGrpSpPr/>
              <p:nvPr/>
            </p:nvGrpSpPr>
            <p:grpSpPr>
              <a:xfrm>
                <a:off x="1022549" y="1608992"/>
                <a:ext cx="3742028" cy="4589535"/>
                <a:chOff x="1022549" y="1608992"/>
                <a:chExt cx="3742028" cy="4589535"/>
              </a:xfrm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xmlns="" id="{528B98CB-5D53-8607-582A-CA6A1433C412}"/>
                    </a:ext>
                  </a:extLst>
                </p:cNvPr>
                <p:cNvSpPr/>
                <p:nvPr/>
              </p:nvSpPr>
              <p:spPr>
                <a:xfrm>
                  <a:off x="1162539" y="1896223"/>
                  <a:ext cx="3454727" cy="4302304"/>
                </a:xfrm>
                <a:custGeom>
                  <a:avLst/>
                  <a:gdLst>
                    <a:gd name="connsiteX0" fmla="*/ 1714956 w 1715007"/>
                    <a:gd name="connsiteY0" fmla="*/ 2978911 h 4302304"/>
                    <a:gd name="connsiteX1" fmla="*/ 1714956 w 1715007"/>
                    <a:gd name="connsiteY1" fmla="*/ -103 h 4302304"/>
                    <a:gd name="connsiteX2" fmla="*/ -52 w 1715007"/>
                    <a:gd name="connsiteY2" fmla="*/ -103 h 4302304"/>
                    <a:gd name="connsiteX3" fmla="*/ -52 w 1715007"/>
                    <a:gd name="connsiteY3" fmla="*/ 2978911 h 4302304"/>
                    <a:gd name="connsiteX4" fmla="*/ 301232 w 1715007"/>
                    <a:gd name="connsiteY4" fmla="*/ 3280194 h 4302304"/>
                    <a:gd name="connsiteX5" fmla="*/ 301385 w 1715007"/>
                    <a:gd name="connsiteY5" fmla="*/ 3280194 h 4302304"/>
                    <a:gd name="connsiteX6" fmla="*/ 457868 w 1715007"/>
                    <a:gd name="connsiteY6" fmla="*/ 3280194 h 4302304"/>
                    <a:gd name="connsiteX7" fmla="*/ 746854 w 1715007"/>
                    <a:gd name="connsiteY7" fmla="*/ 3569333 h 4302304"/>
                    <a:gd name="connsiteX8" fmla="*/ 746854 w 1715007"/>
                    <a:gd name="connsiteY8" fmla="*/ 3683083 h 4302304"/>
                    <a:gd name="connsiteX9" fmla="*/ 669996 w 1715007"/>
                    <a:gd name="connsiteY9" fmla="*/ 3959772 h 4302304"/>
                    <a:gd name="connsiteX10" fmla="*/ 737323 w 1715007"/>
                    <a:gd name="connsiteY10" fmla="*/ 4267050 h 4302304"/>
                    <a:gd name="connsiteX11" fmla="*/ 1044586 w 1715007"/>
                    <a:gd name="connsiteY11" fmla="*/ 4199723 h 4302304"/>
                    <a:gd name="connsiteX12" fmla="*/ 1048752 w 1715007"/>
                    <a:gd name="connsiteY12" fmla="*/ 3966535 h 4302304"/>
                    <a:gd name="connsiteX13" fmla="*/ 967897 w 1715007"/>
                    <a:gd name="connsiteY13" fmla="*/ 3687388 h 4302304"/>
                    <a:gd name="connsiteX14" fmla="*/ 967897 w 1715007"/>
                    <a:gd name="connsiteY14" fmla="*/ 3569026 h 4302304"/>
                    <a:gd name="connsiteX15" fmla="*/ 1257037 w 1715007"/>
                    <a:gd name="connsiteY15" fmla="*/ 3279887 h 4302304"/>
                    <a:gd name="connsiteX16" fmla="*/ 1413673 w 1715007"/>
                    <a:gd name="connsiteY16" fmla="*/ 3279887 h 4302304"/>
                    <a:gd name="connsiteX17" fmla="*/ 1714956 w 1715007"/>
                    <a:gd name="connsiteY17" fmla="*/ 2978911 h 4302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715007" h="4302304">
                      <a:moveTo>
                        <a:pt x="1714956" y="2978911"/>
                      </a:moveTo>
                      <a:lnTo>
                        <a:pt x="1714956" y="-103"/>
                      </a:lnTo>
                      <a:lnTo>
                        <a:pt x="-52" y="-103"/>
                      </a:lnTo>
                      <a:lnTo>
                        <a:pt x="-52" y="2978911"/>
                      </a:lnTo>
                      <a:cubicBezTo>
                        <a:pt x="-52" y="3145308"/>
                        <a:pt x="134837" y="3280194"/>
                        <a:pt x="301232" y="3280194"/>
                      </a:cubicBezTo>
                      <a:cubicBezTo>
                        <a:pt x="301282" y="3280194"/>
                        <a:pt x="301335" y="3280194"/>
                        <a:pt x="301385" y="3280194"/>
                      </a:cubicBezTo>
                      <a:lnTo>
                        <a:pt x="457868" y="3280194"/>
                      </a:lnTo>
                      <a:cubicBezTo>
                        <a:pt x="617502" y="3280286"/>
                        <a:pt x="746854" y="3409700"/>
                        <a:pt x="746854" y="3569333"/>
                      </a:cubicBezTo>
                      <a:lnTo>
                        <a:pt x="746854" y="3683083"/>
                      </a:lnTo>
                      <a:cubicBezTo>
                        <a:pt x="748191" y="3780754"/>
                        <a:pt x="721521" y="3876781"/>
                        <a:pt x="669996" y="3959772"/>
                      </a:cubicBezTo>
                      <a:cubicBezTo>
                        <a:pt x="603729" y="4063207"/>
                        <a:pt x="633873" y="4200783"/>
                        <a:pt x="737323" y="4267050"/>
                      </a:cubicBezTo>
                      <a:cubicBezTo>
                        <a:pt x="840759" y="4333302"/>
                        <a:pt x="978335" y="4303158"/>
                        <a:pt x="1044586" y="4199723"/>
                      </a:cubicBezTo>
                      <a:cubicBezTo>
                        <a:pt x="1089886" y="4129013"/>
                        <a:pt x="1091500" y="4038813"/>
                        <a:pt x="1048752" y="3966535"/>
                      </a:cubicBezTo>
                      <a:cubicBezTo>
                        <a:pt x="997180" y="3882453"/>
                        <a:pt x="969250" y="3786011"/>
                        <a:pt x="967897" y="3687388"/>
                      </a:cubicBezTo>
                      <a:lnTo>
                        <a:pt x="967897" y="3569026"/>
                      </a:lnTo>
                      <a:cubicBezTo>
                        <a:pt x="967897" y="3409346"/>
                        <a:pt x="1097357" y="3279887"/>
                        <a:pt x="1257037" y="3279887"/>
                      </a:cubicBezTo>
                      <a:lnTo>
                        <a:pt x="1413673" y="3279887"/>
                      </a:lnTo>
                      <a:cubicBezTo>
                        <a:pt x="1579948" y="3279887"/>
                        <a:pt x="1714787" y="3145185"/>
                        <a:pt x="1714956" y="29789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140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xmlns="" id="{BB6894DF-AD74-CDF9-FC42-D9530BFD5A68}"/>
                    </a:ext>
                  </a:extLst>
                </p:cNvPr>
                <p:cNvSpPr/>
                <p:nvPr/>
              </p:nvSpPr>
              <p:spPr>
                <a:xfrm>
                  <a:off x="1022554" y="2227698"/>
                  <a:ext cx="586646" cy="587194"/>
                </a:xfrm>
                <a:custGeom>
                  <a:avLst/>
                  <a:gdLst>
                    <a:gd name="connsiteX0" fmla="*/ 0 w 321573"/>
                    <a:gd name="connsiteY0" fmla="*/ 265621 h 587194"/>
                    <a:gd name="connsiteX1" fmla="*/ 321574 w 321573"/>
                    <a:gd name="connsiteY1" fmla="*/ 587195 h 587194"/>
                    <a:gd name="connsiteX2" fmla="*/ 321574 w 321573"/>
                    <a:gd name="connsiteY2" fmla="*/ 0 h 587194"/>
                    <a:gd name="connsiteX3" fmla="*/ 0 w 321573"/>
                    <a:gd name="connsiteY3" fmla="*/ 265621 h 58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573" h="587194">
                      <a:moveTo>
                        <a:pt x="0" y="265621"/>
                      </a:moveTo>
                      <a:lnTo>
                        <a:pt x="321574" y="587195"/>
                      </a:lnTo>
                      <a:lnTo>
                        <a:pt x="321574" y="0"/>
                      </a:lnTo>
                      <a:lnTo>
                        <a:pt x="0" y="26562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xmlns="" id="{22938F9A-7F3F-505C-D7BA-AACDEA44933C}"/>
                    </a:ext>
                  </a:extLst>
                </p:cNvPr>
                <p:cNvSpPr/>
                <p:nvPr/>
              </p:nvSpPr>
              <p:spPr>
                <a:xfrm>
                  <a:off x="4016127" y="2054496"/>
                  <a:ext cx="748450" cy="809314"/>
                </a:xfrm>
                <a:custGeom>
                  <a:avLst/>
                  <a:gdLst>
                    <a:gd name="connsiteX0" fmla="*/ 410268 w 410267"/>
                    <a:gd name="connsiteY0" fmla="*/ 399046 h 809314"/>
                    <a:gd name="connsiteX1" fmla="*/ 0 w 410267"/>
                    <a:gd name="connsiteY1" fmla="*/ 809314 h 809314"/>
                    <a:gd name="connsiteX2" fmla="*/ 0 w 410267"/>
                    <a:gd name="connsiteY2" fmla="*/ 0 h 809314"/>
                    <a:gd name="connsiteX3" fmla="*/ 410268 w 410267"/>
                    <a:gd name="connsiteY3" fmla="*/ 399046 h 809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267" h="809314">
                      <a:moveTo>
                        <a:pt x="410268" y="399046"/>
                      </a:moveTo>
                      <a:lnTo>
                        <a:pt x="0" y="809314"/>
                      </a:lnTo>
                      <a:lnTo>
                        <a:pt x="0" y="0"/>
                      </a:lnTo>
                      <a:lnTo>
                        <a:pt x="410268" y="399046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xmlns="" id="{C1842031-847B-A975-E882-CD9C089BBF16}"/>
                    </a:ext>
                  </a:extLst>
                </p:cNvPr>
                <p:cNvSpPr/>
                <p:nvPr/>
              </p:nvSpPr>
              <p:spPr>
                <a:xfrm>
                  <a:off x="1022549" y="1608992"/>
                  <a:ext cx="3721787" cy="884327"/>
                </a:xfrm>
                <a:custGeom>
                  <a:avLst/>
                  <a:gdLst>
                    <a:gd name="connsiteX0" fmla="*/ 411497 w 2040117"/>
                    <a:gd name="connsiteY0" fmla="*/ 0 h 884327"/>
                    <a:gd name="connsiteX1" fmla="*/ 1628620 w 2040117"/>
                    <a:gd name="connsiteY1" fmla="*/ 0 h 884327"/>
                    <a:gd name="connsiteX2" fmla="*/ 2040117 w 2040117"/>
                    <a:gd name="connsiteY2" fmla="*/ 411497 h 884327"/>
                    <a:gd name="connsiteX3" fmla="*/ 2040117 w 2040117"/>
                    <a:gd name="connsiteY3" fmla="*/ 884327 h 884327"/>
                    <a:gd name="connsiteX4" fmla="*/ 2040117 w 2040117"/>
                    <a:gd name="connsiteY4" fmla="*/ 884327 h 884327"/>
                    <a:gd name="connsiteX5" fmla="*/ 0 w 2040117"/>
                    <a:gd name="connsiteY5" fmla="*/ 884327 h 884327"/>
                    <a:gd name="connsiteX6" fmla="*/ 0 w 2040117"/>
                    <a:gd name="connsiteY6" fmla="*/ 884327 h 884327"/>
                    <a:gd name="connsiteX7" fmla="*/ 0 w 2040117"/>
                    <a:gd name="connsiteY7" fmla="*/ 411497 h 884327"/>
                    <a:gd name="connsiteX8" fmla="*/ 411497 w 2040117"/>
                    <a:gd name="connsiteY8" fmla="*/ 0 h 88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40117" h="884327">
                      <a:moveTo>
                        <a:pt x="411497" y="0"/>
                      </a:moveTo>
                      <a:lnTo>
                        <a:pt x="1628620" y="0"/>
                      </a:lnTo>
                      <a:cubicBezTo>
                        <a:pt x="1855889" y="0"/>
                        <a:pt x="2040117" y="184233"/>
                        <a:pt x="2040117" y="411497"/>
                      </a:cubicBezTo>
                      <a:lnTo>
                        <a:pt x="2040117" y="884327"/>
                      </a:lnTo>
                      <a:lnTo>
                        <a:pt x="2040117" y="884327"/>
                      </a:lnTo>
                      <a:lnTo>
                        <a:pt x="0" y="884327"/>
                      </a:lnTo>
                      <a:lnTo>
                        <a:pt x="0" y="884327"/>
                      </a:lnTo>
                      <a:lnTo>
                        <a:pt x="0" y="411497"/>
                      </a:lnTo>
                      <a:cubicBezTo>
                        <a:pt x="0" y="184233"/>
                        <a:pt x="184233" y="0"/>
                        <a:pt x="41149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xmlns="" id="{47572A62-3C4A-E8F3-FD39-7C0B55F69EDA}"/>
                    </a:ext>
                  </a:extLst>
                </p:cNvPr>
                <p:cNvSpPr/>
                <p:nvPr/>
              </p:nvSpPr>
              <p:spPr>
                <a:xfrm>
                  <a:off x="2788971" y="5791293"/>
                  <a:ext cx="221350" cy="221350"/>
                </a:xfrm>
                <a:custGeom>
                  <a:avLst/>
                  <a:gdLst>
                    <a:gd name="connsiteX0" fmla="*/ 221299 w 221350"/>
                    <a:gd name="connsiteY0" fmla="*/ 110572 h 221350"/>
                    <a:gd name="connsiteX1" fmla="*/ 110624 w 221350"/>
                    <a:gd name="connsiteY1" fmla="*/ 221248 h 221350"/>
                    <a:gd name="connsiteX2" fmla="*/ -52 w 221350"/>
                    <a:gd name="connsiteY2" fmla="*/ 110572 h 221350"/>
                    <a:gd name="connsiteX3" fmla="*/ 110624 w 221350"/>
                    <a:gd name="connsiteY3" fmla="*/ -103 h 221350"/>
                    <a:gd name="connsiteX4" fmla="*/ 110778 w 221350"/>
                    <a:gd name="connsiteY4" fmla="*/ -103 h 221350"/>
                    <a:gd name="connsiteX5" fmla="*/ 221299 w 221350"/>
                    <a:gd name="connsiteY5" fmla="*/ 110419 h 221350"/>
                    <a:gd name="connsiteX6" fmla="*/ 221299 w 221350"/>
                    <a:gd name="connsiteY6" fmla="*/ 110572 h 221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1350" h="221350">
                      <a:moveTo>
                        <a:pt x="221299" y="110572"/>
                      </a:moveTo>
                      <a:cubicBezTo>
                        <a:pt x="221299" y="171690"/>
                        <a:pt x="171741" y="221248"/>
                        <a:pt x="110624" y="221248"/>
                      </a:cubicBezTo>
                      <a:cubicBezTo>
                        <a:pt x="49506" y="221248"/>
                        <a:pt x="-52" y="171690"/>
                        <a:pt x="-52" y="110572"/>
                      </a:cubicBezTo>
                      <a:cubicBezTo>
                        <a:pt x="-52" y="49455"/>
                        <a:pt x="49506" y="-103"/>
                        <a:pt x="110624" y="-103"/>
                      </a:cubicBezTo>
                      <a:cubicBezTo>
                        <a:pt x="110670" y="-103"/>
                        <a:pt x="110731" y="-103"/>
                        <a:pt x="110778" y="-103"/>
                      </a:cubicBezTo>
                      <a:cubicBezTo>
                        <a:pt x="171818" y="-103"/>
                        <a:pt x="221299" y="49378"/>
                        <a:pt x="221299" y="110419"/>
                      </a:cubicBezTo>
                      <a:cubicBezTo>
                        <a:pt x="221299" y="110465"/>
                        <a:pt x="221299" y="110527"/>
                        <a:pt x="221299" y="1105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A969A825-4CCE-E08B-C623-4CEA1D420CCD}"/>
                  </a:ext>
                </a:extLst>
              </p:cNvPr>
              <p:cNvGrpSpPr/>
              <p:nvPr/>
            </p:nvGrpSpPr>
            <p:grpSpPr>
              <a:xfrm>
                <a:off x="5410964" y="1608992"/>
                <a:ext cx="3611539" cy="4595068"/>
                <a:chOff x="4813087" y="1608992"/>
                <a:chExt cx="3611539" cy="4595068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xmlns="" id="{FCC04450-915E-C7E0-886F-CBA33711B666}"/>
                    </a:ext>
                  </a:extLst>
                </p:cNvPr>
                <p:cNvSpPr/>
                <p:nvPr/>
              </p:nvSpPr>
              <p:spPr>
                <a:xfrm>
                  <a:off x="5848973" y="1901756"/>
                  <a:ext cx="2413024" cy="4302304"/>
                </a:xfrm>
                <a:custGeom>
                  <a:avLst/>
                  <a:gdLst>
                    <a:gd name="connsiteX0" fmla="*/ 1714956 w 1715007"/>
                    <a:gd name="connsiteY0" fmla="*/ 2978911 h 4302304"/>
                    <a:gd name="connsiteX1" fmla="*/ 1714956 w 1715007"/>
                    <a:gd name="connsiteY1" fmla="*/ -103 h 4302304"/>
                    <a:gd name="connsiteX2" fmla="*/ -52 w 1715007"/>
                    <a:gd name="connsiteY2" fmla="*/ -103 h 4302304"/>
                    <a:gd name="connsiteX3" fmla="*/ -52 w 1715007"/>
                    <a:gd name="connsiteY3" fmla="*/ 2978911 h 4302304"/>
                    <a:gd name="connsiteX4" fmla="*/ 301231 w 1715007"/>
                    <a:gd name="connsiteY4" fmla="*/ 3280194 h 4302304"/>
                    <a:gd name="connsiteX5" fmla="*/ 301385 w 1715007"/>
                    <a:gd name="connsiteY5" fmla="*/ 3280194 h 4302304"/>
                    <a:gd name="connsiteX6" fmla="*/ 457868 w 1715007"/>
                    <a:gd name="connsiteY6" fmla="*/ 3280194 h 4302304"/>
                    <a:gd name="connsiteX7" fmla="*/ 746854 w 1715007"/>
                    <a:gd name="connsiteY7" fmla="*/ 3569333 h 4302304"/>
                    <a:gd name="connsiteX8" fmla="*/ 746854 w 1715007"/>
                    <a:gd name="connsiteY8" fmla="*/ 3683083 h 4302304"/>
                    <a:gd name="connsiteX9" fmla="*/ 669996 w 1715007"/>
                    <a:gd name="connsiteY9" fmla="*/ 3959772 h 4302304"/>
                    <a:gd name="connsiteX10" fmla="*/ 737323 w 1715007"/>
                    <a:gd name="connsiteY10" fmla="*/ 4267050 h 4302304"/>
                    <a:gd name="connsiteX11" fmla="*/ 1044586 w 1715007"/>
                    <a:gd name="connsiteY11" fmla="*/ 4199723 h 4302304"/>
                    <a:gd name="connsiteX12" fmla="*/ 1048752 w 1715007"/>
                    <a:gd name="connsiteY12" fmla="*/ 3966535 h 4302304"/>
                    <a:gd name="connsiteX13" fmla="*/ 967897 w 1715007"/>
                    <a:gd name="connsiteY13" fmla="*/ 3687388 h 4302304"/>
                    <a:gd name="connsiteX14" fmla="*/ 967897 w 1715007"/>
                    <a:gd name="connsiteY14" fmla="*/ 3569026 h 4302304"/>
                    <a:gd name="connsiteX15" fmla="*/ 1257037 w 1715007"/>
                    <a:gd name="connsiteY15" fmla="*/ 3279887 h 4302304"/>
                    <a:gd name="connsiteX16" fmla="*/ 1413520 w 1715007"/>
                    <a:gd name="connsiteY16" fmla="*/ 3279887 h 4302304"/>
                    <a:gd name="connsiteX17" fmla="*/ 1714956 w 1715007"/>
                    <a:gd name="connsiteY17" fmla="*/ 2978911 h 4302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715007" h="4302304">
                      <a:moveTo>
                        <a:pt x="1714956" y="2978911"/>
                      </a:moveTo>
                      <a:lnTo>
                        <a:pt x="1714956" y="-103"/>
                      </a:lnTo>
                      <a:lnTo>
                        <a:pt x="-52" y="-103"/>
                      </a:lnTo>
                      <a:lnTo>
                        <a:pt x="-52" y="2978911"/>
                      </a:lnTo>
                      <a:cubicBezTo>
                        <a:pt x="-52" y="3145308"/>
                        <a:pt x="134834" y="3280194"/>
                        <a:pt x="301231" y="3280194"/>
                      </a:cubicBezTo>
                      <a:cubicBezTo>
                        <a:pt x="301278" y="3280194"/>
                        <a:pt x="301339" y="3280194"/>
                        <a:pt x="301385" y="3280194"/>
                      </a:cubicBezTo>
                      <a:lnTo>
                        <a:pt x="457868" y="3280194"/>
                      </a:lnTo>
                      <a:cubicBezTo>
                        <a:pt x="617502" y="3280286"/>
                        <a:pt x="746854" y="3409700"/>
                        <a:pt x="746854" y="3569333"/>
                      </a:cubicBezTo>
                      <a:lnTo>
                        <a:pt x="746854" y="3683083"/>
                      </a:lnTo>
                      <a:cubicBezTo>
                        <a:pt x="748191" y="3780754"/>
                        <a:pt x="721522" y="3876781"/>
                        <a:pt x="669996" y="3959772"/>
                      </a:cubicBezTo>
                      <a:cubicBezTo>
                        <a:pt x="603729" y="4063207"/>
                        <a:pt x="633873" y="4200783"/>
                        <a:pt x="737323" y="4267050"/>
                      </a:cubicBezTo>
                      <a:cubicBezTo>
                        <a:pt x="840759" y="4333302"/>
                        <a:pt x="978335" y="4303158"/>
                        <a:pt x="1044586" y="4199723"/>
                      </a:cubicBezTo>
                      <a:cubicBezTo>
                        <a:pt x="1089886" y="4129013"/>
                        <a:pt x="1091500" y="4038813"/>
                        <a:pt x="1048752" y="3966535"/>
                      </a:cubicBezTo>
                      <a:cubicBezTo>
                        <a:pt x="997180" y="3882453"/>
                        <a:pt x="969250" y="3786011"/>
                        <a:pt x="967897" y="3687388"/>
                      </a:cubicBezTo>
                      <a:lnTo>
                        <a:pt x="967897" y="3569026"/>
                      </a:lnTo>
                      <a:cubicBezTo>
                        <a:pt x="967897" y="3409346"/>
                        <a:pt x="1097342" y="3279887"/>
                        <a:pt x="1257037" y="3279887"/>
                      </a:cubicBezTo>
                      <a:lnTo>
                        <a:pt x="1413520" y="3279887"/>
                      </a:lnTo>
                      <a:cubicBezTo>
                        <a:pt x="1579856" y="3279979"/>
                        <a:pt x="1714788" y="3145247"/>
                        <a:pt x="1714956" y="29789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140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xmlns="" id="{BCBA8AF1-9572-6121-C7E9-E74D0C6F3466}"/>
                    </a:ext>
                  </a:extLst>
                </p:cNvPr>
                <p:cNvSpPr/>
                <p:nvPr/>
              </p:nvSpPr>
              <p:spPr>
                <a:xfrm>
                  <a:off x="5566280" y="2227698"/>
                  <a:ext cx="321573" cy="587194"/>
                </a:xfrm>
                <a:custGeom>
                  <a:avLst/>
                  <a:gdLst>
                    <a:gd name="connsiteX0" fmla="*/ 0 w 321573"/>
                    <a:gd name="connsiteY0" fmla="*/ 265621 h 587194"/>
                    <a:gd name="connsiteX1" fmla="*/ 321574 w 321573"/>
                    <a:gd name="connsiteY1" fmla="*/ 587195 h 587194"/>
                    <a:gd name="connsiteX2" fmla="*/ 321574 w 321573"/>
                    <a:gd name="connsiteY2" fmla="*/ 0 h 587194"/>
                    <a:gd name="connsiteX3" fmla="*/ 0 w 321573"/>
                    <a:gd name="connsiteY3" fmla="*/ 265621 h 58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573" h="587194">
                      <a:moveTo>
                        <a:pt x="0" y="265621"/>
                      </a:moveTo>
                      <a:lnTo>
                        <a:pt x="321574" y="587195"/>
                      </a:lnTo>
                      <a:lnTo>
                        <a:pt x="321574" y="0"/>
                      </a:lnTo>
                      <a:lnTo>
                        <a:pt x="0" y="265621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xmlns="" id="{0020FF7E-9E76-25B1-955E-CB08BD2605C2}"/>
                    </a:ext>
                  </a:extLst>
                </p:cNvPr>
                <p:cNvSpPr/>
                <p:nvPr/>
              </p:nvSpPr>
              <p:spPr>
                <a:xfrm>
                  <a:off x="8014347" y="2094273"/>
                  <a:ext cx="410267" cy="809314"/>
                </a:xfrm>
                <a:custGeom>
                  <a:avLst/>
                  <a:gdLst>
                    <a:gd name="connsiteX0" fmla="*/ 410267 w 410267"/>
                    <a:gd name="connsiteY0" fmla="*/ 399046 h 809314"/>
                    <a:gd name="connsiteX1" fmla="*/ 0 w 410267"/>
                    <a:gd name="connsiteY1" fmla="*/ 809314 h 809314"/>
                    <a:gd name="connsiteX2" fmla="*/ 0 w 410267"/>
                    <a:gd name="connsiteY2" fmla="*/ 0 h 809314"/>
                    <a:gd name="connsiteX3" fmla="*/ 410267 w 410267"/>
                    <a:gd name="connsiteY3" fmla="*/ 399046 h 809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267" h="809314">
                      <a:moveTo>
                        <a:pt x="410267" y="399046"/>
                      </a:moveTo>
                      <a:lnTo>
                        <a:pt x="0" y="809314"/>
                      </a:lnTo>
                      <a:lnTo>
                        <a:pt x="0" y="0"/>
                      </a:lnTo>
                      <a:lnTo>
                        <a:pt x="410267" y="3990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xmlns="" id="{57A2722B-3FC0-88CC-AF5F-38A384F72E53}"/>
                    </a:ext>
                  </a:extLst>
                </p:cNvPr>
                <p:cNvSpPr/>
                <p:nvPr/>
              </p:nvSpPr>
              <p:spPr>
                <a:xfrm>
                  <a:off x="5554171" y="1608992"/>
                  <a:ext cx="2870455" cy="884327"/>
                </a:xfrm>
                <a:custGeom>
                  <a:avLst/>
                  <a:gdLst>
                    <a:gd name="connsiteX0" fmla="*/ 411497 w 2040116"/>
                    <a:gd name="connsiteY0" fmla="*/ 0 h 884327"/>
                    <a:gd name="connsiteX1" fmla="*/ 1628620 w 2040116"/>
                    <a:gd name="connsiteY1" fmla="*/ 0 h 884327"/>
                    <a:gd name="connsiteX2" fmla="*/ 2040117 w 2040116"/>
                    <a:gd name="connsiteY2" fmla="*/ 411497 h 884327"/>
                    <a:gd name="connsiteX3" fmla="*/ 2040117 w 2040116"/>
                    <a:gd name="connsiteY3" fmla="*/ 884327 h 884327"/>
                    <a:gd name="connsiteX4" fmla="*/ 2040117 w 2040116"/>
                    <a:gd name="connsiteY4" fmla="*/ 884327 h 884327"/>
                    <a:gd name="connsiteX5" fmla="*/ 0 w 2040116"/>
                    <a:gd name="connsiteY5" fmla="*/ 884327 h 884327"/>
                    <a:gd name="connsiteX6" fmla="*/ 0 w 2040116"/>
                    <a:gd name="connsiteY6" fmla="*/ 884327 h 884327"/>
                    <a:gd name="connsiteX7" fmla="*/ 0 w 2040116"/>
                    <a:gd name="connsiteY7" fmla="*/ 411497 h 884327"/>
                    <a:gd name="connsiteX8" fmla="*/ 411497 w 2040116"/>
                    <a:gd name="connsiteY8" fmla="*/ 0 h 88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40116" h="884327">
                      <a:moveTo>
                        <a:pt x="411497" y="0"/>
                      </a:moveTo>
                      <a:lnTo>
                        <a:pt x="1628620" y="0"/>
                      </a:lnTo>
                      <a:cubicBezTo>
                        <a:pt x="1855889" y="0"/>
                        <a:pt x="2040117" y="184233"/>
                        <a:pt x="2040117" y="411497"/>
                      </a:cubicBezTo>
                      <a:lnTo>
                        <a:pt x="2040117" y="884327"/>
                      </a:lnTo>
                      <a:lnTo>
                        <a:pt x="2040117" y="884327"/>
                      </a:lnTo>
                      <a:lnTo>
                        <a:pt x="0" y="884327"/>
                      </a:lnTo>
                      <a:lnTo>
                        <a:pt x="0" y="884327"/>
                      </a:lnTo>
                      <a:lnTo>
                        <a:pt x="0" y="411497"/>
                      </a:lnTo>
                      <a:cubicBezTo>
                        <a:pt x="0" y="184233"/>
                        <a:pt x="184228" y="0"/>
                        <a:pt x="41149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xmlns="" id="{30D67C75-9BE0-9138-891D-D05BA050FEBF}"/>
                    </a:ext>
                  </a:extLst>
                </p:cNvPr>
                <p:cNvSpPr/>
                <p:nvPr/>
              </p:nvSpPr>
              <p:spPr>
                <a:xfrm>
                  <a:off x="4813087" y="5791293"/>
                  <a:ext cx="221350" cy="221350"/>
                </a:xfrm>
                <a:custGeom>
                  <a:avLst/>
                  <a:gdLst>
                    <a:gd name="connsiteX0" fmla="*/ 221299 w 221350"/>
                    <a:gd name="connsiteY0" fmla="*/ 110572 h 221350"/>
                    <a:gd name="connsiteX1" fmla="*/ 110624 w 221350"/>
                    <a:gd name="connsiteY1" fmla="*/ 221248 h 221350"/>
                    <a:gd name="connsiteX2" fmla="*/ -52 w 221350"/>
                    <a:gd name="connsiteY2" fmla="*/ 110572 h 221350"/>
                    <a:gd name="connsiteX3" fmla="*/ 110624 w 221350"/>
                    <a:gd name="connsiteY3" fmla="*/ -103 h 221350"/>
                    <a:gd name="connsiteX4" fmla="*/ 110777 w 221350"/>
                    <a:gd name="connsiteY4" fmla="*/ -103 h 221350"/>
                    <a:gd name="connsiteX5" fmla="*/ 221299 w 221350"/>
                    <a:gd name="connsiteY5" fmla="*/ 110419 h 221350"/>
                    <a:gd name="connsiteX6" fmla="*/ 221299 w 221350"/>
                    <a:gd name="connsiteY6" fmla="*/ 110572 h 221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1350" h="221350">
                      <a:moveTo>
                        <a:pt x="221299" y="110572"/>
                      </a:moveTo>
                      <a:cubicBezTo>
                        <a:pt x="221299" y="171690"/>
                        <a:pt x="171741" y="221248"/>
                        <a:pt x="110624" y="221248"/>
                      </a:cubicBezTo>
                      <a:cubicBezTo>
                        <a:pt x="49506" y="221248"/>
                        <a:pt x="-52" y="171690"/>
                        <a:pt x="-52" y="110572"/>
                      </a:cubicBezTo>
                      <a:cubicBezTo>
                        <a:pt x="-52" y="49455"/>
                        <a:pt x="49506" y="-103"/>
                        <a:pt x="110624" y="-103"/>
                      </a:cubicBezTo>
                      <a:cubicBezTo>
                        <a:pt x="110670" y="-103"/>
                        <a:pt x="110731" y="-103"/>
                        <a:pt x="110777" y="-103"/>
                      </a:cubicBezTo>
                      <a:cubicBezTo>
                        <a:pt x="171818" y="-103"/>
                        <a:pt x="221299" y="49378"/>
                        <a:pt x="221299" y="110419"/>
                      </a:cubicBezTo>
                      <a:cubicBezTo>
                        <a:pt x="221299" y="110465"/>
                        <a:pt x="221299" y="110527"/>
                        <a:pt x="221299" y="11057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36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38EC853D-97DA-87B2-EE0D-A0E0A0C9E52B}"/>
                  </a:ext>
                </a:extLst>
              </p:cNvPr>
              <p:cNvSpPr/>
              <p:nvPr/>
            </p:nvSpPr>
            <p:spPr>
              <a:xfrm>
                <a:off x="7604357" y="5791293"/>
                <a:ext cx="221351" cy="221350"/>
              </a:xfrm>
              <a:custGeom>
                <a:avLst/>
                <a:gdLst>
                  <a:gd name="connsiteX0" fmla="*/ 221300 w 221351"/>
                  <a:gd name="connsiteY0" fmla="*/ 110573 h 221350"/>
                  <a:gd name="connsiteX1" fmla="*/ 110624 w 221351"/>
                  <a:gd name="connsiteY1" fmla="*/ 221248 h 221350"/>
                  <a:gd name="connsiteX2" fmla="*/ -52 w 221351"/>
                  <a:gd name="connsiteY2" fmla="*/ 110573 h 221350"/>
                  <a:gd name="connsiteX3" fmla="*/ 110624 w 221351"/>
                  <a:gd name="connsiteY3" fmla="*/ -103 h 221350"/>
                  <a:gd name="connsiteX4" fmla="*/ 221300 w 221351"/>
                  <a:gd name="connsiteY4" fmla="*/ 110265 h 221350"/>
                  <a:gd name="connsiteX5" fmla="*/ 221300 w 221351"/>
                  <a:gd name="connsiteY5" fmla="*/ 110573 h 2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351" h="221350">
                    <a:moveTo>
                      <a:pt x="221300" y="110573"/>
                    </a:moveTo>
                    <a:cubicBezTo>
                      <a:pt x="221300" y="171690"/>
                      <a:pt x="171741" y="221248"/>
                      <a:pt x="110624" y="221248"/>
                    </a:cubicBezTo>
                    <a:cubicBezTo>
                      <a:pt x="49506" y="221248"/>
                      <a:pt x="-52" y="171690"/>
                      <a:pt x="-52" y="110573"/>
                    </a:cubicBezTo>
                    <a:cubicBezTo>
                      <a:pt x="-52" y="49455"/>
                      <a:pt x="49506" y="-103"/>
                      <a:pt x="110624" y="-103"/>
                    </a:cubicBezTo>
                    <a:cubicBezTo>
                      <a:pt x="171665" y="-195"/>
                      <a:pt x="221207" y="49225"/>
                      <a:pt x="221300" y="110265"/>
                    </a:cubicBezTo>
                    <a:cubicBezTo>
                      <a:pt x="221300" y="110373"/>
                      <a:pt x="221300" y="110465"/>
                      <a:pt x="221300" y="11057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536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3BB7E75-C570-3CED-6C1C-D060E114149E}"/>
              </a:ext>
            </a:extLst>
          </p:cNvPr>
          <p:cNvSpPr txBox="1"/>
          <p:nvPr/>
        </p:nvSpPr>
        <p:spPr>
          <a:xfrm>
            <a:off x="1423728" y="1164869"/>
            <a:ext cx="2144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73033A6-E1C6-38F2-815E-13F26BA90C16}"/>
              </a:ext>
            </a:extLst>
          </p:cNvPr>
          <p:cNvSpPr txBox="1"/>
          <p:nvPr/>
        </p:nvSpPr>
        <p:spPr>
          <a:xfrm>
            <a:off x="7648561" y="1203710"/>
            <a:ext cx="1765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Benefit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B45966D0-2851-EE6F-8820-2498EB536659}"/>
              </a:ext>
            </a:extLst>
          </p:cNvPr>
          <p:cNvSpPr txBox="1"/>
          <p:nvPr/>
        </p:nvSpPr>
        <p:spPr>
          <a:xfrm>
            <a:off x="1022893" y="2430395"/>
            <a:ext cx="4122544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900" dirty="0"/>
              <a:t>A company sets up a wallet controlled by 5 managers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900" dirty="0"/>
              <a:t>Each has a private key.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900" dirty="0"/>
              <a:t>To approve any fund transfer, at least 3 of them must sign transaction.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900" dirty="0"/>
              <a:t>If 1 or 2 are unavailable or disagree, the transfer can still go through with the remaining approvals.</a:t>
            </a:r>
            <a:endParaRPr lang="en-IN" sz="1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0981DE08-6D3E-8E0C-35D8-40460C6E0373}"/>
              </a:ext>
            </a:extLst>
          </p:cNvPr>
          <p:cNvSpPr txBox="1"/>
          <p:nvPr/>
        </p:nvSpPr>
        <p:spPr>
          <a:xfrm>
            <a:off x="7287704" y="2069139"/>
            <a:ext cx="28794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indent="-185738">
              <a:buFont typeface="Wingdings" panose="05000000000000000000" pitchFamily="2" charset="2"/>
              <a:buChar char="§"/>
            </a:pPr>
            <a:r>
              <a:rPr lang="en-US" dirty="0"/>
              <a:t>Prevents any single person from having full control.</a:t>
            </a:r>
          </a:p>
          <a:p>
            <a:pPr marL="185738" indent="-185738">
              <a:buFont typeface="Wingdings" panose="05000000000000000000" pitchFamily="2" charset="2"/>
              <a:buChar char="§"/>
            </a:pPr>
            <a:r>
              <a:rPr lang="en-US" dirty="0"/>
              <a:t>Even if one key is lost or stolen, the funds remain secure.</a:t>
            </a:r>
          </a:p>
          <a:p>
            <a:pPr marL="185738" indent="-185738">
              <a:buFont typeface="Wingdings" panose="05000000000000000000" pitchFamily="2" charset="2"/>
              <a:buChar char="§"/>
            </a:pPr>
            <a:r>
              <a:rPr lang="en-US" dirty="0"/>
              <a:t>Increases trust, reduces fraud risk, and allows continued operation even if some members are unavailable.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282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EF1C977-C7F9-1D76-A049-C45A8D5CD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6E1A337-F442-5948-6B39-DC5E4850E3CE}"/>
              </a:ext>
            </a:extLst>
          </p:cNvPr>
          <p:cNvSpPr/>
          <p:nvPr/>
        </p:nvSpPr>
        <p:spPr>
          <a:xfrm rot="2657443">
            <a:off x="6698817" y="1993937"/>
            <a:ext cx="3163941" cy="276652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6C804A-8468-ABA5-B9D9-AEF748B07C1C}"/>
              </a:ext>
            </a:extLst>
          </p:cNvPr>
          <p:cNvSpPr txBox="1"/>
          <p:nvPr/>
        </p:nvSpPr>
        <p:spPr>
          <a:xfrm>
            <a:off x="5925519" y="2907245"/>
            <a:ext cx="45823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Online Wallets &amp; Exchanges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6F00E687-3CE9-A5E0-52B3-409E55F71B92}"/>
              </a:ext>
            </a:extLst>
          </p:cNvPr>
          <p:cNvCxnSpPr/>
          <p:nvPr/>
        </p:nvCxnSpPr>
        <p:spPr>
          <a:xfrm>
            <a:off x="4711485" y="6509288"/>
            <a:ext cx="618382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998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" y="388031"/>
            <a:ext cx="10704576" cy="5560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400" b="1" dirty="0" smtClean="0"/>
              <a:t>Online </a:t>
            </a:r>
            <a:r>
              <a:rPr lang="en-US" sz="2400" b="1" dirty="0"/>
              <a:t>Wallets: What are they?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An online wallet is like a digital purse you keep on the internet. Instead of holding cash, it holds your bitcoins or other cryptocurrencies.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/>
              <a:t>Real-Life Example</a:t>
            </a:r>
            <a:r>
              <a:rPr lang="en-US" dirty="0"/>
              <a:t>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Think of Google Photos — you store your pictures in the cloud, not on your phone. Similarly, an online wallet like Coinbase or blockchain.com stores your bitcoins online, and you can access them via a website or an app.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/>
              <a:t>Benefits:</a:t>
            </a:r>
          </a:p>
          <a:p>
            <a:pPr indent="171450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Easy to use: No need to install complicated software.</a:t>
            </a:r>
          </a:p>
          <a:p>
            <a:pPr indent="171450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Accessible from anywhere: Just log in from your phone or laptop.</a:t>
            </a:r>
          </a:p>
          <a:p>
            <a:pPr indent="171450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Syncs across devices: Access your wallet on multiple devices.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dirty="0"/>
              <a:t>Risks:</a:t>
            </a:r>
          </a:p>
          <a:p>
            <a:pPr indent="171450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Trust issues: </a:t>
            </a:r>
            <a:r>
              <a:rPr lang="en-US" dirty="0" smtClean="0"/>
              <a:t>Wallet </a:t>
            </a:r>
            <a:r>
              <a:rPr lang="en-US" dirty="0"/>
              <a:t>service can access your private keys, which are like </a:t>
            </a:r>
            <a:r>
              <a:rPr lang="en-US" dirty="0" smtClean="0"/>
              <a:t>secret </a:t>
            </a:r>
            <a:r>
              <a:rPr lang="en-US" dirty="0"/>
              <a:t>codes that unlock your money.</a:t>
            </a:r>
          </a:p>
          <a:p>
            <a:pPr indent="171450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If the website is hacked or the company is dishonest, your bitcoins could be stolen.</a:t>
            </a:r>
          </a:p>
          <a:p>
            <a:pPr marL="401638" indent="-230188">
              <a:spcBef>
                <a:spcPts val="400"/>
              </a:spcBef>
              <a:spcAft>
                <a:spcPts val="400"/>
              </a:spcAft>
              <a:tabLst>
                <a:tab pos="401638" algn="l"/>
              </a:tabLst>
            </a:pPr>
            <a:r>
              <a:rPr lang="en-US" dirty="0"/>
              <a:t>•	You're trusting someone else to keep your money safe </a:t>
            </a:r>
            <a:r>
              <a:rPr lang="en-US" dirty="0" smtClean="0"/>
              <a:t> </a:t>
            </a:r>
            <a:r>
              <a:rPr lang="en-US" dirty="0"/>
              <a:t>just like handing your wallet to a stranger and hoping they protect it</a:t>
            </a:r>
          </a:p>
        </p:txBody>
      </p:sp>
    </p:spTree>
    <p:extLst>
      <p:ext uri="{BB962C8B-B14F-4D97-AF65-F5344CB8AC3E}">
        <p14:creationId xmlns:p14="http://schemas.microsoft.com/office/powerpoint/2010/main" val="4066894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146048" y="1914144"/>
            <a:ext cx="963168" cy="10485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8640" y="5657088"/>
            <a:ext cx="890016" cy="92659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6656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69536" y="18854"/>
            <a:ext cx="7290816" cy="666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2400" b="1" dirty="0"/>
              <a:t>Bitcoin Exchanges: Like Online Banks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dirty="0" smtClean="0"/>
              <a:t>This exchange </a:t>
            </a:r>
            <a:r>
              <a:rPr lang="en-US" dirty="0"/>
              <a:t>works a lot like a bank or a stock trading platform, but for cryptocurrencies.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2000" b="1" dirty="0"/>
              <a:t>Real-Life Example</a:t>
            </a:r>
            <a:r>
              <a:rPr lang="en-US" dirty="0"/>
              <a:t>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dirty="0"/>
              <a:t>Suppose you use an app like </a:t>
            </a:r>
            <a:r>
              <a:rPr lang="en-US" dirty="0" err="1"/>
              <a:t>Paytm</a:t>
            </a:r>
            <a:r>
              <a:rPr lang="en-US" dirty="0"/>
              <a:t>, </a:t>
            </a:r>
            <a:r>
              <a:rPr lang="en-US" dirty="0" err="1"/>
              <a:t>PhonePe</a:t>
            </a:r>
            <a:r>
              <a:rPr lang="en-US" dirty="0"/>
              <a:t>, or Google Pay to store rupees and make transactions. You don’t hold the physical money — the app just promises to let you spend it when you need it.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dirty="0"/>
              <a:t>Similarly, a Bitcoin exchange like </a:t>
            </a:r>
            <a:r>
              <a:rPr lang="en-US" dirty="0" err="1"/>
              <a:t>Binance</a:t>
            </a:r>
            <a:r>
              <a:rPr lang="en-US" dirty="0"/>
              <a:t>, Coinbase, or Kraken stores your bitcoins and dollars/euros, lets you buy/sell/exchange them, and shows your balance.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2000" b="1" dirty="0"/>
              <a:t>How it Works</a:t>
            </a:r>
            <a:r>
              <a:rPr lang="en-US" dirty="0"/>
              <a:t>:</a:t>
            </a:r>
          </a:p>
          <a:p>
            <a:pPr indent="171450">
              <a:spcBef>
                <a:spcPts val="300"/>
              </a:spcBef>
              <a:spcAft>
                <a:spcPts val="600"/>
              </a:spcAft>
              <a:tabLst>
                <a:tab pos="401638" algn="l"/>
              </a:tabLst>
            </a:pPr>
            <a:r>
              <a:rPr lang="en-US" dirty="0"/>
              <a:t>•	You deposit real money (fiat) or bitcoins into the exchange.</a:t>
            </a:r>
          </a:p>
          <a:p>
            <a:pPr indent="171450">
              <a:spcBef>
                <a:spcPts val="300"/>
              </a:spcBef>
              <a:spcAft>
                <a:spcPts val="600"/>
              </a:spcAft>
              <a:tabLst>
                <a:tab pos="401638" algn="l"/>
              </a:tabLst>
            </a:pPr>
            <a:r>
              <a:rPr lang="en-US" dirty="0"/>
              <a:t>•	You can trade: e.g., use $1,000 to buy bitcoins.</a:t>
            </a:r>
          </a:p>
          <a:p>
            <a:pPr indent="171450">
              <a:spcBef>
                <a:spcPts val="300"/>
              </a:spcBef>
              <a:spcAft>
                <a:spcPts val="600"/>
              </a:spcAft>
              <a:tabLst>
                <a:tab pos="401638" algn="l"/>
              </a:tabLst>
            </a:pPr>
            <a:r>
              <a:rPr lang="en-US" dirty="0"/>
              <a:t>•	</a:t>
            </a:r>
            <a:r>
              <a:rPr lang="en-US" dirty="0" smtClean="0"/>
              <a:t>Exchange </a:t>
            </a:r>
            <a:r>
              <a:rPr lang="en-US" dirty="0"/>
              <a:t>matches buyers and sellers — no blockchain transaction </a:t>
            </a:r>
            <a:r>
              <a:rPr lang="en-US" dirty="0" smtClean="0"/>
              <a:t>	happens </a:t>
            </a:r>
            <a:r>
              <a:rPr lang="en-US" dirty="0"/>
              <a:t>here.</a:t>
            </a:r>
          </a:p>
          <a:p>
            <a:pPr indent="171450">
              <a:spcBef>
                <a:spcPts val="300"/>
              </a:spcBef>
              <a:spcAft>
                <a:spcPts val="600"/>
              </a:spcAft>
              <a:tabLst>
                <a:tab pos="401638" algn="l"/>
              </a:tabLst>
            </a:pPr>
            <a:r>
              <a:rPr lang="en-US" dirty="0"/>
              <a:t>•	They just update your account balance internally (like "Now you have 2 </a:t>
            </a:r>
            <a:r>
              <a:rPr lang="en-US" dirty="0" smtClean="0"/>
              <a:t>	BTC</a:t>
            </a:r>
            <a:r>
              <a:rPr lang="en-US" dirty="0"/>
              <a:t>, and $200 left").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b="1" dirty="0"/>
              <a:t>No blockchain involved in this internal transfer! The exchange simply updates records, similar to how your bank updates your balance</a:t>
            </a:r>
            <a:r>
              <a:rPr lang="en-US" dirty="0"/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993648" y="1914144"/>
            <a:ext cx="1005840" cy="10485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6176" y="5340096"/>
            <a:ext cx="792480" cy="90220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37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73152"/>
            <a:ext cx="12033504" cy="67421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8000" y="17883"/>
            <a:ext cx="8948928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sz="2400" b="1" dirty="0"/>
              <a:t>Pros and Cons of Exchanges</a:t>
            </a:r>
            <a:endParaRPr lang="en-US" sz="2400" b="1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sz="2000" b="1" dirty="0"/>
              <a:t>Pros:</a:t>
            </a:r>
            <a:endParaRPr lang="en-US" sz="2000" b="1" dirty="0"/>
          </a:p>
          <a:p>
            <a:pPr marL="285750" lvl="0" indent="-285750">
              <a:spcBef>
                <a:spcPts val="2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IN" dirty="0"/>
              <a:t>You can </a:t>
            </a:r>
            <a:r>
              <a:rPr lang="en-IN" b="1" dirty="0"/>
              <a:t>convert crypto to regular money</a:t>
            </a:r>
            <a:r>
              <a:rPr lang="en-IN" dirty="0"/>
              <a:t> (and vice versa).</a:t>
            </a:r>
            <a:endParaRPr lang="en-US" dirty="0"/>
          </a:p>
          <a:p>
            <a:pPr marL="285750" lvl="0" indent="-285750">
              <a:spcBef>
                <a:spcPts val="2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IN" dirty="0"/>
              <a:t>Easy to </a:t>
            </a:r>
            <a:r>
              <a:rPr lang="en-IN" b="1" dirty="0"/>
              <a:t>trade</a:t>
            </a:r>
            <a:r>
              <a:rPr lang="en-IN" dirty="0"/>
              <a:t> and </a:t>
            </a:r>
            <a:r>
              <a:rPr lang="en-IN" b="1" dirty="0"/>
              <a:t>make payments</a:t>
            </a:r>
            <a:r>
              <a:rPr lang="en-IN" dirty="0"/>
              <a:t>.</a:t>
            </a:r>
            <a:endParaRPr lang="en-US" dirty="0"/>
          </a:p>
          <a:p>
            <a:pPr marL="285750" lvl="0" indent="-285750">
              <a:spcBef>
                <a:spcPts val="2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IN" dirty="0"/>
              <a:t>You can manage both fiat and crypto in one place.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sz="2000" b="1" dirty="0"/>
              <a:t>Cons (3 Main Risks</a:t>
            </a:r>
            <a:r>
              <a:rPr lang="en-IN" b="1" dirty="0"/>
              <a:t>):</a:t>
            </a:r>
            <a:endParaRPr lang="en-US" b="1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b="1" dirty="0"/>
              <a:t>1. Bank Run Risk</a:t>
            </a:r>
            <a:endParaRPr lang="en-US" b="1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dirty="0"/>
              <a:t>Imagine a rumor spreads </a:t>
            </a:r>
            <a:r>
              <a:rPr lang="en-IN"/>
              <a:t>that </a:t>
            </a:r>
            <a:r>
              <a:rPr lang="en-IN" smtClean="0"/>
              <a:t>bank </a:t>
            </a:r>
            <a:r>
              <a:rPr lang="en-IN" dirty="0"/>
              <a:t>might shut down — everyone rushes to withdraw their money. If bank doesn't have enough cash, people lose money.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b="1" dirty="0"/>
              <a:t>In crypto</a:t>
            </a:r>
            <a:r>
              <a:rPr lang="en-IN" dirty="0"/>
              <a:t>: If many users try to withdraw at once, exchange might not have enough bitcoins in reserve.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b="1" dirty="0"/>
              <a:t>2. Scam Risk (Ponzi Schemes)</a:t>
            </a:r>
            <a:endParaRPr lang="en-US" b="1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dirty="0"/>
              <a:t>Some exchanges might be run by fraudsters. They take new users’ money to pay old users — a typical </a:t>
            </a:r>
            <a:r>
              <a:rPr lang="en-IN" b="1" dirty="0"/>
              <a:t>Ponzi scheme</a:t>
            </a:r>
            <a:r>
              <a:rPr lang="en-IN" dirty="0"/>
              <a:t>. Eventually, it collapses.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dirty="0"/>
              <a:t>Famous example: </a:t>
            </a:r>
            <a:r>
              <a:rPr lang="en-IN" b="1" dirty="0"/>
              <a:t>Bernie Madoff</a:t>
            </a:r>
            <a:r>
              <a:rPr lang="en-IN" dirty="0"/>
              <a:t> ran a massive Ponzi scheme in real life.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b="1" dirty="0"/>
              <a:t>3. Hacking Risk</a:t>
            </a:r>
            <a:endParaRPr lang="en-US" b="1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dirty="0"/>
              <a:t>Exchanges are a </a:t>
            </a:r>
            <a:r>
              <a:rPr lang="en-IN" b="1" dirty="0"/>
              <a:t>target for hackers</a:t>
            </a:r>
            <a:r>
              <a:rPr lang="en-IN" dirty="0"/>
              <a:t> because they store large amounts of money. Sometimes, even employees might steal from within.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IN" dirty="0"/>
              <a:t> </a:t>
            </a:r>
            <a:r>
              <a:rPr lang="en-IN" sz="2000" b="1" dirty="0"/>
              <a:t>Real example</a:t>
            </a:r>
            <a:r>
              <a:rPr lang="en-IN" dirty="0"/>
              <a:t>: </a:t>
            </a:r>
            <a:r>
              <a:rPr lang="en-IN" b="1" dirty="0"/>
              <a:t>Mt. </a:t>
            </a:r>
            <a:r>
              <a:rPr lang="en-IN" b="1" dirty="0" err="1"/>
              <a:t>Gox</a:t>
            </a:r>
            <a:r>
              <a:rPr lang="en-IN" dirty="0"/>
              <a:t>, once the largest Bitcoin exchange, </a:t>
            </a:r>
            <a:r>
              <a:rPr lang="en-IN" b="1" dirty="0"/>
              <a:t>lost over $450 million</a:t>
            </a:r>
            <a:r>
              <a:rPr lang="en-IN" dirty="0"/>
              <a:t> and went bankrupt due to mismanagement and hacking.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976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6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43832</TotalTime>
  <Words>2067</Words>
  <Application>Microsoft Office PowerPoint</Application>
  <PresentationFormat>Custom</PresentationFormat>
  <Paragraphs>313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–V Part-I   Mechanics of Bitcoin</dc:title>
  <dc:creator>Admin</dc:creator>
  <cp:lastModifiedBy>N M K</cp:lastModifiedBy>
  <cp:revision>82</cp:revision>
  <dcterms:created xsi:type="dcterms:W3CDTF">2025-04-20T05:50:22Z</dcterms:created>
  <dcterms:modified xsi:type="dcterms:W3CDTF">2025-05-22T06:59:58Z</dcterms:modified>
</cp:coreProperties>
</file>