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handoutMasterIdLst>
    <p:handoutMasterId r:id="rId49"/>
  </p:handoutMasterIdLst>
  <p:sldIdLst>
    <p:sldId id="466" r:id="rId5"/>
    <p:sldId id="467" r:id="rId6"/>
    <p:sldId id="545" r:id="rId7"/>
    <p:sldId id="544" r:id="rId8"/>
    <p:sldId id="519" r:id="rId9"/>
    <p:sldId id="520" r:id="rId10"/>
    <p:sldId id="543" r:id="rId11"/>
    <p:sldId id="516" r:id="rId12"/>
    <p:sldId id="517" r:id="rId13"/>
    <p:sldId id="518" r:id="rId14"/>
    <p:sldId id="521" r:id="rId15"/>
    <p:sldId id="553" r:id="rId16"/>
    <p:sldId id="522" r:id="rId17"/>
    <p:sldId id="554" r:id="rId18"/>
    <p:sldId id="555" r:id="rId19"/>
    <p:sldId id="556" r:id="rId20"/>
    <p:sldId id="525" r:id="rId21"/>
    <p:sldId id="526" r:id="rId22"/>
    <p:sldId id="527" r:id="rId23"/>
    <p:sldId id="557" r:id="rId24"/>
    <p:sldId id="558" r:id="rId25"/>
    <p:sldId id="546" r:id="rId26"/>
    <p:sldId id="528" r:id="rId27"/>
    <p:sldId id="529" r:id="rId28"/>
    <p:sldId id="530" r:id="rId29"/>
    <p:sldId id="531" r:id="rId30"/>
    <p:sldId id="532" r:id="rId31"/>
    <p:sldId id="533" r:id="rId32"/>
    <p:sldId id="534" r:id="rId33"/>
    <p:sldId id="547" r:id="rId34"/>
    <p:sldId id="535" r:id="rId35"/>
    <p:sldId id="537" r:id="rId36"/>
    <p:sldId id="548" r:id="rId37"/>
    <p:sldId id="549" r:id="rId38"/>
    <p:sldId id="550" r:id="rId39"/>
    <p:sldId id="538" r:id="rId40"/>
    <p:sldId id="539" r:id="rId41"/>
    <p:sldId id="551" r:id="rId42"/>
    <p:sldId id="540" r:id="rId43"/>
    <p:sldId id="552" r:id="rId44"/>
    <p:sldId id="541" r:id="rId45"/>
    <p:sldId id="542" r:id="rId46"/>
    <p:sldId id="281" r:id="rId47"/>
  </p:sldIdLst>
  <p:sldSz cx="12188825" cy="6858000"/>
  <p:notesSz cx="6858000" cy="9144000"/>
  <p:defaultTextStyle>
    <a:defPPr>
      <a:defRPr lang="en-US"/>
    </a:defPPr>
    <a:lvl1pPr algn="l" defTabSz="1217613" rtl="0" eaLnBrk="0" fontAlgn="base" hangingPunct="0">
      <a:spcBef>
        <a:spcPct val="0"/>
      </a:spcBef>
      <a:spcAft>
        <a:spcPct val="0"/>
      </a:spcAft>
      <a:defRPr sz="2400" kern="1200">
        <a:solidFill>
          <a:schemeClr val="tx1"/>
        </a:solidFill>
        <a:latin typeface="Arial" pitchFamily="34" charset="0"/>
        <a:ea typeface="+mn-ea"/>
        <a:cs typeface="Arial" pitchFamily="34" charset="0"/>
      </a:defRPr>
    </a:lvl1pPr>
    <a:lvl2pPr marL="608013" indent="-150813" algn="l" defTabSz="1217613" rtl="0" eaLnBrk="0" fontAlgn="base" hangingPunct="0">
      <a:spcBef>
        <a:spcPct val="0"/>
      </a:spcBef>
      <a:spcAft>
        <a:spcPct val="0"/>
      </a:spcAft>
      <a:defRPr sz="2400" kern="1200">
        <a:solidFill>
          <a:schemeClr val="tx1"/>
        </a:solidFill>
        <a:latin typeface="Arial" pitchFamily="34" charset="0"/>
        <a:ea typeface="+mn-ea"/>
        <a:cs typeface="Arial" pitchFamily="34" charset="0"/>
      </a:defRPr>
    </a:lvl2pPr>
    <a:lvl3pPr marL="1217613" indent="-303213" algn="l" defTabSz="1217613" rtl="0" eaLnBrk="0" fontAlgn="base" hangingPunct="0">
      <a:spcBef>
        <a:spcPct val="0"/>
      </a:spcBef>
      <a:spcAft>
        <a:spcPct val="0"/>
      </a:spcAft>
      <a:defRPr sz="2400" kern="1200">
        <a:solidFill>
          <a:schemeClr val="tx1"/>
        </a:solidFill>
        <a:latin typeface="Arial" pitchFamily="34" charset="0"/>
        <a:ea typeface="+mn-ea"/>
        <a:cs typeface="Arial" pitchFamily="34" charset="0"/>
      </a:defRPr>
    </a:lvl3pPr>
    <a:lvl4pPr marL="1827213" indent="-455613" algn="l" defTabSz="1217613" rtl="0" eaLnBrk="0" fontAlgn="base" hangingPunct="0">
      <a:spcBef>
        <a:spcPct val="0"/>
      </a:spcBef>
      <a:spcAft>
        <a:spcPct val="0"/>
      </a:spcAft>
      <a:defRPr sz="2400" kern="1200">
        <a:solidFill>
          <a:schemeClr val="tx1"/>
        </a:solidFill>
        <a:latin typeface="Arial" pitchFamily="34" charset="0"/>
        <a:ea typeface="+mn-ea"/>
        <a:cs typeface="Arial" pitchFamily="34" charset="0"/>
      </a:defRPr>
    </a:lvl4pPr>
    <a:lvl5pPr marL="2436813" indent="-608013" algn="l" defTabSz="1217613" rtl="0" eaLnBrk="0" fontAlgn="base" hangingPunct="0">
      <a:spcBef>
        <a:spcPct val="0"/>
      </a:spcBef>
      <a:spcAft>
        <a:spcPct val="0"/>
      </a:spcAft>
      <a:defRPr sz="2400" kern="1200">
        <a:solidFill>
          <a:schemeClr val="tx1"/>
        </a:solidFill>
        <a:latin typeface="Arial" pitchFamily="34" charset="0"/>
        <a:ea typeface="+mn-ea"/>
        <a:cs typeface="Arial" pitchFamily="34" charset="0"/>
      </a:defRPr>
    </a:lvl5pPr>
    <a:lvl6pPr marL="2286000" algn="l" defTabSz="914400" rtl="0" eaLnBrk="1" latinLnBrk="0" hangingPunct="1">
      <a:defRPr sz="2400" kern="1200">
        <a:solidFill>
          <a:schemeClr val="tx1"/>
        </a:solidFill>
        <a:latin typeface="Arial" pitchFamily="34" charset="0"/>
        <a:ea typeface="+mn-ea"/>
        <a:cs typeface="Arial" pitchFamily="34" charset="0"/>
      </a:defRPr>
    </a:lvl6pPr>
    <a:lvl7pPr marL="2743200" algn="l" defTabSz="914400" rtl="0" eaLnBrk="1" latinLnBrk="0" hangingPunct="1">
      <a:defRPr sz="2400" kern="1200">
        <a:solidFill>
          <a:schemeClr val="tx1"/>
        </a:solidFill>
        <a:latin typeface="Arial" pitchFamily="34" charset="0"/>
        <a:ea typeface="+mn-ea"/>
        <a:cs typeface="Arial" pitchFamily="34" charset="0"/>
      </a:defRPr>
    </a:lvl7pPr>
    <a:lvl8pPr marL="3200400" algn="l" defTabSz="914400" rtl="0" eaLnBrk="1" latinLnBrk="0" hangingPunct="1">
      <a:defRPr sz="2400" kern="1200">
        <a:solidFill>
          <a:schemeClr val="tx1"/>
        </a:solidFill>
        <a:latin typeface="Arial" pitchFamily="34" charset="0"/>
        <a:ea typeface="+mn-ea"/>
        <a:cs typeface="Arial" pitchFamily="34" charset="0"/>
      </a:defRPr>
    </a:lvl8pPr>
    <a:lvl9pPr marL="3657600" algn="l" defTabSz="914400" rtl="0" eaLnBrk="1" latinLnBrk="0" hangingPunct="1">
      <a:defRPr sz="2400"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xmlns="">
        <p15:guide id="1" orient="horz" pos="2160">
          <p15:clr>
            <a:srgbClr val="A4A3A4"/>
          </p15:clr>
        </p15:guide>
        <p15:guide id="2"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5500"/>
    <a:srgbClr val="5F6F0F"/>
    <a:srgbClr val="003300"/>
    <a:srgbClr val="394404"/>
    <a:srgbClr val="718412"/>
    <a:srgbClr val="65741A"/>
    <a:srgbClr val="70811D"/>
    <a:srgbClr val="7B8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78" d="100"/>
          <a:sy n="78" d="100"/>
        </p:scale>
        <p:origin x="-114" y="-684"/>
      </p:cViewPr>
      <p:guideLst>
        <p:guide orient="horz" pos="2160"/>
        <p:guide pos="3839"/>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218987" eaLnBrk="1" fontAlgn="auto" hangingPunct="1">
              <a:spcBef>
                <a:spcPts val="0"/>
              </a:spcBef>
              <a:spcAft>
                <a:spcPts val="0"/>
              </a:spcAft>
              <a:defRPr sz="1200">
                <a:latin typeface="+mn-lt"/>
                <a:cs typeface="+mn-cs"/>
              </a:defRPr>
            </a:lvl1pPr>
          </a:lstStyle>
          <a:p>
            <a:pPr>
              <a:defRPr/>
            </a:pP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1218987" eaLnBrk="1" fontAlgn="auto" hangingPunct="1">
              <a:spcBef>
                <a:spcPts val="0"/>
              </a:spcBef>
              <a:spcAft>
                <a:spcPts val="0"/>
              </a:spcAft>
              <a:defRPr sz="1200">
                <a:latin typeface="+mn-lt"/>
                <a:cs typeface="+mn-cs"/>
              </a:defRPr>
            </a:lvl1pPr>
          </a:lstStyle>
          <a:p>
            <a:pPr>
              <a:defRPr/>
            </a:pPr>
            <a:fld id="{48044A08-AC35-459C-8880-4AA2F6825F5E}" type="datetimeFigureOut">
              <a:rPr lang="en-US"/>
              <a:pPr>
                <a:defRPr/>
              </a:pPr>
              <a:t>2/17/2025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218987" eaLnBrk="1" fontAlgn="auto" hangingPunct="1">
              <a:spcBef>
                <a:spcPts val="0"/>
              </a:spcBef>
              <a:spcAft>
                <a:spcPts val="0"/>
              </a:spcAft>
              <a:defRPr sz="1200">
                <a:latin typeface="+mn-lt"/>
                <a:cs typeface="+mn-cs"/>
              </a:defRPr>
            </a:lvl1pPr>
          </a:lstStyle>
          <a:p>
            <a:pPr>
              <a:defRPr/>
            </a:pP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pPr>
              <a:defRPr/>
            </a:pPr>
            <a:fld id="{3D23A41B-A5B2-4F0A-AB6F-127F48FAF250}" type="slidenum">
              <a:rPr lang="en-US"/>
              <a:pPr>
                <a:defRPr/>
              </a:pPr>
              <a:t>‹#›</a:t>
            </a:fld>
            <a:endParaRPr lang="en-US"/>
          </a:p>
        </p:txBody>
      </p:sp>
    </p:spTree>
    <p:extLst>
      <p:ext uri="{BB962C8B-B14F-4D97-AF65-F5344CB8AC3E}">
        <p14:creationId xmlns:p14="http://schemas.microsoft.com/office/powerpoint/2010/main" val="1426074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218987" eaLnBrk="1" fontAlgn="auto" hangingPunct="1">
              <a:spcBef>
                <a:spcPts val="0"/>
              </a:spcBef>
              <a:spcAft>
                <a:spcPts val="0"/>
              </a:spcAft>
              <a:defRPr sz="1200">
                <a:latin typeface="+mn-lt"/>
                <a:cs typeface="+mn-cs"/>
              </a:defRPr>
            </a:lvl1pPr>
          </a:lstStyle>
          <a:p>
            <a:pPr>
              <a:defRPr/>
            </a:pPr>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218987" eaLnBrk="1" fontAlgn="auto" hangingPunct="1">
              <a:spcBef>
                <a:spcPts val="0"/>
              </a:spcBef>
              <a:spcAft>
                <a:spcPts val="0"/>
              </a:spcAft>
              <a:defRPr sz="1200">
                <a:latin typeface="+mn-lt"/>
                <a:cs typeface="+mn-cs"/>
              </a:defRPr>
            </a:lvl1pPr>
          </a:lstStyle>
          <a:p>
            <a:pPr>
              <a:defRPr/>
            </a:pPr>
            <a:fld id="{070451AE-7C4B-48DF-AB6D-8BA502E3C746}" type="datetimeFigureOut">
              <a:rPr lang="en-US"/>
              <a:pPr>
                <a:defRPr/>
              </a:pPr>
              <a:t>2/17/2025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218987" eaLnBrk="1" fontAlgn="auto" hangingPunct="1">
              <a:spcBef>
                <a:spcPts val="0"/>
              </a:spcBef>
              <a:spcAft>
                <a:spcPts val="0"/>
              </a:spcAft>
              <a:defRPr sz="1200">
                <a:latin typeface="+mn-lt"/>
                <a:cs typeface="+mn-cs"/>
              </a:defRPr>
            </a:lvl1pPr>
          </a:lstStyle>
          <a:p>
            <a:pPr>
              <a:defRPr/>
            </a:pPr>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pPr>
              <a:defRPr/>
            </a:pPr>
            <a:fld id="{AC3D420D-1281-4EC5-8334-0935612A363A}" type="slidenum">
              <a:rPr lang="en-US"/>
              <a:pPr>
                <a:defRPr/>
              </a:pPr>
              <a:t>‹#›</a:t>
            </a:fld>
            <a:endParaRPr lang="en-US"/>
          </a:p>
        </p:txBody>
      </p:sp>
    </p:spTree>
    <p:extLst>
      <p:ext uri="{BB962C8B-B14F-4D97-AF65-F5344CB8AC3E}">
        <p14:creationId xmlns:p14="http://schemas.microsoft.com/office/powerpoint/2010/main" val="2382776999"/>
      </p:ext>
    </p:extLst>
  </p:cSld>
  <p:clrMap bg1="lt1" tx1="dk1" bg2="lt2" tx2="dk2" accent1="accent1" accent2="accent2" accent3="accent3" accent4="accent4" accent5="accent5" accent6="accent6" hlink="hlink" folHlink="folHlink"/>
  <p:notesStyle>
    <a:lvl1pPr algn="l" defTabSz="1217613" rtl="0" eaLnBrk="0" fontAlgn="base" hangingPunct="0">
      <a:spcBef>
        <a:spcPct val="30000"/>
      </a:spcBef>
      <a:spcAft>
        <a:spcPct val="0"/>
      </a:spcAft>
      <a:defRPr sz="1600" kern="1200">
        <a:solidFill>
          <a:schemeClr val="tx1"/>
        </a:solidFill>
        <a:latin typeface="+mn-lt"/>
        <a:ea typeface="+mn-ea"/>
        <a:cs typeface="+mn-cs"/>
      </a:defRPr>
    </a:lvl1pPr>
    <a:lvl2pPr marL="608013" algn="l" defTabSz="1217613" rtl="0" eaLnBrk="0" fontAlgn="base" hangingPunct="0">
      <a:spcBef>
        <a:spcPct val="30000"/>
      </a:spcBef>
      <a:spcAft>
        <a:spcPct val="0"/>
      </a:spcAft>
      <a:defRPr sz="1600" kern="1200">
        <a:solidFill>
          <a:schemeClr val="tx1"/>
        </a:solidFill>
        <a:latin typeface="+mn-lt"/>
        <a:ea typeface="+mn-ea"/>
        <a:cs typeface="+mn-cs"/>
      </a:defRPr>
    </a:lvl2pPr>
    <a:lvl3pPr marL="1217613" algn="l" defTabSz="1217613" rtl="0" eaLnBrk="0" fontAlgn="base" hangingPunct="0">
      <a:spcBef>
        <a:spcPct val="30000"/>
      </a:spcBef>
      <a:spcAft>
        <a:spcPct val="0"/>
      </a:spcAft>
      <a:defRPr sz="1600" kern="1200">
        <a:solidFill>
          <a:schemeClr val="tx1"/>
        </a:solidFill>
        <a:latin typeface="+mn-lt"/>
        <a:ea typeface="+mn-ea"/>
        <a:cs typeface="+mn-cs"/>
      </a:defRPr>
    </a:lvl3pPr>
    <a:lvl4pPr marL="1827213" algn="l" defTabSz="1217613" rtl="0" eaLnBrk="0" fontAlgn="base" hangingPunct="0">
      <a:spcBef>
        <a:spcPct val="30000"/>
      </a:spcBef>
      <a:spcAft>
        <a:spcPct val="0"/>
      </a:spcAft>
      <a:defRPr sz="1600" kern="1200">
        <a:solidFill>
          <a:schemeClr val="tx1"/>
        </a:solidFill>
        <a:latin typeface="+mn-lt"/>
        <a:ea typeface="+mn-ea"/>
        <a:cs typeface="+mn-cs"/>
      </a:defRPr>
    </a:lvl4pPr>
    <a:lvl5pPr marL="2436813" algn="l" defTabSz="1217613" rtl="0" eaLnBrk="0" fontAlgn="base" hangingPunct="0">
      <a:spcBef>
        <a:spcPct val="30000"/>
      </a:spcBef>
      <a:spcAft>
        <a:spcPct val="0"/>
      </a:spcAft>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diagonals"/>
          <p:cNvGrpSpPr>
            <a:grpSpLocks/>
          </p:cNvGrpSpPr>
          <p:nvPr/>
        </p:nvGrpSpPr>
        <p:grpSpPr bwMode="auto">
          <a:xfrm>
            <a:off x="7516813" y="4144963"/>
            <a:ext cx="4686300" cy="2732087"/>
            <a:chOff x="5638800" y="3108960"/>
            <a:chExt cx="3515503" cy="2048555"/>
          </a:xfrm>
        </p:grpSpPr>
        <p:cxnSp>
          <p:nvCxnSpPr>
            <p:cNvPr id="5" name="Straight Connector 4"/>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8" name="bottom lines"/>
          <p:cNvGrpSpPr>
            <a:grpSpLocks/>
          </p:cNvGrpSpPr>
          <p:nvPr/>
        </p:nvGrpSpPr>
        <p:grpSpPr bwMode="auto">
          <a:xfrm>
            <a:off x="-9525" y="6057900"/>
            <a:ext cx="5499100" cy="819150"/>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a:p>
        </p:txBody>
      </p:sp>
      <p:sp>
        <p:nvSpPr>
          <p:cNvPr id="12" name="Date Placeholder 21"/>
          <p:cNvSpPr>
            <a:spLocks noGrp="1"/>
          </p:cNvSpPr>
          <p:nvPr>
            <p:ph type="dt" sz="half" idx="10"/>
          </p:nvPr>
        </p:nvSpPr>
        <p:spPr/>
        <p:txBody>
          <a:bodyPr/>
          <a:lstStyle>
            <a:lvl1pPr>
              <a:defRPr/>
            </a:lvl1pPr>
          </a:lstStyle>
          <a:p>
            <a:pPr>
              <a:defRPr/>
            </a:pPr>
            <a:fld id="{881E666B-37D6-49C2-B790-902394033D60}" type="datetimeFigureOut">
              <a:rPr lang="en-US"/>
              <a:pPr>
                <a:defRPr/>
              </a:pPr>
              <a:t>2/17/2025</a:t>
            </a:fld>
            <a:endParaRPr/>
          </a:p>
        </p:txBody>
      </p:sp>
      <p:sp>
        <p:nvSpPr>
          <p:cNvPr id="13" name="Footer Placeholder 22"/>
          <p:cNvSpPr>
            <a:spLocks noGrp="1"/>
          </p:cNvSpPr>
          <p:nvPr>
            <p:ph type="ftr" sz="quarter" idx="11"/>
          </p:nvPr>
        </p:nvSpPr>
        <p:spPr/>
        <p:txBody>
          <a:bodyPr/>
          <a:lstStyle>
            <a:lvl1pPr>
              <a:defRPr/>
            </a:lvl1pPr>
          </a:lstStyle>
          <a:p>
            <a:pPr>
              <a:defRPr/>
            </a:pPr>
            <a:endParaRPr/>
          </a:p>
        </p:txBody>
      </p:sp>
      <p:sp>
        <p:nvSpPr>
          <p:cNvPr id="14" name="Slide Number Placeholder 23"/>
          <p:cNvSpPr>
            <a:spLocks noGrp="1"/>
          </p:cNvSpPr>
          <p:nvPr>
            <p:ph type="sldNum" sz="quarter" idx="12"/>
          </p:nvPr>
        </p:nvSpPr>
        <p:spPr/>
        <p:txBody>
          <a:bodyPr/>
          <a:lstStyle>
            <a:lvl1pPr>
              <a:defRPr/>
            </a:lvl1pPr>
          </a:lstStyle>
          <a:p>
            <a:pPr>
              <a:defRPr/>
            </a:pPr>
            <a:fld id="{EBD421BB-D869-4555-9CD3-953BE300B84B}" type="slidenum">
              <a:rPr lang="en-US"/>
              <a:pPr>
                <a:defRPr/>
              </a:pPr>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lvl1pPr>
              <a:defRPr/>
            </a:lvl1pPr>
          </a:lstStyle>
          <a:p>
            <a:pPr>
              <a:defRPr/>
            </a:pPr>
            <a:fld id="{26C34A51-BFE8-4855-A742-FA0BABADCA21}" type="datetimeFigureOut">
              <a:rPr lang="en-US"/>
              <a:pPr>
                <a:defRPr/>
              </a:pPr>
              <a:t>2/17/2025</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6" name="Slide Number Placeholder 5"/>
          <p:cNvSpPr>
            <a:spLocks noGrp="1"/>
          </p:cNvSpPr>
          <p:nvPr>
            <p:ph type="sldNum" sz="quarter" idx="12"/>
          </p:nvPr>
        </p:nvSpPr>
        <p:spPr/>
        <p:txBody>
          <a:bodyPr/>
          <a:lstStyle>
            <a:lvl1pPr>
              <a:defRPr/>
            </a:lvl1pPr>
          </a:lstStyle>
          <a:p>
            <a:pPr>
              <a:defRPr/>
            </a:pPr>
            <a:fld id="{ECB4D998-8B9A-4407-B13E-A81E5D32134D}" type="slidenum">
              <a:rPr lang="en-US"/>
              <a:pPr>
                <a:defRPr/>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diagonals"/>
          <p:cNvGrpSpPr>
            <a:grpSpLocks/>
          </p:cNvGrpSpPr>
          <p:nvPr/>
        </p:nvGrpSpPr>
        <p:grpSpPr bwMode="auto">
          <a:xfrm>
            <a:off x="7516813" y="4144963"/>
            <a:ext cx="4686300" cy="2732087"/>
            <a:chOff x="5638800" y="3108960"/>
            <a:chExt cx="3515503" cy="2048555"/>
          </a:xfrm>
        </p:grpSpPr>
        <p:cxnSp>
          <p:nvCxnSpPr>
            <p:cNvPr id="5" name="Straight Connector 4"/>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ormAutofit/>
          </a:bodyPr>
          <a:lstStyle>
            <a:lvl1pPr algn="l">
              <a:defRPr sz="5400" b="0" cap="none" baseline="0"/>
            </a:lvl1pPr>
          </a:lstStyle>
          <a:p>
            <a:r>
              <a:rPr lang="en-US" smtClean="0"/>
              <a:t>Click to edit Master title style</a:t>
            </a:r>
            <a:endParaRPr/>
          </a:p>
        </p:txBody>
      </p:sp>
      <p:sp>
        <p:nvSpPr>
          <p:cNvPr id="3" name="Text Placeholder 2"/>
          <p:cNvSpPr>
            <a:spLocks noGrp="1"/>
          </p:cNvSpPr>
          <p:nvPr>
            <p:ph type="body" idx="1"/>
          </p:nvPr>
        </p:nvSpPr>
        <p:spPr>
          <a:xfrm>
            <a:off x="1625176" y="4951266"/>
            <a:ext cx="7069519" cy="1220933"/>
          </a:xfrm>
        </p:spPr>
        <p:txBody>
          <a:bodyPr>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Edit Master text styles</a:t>
            </a:r>
          </a:p>
        </p:txBody>
      </p:sp>
      <p:sp>
        <p:nvSpPr>
          <p:cNvPr id="8" name="Date Placeholder 3"/>
          <p:cNvSpPr>
            <a:spLocks noGrp="1"/>
          </p:cNvSpPr>
          <p:nvPr>
            <p:ph type="dt" sz="half" idx="10"/>
          </p:nvPr>
        </p:nvSpPr>
        <p:spPr/>
        <p:txBody>
          <a:bodyPr/>
          <a:lstStyle>
            <a:lvl1pPr>
              <a:defRPr/>
            </a:lvl1pPr>
          </a:lstStyle>
          <a:p>
            <a:pPr>
              <a:defRPr/>
            </a:pPr>
            <a:fld id="{986C7800-B608-4AC1-A816-39D8642B938A}" type="datetimeFigureOut">
              <a:rPr lang="en-US"/>
              <a:pPr>
                <a:defRPr/>
              </a:pPr>
              <a:t>2/17/2025</a:t>
            </a:fld>
            <a:endParaRPr/>
          </a:p>
        </p:txBody>
      </p:sp>
      <p:sp>
        <p:nvSpPr>
          <p:cNvPr id="9" name="Footer Placeholder 4"/>
          <p:cNvSpPr>
            <a:spLocks noGrp="1"/>
          </p:cNvSpPr>
          <p:nvPr>
            <p:ph type="ftr" sz="quarter" idx="11"/>
          </p:nvPr>
        </p:nvSpPr>
        <p:spPr/>
        <p:txBody>
          <a:bodyPr/>
          <a:lstStyle>
            <a:lvl1pPr>
              <a:defRPr/>
            </a:lvl1pPr>
          </a:lstStyle>
          <a:p>
            <a:pPr>
              <a:defRPr/>
            </a:pPr>
            <a:endParaRPr/>
          </a:p>
        </p:txBody>
      </p:sp>
      <p:sp>
        <p:nvSpPr>
          <p:cNvPr id="10" name="Slide Number Placeholder 5"/>
          <p:cNvSpPr>
            <a:spLocks noGrp="1"/>
          </p:cNvSpPr>
          <p:nvPr>
            <p:ph type="sldNum" sz="quarter" idx="12"/>
          </p:nvPr>
        </p:nvSpPr>
        <p:spPr/>
        <p:txBody>
          <a:bodyPr/>
          <a:lstStyle>
            <a:lvl1pPr>
              <a:defRPr/>
            </a:lvl1pPr>
          </a:lstStyle>
          <a:p>
            <a:pPr>
              <a:defRPr/>
            </a:pPr>
            <a:fld id="{B6EBF2D7-9B3D-4D51-BC25-6F3041517FDC}" type="slidenum">
              <a:rPr lang="en-US"/>
              <a:pPr>
                <a:defRPr/>
              </a:pPr>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3"/>
          <p:cNvSpPr>
            <a:spLocks noGrp="1"/>
          </p:cNvSpPr>
          <p:nvPr>
            <p:ph type="dt" sz="half" idx="10"/>
          </p:nvPr>
        </p:nvSpPr>
        <p:spPr/>
        <p:txBody>
          <a:bodyPr/>
          <a:lstStyle>
            <a:lvl1pPr>
              <a:defRPr/>
            </a:lvl1pPr>
          </a:lstStyle>
          <a:p>
            <a:pPr>
              <a:defRPr/>
            </a:pPr>
            <a:fld id="{6F8D6C4D-9869-4E55-912B-A06BC5B89D71}" type="datetimeFigureOut">
              <a:rPr lang="en-US"/>
              <a:pPr>
                <a:defRPr/>
              </a:pPr>
              <a:t>2/17/2025</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7" name="Slide Number Placeholder 5"/>
          <p:cNvSpPr>
            <a:spLocks noGrp="1"/>
          </p:cNvSpPr>
          <p:nvPr>
            <p:ph type="sldNum" sz="quarter" idx="12"/>
          </p:nvPr>
        </p:nvSpPr>
        <p:spPr/>
        <p:txBody>
          <a:bodyPr/>
          <a:lstStyle>
            <a:lvl1pPr>
              <a:defRPr/>
            </a:lvl1pPr>
          </a:lstStyle>
          <a:p>
            <a:pPr>
              <a:defRPr/>
            </a:pPr>
            <a:fld id="{45FF5F06-2BED-4F6D-ABFD-5A3A31BA2645}" type="slidenum">
              <a:rPr lang="en-US"/>
              <a:pPr>
                <a:defRPr/>
              </a:pPr>
              <a:t>‹#›</a:t>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fld id="{6491CAD0-C63C-4376-93BA-1E3612D18DE4}" type="datetimeFigureOut">
              <a:rPr lang="en-US"/>
              <a:pPr>
                <a:defRPr/>
              </a:pPr>
              <a:t>2/17/2025</a:t>
            </a:fld>
            <a:endParaRPr/>
          </a:p>
        </p:txBody>
      </p:sp>
      <p:sp>
        <p:nvSpPr>
          <p:cNvPr id="8" name="Footer Placeholder 4"/>
          <p:cNvSpPr>
            <a:spLocks noGrp="1"/>
          </p:cNvSpPr>
          <p:nvPr>
            <p:ph type="ftr" sz="quarter" idx="11"/>
          </p:nvPr>
        </p:nvSpPr>
        <p:spPr/>
        <p:txBody>
          <a:bodyPr/>
          <a:lstStyle>
            <a:lvl1pPr>
              <a:defRPr/>
            </a:lvl1pPr>
          </a:lstStyle>
          <a:p>
            <a:pPr>
              <a:defRPr/>
            </a:pPr>
            <a:endParaRPr/>
          </a:p>
        </p:txBody>
      </p:sp>
      <p:sp>
        <p:nvSpPr>
          <p:cNvPr id="9" name="Slide Number Placeholder 5"/>
          <p:cNvSpPr>
            <a:spLocks noGrp="1"/>
          </p:cNvSpPr>
          <p:nvPr>
            <p:ph type="sldNum" sz="quarter" idx="12"/>
          </p:nvPr>
        </p:nvSpPr>
        <p:spPr/>
        <p:txBody>
          <a:bodyPr/>
          <a:lstStyle>
            <a:lvl1pPr>
              <a:defRPr/>
            </a:lvl1pPr>
          </a:lstStyle>
          <a:p>
            <a:pPr>
              <a:defRPr/>
            </a:pPr>
            <a:fld id="{58983891-C3E6-49E7-9851-3BD9B466BCC3}" type="slidenum">
              <a:rPr lang="en-US"/>
              <a:pPr>
                <a:defRPr/>
              </a:pPr>
              <a:t>‹#›</a:t>
            </a:fld>
            <a:endParaRPr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3"/>
          <p:cNvSpPr>
            <a:spLocks noGrp="1"/>
          </p:cNvSpPr>
          <p:nvPr>
            <p:ph type="dt" sz="half" idx="10"/>
          </p:nvPr>
        </p:nvSpPr>
        <p:spPr/>
        <p:txBody>
          <a:bodyPr/>
          <a:lstStyle>
            <a:lvl1pPr>
              <a:defRPr/>
            </a:lvl1pPr>
          </a:lstStyle>
          <a:p>
            <a:pPr>
              <a:defRPr/>
            </a:pPr>
            <a:fld id="{19375076-E24A-4071-974D-9EF923BB62EF}" type="datetimeFigureOut">
              <a:rPr lang="en-US"/>
              <a:pPr>
                <a:defRPr/>
              </a:pPr>
              <a:t>2/17/2025</a:t>
            </a:fld>
            <a:endParaRPr/>
          </a:p>
        </p:txBody>
      </p:sp>
      <p:sp>
        <p:nvSpPr>
          <p:cNvPr id="4" name="Footer Placeholder 4"/>
          <p:cNvSpPr>
            <a:spLocks noGrp="1"/>
          </p:cNvSpPr>
          <p:nvPr>
            <p:ph type="ftr" sz="quarter" idx="11"/>
          </p:nvPr>
        </p:nvSpPr>
        <p:spPr/>
        <p:txBody>
          <a:bodyPr/>
          <a:lstStyle>
            <a:lvl1pPr>
              <a:defRPr/>
            </a:lvl1pPr>
          </a:lstStyle>
          <a:p>
            <a:pPr>
              <a:defRPr/>
            </a:pPr>
            <a:endParaRPr/>
          </a:p>
        </p:txBody>
      </p:sp>
      <p:sp>
        <p:nvSpPr>
          <p:cNvPr id="5" name="Slide Number Placeholder 5"/>
          <p:cNvSpPr>
            <a:spLocks noGrp="1"/>
          </p:cNvSpPr>
          <p:nvPr>
            <p:ph type="sldNum" sz="quarter" idx="12"/>
          </p:nvPr>
        </p:nvSpPr>
        <p:spPr/>
        <p:txBody>
          <a:bodyPr/>
          <a:lstStyle>
            <a:lvl1pPr>
              <a:defRPr/>
            </a:lvl1pPr>
          </a:lstStyle>
          <a:p>
            <a:pPr>
              <a:defRPr/>
            </a:pPr>
            <a:fld id="{18C8E7EE-6AE0-4884-AF59-3FA0C45E93A6}" type="slidenum">
              <a:rPr lang="en-US"/>
              <a:pPr>
                <a:defRPr/>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BF02BF-E6B1-4B3E-8660-DC4E590D6D65}" type="datetimeFigureOut">
              <a:rPr lang="en-US"/>
              <a:pPr>
                <a:defRPr/>
              </a:pPr>
              <a:t>2/17/2025</a:t>
            </a:fld>
            <a:endParaRPr/>
          </a:p>
        </p:txBody>
      </p:sp>
      <p:sp>
        <p:nvSpPr>
          <p:cNvPr id="3" name="Footer Placeholder 4"/>
          <p:cNvSpPr>
            <a:spLocks noGrp="1"/>
          </p:cNvSpPr>
          <p:nvPr>
            <p:ph type="ftr" sz="quarter" idx="11"/>
          </p:nvPr>
        </p:nvSpPr>
        <p:spPr/>
        <p:txBody>
          <a:bodyPr/>
          <a:lstStyle>
            <a:lvl1pPr>
              <a:defRPr/>
            </a:lvl1pPr>
          </a:lstStyle>
          <a:p>
            <a:pPr>
              <a:defRPr/>
            </a:pPr>
            <a:endParaRPr/>
          </a:p>
        </p:txBody>
      </p:sp>
      <p:sp>
        <p:nvSpPr>
          <p:cNvPr id="4" name="Slide Number Placeholder 5"/>
          <p:cNvSpPr>
            <a:spLocks noGrp="1"/>
          </p:cNvSpPr>
          <p:nvPr>
            <p:ph type="sldNum" sz="quarter" idx="12"/>
          </p:nvPr>
        </p:nvSpPr>
        <p:spPr/>
        <p:txBody>
          <a:bodyPr/>
          <a:lstStyle>
            <a:lvl1pPr>
              <a:defRPr/>
            </a:lvl1pPr>
          </a:lstStyle>
          <a:p>
            <a:pPr>
              <a:defRPr/>
            </a:pPr>
            <a:fld id="{090A01E0-9CC8-4ABD-B1F6-A5AE4480F96E}" type="slidenum">
              <a:rPr lang="en-US"/>
              <a:pPr>
                <a:defRPr/>
              </a:pPr>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3"/>
          <p:cNvSpPr>
            <a:spLocks noGrp="1"/>
          </p:cNvSpPr>
          <p:nvPr>
            <p:ph type="dt" sz="half" idx="10"/>
          </p:nvPr>
        </p:nvSpPr>
        <p:spPr/>
        <p:txBody>
          <a:bodyPr/>
          <a:lstStyle>
            <a:lvl1pPr>
              <a:defRPr/>
            </a:lvl1pPr>
          </a:lstStyle>
          <a:p>
            <a:pPr>
              <a:defRPr/>
            </a:pPr>
            <a:fld id="{27C04BA7-A310-4F0D-9020-2C7148B2E856}" type="datetimeFigureOut">
              <a:rPr lang="en-US"/>
              <a:pPr>
                <a:defRPr/>
              </a:pPr>
              <a:t>2/17/2025</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7" name="Slide Number Placeholder 5"/>
          <p:cNvSpPr>
            <a:spLocks noGrp="1"/>
          </p:cNvSpPr>
          <p:nvPr>
            <p:ph type="sldNum" sz="quarter" idx="12"/>
          </p:nvPr>
        </p:nvSpPr>
        <p:spPr/>
        <p:txBody>
          <a:bodyPr/>
          <a:lstStyle>
            <a:lvl1pPr>
              <a:defRPr/>
            </a:lvl1pPr>
          </a:lstStyle>
          <a:p>
            <a:pPr>
              <a:defRPr/>
            </a:pPr>
            <a:fld id="{8B2790B9-A1D0-47A4-B582-7A1DC94BDC88}" type="slidenum">
              <a:rPr lang="en-US"/>
              <a:pPr>
                <a:defRPr/>
              </a:pPr>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rtlCol="0">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pPr lvl="0"/>
            <a:r>
              <a:rPr lang="en-US" noProof="0" smtClean="0"/>
              <a:t>Click icon to add picture</a:t>
            </a:r>
            <a:endParaRPr noProof="0"/>
          </a:p>
        </p:txBody>
      </p:sp>
      <p:sp>
        <p:nvSpPr>
          <p:cNvPr id="5" name="Date Placeholder 3"/>
          <p:cNvSpPr>
            <a:spLocks noGrp="1"/>
          </p:cNvSpPr>
          <p:nvPr>
            <p:ph type="dt" sz="half" idx="10"/>
          </p:nvPr>
        </p:nvSpPr>
        <p:spPr/>
        <p:txBody>
          <a:bodyPr/>
          <a:lstStyle>
            <a:lvl1pPr>
              <a:defRPr/>
            </a:lvl1pPr>
          </a:lstStyle>
          <a:p>
            <a:pPr>
              <a:defRPr/>
            </a:pPr>
            <a:fld id="{A7262063-E244-490E-8793-56334D53BC8F}" type="datetimeFigureOut">
              <a:rPr lang="en-US"/>
              <a:pPr>
                <a:defRPr/>
              </a:pPr>
              <a:t>2/17/2025</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7" name="Slide Number Placeholder 5"/>
          <p:cNvSpPr>
            <a:spLocks noGrp="1"/>
          </p:cNvSpPr>
          <p:nvPr>
            <p:ph type="sldNum" sz="quarter" idx="12"/>
          </p:nvPr>
        </p:nvSpPr>
        <p:spPr/>
        <p:txBody>
          <a:bodyPr/>
          <a:lstStyle>
            <a:lvl1pPr>
              <a:defRPr/>
            </a:lvl1pPr>
          </a:lstStyle>
          <a:p>
            <a:pPr>
              <a:defRPr/>
            </a:pPr>
            <a:fld id="{FF490781-9460-4A1D-9EB7-4F4C79616589}" type="slidenum">
              <a:rPr lang="en-US"/>
              <a:pPr>
                <a:defRPr/>
              </a:pPr>
              <a:t>‹#›</a:t>
            </a:fld>
            <a:endParaRPr 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lvl1pPr>
              <a:defRPr/>
            </a:lvl1pPr>
          </a:lstStyle>
          <a:p>
            <a:pPr>
              <a:defRPr/>
            </a:pPr>
            <a:fld id="{B8ACEA86-1F4C-4AA7-929B-20D8CFD583CB}" type="datetimeFigureOut">
              <a:rPr lang="en-US"/>
              <a:pPr>
                <a:defRPr/>
              </a:pPr>
              <a:t>2/17/2025</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6" name="Slide Number Placeholder 5"/>
          <p:cNvSpPr>
            <a:spLocks noGrp="1"/>
          </p:cNvSpPr>
          <p:nvPr>
            <p:ph type="sldNum" sz="quarter" idx="12"/>
          </p:nvPr>
        </p:nvSpPr>
        <p:spPr/>
        <p:txBody>
          <a:bodyPr/>
          <a:lstStyle>
            <a:lvl1pPr>
              <a:defRPr/>
            </a:lvl1pPr>
          </a:lstStyle>
          <a:p>
            <a:pPr>
              <a:defRPr/>
            </a:pPr>
            <a:fld id="{962995C6-84FE-47FA-8E52-DD31ED980E03}" type="slidenum">
              <a:rPr lang="en-US"/>
              <a:pPr>
                <a:defRPr/>
              </a:pPr>
              <a:t>‹#›</a:t>
            </a:fld>
            <a:endParaRPr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lvl1pPr>
              <a:defRPr/>
            </a:lvl1pPr>
          </a:lstStyle>
          <a:p>
            <a:pPr>
              <a:defRPr/>
            </a:pPr>
            <a:fld id="{4CDF8D3E-918E-4A10-B1F0-3CFFDF356615}" type="datetimeFigureOut">
              <a:rPr lang="en-US"/>
              <a:pPr>
                <a:defRPr/>
              </a:pPr>
              <a:t>2/17/2025</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6" name="Slide Number Placeholder 5"/>
          <p:cNvSpPr>
            <a:spLocks noGrp="1"/>
          </p:cNvSpPr>
          <p:nvPr>
            <p:ph type="sldNum" sz="quarter" idx="12"/>
          </p:nvPr>
        </p:nvSpPr>
        <p:spPr/>
        <p:txBody>
          <a:bodyPr/>
          <a:lstStyle>
            <a:lvl1pPr>
              <a:defRPr/>
            </a:lvl1pPr>
          </a:lstStyle>
          <a:p>
            <a:pPr>
              <a:defRPr/>
            </a:pPr>
            <a:fld id="{2A7FDEEB-41BD-44AE-8144-97FF8427A03D}" type="slidenum">
              <a:rPr lang="en-US"/>
              <a:pPr>
                <a:defRPr/>
              </a:pPr>
              <a:t>‹#›</a:t>
            </a:fld>
            <a:endParaRPr 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026" name="left lines"/>
          <p:cNvGrpSpPr>
            <a:grpSpLocks/>
          </p:cNvGrpSpPr>
          <p:nvPr/>
        </p:nvGrpSpPr>
        <p:grpSpPr bwMode="auto">
          <a:xfrm>
            <a:off x="-15875" y="-3175"/>
            <a:ext cx="820738"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987" eaLnBrk="1" fontAlgn="auto" hangingPunct="1">
                <a:spcBef>
                  <a:spcPts val="0"/>
                </a:spcBef>
                <a:spcAft>
                  <a:spcPts val="0"/>
                </a:spcAft>
                <a:defRPr/>
              </a:pPr>
              <a:endParaRPr/>
            </a:p>
          </p:txBody>
        </p:sp>
      </p:grpSp>
      <p:sp>
        <p:nvSpPr>
          <p:cNvPr id="1027" name="Title Placeholder 1"/>
          <p:cNvSpPr>
            <a:spLocks noGrp="1"/>
          </p:cNvSpPr>
          <p:nvPr>
            <p:ph type="title"/>
          </p:nvPr>
        </p:nvSpPr>
        <p:spPr bwMode="auto">
          <a:xfrm>
            <a:off x="1219200" y="274638"/>
            <a:ext cx="10360025" cy="1223962"/>
          </a:xfrm>
          <a:prstGeom prst="rect">
            <a:avLst/>
          </a:prstGeom>
          <a:noFill/>
          <a:ln w="9525">
            <a:noFill/>
            <a:miter lim="800000"/>
            <a:headEnd/>
            <a:tailEnd/>
          </a:ln>
        </p:spPr>
        <p:txBody>
          <a:bodyPr vert="horz" wrap="square" lIns="121899" tIns="60949" rIns="121899" bIns="60949" numCol="1" anchor="b"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1219200" y="1701800"/>
            <a:ext cx="10360025" cy="4462463"/>
          </a:xfrm>
          <a:prstGeom prst="rect">
            <a:avLst/>
          </a:prstGeom>
          <a:noFill/>
          <a:ln w="9525">
            <a:noFill/>
            <a:miter lim="800000"/>
            <a:headEnd/>
            <a:tailEnd/>
          </a:ln>
        </p:spPr>
        <p:txBody>
          <a:bodyPr vert="horz" wrap="square" lIns="121899" tIns="60949" rIns="121899" bIns="60949" numCol="1" anchor="t" anchorCtr="0" compatLnSpc="1">
            <a:prstTxWarp prst="textNoShape">
              <a:avLst/>
            </a:prstTxWarp>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1219200" y="6356350"/>
            <a:ext cx="2233613" cy="365125"/>
          </a:xfrm>
          <a:prstGeom prst="rect">
            <a:avLst/>
          </a:prstGeom>
        </p:spPr>
        <p:txBody>
          <a:bodyPr vert="horz" lIns="121899" tIns="60949" rIns="121899" bIns="60949" rtlCol="0" anchor="ctr"/>
          <a:lstStyle>
            <a:lvl1pPr algn="l" defTabSz="1218987" eaLnBrk="1" fontAlgn="auto" hangingPunct="1">
              <a:spcBef>
                <a:spcPts val="0"/>
              </a:spcBef>
              <a:spcAft>
                <a:spcPts val="0"/>
              </a:spcAft>
              <a:defRPr sz="1200">
                <a:solidFill>
                  <a:schemeClr val="tx1">
                    <a:tint val="75000"/>
                  </a:schemeClr>
                </a:solidFill>
                <a:latin typeface="+mn-lt"/>
                <a:cs typeface="+mn-cs"/>
              </a:defRPr>
            </a:lvl1pPr>
          </a:lstStyle>
          <a:p>
            <a:pPr>
              <a:defRPr/>
            </a:pPr>
            <a:fld id="{89D090FA-0C5E-479E-89C7-80128BEE3A8E}" type="datetimeFigureOut">
              <a:rPr lang="en-US"/>
              <a:pPr>
                <a:defRPr/>
              </a:pPr>
              <a:t>2/17/2025</a:t>
            </a:fld>
            <a:endParaRPr/>
          </a:p>
        </p:txBody>
      </p:sp>
      <p:sp>
        <p:nvSpPr>
          <p:cNvPr id="5" name="Footer Placeholder 4"/>
          <p:cNvSpPr>
            <a:spLocks noGrp="1"/>
          </p:cNvSpPr>
          <p:nvPr>
            <p:ph type="ftr" sz="quarter" idx="3"/>
          </p:nvPr>
        </p:nvSpPr>
        <p:spPr>
          <a:xfrm>
            <a:off x="3452813" y="6356350"/>
            <a:ext cx="5283200" cy="365125"/>
          </a:xfrm>
          <a:prstGeom prst="rect">
            <a:avLst/>
          </a:prstGeom>
        </p:spPr>
        <p:txBody>
          <a:bodyPr vert="horz" lIns="121899" tIns="60949" rIns="121899" bIns="60949" rtlCol="0" anchor="ctr"/>
          <a:lstStyle>
            <a:lvl1pPr algn="ctr" defTabSz="1218987" eaLnBrk="1" fontAlgn="auto" hangingPunct="1">
              <a:spcBef>
                <a:spcPts val="0"/>
              </a:spcBef>
              <a:spcAft>
                <a:spcPts val="0"/>
              </a:spcAft>
              <a:defRPr sz="1200">
                <a:solidFill>
                  <a:schemeClr val="tx1">
                    <a:tint val="75000"/>
                  </a:schemeClr>
                </a:solidFill>
                <a:latin typeface="+mn-lt"/>
                <a:cs typeface="+mn-cs"/>
              </a:defRPr>
            </a:lvl1pPr>
          </a:lstStyle>
          <a:p>
            <a:pPr>
              <a:defRPr/>
            </a:pPr>
            <a:endParaRPr/>
          </a:p>
        </p:txBody>
      </p:sp>
      <p:sp>
        <p:nvSpPr>
          <p:cNvPr id="6" name="Slide Number Placeholder 5"/>
          <p:cNvSpPr>
            <a:spLocks noGrp="1"/>
          </p:cNvSpPr>
          <p:nvPr>
            <p:ph type="sldNum" sz="quarter" idx="4"/>
          </p:nvPr>
        </p:nvSpPr>
        <p:spPr>
          <a:xfrm>
            <a:off x="10563225" y="6356350"/>
            <a:ext cx="1016000" cy="365125"/>
          </a:xfrm>
          <a:prstGeom prst="rect">
            <a:avLst/>
          </a:prstGeom>
        </p:spPr>
        <p:txBody>
          <a:bodyPr vert="horz" wrap="square" lIns="121899" tIns="60949" rIns="121899" bIns="60949" numCol="1" anchor="ctr" anchorCtr="0" compatLnSpc="1">
            <a:prstTxWarp prst="textNoShape">
              <a:avLst/>
            </a:prstTxWarp>
          </a:bodyPr>
          <a:lstStyle>
            <a:lvl1pPr algn="r" eaLnBrk="1" hangingPunct="1">
              <a:defRPr sz="1200">
                <a:solidFill>
                  <a:srgbClr val="FFFFFF"/>
                </a:solidFill>
                <a:latin typeface="Calibri" pitchFamily="34" charset="0"/>
              </a:defRPr>
            </a:lvl1pPr>
          </a:lstStyle>
          <a:p>
            <a:pPr>
              <a:defRPr/>
            </a:pPr>
            <a:fld id="{9886225D-D816-4AFB-9339-89B404853F81}"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4165" r:id="rId1"/>
    <p:sldLayoutId id="2147484156" r:id="rId2"/>
    <p:sldLayoutId id="214748416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Lst>
  <p:transition spd="med">
    <p:fade/>
  </p:transition>
  <p:txStyles>
    <p:titleStyle>
      <a:lvl1pPr algn="l" defTabSz="1217613" rtl="0" eaLnBrk="0" fontAlgn="base" hangingPunct="0">
        <a:lnSpc>
          <a:spcPct val="90000"/>
        </a:lnSpc>
        <a:spcBef>
          <a:spcPct val="0"/>
        </a:spcBef>
        <a:spcAft>
          <a:spcPct val="0"/>
        </a:spcAft>
        <a:defRPr sz="3600" kern="1200">
          <a:solidFill>
            <a:schemeClr val="tx1"/>
          </a:solidFill>
          <a:latin typeface="+mj-lt"/>
          <a:ea typeface="+mj-ea"/>
          <a:cs typeface="+mj-cs"/>
        </a:defRPr>
      </a:lvl1pPr>
      <a:lvl2pPr algn="l" defTabSz="1217613" rtl="0" eaLnBrk="0" fontAlgn="base" hangingPunct="0">
        <a:lnSpc>
          <a:spcPct val="90000"/>
        </a:lnSpc>
        <a:spcBef>
          <a:spcPct val="0"/>
        </a:spcBef>
        <a:spcAft>
          <a:spcPct val="0"/>
        </a:spcAft>
        <a:defRPr sz="3600">
          <a:solidFill>
            <a:schemeClr val="tx1"/>
          </a:solidFill>
          <a:latin typeface="Calibri" pitchFamily="34" charset="0"/>
        </a:defRPr>
      </a:lvl2pPr>
      <a:lvl3pPr algn="l" defTabSz="1217613" rtl="0" eaLnBrk="0" fontAlgn="base" hangingPunct="0">
        <a:lnSpc>
          <a:spcPct val="90000"/>
        </a:lnSpc>
        <a:spcBef>
          <a:spcPct val="0"/>
        </a:spcBef>
        <a:spcAft>
          <a:spcPct val="0"/>
        </a:spcAft>
        <a:defRPr sz="3600">
          <a:solidFill>
            <a:schemeClr val="tx1"/>
          </a:solidFill>
          <a:latin typeface="Calibri" pitchFamily="34" charset="0"/>
        </a:defRPr>
      </a:lvl3pPr>
      <a:lvl4pPr algn="l" defTabSz="1217613" rtl="0" eaLnBrk="0" fontAlgn="base" hangingPunct="0">
        <a:lnSpc>
          <a:spcPct val="90000"/>
        </a:lnSpc>
        <a:spcBef>
          <a:spcPct val="0"/>
        </a:spcBef>
        <a:spcAft>
          <a:spcPct val="0"/>
        </a:spcAft>
        <a:defRPr sz="3600">
          <a:solidFill>
            <a:schemeClr val="tx1"/>
          </a:solidFill>
          <a:latin typeface="Calibri" pitchFamily="34" charset="0"/>
        </a:defRPr>
      </a:lvl4pPr>
      <a:lvl5pPr algn="l" defTabSz="1217613" rtl="0" eaLnBrk="0" fontAlgn="base" hangingPunct="0">
        <a:lnSpc>
          <a:spcPct val="90000"/>
        </a:lnSpc>
        <a:spcBef>
          <a:spcPct val="0"/>
        </a:spcBef>
        <a:spcAft>
          <a:spcPct val="0"/>
        </a:spcAft>
        <a:defRPr sz="3600">
          <a:solidFill>
            <a:schemeClr val="tx1"/>
          </a:solidFill>
          <a:latin typeface="Calibri" pitchFamily="34" charset="0"/>
        </a:defRPr>
      </a:lvl5pPr>
      <a:lvl6pPr marL="457200" algn="l" defTabSz="1217613" rtl="0" fontAlgn="base">
        <a:lnSpc>
          <a:spcPct val="90000"/>
        </a:lnSpc>
        <a:spcBef>
          <a:spcPct val="0"/>
        </a:spcBef>
        <a:spcAft>
          <a:spcPct val="0"/>
        </a:spcAft>
        <a:defRPr sz="3600">
          <a:solidFill>
            <a:schemeClr val="tx1"/>
          </a:solidFill>
          <a:latin typeface="Calibri" pitchFamily="34" charset="0"/>
        </a:defRPr>
      </a:lvl6pPr>
      <a:lvl7pPr marL="914400" algn="l" defTabSz="1217613" rtl="0" fontAlgn="base">
        <a:lnSpc>
          <a:spcPct val="90000"/>
        </a:lnSpc>
        <a:spcBef>
          <a:spcPct val="0"/>
        </a:spcBef>
        <a:spcAft>
          <a:spcPct val="0"/>
        </a:spcAft>
        <a:defRPr sz="3600">
          <a:solidFill>
            <a:schemeClr val="tx1"/>
          </a:solidFill>
          <a:latin typeface="Calibri" pitchFamily="34" charset="0"/>
        </a:defRPr>
      </a:lvl7pPr>
      <a:lvl8pPr marL="1371600" algn="l" defTabSz="1217613" rtl="0" fontAlgn="base">
        <a:lnSpc>
          <a:spcPct val="90000"/>
        </a:lnSpc>
        <a:spcBef>
          <a:spcPct val="0"/>
        </a:spcBef>
        <a:spcAft>
          <a:spcPct val="0"/>
        </a:spcAft>
        <a:defRPr sz="3600">
          <a:solidFill>
            <a:schemeClr val="tx1"/>
          </a:solidFill>
          <a:latin typeface="Calibri" pitchFamily="34" charset="0"/>
        </a:defRPr>
      </a:lvl8pPr>
      <a:lvl9pPr marL="1828800" algn="l" defTabSz="1217613" rtl="0" fontAlgn="base">
        <a:lnSpc>
          <a:spcPct val="90000"/>
        </a:lnSpc>
        <a:spcBef>
          <a:spcPct val="0"/>
        </a:spcBef>
        <a:spcAft>
          <a:spcPct val="0"/>
        </a:spcAft>
        <a:defRPr sz="3600">
          <a:solidFill>
            <a:schemeClr val="tx1"/>
          </a:solidFill>
          <a:latin typeface="Calibri" pitchFamily="34" charset="0"/>
        </a:defRPr>
      </a:lvl9pPr>
    </p:titleStyle>
    <p:bodyStyle>
      <a:lvl1pPr marL="303213" indent="-303213" algn="l" defTabSz="1217613" rtl="0" eaLnBrk="0" fontAlgn="base" hangingPunct="0">
        <a:lnSpc>
          <a:spcPct val="90000"/>
        </a:lnSpc>
        <a:spcBef>
          <a:spcPts val="1600"/>
        </a:spcBef>
        <a:spcAft>
          <a:spcPct val="0"/>
        </a:spcAft>
        <a:buClr>
          <a:schemeClr val="accent1"/>
        </a:buClr>
        <a:buSzPct val="100000"/>
        <a:buFont typeface="Arial" pitchFamily="34" charset="0"/>
        <a:buChar char="•"/>
        <a:defRPr sz="2800" kern="1200">
          <a:solidFill>
            <a:schemeClr val="tx1"/>
          </a:solidFill>
          <a:latin typeface="+mn-lt"/>
          <a:ea typeface="+mn-ea"/>
          <a:cs typeface="+mn-cs"/>
        </a:defRPr>
      </a:lvl1pPr>
      <a:lvl2pPr marL="608013" indent="-230188" algn="l" defTabSz="1217613" rtl="0" eaLnBrk="0" fontAlgn="base" hangingPunct="0">
        <a:lnSpc>
          <a:spcPct val="90000"/>
        </a:lnSpc>
        <a:spcBef>
          <a:spcPts val="800"/>
        </a:spcBef>
        <a:spcAft>
          <a:spcPct val="0"/>
        </a:spcAft>
        <a:buClr>
          <a:schemeClr val="accent1"/>
        </a:buClr>
        <a:buSzPct val="80000"/>
        <a:buFont typeface="Arial" pitchFamily="34" charset="0"/>
        <a:buChar char="•"/>
        <a:defRPr sz="2400" kern="1200">
          <a:solidFill>
            <a:schemeClr val="tx1"/>
          </a:solidFill>
          <a:latin typeface="+mn-lt"/>
          <a:ea typeface="+mn-ea"/>
          <a:cs typeface="+mn-cs"/>
        </a:defRPr>
      </a:lvl2pPr>
      <a:lvl3pPr marL="912813" indent="-230188" algn="l" defTabSz="1217613" rtl="0" eaLnBrk="0" fontAlgn="base" hangingPunct="0">
        <a:lnSpc>
          <a:spcPct val="90000"/>
        </a:lnSpc>
        <a:spcBef>
          <a:spcPts val="800"/>
        </a:spcBef>
        <a:spcAft>
          <a:spcPct val="0"/>
        </a:spcAft>
        <a:buClr>
          <a:schemeClr val="accent1"/>
        </a:buClr>
        <a:buSzPct val="80000"/>
        <a:buFont typeface="Arial" pitchFamily="34" charset="0"/>
        <a:buChar char="•"/>
        <a:defRPr sz="2000" kern="1200">
          <a:solidFill>
            <a:schemeClr val="tx1"/>
          </a:solidFill>
          <a:latin typeface="+mn-lt"/>
          <a:ea typeface="+mn-ea"/>
          <a:cs typeface="+mn-cs"/>
        </a:defRPr>
      </a:lvl3pPr>
      <a:lvl4pPr marL="1217613" indent="-230188" algn="l" defTabSz="1217613" rtl="0" eaLnBrk="0" fontAlgn="base" hangingPunct="0">
        <a:lnSpc>
          <a:spcPct val="90000"/>
        </a:lnSpc>
        <a:spcBef>
          <a:spcPts val="800"/>
        </a:spcBef>
        <a:spcAft>
          <a:spcPct val="0"/>
        </a:spcAft>
        <a:buClr>
          <a:schemeClr val="accent1"/>
        </a:buClr>
        <a:buSzPct val="80000"/>
        <a:buFont typeface="Arial" pitchFamily="34" charset="0"/>
        <a:buChar char="•"/>
        <a:defRPr sz="2000" kern="1200">
          <a:solidFill>
            <a:schemeClr val="tx1"/>
          </a:solidFill>
          <a:latin typeface="+mn-lt"/>
          <a:ea typeface="+mn-ea"/>
          <a:cs typeface="+mn-cs"/>
        </a:defRPr>
      </a:lvl4pPr>
      <a:lvl5pPr marL="1522413" indent="-230188" algn="l" defTabSz="1217613" rtl="0" eaLnBrk="0" fontAlgn="base" hangingPunct="0">
        <a:lnSpc>
          <a:spcPct val="90000"/>
        </a:lnSpc>
        <a:spcBef>
          <a:spcPts val="800"/>
        </a:spcBef>
        <a:spcAft>
          <a:spcPct val="0"/>
        </a:spcAft>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p:cNvPicPr>
          <p:nvPr/>
        </p:nvPicPr>
        <p:blipFill>
          <a:blip r:embed="rId2"/>
          <a:srcRect/>
          <a:stretch>
            <a:fillRect/>
          </a:stretch>
        </p:blipFill>
        <p:spPr bwMode="auto">
          <a:xfrm>
            <a:off x="10818813" y="5842000"/>
            <a:ext cx="1370012" cy="863600"/>
          </a:xfrm>
          <a:prstGeom prst="rect">
            <a:avLst/>
          </a:prstGeom>
          <a:noFill/>
          <a:ln w="9525">
            <a:noFill/>
            <a:miter lim="800000"/>
            <a:headEnd/>
            <a:tailEnd/>
          </a:ln>
        </p:spPr>
      </p:pic>
      <p:cxnSp>
        <p:nvCxnSpPr>
          <p:cNvPr id="6" name="Straight Connector 5"/>
          <p:cNvCxnSpPr/>
          <p:nvPr/>
        </p:nvCxnSpPr>
        <p:spPr>
          <a:xfrm flipV="1">
            <a:off x="9828213" y="4724400"/>
            <a:ext cx="2360612" cy="21336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9447213" y="4419600"/>
            <a:ext cx="2741612" cy="243840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Rectangle 2"/>
          <p:cNvSpPr txBox="1">
            <a:spLocks noChangeArrowheads="1"/>
          </p:cNvSpPr>
          <p:nvPr/>
        </p:nvSpPr>
        <p:spPr bwMode="auto">
          <a:xfrm>
            <a:off x="1368425" y="152400"/>
            <a:ext cx="9750425" cy="558800"/>
          </a:xfrm>
          <a:prstGeom prst="rect">
            <a:avLst/>
          </a:prstGeom>
          <a:solidFill>
            <a:srgbClr val="FFFF00"/>
          </a:solidFill>
          <a:ln w="9525">
            <a:noFill/>
            <a:miter lim="800000"/>
            <a:headEnd/>
            <a:tailEnd/>
          </a:ln>
        </p:spPr>
        <p:txBody>
          <a:bodyPr lIns="121899" tIns="60949" rIns="121899" bIns="60949" anchor="b"/>
          <a:lstStyle/>
          <a:p>
            <a:pPr algn="ctr">
              <a:lnSpc>
                <a:spcPct val="90000"/>
              </a:lnSpc>
              <a:defRPr/>
            </a:pPr>
            <a:r>
              <a:rPr lang="en-US" sz="3000" dirty="0">
                <a:solidFill>
                  <a:schemeClr val="bg1"/>
                </a:solidFill>
                <a:latin typeface="+mn-lt"/>
              </a:rPr>
              <a:t>Contents- Unit-I </a:t>
            </a:r>
            <a:r>
              <a:rPr lang="en-US" sz="3000" b="1" dirty="0">
                <a:solidFill>
                  <a:schemeClr val="bg1"/>
                </a:solidFill>
                <a:latin typeface="+mn-lt"/>
              </a:rPr>
              <a:t>Distributed </a:t>
            </a:r>
            <a:r>
              <a:rPr lang="en-US" sz="3000" b="1" dirty="0" smtClean="0">
                <a:solidFill>
                  <a:schemeClr val="bg1"/>
                </a:solidFill>
                <a:latin typeface="+mn-lt"/>
              </a:rPr>
              <a:t>Ledger Technology</a:t>
            </a:r>
            <a:endParaRPr lang="en-US" sz="3000" dirty="0">
              <a:solidFill>
                <a:schemeClr val="bg1"/>
              </a:solidFill>
              <a:latin typeface="+mn-lt"/>
              <a:ea typeface="+mj-ea"/>
              <a:cs typeface="+mj-cs"/>
            </a:endParaRPr>
          </a:p>
        </p:txBody>
      </p:sp>
      <p:sp>
        <p:nvSpPr>
          <p:cNvPr id="12" name="Oval 11"/>
          <p:cNvSpPr/>
          <p:nvPr/>
        </p:nvSpPr>
        <p:spPr>
          <a:xfrm>
            <a:off x="227013" y="1524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dirty="0"/>
          </a:p>
        </p:txBody>
      </p:sp>
      <p:pic>
        <p:nvPicPr>
          <p:cNvPr id="13320" name="Picture 3"/>
          <p:cNvPicPr>
            <a:picLocks noChangeAspect="1"/>
          </p:cNvPicPr>
          <p:nvPr/>
        </p:nvPicPr>
        <p:blipFill>
          <a:blip r:embed="rId3"/>
          <a:srcRect/>
          <a:stretch>
            <a:fillRect/>
          </a:stretch>
        </p:blipFill>
        <p:spPr bwMode="auto">
          <a:xfrm>
            <a:off x="227013" y="228600"/>
            <a:ext cx="838200" cy="685800"/>
          </a:xfrm>
          <a:prstGeom prst="rect">
            <a:avLst/>
          </a:prstGeom>
          <a:noFill/>
          <a:ln w="9525">
            <a:noFill/>
            <a:miter lim="800000"/>
            <a:headEnd/>
            <a:tailEnd/>
          </a:ln>
        </p:spPr>
      </p:pic>
      <p:sp>
        <p:nvSpPr>
          <p:cNvPr id="2" name="Rectangle 1"/>
          <p:cNvSpPr/>
          <p:nvPr/>
        </p:nvSpPr>
        <p:spPr>
          <a:xfrm>
            <a:off x="1141412" y="711200"/>
            <a:ext cx="9067799" cy="5473293"/>
          </a:xfrm>
          <a:prstGeom prst="rect">
            <a:avLst/>
          </a:prstGeom>
        </p:spPr>
        <p:txBody>
          <a:bodyPr wrap="square">
            <a:spAutoFit/>
          </a:bodyPr>
          <a:lstStyle/>
          <a:p>
            <a:pPr>
              <a:spcAft>
                <a:spcPts val="1000"/>
              </a:spcAft>
            </a:pPr>
            <a:r>
              <a:rPr lang="en-US" sz="2600" b="1" dirty="0">
                <a:solidFill>
                  <a:schemeClr val="accent1">
                    <a:lumMod val="60000"/>
                    <a:lumOff val="40000"/>
                  </a:schemeClr>
                </a:solidFill>
                <a:latin typeface="+mn-lt"/>
              </a:rPr>
              <a:t>Distributed </a:t>
            </a:r>
            <a:r>
              <a:rPr lang="en-US" sz="2600" b="1" dirty="0" smtClean="0">
                <a:solidFill>
                  <a:schemeClr val="accent1">
                    <a:lumMod val="60000"/>
                    <a:lumOff val="40000"/>
                  </a:schemeClr>
                </a:solidFill>
                <a:latin typeface="+mn-lt"/>
              </a:rPr>
              <a:t>Ledger </a:t>
            </a:r>
            <a:r>
              <a:rPr lang="en-US" sz="2600" b="1" dirty="0">
                <a:solidFill>
                  <a:schemeClr val="accent1">
                    <a:lumMod val="60000"/>
                    <a:lumOff val="40000"/>
                  </a:schemeClr>
                </a:solidFill>
                <a:latin typeface="+mn-lt"/>
              </a:rPr>
              <a:t>T</a:t>
            </a:r>
            <a:r>
              <a:rPr lang="en-US" sz="2600" b="1" dirty="0" smtClean="0">
                <a:solidFill>
                  <a:schemeClr val="accent1">
                    <a:lumMod val="60000"/>
                    <a:lumOff val="40000"/>
                  </a:schemeClr>
                </a:solidFill>
                <a:latin typeface="+mn-lt"/>
              </a:rPr>
              <a:t>echnology</a:t>
            </a:r>
            <a:r>
              <a:rPr lang="en-US" sz="2600" dirty="0">
                <a:latin typeface="+mn-lt"/>
              </a:rPr>
              <a:t>: </a:t>
            </a:r>
            <a:endParaRPr lang="en-IN" sz="2600" dirty="0">
              <a:latin typeface="+mn-lt"/>
            </a:endParaRPr>
          </a:p>
          <a:p>
            <a:pPr marL="342900" indent="-342900">
              <a:spcAft>
                <a:spcPts val="1000"/>
              </a:spcAft>
              <a:buFont typeface="Wingdings" pitchFamily="2" charset="2"/>
              <a:buChar char="§"/>
            </a:pPr>
            <a:r>
              <a:rPr lang="en-US" sz="2300" dirty="0" smtClean="0">
                <a:latin typeface="+mn-lt"/>
              </a:rPr>
              <a:t>Introduction,  Background</a:t>
            </a:r>
          </a:p>
          <a:p>
            <a:pPr marL="342900" indent="-342900">
              <a:spcAft>
                <a:spcPts val="1000"/>
              </a:spcAft>
              <a:buFont typeface="Wingdings" pitchFamily="2" charset="2"/>
              <a:buChar char="§"/>
            </a:pPr>
            <a:r>
              <a:rPr lang="en-US" sz="2300" dirty="0" smtClean="0">
                <a:latin typeface="+mn-lt"/>
              </a:rPr>
              <a:t>Technical </a:t>
            </a:r>
            <a:r>
              <a:rPr lang="en-US" sz="2300" dirty="0">
                <a:latin typeface="+mn-lt"/>
              </a:rPr>
              <a:t>design </a:t>
            </a:r>
            <a:r>
              <a:rPr lang="en-US" sz="2300" dirty="0" smtClean="0">
                <a:latin typeface="+mn-lt"/>
              </a:rPr>
              <a:t>elements</a:t>
            </a:r>
          </a:p>
          <a:p>
            <a:pPr marL="950913" lvl="1" indent="-342900">
              <a:spcAft>
                <a:spcPts val="1000"/>
              </a:spcAft>
              <a:buFont typeface="Wingdings" pitchFamily="2" charset="2"/>
              <a:buChar char="§"/>
            </a:pPr>
            <a:r>
              <a:rPr lang="en-US" sz="2000" dirty="0">
                <a:latin typeface="+mn-lt"/>
              </a:rPr>
              <a:t>Maintaining information on the </a:t>
            </a:r>
            <a:r>
              <a:rPr lang="en-US" sz="2000" dirty="0" smtClean="0">
                <a:latin typeface="+mn-lt"/>
              </a:rPr>
              <a:t>ledger</a:t>
            </a:r>
          </a:p>
          <a:p>
            <a:pPr marL="950913" lvl="1" indent="-342900">
              <a:spcAft>
                <a:spcPts val="1000"/>
              </a:spcAft>
              <a:buFont typeface="Wingdings" pitchFamily="2" charset="2"/>
              <a:buChar char="§"/>
            </a:pPr>
            <a:r>
              <a:rPr lang="en-IN" sz="2000" dirty="0">
                <a:latin typeface="+mn-lt"/>
              </a:rPr>
              <a:t>Updating the </a:t>
            </a:r>
            <a:r>
              <a:rPr lang="en-IN" sz="2000" dirty="0" smtClean="0">
                <a:latin typeface="+mn-lt"/>
              </a:rPr>
              <a:t>ledger</a:t>
            </a:r>
          </a:p>
          <a:p>
            <a:pPr marL="1560513" lvl="2" indent="-342900">
              <a:spcAft>
                <a:spcPts val="1000"/>
              </a:spcAft>
              <a:buFont typeface="Wingdings" pitchFamily="2" charset="2"/>
              <a:buChar char="§"/>
            </a:pPr>
            <a:r>
              <a:rPr lang="en-IN" sz="2000" dirty="0">
                <a:latin typeface="+mn-lt"/>
              </a:rPr>
              <a:t>Validation and </a:t>
            </a:r>
            <a:r>
              <a:rPr lang="en-IN" sz="2000" dirty="0" smtClean="0">
                <a:latin typeface="+mn-lt"/>
              </a:rPr>
              <a:t>consensus</a:t>
            </a:r>
          </a:p>
          <a:p>
            <a:pPr marL="1560513" lvl="2" indent="-342900">
              <a:spcAft>
                <a:spcPts val="1000"/>
              </a:spcAft>
              <a:buFont typeface="Wingdings" pitchFamily="2" charset="2"/>
              <a:buChar char="§"/>
            </a:pPr>
            <a:r>
              <a:rPr lang="en-US" sz="2000" i="1" dirty="0">
                <a:latin typeface="+mn-lt"/>
              </a:rPr>
              <a:t>Technical roles of nodes (differentiated or not differentiated</a:t>
            </a:r>
            <a:r>
              <a:rPr lang="en-US" sz="2000" i="1" dirty="0" smtClean="0">
                <a:latin typeface="+mn-lt"/>
              </a:rPr>
              <a:t>)</a:t>
            </a:r>
          </a:p>
          <a:p>
            <a:pPr marL="987425" lvl="2" indent="-365125">
              <a:spcAft>
                <a:spcPts val="1000"/>
              </a:spcAft>
              <a:buFont typeface="Wingdings" pitchFamily="2" charset="2"/>
              <a:buChar char="§"/>
            </a:pPr>
            <a:r>
              <a:rPr lang="en-IN" sz="2000" dirty="0">
                <a:latin typeface="+mn-lt"/>
              </a:rPr>
              <a:t>Process flow </a:t>
            </a:r>
          </a:p>
          <a:p>
            <a:pPr marL="342900" indent="-342900">
              <a:spcAft>
                <a:spcPts val="1000"/>
              </a:spcAft>
              <a:buFont typeface="Wingdings" pitchFamily="2" charset="2"/>
              <a:buChar char="§"/>
            </a:pPr>
            <a:r>
              <a:rPr lang="en-US" sz="2300" dirty="0" smtClean="0">
                <a:latin typeface="+mn-lt"/>
              </a:rPr>
              <a:t>Institutional </a:t>
            </a:r>
            <a:r>
              <a:rPr lang="en-US" sz="2300" dirty="0">
                <a:latin typeface="+mn-lt"/>
              </a:rPr>
              <a:t>design </a:t>
            </a:r>
            <a:r>
              <a:rPr lang="en-US" sz="2300" dirty="0" smtClean="0">
                <a:latin typeface="+mn-lt"/>
              </a:rPr>
              <a:t>elements</a:t>
            </a:r>
          </a:p>
          <a:p>
            <a:pPr marL="950913" lvl="1" indent="-342900">
              <a:spcAft>
                <a:spcPts val="1000"/>
              </a:spcAft>
              <a:buFont typeface="Wingdings" pitchFamily="2" charset="2"/>
              <a:buChar char="§"/>
            </a:pPr>
            <a:r>
              <a:rPr lang="en-IN" sz="2000" dirty="0">
                <a:latin typeface="+mn-lt"/>
              </a:rPr>
              <a:t>Operation of the </a:t>
            </a:r>
            <a:r>
              <a:rPr lang="en-IN" sz="2000" dirty="0" smtClean="0">
                <a:latin typeface="+mn-lt"/>
              </a:rPr>
              <a:t>arrangement</a:t>
            </a:r>
          </a:p>
          <a:p>
            <a:pPr marL="950913" lvl="1" indent="-342900">
              <a:spcAft>
                <a:spcPts val="1000"/>
              </a:spcAft>
              <a:buFont typeface="Wingdings" pitchFamily="2" charset="2"/>
              <a:buChar char="§"/>
            </a:pPr>
            <a:r>
              <a:rPr lang="en-US" sz="2000" dirty="0">
                <a:latin typeface="+mn-lt"/>
              </a:rPr>
              <a:t>Access to the arrangement (unrestricted or restricted)</a:t>
            </a:r>
            <a:endParaRPr lang="en-US" sz="2000" dirty="0" smtClean="0">
              <a:latin typeface="+mn-lt"/>
            </a:endParaRPr>
          </a:p>
          <a:p>
            <a:pPr marL="342900" indent="-342900">
              <a:spcAft>
                <a:spcPts val="1000"/>
              </a:spcAft>
              <a:buFont typeface="Wingdings" pitchFamily="2" charset="2"/>
              <a:buChar char="§"/>
            </a:pPr>
            <a:r>
              <a:rPr lang="en-IN" sz="2300" dirty="0">
                <a:latin typeface="+mn-lt"/>
              </a:rPr>
              <a:t>Potential configurations and trade-offs</a:t>
            </a: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p:cNvPicPr>
          <p:nvPr/>
        </p:nvPicPr>
        <p:blipFill>
          <a:blip r:embed="rId2"/>
          <a:srcRect/>
          <a:stretch>
            <a:fillRect/>
          </a:stretch>
        </p:blipFill>
        <p:spPr bwMode="auto">
          <a:xfrm>
            <a:off x="10818813" y="5842000"/>
            <a:ext cx="1370012" cy="863600"/>
          </a:xfrm>
          <a:prstGeom prst="rect">
            <a:avLst/>
          </a:prstGeom>
          <a:noFill/>
          <a:ln w="9525">
            <a:noFill/>
            <a:miter lim="800000"/>
            <a:headEnd/>
            <a:tailEnd/>
          </a:ln>
        </p:spPr>
      </p:pic>
      <p:cxnSp>
        <p:nvCxnSpPr>
          <p:cNvPr id="6" name="Straight Connector 5"/>
          <p:cNvCxnSpPr/>
          <p:nvPr/>
        </p:nvCxnSpPr>
        <p:spPr>
          <a:xfrm flipV="1">
            <a:off x="9828213" y="4724400"/>
            <a:ext cx="2360612" cy="21336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9447213" y="4419600"/>
            <a:ext cx="2741612" cy="243840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Rectangle 2"/>
          <p:cNvSpPr txBox="1">
            <a:spLocks noChangeArrowheads="1"/>
          </p:cNvSpPr>
          <p:nvPr/>
        </p:nvSpPr>
        <p:spPr bwMode="auto">
          <a:xfrm>
            <a:off x="1370013" y="152400"/>
            <a:ext cx="10287000" cy="419100"/>
          </a:xfrm>
          <a:prstGeom prst="rect">
            <a:avLst/>
          </a:prstGeom>
          <a:solidFill>
            <a:srgbClr val="FFFF00"/>
          </a:solidFill>
          <a:ln w="9525">
            <a:noFill/>
            <a:miter lim="800000"/>
            <a:headEnd/>
            <a:tailEnd/>
          </a:ln>
        </p:spPr>
        <p:txBody>
          <a:bodyPr lIns="121899" tIns="60949" rIns="121899" bIns="60949" anchor="b"/>
          <a:lstStyle/>
          <a:p>
            <a:pPr algn="ctr">
              <a:lnSpc>
                <a:spcPct val="90000"/>
              </a:lnSpc>
              <a:defRPr/>
            </a:pPr>
            <a:r>
              <a:rPr lang="en-US" sz="2600" dirty="0">
                <a:solidFill>
                  <a:schemeClr val="bg1"/>
                </a:solidFill>
                <a:latin typeface="+mn-lt"/>
              </a:rPr>
              <a:t>Contents- </a:t>
            </a:r>
            <a:r>
              <a:rPr lang="en-US" sz="2600" dirty="0" smtClean="0">
                <a:solidFill>
                  <a:schemeClr val="bg1"/>
                </a:solidFill>
                <a:latin typeface="+mn-lt"/>
              </a:rPr>
              <a:t>Unit-II </a:t>
            </a:r>
            <a:r>
              <a:rPr lang="en-US" sz="2600" b="1" dirty="0" smtClean="0">
                <a:solidFill>
                  <a:schemeClr val="bg1"/>
                </a:solidFill>
                <a:latin typeface="+mn-lt"/>
              </a:rPr>
              <a:t>Analytical </a:t>
            </a:r>
            <a:r>
              <a:rPr lang="en-US" sz="2600" b="1" dirty="0">
                <a:solidFill>
                  <a:schemeClr val="bg1"/>
                </a:solidFill>
                <a:latin typeface="+mn-lt"/>
              </a:rPr>
              <a:t>framework</a:t>
            </a:r>
            <a:endParaRPr lang="en-US" sz="2600" b="1" dirty="0" smtClean="0">
              <a:solidFill>
                <a:schemeClr val="bg1"/>
              </a:solidFill>
              <a:latin typeface="+mn-lt"/>
            </a:endParaRPr>
          </a:p>
        </p:txBody>
      </p:sp>
      <p:sp>
        <p:nvSpPr>
          <p:cNvPr id="2" name="Rectangle 1"/>
          <p:cNvSpPr/>
          <p:nvPr/>
        </p:nvSpPr>
        <p:spPr>
          <a:xfrm>
            <a:off x="836612" y="609600"/>
            <a:ext cx="8915400" cy="6037550"/>
          </a:xfrm>
          <a:prstGeom prst="rect">
            <a:avLst/>
          </a:prstGeom>
        </p:spPr>
        <p:txBody>
          <a:bodyPr wrap="square">
            <a:spAutoFit/>
          </a:bodyPr>
          <a:lstStyle/>
          <a:p>
            <a:pPr>
              <a:spcAft>
                <a:spcPts val="200"/>
              </a:spcAft>
            </a:pPr>
            <a:r>
              <a:rPr lang="en-US" sz="2300" dirty="0" smtClean="0">
                <a:latin typeface="+mn-lt"/>
              </a:rPr>
              <a:t>1. Understanding </a:t>
            </a:r>
            <a:r>
              <a:rPr lang="en-US" sz="2300" dirty="0">
                <a:latin typeface="+mn-lt"/>
              </a:rPr>
              <a:t>the </a:t>
            </a:r>
            <a:r>
              <a:rPr lang="en-US" sz="2300" dirty="0" smtClean="0">
                <a:latin typeface="+mn-lt"/>
              </a:rPr>
              <a:t>arrangement</a:t>
            </a:r>
          </a:p>
          <a:p>
            <a:pPr marL="450850">
              <a:spcAft>
                <a:spcPts val="200"/>
              </a:spcAft>
            </a:pPr>
            <a:r>
              <a:rPr lang="en-US" sz="2800" dirty="0" smtClean="0">
                <a:latin typeface="+mn-lt"/>
              </a:rPr>
              <a:t> </a:t>
            </a:r>
            <a:r>
              <a:rPr lang="en-US" sz="2000" dirty="0">
                <a:latin typeface="+mn-lt"/>
              </a:rPr>
              <a:t>What is the functionality and nature of the </a:t>
            </a:r>
            <a:r>
              <a:rPr lang="en-US" sz="2000" dirty="0" smtClean="0">
                <a:latin typeface="+mn-lt"/>
              </a:rPr>
              <a:t>arrangement</a:t>
            </a:r>
          </a:p>
          <a:p>
            <a:pPr marL="450850">
              <a:spcAft>
                <a:spcPts val="600"/>
              </a:spcAft>
            </a:pPr>
            <a:r>
              <a:rPr lang="en-US" sz="2000" dirty="0">
                <a:latin typeface="+mn-lt"/>
              </a:rPr>
              <a:t> What are the key factors for effective </a:t>
            </a:r>
            <a:r>
              <a:rPr lang="en-US" sz="2000" dirty="0" smtClean="0">
                <a:latin typeface="+mn-lt"/>
              </a:rPr>
              <a:t>implementation</a:t>
            </a:r>
            <a:endParaRPr lang="en-US" sz="2000" dirty="0">
              <a:latin typeface="+mn-lt"/>
            </a:endParaRPr>
          </a:p>
          <a:p>
            <a:pPr>
              <a:spcAft>
                <a:spcPts val="600"/>
              </a:spcAft>
            </a:pPr>
            <a:r>
              <a:rPr lang="en-US" sz="2300" dirty="0" smtClean="0">
                <a:latin typeface="+mn-lt"/>
              </a:rPr>
              <a:t>2. Potential </a:t>
            </a:r>
            <a:r>
              <a:rPr lang="en-US" sz="2300" dirty="0">
                <a:latin typeface="+mn-lt"/>
              </a:rPr>
              <a:t>implications for </a:t>
            </a:r>
            <a:r>
              <a:rPr lang="en-US" sz="2300" dirty="0" smtClean="0">
                <a:latin typeface="+mn-lt"/>
              </a:rPr>
              <a:t>efficiency</a:t>
            </a:r>
          </a:p>
          <a:p>
            <a:pPr indent="536575">
              <a:spcAft>
                <a:spcPts val="600"/>
              </a:spcAft>
            </a:pPr>
            <a:r>
              <a:rPr lang="en-IN" sz="2000" dirty="0">
                <a:latin typeface="+mn-lt"/>
              </a:rPr>
              <a:t>Speed of end-to-end </a:t>
            </a:r>
            <a:r>
              <a:rPr lang="en-IN" sz="2000" dirty="0" smtClean="0">
                <a:latin typeface="+mn-lt"/>
              </a:rPr>
              <a:t>processing, Cost </a:t>
            </a:r>
            <a:r>
              <a:rPr lang="en-IN" sz="2000" dirty="0">
                <a:latin typeface="+mn-lt"/>
              </a:rPr>
              <a:t>of </a:t>
            </a:r>
            <a:r>
              <a:rPr lang="en-IN" sz="2000" dirty="0" smtClean="0">
                <a:latin typeface="+mn-lt"/>
              </a:rPr>
              <a:t>processing</a:t>
            </a:r>
          </a:p>
          <a:p>
            <a:pPr indent="536575">
              <a:spcAft>
                <a:spcPts val="600"/>
              </a:spcAft>
            </a:pPr>
            <a:r>
              <a:rPr lang="en-US" sz="2000" dirty="0">
                <a:latin typeface="+mn-lt"/>
              </a:rPr>
              <a:t>Speed and transparency in </a:t>
            </a:r>
            <a:r>
              <a:rPr lang="en-US" sz="2000" dirty="0" smtClean="0">
                <a:latin typeface="+mn-lt"/>
              </a:rPr>
              <a:t>reconciliation</a:t>
            </a:r>
          </a:p>
          <a:p>
            <a:pPr indent="536575">
              <a:spcAft>
                <a:spcPts val="600"/>
              </a:spcAft>
            </a:pPr>
            <a:r>
              <a:rPr lang="en-US" sz="2000" dirty="0">
                <a:latin typeface="+mn-lt"/>
              </a:rPr>
              <a:t>Cost of credit and liquidity </a:t>
            </a:r>
            <a:r>
              <a:rPr lang="en-US" sz="2000" dirty="0" smtClean="0">
                <a:latin typeface="+mn-lt"/>
              </a:rPr>
              <a:t>management</a:t>
            </a:r>
          </a:p>
          <a:p>
            <a:pPr indent="536575">
              <a:spcAft>
                <a:spcPts val="600"/>
              </a:spcAft>
            </a:pPr>
            <a:r>
              <a:rPr lang="en-US" sz="2000" dirty="0">
                <a:latin typeface="+mn-lt"/>
              </a:rPr>
              <a:t>Efficiency gains from automated contract tools</a:t>
            </a:r>
            <a:endParaRPr lang="en-US" sz="2000" dirty="0" smtClean="0">
              <a:latin typeface="+mn-lt"/>
            </a:endParaRPr>
          </a:p>
          <a:p>
            <a:pPr>
              <a:spcAft>
                <a:spcPts val="600"/>
              </a:spcAft>
            </a:pPr>
            <a:r>
              <a:rPr lang="en-US" sz="2300" dirty="0" smtClean="0">
                <a:latin typeface="+mn-lt"/>
              </a:rPr>
              <a:t>3. Potential </a:t>
            </a:r>
            <a:r>
              <a:rPr lang="en-US" sz="2300" dirty="0">
                <a:latin typeface="+mn-lt"/>
              </a:rPr>
              <a:t>implications for </a:t>
            </a:r>
            <a:r>
              <a:rPr lang="en-US" sz="2300" dirty="0" smtClean="0">
                <a:latin typeface="+mn-lt"/>
              </a:rPr>
              <a:t>safety</a:t>
            </a:r>
          </a:p>
          <a:p>
            <a:pPr indent="536575">
              <a:spcAft>
                <a:spcPts val="600"/>
              </a:spcAft>
            </a:pPr>
            <a:r>
              <a:rPr lang="en-IN" sz="2000" dirty="0" smtClean="0">
                <a:latin typeface="+mn-lt"/>
              </a:rPr>
              <a:t>Operational </a:t>
            </a:r>
            <a:r>
              <a:rPr lang="en-IN" sz="2000" dirty="0">
                <a:latin typeface="+mn-lt"/>
              </a:rPr>
              <a:t>and security </a:t>
            </a:r>
            <a:r>
              <a:rPr lang="en-IN" sz="2000" dirty="0" smtClean="0">
                <a:latin typeface="+mn-lt"/>
              </a:rPr>
              <a:t>risk</a:t>
            </a:r>
          </a:p>
          <a:p>
            <a:pPr indent="536575">
              <a:spcAft>
                <a:spcPts val="600"/>
              </a:spcAft>
            </a:pPr>
            <a:r>
              <a:rPr lang="en-IN" sz="2000" dirty="0">
                <a:latin typeface="+mn-lt"/>
              </a:rPr>
              <a:t>Settlement </a:t>
            </a:r>
            <a:r>
              <a:rPr lang="en-IN" sz="2000" dirty="0" smtClean="0">
                <a:latin typeface="+mn-lt"/>
              </a:rPr>
              <a:t>issues,</a:t>
            </a:r>
            <a:r>
              <a:rPr lang="en-IN" sz="2000" dirty="0">
                <a:latin typeface="+mn-lt"/>
              </a:rPr>
              <a:t> Legal risk </a:t>
            </a:r>
            <a:r>
              <a:rPr lang="en-IN" sz="2000" dirty="0" smtClean="0">
                <a:latin typeface="+mn-lt"/>
              </a:rPr>
              <a:t>,</a:t>
            </a:r>
            <a:r>
              <a:rPr lang="en-IN" sz="2000" dirty="0">
                <a:latin typeface="+mn-lt"/>
              </a:rPr>
              <a:t> Governance </a:t>
            </a:r>
            <a:r>
              <a:rPr lang="en-IN" sz="2000" dirty="0" smtClean="0">
                <a:latin typeface="+mn-lt"/>
              </a:rPr>
              <a:t>, </a:t>
            </a:r>
            <a:r>
              <a:rPr lang="en-IN" sz="2000" dirty="0">
                <a:latin typeface="+mn-lt"/>
              </a:rPr>
              <a:t>Data management and protection </a:t>
            </a:r>
            <a:endParaRPr lang="en-US" sz="2000" dirty="0" smtClean="0">
              <a:latin typeface="+mn-lt"/>
            </a:endParaRPr>
          </a:p>
          <a:p>
            <a:pPr>
              <a:spcAft>
                <a:spcPts val="600"/>
              </a:spcAft>
            </a:pPr>
            <a:r>
              <a:rPr lang="en-US" sz="2300" dirty="0" smtClean="0">
                <a:latin typeface="+mn-lt"/>
              </a:rPr>
              <a:t>4. Potential </a:t>
            </a:r>
            <a:r>
              <a:rPr lang="en-US" sz="2300" dirty="0">
                <a:latin typeface="+mn-lt"/>
              </a:rPr>
              <a:t>broader financial market </a:t>
            </a:r>
            <a:r>
              <a:rPr lang="en-US" sz="2300" dirty="0" smtClean="0">
                <a:latin typeface="+mn-lt"/>
              </a:rPr>
              <a:t>implications</a:t>
            </a:r>
          </a:p>
          <a:p>
            <a:pPr marL="536575">
              <a:spcAft>
                <a:spcPts val="600"/>
              </a:spcAft>
            </a:pPr>
            <a:r>
              <a:rPr lang="en-US" sz="2000" dirty="0">
                <a:latin typeface="+mn-lt"/>
              </a:rPr>
              <a:t>Connectivity issues and standards </a:t>
            </a:r>
            <a:r>
              <a:rPr lang="en-US" sz="2000" dirty="0" smtClean="0">
                <a:latin typeface="+mn-lt"/>
              </a:rPr>
              <a:t>development</a:t>
            </a:r>
          </a:p>
          <a:p>
            <a:pPr marL="536575">
              <a:spcAft>
                <a:spcPts val="600"/>
              </a:spcAft>
            </a:pPr>
            <a:r>
              <a:rPr lang="en-IN" sz="2000" dirty="0">
                <a:latin typeface="+mn-lt"/>
              </a:rPr>
              <a:t>Financial market </a:t>
            </a:r>
            <a:r>
              <a:rPr lang="en-IN" sz="2000" dirty="0" smtClean="0">
                <a:latin typeface="+mn-lt"/>
              </a:rPr>
              <a:t>architecture</a:t>
            </a:r>
          </a:p>
          <a:p>
            <a:pPr marL="536575">
              <a:spcAft>
                <a:spcPts val="600"/>
              </a:spcAft>
            </a:pPr>
            <a:r>
              <a:rPr lang="en-IN" sz="2000" dirty="0">
                <a:latin typeface="+mn-lt"/>
              </a:rPr>
              <a:t>Broader financial market risks</a:t>
            </a:r>
            <a:endParaRPr lang="en-US" sz="2300" b="1" dirty="0" smtClean="0">
              <a:latin typeface="+mn-lt"/>
              <a:ea typeface="Calibri" panose="020F0502020204030204" pitchFamily="34" charset="0"/>
              <a:cs typeface="Times New Roman" panose="02020603050405020304" pitchFamily="18" charset="0"/>
            </a:endParaRPr>
          </a:p>
        </p:txBody>
      </p:sp>
      <p:sp>
        <p:nvSpPr>
          <p:cNvPr id="3" name="Right Brace 2"/>
          <p:cNvSpPr/>
          <p:nvPr/>
        </p:nvSpPr>
        <p:spPr>
          <a:xfrm>
            <a:off x="9218612" y="762001"/>
            <a:ext cx="914400" cy="5638800"/>
          </a:xfrm>
          <a:prstGeom prst="rightBrace">
            <a:avLst/>
          </a:prstGeom>
          <a:ln w="2540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 name="TextBox 3"/>
          <p:cNvSpPr txBox="1"/>
          <p:nvPr/>
        </p:nvSpPr>
        <p:spPr>
          <a:xfrm>
            <a:off x="10056812" y="3464004"/>
            <a:ext cx="1905000" cy="1107996"/>
          </a:xfrm>
          <a:prstGeom prst="rect">
            <a:avLst/>
          </a:prstGeom>
          <a:noFill/>
        </p:spPr>
        <p:txBody>
          <a:bodyPr wrap="square" rtlCol="0">
            <a:spAutoFit/>
          </a:bodyPr>
          <a:lstStyle/>
          <a:p>
            <a:r>
              <a:rPr lang="en-IN" sz="2200" dirty="0" smtClean="0">
                <a:latin typeface="+mn-lt"/>
              </a:rPr>
              <a:t>Four main component of framework</a:t>
            </a:r>
            <a:endParaRPr lang="en-IN" sz="2200" dirty="0">
              <a:latin typeface="+mn-lt"/>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612" y="228600"/>
            <a:ext cx="10896600" cy="1200329"/>
          </a:xfrm>
          <a:prstGeom prst="rect">
            <a:avLst/>
          </a:prstGeom>
        </p:spPr>
        <p:txBody>
          <a:bodyPr wrap="square">
            <a:spAutoFit/>
          </a:bodyPr>
          <a:lstStyle/>
          <a:p>
            <a:pPr>
              <a:lnSpc>
                <a:spcPct val="150000"/>
              </a:lnSpc>
            </a:pPr>
            <a:r>
              <a:rPr lang="en-US" dirty="0" smtClean="0">
                <a:latin typeface="+mn-lt"/>
              </a:rPr>
              <a:t>Framework I --- Rules </a:t>
            </a:r>
            <a:r>
              <a:rPr lang="en-US" dirty="0">
                <a:latin typeface="+mn-lt"/>
              </a:rPr>
              <a:t>and </a:t>
            </a:r>
            <a:r>
              <a:rPr lang="en-US" dirty="0" smtClean="0">
                <a:latin typeface="+mn-lt"/>
              </a:rPr>
              <a:t>Structure </a:t>
            </a:r>
            <a:r>
              <a:rPr lang="en-US" dirty="0">
                <a:latin typeface="+mn-lt"/>
              </a:rPr>
              <a:t>while </a:t>
            </a:r>
            <a:endParaRPr lang="en-US" dirty="0" smtClean="0">
              <a:latin typeface="+mn-lt"/>
            </a:endParaRPr>
          </a:p>
          <a:p>
            <a:pPr>
              <a:lnSpc>
                <a:spcPct val="150000"/>
              </a:lnSpc>
            </a:pPr>
            <a:r>
              <a:rPr lang="en-US" dirty="0" smtClean="0">
                <a:latin typeface="+mn-lt"/>
              </a:rPr>
              <a:t>Analytical </a:t>
            </a:r>
            <a:r>
              <a:rPr lang="en-US" dirty="0">
                <a:latin typeface="+mn-lt"/>
              </a:rPr>
              <a:t>framework is the "evaluation and improvement method</a:t>
            </a:r>
            <a:r>
              <a:rPr lang="en-US" dirty="0" smtClean="0">
                <a:latin typeface="+mn-lt"/>
              </a:rPr>
              <a:t>."</a:t>
            </a:r>
            <a:endParaRPr lang="en-US"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3577952158"/>
              </p:ext>
            </p:extLst>
          </p:nvPr>
        </p:nvGraphicFramePr>
        <p:xfrm>
          <a:off x="871600" y="1676400"/>
          <a:ext cx="10946955" cy="4692997"/>
        </p:xfrm>
        <a:graphic>
          <a:graphicData uri="http://schemas.openxmlformats.org/drawingml/2006/table">
            <a:tbl>
              <a:tblPr/>
              <a:tblGrid>
                <a:gridCol w="1717612"/>
                <a:gridCol w="4572000"/>
                <a:gridCol w="4657343"/>
              </a:tblGrid>
              <a:tr h="323367">
                <a:tc>
                  <a:txBody>
                    <a:bodyPr/>
                    <a:lstStyle/>
                    <a:p>
                      <a:r>
                        <a:rPr lang="en-US" sz="2000" b="1" dirty="0">
                          <a:solidFill>
                            <a:srgbClr val="FFFF00"/>
                          </a:solidFill>
                        </a:rPr>
                        <a:t>Aspect</a:t>
                      </a:r>
                      <a:endParaRPr lang="en-US" sz="2000" dirty="0">
                        <a:solidFill>
                          <a:srgbClr val="FFFF00"/>
                        </a:solidFill>
                      </a:endParaRPr>
                    </a:p>
                  </a:txBody>
                  <a:tcPr marL="64673" marR="64673" marT="32337" marB="32337" anchor="ctr">
                    <a:lnL>
                      <a:noFill/>
                    </a:lnL>
                    <a:lnR>
                      <a:noFill/>
                    </a:lnR>
                    <a:lnT>
                      <a:noFill/>
                    </a:lnT>
                    <a:lnB>
                      <a:noFill/>
                    </a:lnB>
                  </a:tcPr>
                </a:tc>
                <a:tc>
                  <a:txBody>
                    <a:bodyPr/>
                    <a:lstStyle/>
                    <a:p>
                      <a:r>
                        <a:rPr lang="en-US" sz="2000" b="1" dirty="0">
                          <a:solidFill>
                            <a:srgbClr val="FFFF00"/>
                          </a:solidFill>
                        </a:rPr>
                        <a:t>Framework</a:t>
                      </a:r>
                      <a:endParaRPr lang="en-US" sz="2000" dirty="0">
                        <a:solidFill>
                          <a:srgbClr val="FFFF00"/>
                        </a:solidFill>
                      </a:endParaRPr>
                    </a:p>
                  </a:txBody>
                  <a:tcPr marL="64673" marR="64673" marT="32337" marB="32337" anchor="ctr">
                    <a:lnL>
                      <a:noFill/>
                    </a:lnL>
                    <a:lnR>
                      <a:noFill/>
                    </a:lnR>
                    <a:lnT>
                      <a:noFill/>
                    </a:lnT>
                    <a:lnB>
                      <a:noFill/>
                    </a:lnB>
                  </a:tcPr>
                </a:tc>
                <a:tc>
                  <a:txBody>
                    <a:bodyPr/>
                    <a:lstStyle/>
                    <a:p>
                      <a:r>
                        <a:rPr lang="en-US" sz="2000" b="1" dirty="0">
                          <a:solidFill>
                            <a:srgbClr val="FFFF00"/>
                          </a:solidFill>
                        </a:rPr>
                        <a:t>Analytical Framework</a:t>
                      </a:r>
                      <a:endParaRPr lang="en-US" sz="2000" dirty="0">
                        <a:solidFill>
                          <a:srgbClr val="FFFF00"/>
                        </a:solidFill>
                      </a:endParaRPr>
                    </a:p>
                  </a:txBody>
                  <a:tcPr marL="64673" marR="64673" marT="32337" marB="32337" anchor="ctr">
                    <a:lnL>
                      <a:noFill/>
                    </a:lnL>
                    <a:lnR>
                      <a:noFill/>
                    </a:lnR>
                    <a:lnT>
                      <a:noFill/>
                    </a:lnT>
                    <a:lnB>
                      <a:noFill/>
                    </a:lnB>
                  </a:tcPr>
                </a:tc>
              </a:tr>
              <a:tr h="840754">
                <a:tc>
                  <a:txBody>
                    <a:bodyPr/>
                    <a:lstStyle/>
                    <a:p>
                      <a:r>
                        <a:rPr lang="en-US" sz="2000" b="1" dirty="0"/>
                        <a:t>Definition</a:t>
                      </a:r>
                      <a:endParaRPr lang="en-US" sz="2000" dirty="0"/>
                    </a:p>
                  </a:txBody>
                  <a:tcPr marL="64673" marR="64673" marT="32337" marB="32337" anchor="ctr">
                    <a:lnL>
                      <a:noFill/>
                    </a:lnL>
                    <a:lnR>
                      <a:noFill/>
                    </a:lnR>
                    <a:lnT>
                      <a:noFill/>
                    </a:lnT>
                    <a:lnB>
                      <a:noFill/>
                    </a:lnB>
                  </a:tcPr>
                </a:tc>
                <a:tc>
                  <a:txBody>
                    <a:bodyPr/>
                    <a:lstStyle/>
                    <a:p>
                      <a:r>
                        <a:rPr lang="en-US" sz="2000" dirty="0" smtClean="0"/>
                        <a:t>Structure</a:t>
                      </a:r>
                      <a:r>
                        <a:rPr lang="en-US" sz="2000" dirty="0"/>
                        <a:t>, rules, and mechanisms that define how a system operates.</a:t>
                      </a:r>
                    </a:p>
                  </a:txBody>
                  <a:tcPr marL="64673" marR="64673" marT="32337" marB="32337" anchor="ctr">
                    <a:lnL>
                      <a:noFill/>
                    </a:lnL>
                    <a:lnR>
                      <a:noFill/>
                    </a:lnR>
                    <a:lnT>
                      <a:noFill/>
                    </a:lnT>
                    <a:lnB>
                      <a:noFill/>
                    </a:lnB>
                  </a:tcPr>
                </a:tc>
                <a:tc>
                  <a:txBody>
                    <a:bodyPr/>
                    <a:lstStyle/>
                    <a:p>
                      <a:r>
                        <a:rPr lang="en-US" sz="2000" dirty="0"/>
                        <a:t>A method to analyze and evaluate how well the system performs.</a:t>
                      </a:r>
                    </a:p>
                  </a:txBody>
                  <a:tcPr marL="64673" marR="64673" marT="32337" marB="32337" anchor="ctr">
                    <a:lnL>
                      <a:noFill/>
                    </a:lnL>
                    <a:lnR>
                      <a:noFill/>
                    </a:lnR>
                    <a:lnT>
                      <a:noFill/>
                    </a:lnT>
                    <a:lnB>
                      <a:noFill/>
                    </a:lnB>
                  </a:tcPr>
                </a:tc>
              </a:tr>
              <a:tr h="840754">
                <a:tc>
                  <a:txBody>
                    <a:bodyPr/>
                    <a:lstStyle/>
                    <a:p>
                      <a:r>
                        <a:rPr lang="en-US" sz="2000" b="1" dirty="0"/>
                        <a:t>Purpose</a:t>
                      </a:r>
                      <a:endParaRPr lang="en-US" sz="2000" dirty="0"/>
                    </a:p>
                  </a:txBody>
                  <a:tcPr marL="64673" marR="64673" marT="32337" marB="32337" anchor="ctr">
                    <a:lnL>
                      <a:noFill/>
                    </a:lnL>
                    <a:lnR>
                      <a:noFill/>
                    </a:lnR>
                    <a:lnT>
                      <a:noFill/>
                    </a:lnT>
                    <a:lnB>
                      <a:noFill/>
                    </a:lnB>
                  </a:tcPr>
                </a:tc>
                <a:tc>
                  <a:txBody>
                    <a:bodyPr/>
                    <a:lstStyle/>
                    <a:p>
                      <a:r>
                        <a:rPr lang="en-US" sz="2000" dirty="0"/>
                        <a:t>Establishes how a system functions securely and efficiently.</a:t>
                      </a:r>
                    </a:p>
                  </a:txBody>
                  <a:tcPr marL="64673" marR="64673" marT="32337" marB="32337" anchor="ctr">
                    <a:lnL>
                      <a:noFill/>
                    </a:lnL>
                    <a:lnR>
                      <a:noFill/>
                    </a:lnR>
                    <a:lnT>
                      <a:noFill/>
                    </a:lnT>
                    <a:lnB>
                      <a:noFill/>
                    </a:lnB>
                  </a:tcPr>
                </a:tc>
                <a:tc>
                  <a:txBody>
                    <a:bodyPr/>
                    <a:lstStyle/>
                    <a:p>
                      <a:r>
                        <a:rPr lang="en-US" sz="2000" dirty="0"/>
                        <a:t>Assesses performance, security, and improvements.</a:t>
                      </a:r>
                    </a:p>
                  </a:txBody>
                  <a:tcPr marL="64673" marR="64673" marT="32337" marB="32337" anchor="ctr">
                    <a:lnL>
                      <a:noFill/>
                    </a:lnL>
                    <a:lnR>
                      <a:noFill/>
                    </a:lnR>
                    <a:lnT>
                      <a:noFill/>
                    </a:lnT>
                    <a:lnB>
                      <a:noFill/>
                    </a:lnB>
                  </a:tcPr>
                </a:tc>
              </a:tr>
              <a:tr h="1099447">
                <a:tc>
                  <a:txBody>
                    <a:bodyPr/>
                    <a:lstStyle/>
                    <a:p>
                      <a:r>
                        <a:rPr lang="en-US" sz="2000" b="1" dirty="0"/>
                        <a:t>Real-Life Example (Traffic System)</a:t>
                      </a:r>
                      <a:endParaRPr lang="en-US" sz="2000" dirty="0"/>
                    </a:p>
                  </a:txBody>
                  <a:tcPr marL="64673" marR="64673" marT="32337" marB="32337" anchor="ctr">
                    <a:lnL>
                      <a:noFill/>
                    </a:lnL>
                    <a:lnR>
                      <a:noFill/>
                    </a:lnR>
                    <a:lnT>
                      <a:noFill/>
                    </a:lnT>
                    <a:lnB>
                      <a:noFill/>
                    </a:lnB>
                  </a:tcPr>
                </a:tc>
                <a:tc>
                  <a:txBody>
                    <a:bodyPr/>
                    <a:lstStyle/>
                    <a:p>
                      <a:r>
                        <a:rPr lang="en-US" sz="2000" dirty="0"/>
                        <a:t>Traffic laws, signals, and road rules that regulate driving.</a:t>
                      </a:r>
                    </a:p>
                  </a:txBody>
                  <a:tcPr marL="64673" marR="64673" marT="32337" marB="32337" anchor="ctr">
                    <a:lnL>
                      <a:noFill/>
                    </a:lnL>
                    <a:lnR>
                      <a:noFill/>
                    </a:lnR>
                    <a:lnT>
                      <a:noFill/>
                    </a:lnT>
                    <a:lnB>
                      <a:noFill/>
                    </a:lnB>
                  </a:tcPr>
                </a:tc>
                <a:tc>
                  <a:txBody>
                    <a:bodyPr/>
                    <a:lstStyle/>
                    <a:p>
                      <a:r>
                        <a:rPr lang="en-US" sz="2000" dirty="0"/>
                        <a:t>Evaluating traffic congestion, accident rates, and road efficiency to improve city planning.</a:t>
                      </a:r>
                    </a:p>
                  </a:txBody>
                  <a:tcPr marL="64673" marR="64673" marT="32337" marB="32337" anchor="ctr">
                    <a:lnL>
                      <a:noFill/>
                    </a:lnL>
                    <a:lnR>
                      <a:noFill/>
                    </a:lnR>
                    <a:lnT>
                      <a:noFill/>
                    </a:lnT>
                    <a:lnB>
                      <a:noFill/>
                    </a:lnB>
                  </a:tcPr>
                </a:tc>
              </a:tr>
              <a:tr h="1358141">
                <a:tc>
                  <a:txBody>
                    <a:bodyPr/>
                    <a:lstStyle/>
                    <a:p>
                      <a:r>
                        <a:rPr lang="en-US" sz="2000" b="1" dirty="0"/>
                        <a:t>Real-Life Example (DLT)</a:t>
                      </a:r>
                      <a:endParaRPr lang="en-US" sz="2000" dirty="0"/>
                    </a:p>
                  </a:txBody>
                  <a:tcPr marL="64673" marR="64673" marT="32337" marB="32337" anchor="ctr">
                    <a:lnL>
                      <a:noFill/>
                    </a:lnL>
                    <a:lnR>
                      <a:noFill/>
                    </a:lnR>
                    <a:lnT>
                      <a:noFill/>
                    </a:lnT>
                    <a:lnB>
                      <a:noFill/>
                    </a:lnB>
                  </a:tcPr>
                </a:tc>
                <a:tc>
                  <a:txBody>
                    <a:bodyPr/>
                    <a:lstStyle/>
                    <a:p>
                      <a:r>
                        <a:rPr lang="en-US" sz="2000" dirty="0"/>
                        <a:t>Bitcoin’s PoW consensus, block structure, and decentralized governance.</a:t>
                      </a:r>
                    </a:p>
                  </a:txBody>
                  <a:tcPr marL="64673" marR="64673" marT="32337" marB="32337" anchor="ctr">
                    <a:lnL>
                      <a:noFill/>
                    </a:lnL>
                    <a:lnR>
                      <a:noFill/>
                    </a:lnR>
                    <a:lnT>
                      <a:noFill/>
                    </a:lnT>
                    <a:lnB>
                      <a:noFill/>
                    </a:lnB>
                  </a:tcPr>
                </a:tc>
                <a:tc>
                  <a:txBody>
                    <a:bodyPr/>
                    <a:lstStyle/>
                    <a:p>
                      <a:r>
                        <a:rPr lang="en-US" sz="2000" dirty="0"/>
                        <a:t>Measuring Bitcoin’s transaction speed, security, and energy consumption to assess efficiency.</a:t>
                      </a:r>
                    </a:p>
                  </a:txBody>
                  <a:tcPr marL="64673" marR="64673" marT="32337" marB="32337" anchor="ctr">
                    <a:lnL>
                      <a:noFill/>
                    </a:lnL>
                    <a:lnR>
                      <a:noFill/>
                    </a:lnR>
                    <a:lnT>
                      <a:noFill/>
                    </a:lnT>
                    <a:lnB>
                      <a:noFill/>
                    </a:lnB>
                  </a:tcPr>
                </a:tc>
              </a:tr>
            </a:tbl>
          </a:graphicData>
        </a:graphic>
      </p:graphicFrame>
    </p:spTree>
    <p:extLst>
      <p:ext uri="{BB962C8B-B14F-4D97-AF65-F5344CB8AC3E}">
        <p14:creationId xmlns:p14="http://schemas.microsoft.com/office/powerpoint/2010/main" val="2330957968"/>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6612" y="152400"/>
            <a:ext cx="11125200" cy="5396349"/>
          </a:xfrm>
          <a:prstGeom prst="rect">
            <a:avLst/>
          </a:prstGeom>
        </p:spPr>
        <p:txBody>
          <a:bodyPr wrap="square">
            <a:spAutoFit/>
          </a:bodyPr>
          <a:lstStyle/>
          <a:p>
            <a:pPr>
              <a:spcAft>
                <a:spcPts val="400"/>
              </a:spcAft>
            </a:pPr>
            <a:r>
              <a:rPr lang="en-US" sz="2200" b="1" dirty="0">
                <a:solidFill>
                  <a:schemeClr val="accent1">
                    <a:lumMod val="60000"/>
                    <a:lumOff val="40000"/>
                  </a:schemeClr>
                </a:solidFill>
                <a:latin typeface="+mn-lt"/>
              </a:rPr>
              <a:t>DLT Framework vs. Analytical </a:t>
            </a:r>
            <a:r>
              <a:rPr lang="en-US" sz="2200" b="1" dirty="0" smtClean="0">
                <a:solidFill>
                  <a:schemeClr val="accent1">
                    <a:lumMod val="60000"/>
                    <a:lumOff val="40000"/>
                  </a:schemeClr>
                </a:solidFill>
                <a:latin typeface="+mn-lt"/>
              </a:rPr>
              <a:t>Framework</a:t>
            </a:r>
          </a:p>
          <a:p>
            <a:pPr>
              <a:spcAft>
                <a:spcPts val="400"/>
              </a:spcAft>
            </a:pPr>
            <a:r>
              <a:rPr lang="en-US" sz="2200" b="1" dirty="0" smtClean="0">
                <a:solidFill>
                  <a:srgbClr val="FFFF00"/>
                </a:solidFill>
                <a:latin typeface="+mn-lt"/>
              </a:rPr>
              <a:t>DLT </a:t>
            </a:r>
            <a:r>
              <a:rPr lang="en-US" sz="2200" b="1" dirty="0">
                <a:solidFill>
                  <a:srgbClr val="FFFF00"/>
                </a:solidFill>
                <a:latin typeface="+mn-lt"/>
              </a:rPr>
              <a:t>framework defines the rules and structure of a distributed </a:t>
            </a:r>
            <a:r>
              <a:rPr lang="en-US" sz="2200" b="1" dirty="0" smtClean="0">
                <a:solidFill>
                  <a:srgbClr val="FFFF00"/>
                </a:solidFill>
                <a:latin typeface="+mn-lt"/>
              </a:rPr>
              <a:t>ledger</a:t>
            </a:r>
          </a:p>
          <a:p>
            <a:pPr>
              <a:spcAft>
                <a:spcPts val="400"/>
              </a:spcAft>
            </a:pPr>
            <a:r>
              <a:rPr lang="en-US" sz="2200" b="1" dirty="0" smtClean="0">
                <a:latin typeface="+mn-lt"/>
              </a:rPr>
              <a:t>including </a:t>
            </a:r>
            <a:r>
              <a:rPr lang="en-US" sz="2200" b="1" dirty="0">
                <a:latin typeface="+mn-lt"/>
              </a:rPr>
              <a:t>protocols</a:t>
            </a:r>
            <a:r>
              <a:rPr lang="en-US" sz="2200" b="1" dirty="0">
                <a:solidFill>
                  <a:srgbClr val="FFFF00"/>
                </a:solidFill>
                <a:latin typeface="+mn-lt"/>
              </a:rPr>
              <a:t>, </a:t>
            </a:r>
            <a:r>
              <a:rPr lang="en-US" sz="2200" dirty="0">
                <a:latin typeface="+mn-lt"/>
              </a:rPr>
              <a:t>consensus mechanisms, and governance</a:t>
            </a:r>
            <a:r>
              <a:rPr lang="en-US" sz="2200" dirty="0" smtClean="0">
                <a:latin typeface="+mn-lt"/>
              </a:rPr>
              <a:t>.</a:t>
            </a:r>
          </a:p>
          <a:p>
            <a:pPr>
              <a:spcAft>
                <a:spcPts val="400"/>
              </a:spcAft>
            </a:pPr>
            <a:r>
              <a:rPr lang="en-US" sz="2200" dirty="0" smtClean="0">
                <a:latin typeface="+mn-lt"/>
              </a:rPr>
              <a:t>For example Bitcoin’s </a:t>
            </a:r>
            <a:r>
              <a:rPr lang="en-US" sz="2200" dirty="0">
                <a:latin typeface="+mn-lt"/>
              </a:rPr>
              <a:t>framework consists of</a:t>
            </a:r>
            <a:r>
              <a:rPr lang="en-US" sz="2200" dirty="0" smtClean="0">
                <a:latin typeface="+mn-lt"/>
              </a:rPr>
              <a:t>:</a:t>
            </a:r>
          </a:p>
          <a:p>
            <a:pPr>
              <a:spcAft>
                <a:spcPts val="400"/>
              </a:spcAft>
            </a:pPr>
            <a:r>
              <a:rPr lang="en-US" sz="2200" dirty="0" smtClean="0">
                <a:latin typeface="+mn-lt"/>
              </a:rPr>
              <a:t>Consensus</a:t>
            </a:r>
            <a:r>
              <a:rPr lang="en-US" sz="2200" dirty="0">
                <a:latin typeface="+mn-lt"/>
              </a:rPr>
              <a:t>: Proof of Work (PoW) for transaction validation</a:t>
            </a:r>
            <a:r>
              <a:rPr lang="en-US" sz="2200" dirty="0" smtClean="0">
                <a:latin typeface="+mn-lt"/>
              </a:rPr>
              <a:t>.</a:t>
            </a:r>
          </a:p>
          <a:p>
            <a:pPr>
              <a:spcAft>
                <a:spcPts val="400"/>
              </a:spcAft>
            </a:pPr>
            <a:r>
              <a:rPr lang="en-US" sz="2200" dirty="0" smtClean="0">
                <a:latin typeface="+mn-lt"/>
              </a:rPr>
              <a:t>Data </a:t>
            </a:r>
            <a:r>
              <a:rPr lang="en-US" sz="2200" dirty="0">
                <a:latin typeface="+mn-lt"/>
              </a:rPr>
              <a:t>Structure: Blocks forming a chain</a:t>
            </a:r>
            <a:r>
              <a:rPr lang="en-US" sz="2200" dirty="0" smtClean="0">
                <a:latin typeface="+mn-lt"/>
              </a:rPr>
              <a:t>.</a:t>
            </a:r>
          </a:p>
          <a:p>
            <a:pPr>
              <a:spcAft>
                <a:spcPts val="400"/>
              </a:spcAft>
            </a:pPr>
            <a:r>
              <a:rPr lang="en-US" sz="2200" dirty="0" smtClean="0">
                <a:latin typeface="+mn-lt"/>
              </a:rPr>
              <a:t>Governance</a:t>
            </a:r>
            <a:r>
              <a:rPr lang="en-US" sz="2200" dirty="0">
                <a:latin typeface="+mn-lt"/>
              </a:rPr>
              <a:t>: Decentralized decision-making by nodes</a:t>
            </a:r>
            <a:r>
              <a:rPr lang="en-US" sz="2200" dirty="0" smtClean="0">
                <a:latin typeface="+mn-lt"/>
              </a:rPr>
              <a:t>.</a:t>
            </a:r>
          </a:p>
          <a:p>
            <a:pPr>
              <a:spcAft>
                <a:spcPts val="400"/>
              </a:spcAft>
            </a:pPr>
            <a:r>
              <a:rPr lang="en-US" sz="2200" b="1" dirty="0" smtClean="0">
                <a:solidFill>
                  <a:srgbClr val="FFFF00"/>
                </a:solidFill>
                <a:latin typeface="+mn-lt"/>
              </a:rPr>
              <a:t>Where as analytical </a:t>
            </a:r>
            <a:r>
              <a:rPr lang="en-US" sz="2200" b="1" dirty="0">
                <a:solidFill>
                  <a:srgbClr val="FFFF00"/>
                </a:solidFill>
                <a:latin typeface="+mn-lt"/>
              </a:rPr>
              <a:t>framework evaluates a DLT system’s performance, security, and efficiency. For example, analyzing Ethereum based on</a:t>
            </a:r>
            <a:r>
              <a:rPr lang="en-US" sz="2200" b="1" dirty="0" smtClean="0">
                <a:solidFill>
                  <a:srgbClr val="FFFF00"/>
                </a:solidFill>
                <a:latin typeface="+mn-lt"/>
              </a:rPr>
              <a:t>:</a:t>
            </a:r>
          </a:p>
          <a:p>
            <a:pPr>
              <a:spcAft>
                <a:spcPts val="400"/>
              </a:spcAft>
            </a:pPr>
            <a:r>
              <a:rPr lang="en-US" sz="2200" dirty="0" smtClean="0">
                <a:latin typeface="+mn-lt"/>
              </a:rPr>
              <a:t>Scalability</a:t>
            </a:r>
            <a:r>
              <a:rPr lang="en-US" sz="2200" dirty="0">
                <a:latin typeface="+mn-lt"/>
              </a:rPr>
              <a:t>: Transaction speed</a:t>
            </a:r>
            <a:r>
              <a:rPr lang="en-US" sz="2200" dirty="0" smtClean="0">
                <a:latin typeface="+mn-lt"/>
              </a:rPr>
              <a:t>.</a:t>
            </a:r>
          </a:p>
          <a:p>
            <a:pPr>
              <a:spcAft>
                <a:spcPts val="400"/>
              </a:spcAft>
            </a:pPr>
            <a:r>
              <a:rPr lang="en-US" sz="2200" dirty="0" smtClean="0">
                <a:latin typeface="+mn-lt"/>
              </a:rPr>
              <a:t>Security</a:t>
            </a:r>
            <a:r>
              <a:rPr lang="en-US" sz="2200" dirty="0">
                <a:latin typeface="+mn-lt"/>
              </a:rPr>
              <a:t>: Resistance to attacks</a:t>
            </a:r>
            <a:r>
              <a:rPr lang="en-US" sz="2200" dirty="0" smtClean="0">
                <a:latin typeface="+mn-lt"/>
              </a:rPr>
              <a:t>.</a:t>
            </a:r>
          </a:p>
          <a:p>
            <a:pPr>
              <a:spcAft>
                <a:spcPts val="400"/>
              </a:spcAft>
            </a:pPr>
            <a:r>
              <a:rPr lang="en-US" sz="2200" dirty="0" smtClean="0">
                <a:latin typeface="+mn-lt"/>
              </a:rPr>
              <a:t>Decentralization</a:t>
            </a:r>
            <a:r>
              <a:rPr lang="en-US" sz="2200" dirty="0">
                <a:latin typeface="+mn-lt"/>
              </a:rPr>
              <a:t>: Node distribution</a:t>
            </a:r>
            <a:r>
              <a:rPr lang="en-US" sz="2200" dirty="0" smtClean="0">
                <a:latin typeface="+mn-lt"/>
              </a:rPr>
              <a:t>.</a:t>
            </a:r>
          </a:p>
          <a:p>
            <a:pPr>
              <a:spcAft>
                <a:spcPts val="400"/>
              </a:spcAft>
            </a:pPr>
            <a:r>
              <a:rPr lang="en-US" sz="2200" dirty="0" smtClean="0">
                <a:latin typeface="+mn-lt"/>
              </a:rPr>
              <a:t>Energy </a:t>
            </a:r>
            <a:r>
              <a:rPr lang="en-US" sz="2200" dirty="0">
                <a:latin typeface="+mn-lt"/>
              </a:rPr>
              <a:t>Efficiency: </a:t>
            </a:r>
            <a:r>
              <a:rPr lang="en-US" sz="2200" dirty="0" err="1">
                <a:latin typeface="+mn-lt"/>
              </a:rPr>
              <a:t>PoS</a:t>
            </a:r>
            <a:r>
              <a:rPr lang="en-US" sz="2200" dirty="0">
                <a:latin typeface="+mn-lt"/>
              </a:rPr>
              <a:t> vs. PoW energy </a:t>
            </a:r>
            <a:r>
              <a:rPr lang="en-US" sz="2200" dirty="0" smtClean="0">
                <a:latin typeface="+mn-lt"/>
              </a:rPr>
              <a:t>consumption</a:t>
            </a:r>
          </a:p>
          <a:p>
            <a:pPr>
              <a:spcAft>
                <a:spcPts val="400"/>
              </a:spcAft>
            </a:pPr>
            <a:endParaRPr lang="en-US" sz="2200" dirty="0">
              <a:latin typeface="+mn-lt"/>
            </a:endParaRPr>
          </a:p>
        </p:txBody>
      </p:sp>
      <p:sp>
        <p:nvSpPr>
          <p:cNvPr id="4" name="Rectangle 3"/>
          <p:cNvSpPr/>
          <p:nvPr/>
        </p:nvSpPr>
        <p:spPr>
          <a:xfrm>
            <a:off x="194944" y="5943600"/>
            <a:ext cx="11734800" cy="492443"/>
          </a:xfrm>
          <a:prstGeom prst="rect">
            <a:avLst/>
          </a:prstGeom>
        </p:spPr>
        <p:txBody>
          <a:bodyPr wrap="square">
            <a:spAutoFit/>
          </a:bodyPr>
          <a:lstStyle/>
          <a:p>
            <a:r>
              <a:rPr lang="en-US" sz="2600" b="1" dirty="0" smtClean="0">
                <a:solidFill>
                  <a:srgbClr val="FFFF00"/>
                </a:solidFill>
                <a:latin typeface="+mn-lt"/>
              </a:rPr>
              <a:t>Framework --"</a:t>
            </a:r>
            <a:r>
              <a:rPr lang="en-US" sz="2600" b="1" dirty="0">
                <a:solidFill>
                  <a:srgbClr val="FFFF00"/>
                </a:solidFill>
                <a:latin typeface="+mn-lt"/>
              </a:rPr>
              <a:t>how it works," while </a:t>
            </a:r>
            <a:r>
              <a:rPr lang="en-US" sz="2600" b="1" dirty="0" smtClean="0">
                <a:solidFill>
                  <a:srgbClr val="FFFF00"/>
                </a:solidFill>
                <a:latin typeface="+mn-lt"/>
              </a:rPr>
              <a:t>Analytical </a:t>
            </a:r>
            <a:r>
              <a:rPr lang="en-US" sz="2600" b="1" dirty="0">
                <a:solidFill>
                  <a:srgbClr val="FFFF00"/>
                </a:solidFill>
                <a:latin typeface="+mn-lt"/>
              </a:rPr>
              <a:t>framework </a:t>
            </a:r>
            <a:r>
              <a:rPr lang="en-US" sz="2600" b="1" dirty="0" smtClean="0">
                <a:solidFill>
                  <a:srgbClr val="FFFF00"/>
                </a:solidFill>
                <a:latin typeface="+mn-lt"/>
              </a:rPr>
              <a:t>--"</a:t>
            </a:r>
            <a:r>
              <a:rPr lang="en-US" sz="2600" b="1" dirty="0">
                <a:solidFill>
                  <a:srgbClr val="FFFF00"/>
                </a:solidFill>
                <a:latin typeface="+mn-lt"/>
              </a:rPr>
              <a:t>how well it works."</a:t>
            </a:r>
          </a:p>
        </p:txBody>
      </p:sp>
    </p:spTree>
    <p:extLst>
      <p:ext uri="{BB962C8B-B14F-4D97-AF65-F5344CB8AC3E}">
        <p14:creationId xmlns:p14="http://schemas.microsoft.com/office/powerpoint/2010/main" val="14540616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76200"/>
            <a:ext cx="10360025" cy="639762"/>
          </a:xfrm>
        </p:spPr>
        <p:txBody>
          <a:bodyPr/>
          <a:lstStyle/>
          <a:p>
            <a:pPr algn="ctr"/>
            <a:r>
              <a:rPr lang="en-IN" sz="4000" b="1" dirty="0" smtClean="0">
                <a:solidFill>
                  <a:srgbClr val="FFFF00"/>
                </a:solidFill>
                <a:latin typeface="+mn-lt"/>
              </a:rPr>
              <a:t>Framework</a:t>
            </a:r>
            <a:endParaRPr lang="en-IN" sz="4000" b="1" dirty="0">
              <a:solidFill>
                <a:srgbClr val="FFFF00"/>
              </a:solidFill>
              <a:latin typeface="+mn-lt"/>
            </a:endParaRPr>
          </a:p>
        </p:txBody>
      </p:sp>
      <p:sp>
        <p:nvSpPr>
          <p:cNvPr id="3" name="Content Placeholder 2"/>
          <p:cNvSpPr>
            <a:spLocks noGrp="1"/>
          </p:cNvSpPr>
          <p:nvPr>
            <p:ph idx="1"/>
          </p:nvPr>
        </p:nvSpPr>
        <p:spPr>
          <a:xfrm>
            <a:off x="760413" y="381000"/>
            <a:ext cx="11201400" cy="4724400"/>
          </a:xfrm>
        </p:spPr>
        <p:txBody>
          <a:bodyPr/>
          <a:lstStyle/>
          <a:p>
            <a:pPr marL="0" indent="0">
              <a:lnSpc>
                <a:spcPct val="100000"/>
              </a:lnSpc>
              <a:spcBef>
                <a:spcPts val="600"/>
              </a:spcBef>
              <a:buNone/>
            </a:pPr>
            <a:r>
              <a:rPr lang="en-US" b="1" dirty="0">
                <a:solidFill>
                  <a:schemeClr val="accent1">
                    <a:lumMod val="60000"/>
                    <a:lumOff val="40000"/>
                  </a:schemeClr>
                </a:solidFill>
              </a:rPr>
              <a:t>P</a:t>
            </a:r>
            <a:r>
              <a:rPr lang="en-US" b="1" dirty="0" smtClean="0">
                <a:solidFill>
                  <a:schemeClr val="accent1">
                    <a:lumMod val="60000"/>
                    <a:lumOff val="40000"/>
                  </a:schemeClr>
                </a:solidFill>
              </a:rPr>
              <a:t>urpose </a:t>
            </a:r>
            <a:r>
              <a:rPr lang="en-US" b="1" dirty="0">
                <a:solidFill>
                  <a:schemeClr val="accent1">
                    <a:lumMod val="60000"/>
                    <a:lumOff val="40000"/>
                  </a:schemeClr>
                </a:solidFill>
              </a:rPr>
              <a:t>of a framework </a:t>
            </a:r>
            <a:r>
              <a:rPr lang="en-US" b="1" dirty="0" smtClean="0">
                <a:solidFill>
                  <a:schemeClr val="accent1">
                    <a:lumMod val="60000"/>
                    <a:lumOff val="40000"/>
                  </a:schemeClr>
                </a:solidFill>
              </a:rPr>
              <a:t>:- </a:t>
            </a:r>
            <a:endParaRPr lang="en-US" b="1" dirty="0">
              <a:solidFill>
                <a:schemeClr val="accent1">
                  <a:lumMod val="60000"/>
                  <a:lumOff val="40000"/>
                </a:schemeClr>
              </a:solidFill>
            </a:endParaRPr>
          </a:p>
          <a:p>
            <a:pPr marL="280988" indent="-171450">
              <a:lnSpc>
                <a:spcPct val="150000"/>
              </a:lnSpc>
              <a:spcBef>
                <a:spcPts val="600"/>
              </a:spcBef>
            </a:pPr>
            <a:r>
              <a:rPr lang="en-US" sz="2200" dirty="0" smtClean="0"/>
              <a:t>To </a:t>
            </a:r>
            <a:r>
              <a:rPr lang="en-US" sz="2200" dirty="0"/>
              <a:t>assist in </a:t>
            </a:r>
            <a:r>
              <a:rPr lang="en-US" sz="2200" dirty="0" smtClean="0"/>
              <a:t>development and  Providing standard</a:t>
            </a:r>
          </a:p>
          <a:p>
            <a:pPr marL="280988" indent="-171450">
              <a:lnSpc>
                <a:spcPct val="150000"/>
              </a:lnSpc>
              <a:spcBef>
                <a:spcPts val="600"/>
              </a:spcBef>
            </a:pPr>
            <a:r>
              <a:rPr lang="en-US" sz="2200" dirty="0" smtClean="0"/>
              <a:t>Take Care of Low-level functionality </a:t>
            </a:r>
          </a:p>
          <a:p>
            <a:pPr marL="280988" indent="-171450">
              <a:lnSpc>
                <a:spcPct val="150000"/>
              </a:lnSpc>
              <a:spcBef>
                <a:spcPts val="600"/>
              </a:spcBef>
            </a:pPr>
            <a:r>
              <a:rPr lang="en-US" sz="2200" dirty="0"/>
              <a:t>T</a:t>
            </a:r>
            <a:r>
              <a:rPr lang="en-US" sz="2200" dirty="0" smtClean="0"/>
              <a:t>o </a:t>
            </a:r>
            <a:r>
              <a:rPr lang="en-US" sz="2200" dirty="0"/>
              <a:t>serve as a </a:t>
            </a:r>
            <a:r>
              <a:rPr lang="en-US" sz="2200" dirty="0" smtClean="0"/>
              <a:t>support/guide </a:t>
            </a:r>
            <a:r>
              <a:rPr lang="en-US" sz="2200" dirty="0"/>
              <a:t>for </a:t>
            </a:r>
            <a:r>
              <a:rPr lang="en-US" sz="2200" dirty="0" smtClean="0"/>
              <a:t>building </a:t>
            </a:r>
            <a:r>
              <a:rPr lang="en-US" sz="2200" dirty="0"/>
              <a:t>of something that expands the structure into something useful</a:t>
            </a:r>
            <a:r>
              <a:rPr lang="en-US" sz="2200" dirty="0" smtClean="0"/>
              <a:t>.</a:t>
            </a:r>
          </a:p>
          <a:p>
            <a:pPr marL="280988" indent="-171450">
              <a:lnSpc>
                <a:spcPct val="150000"/>
              </a:lnSpc>
              <a:spcBef>
                <a:spcPts val="600"/>
              </a:spcBef>
            </a:pPr>
            <a:r>
              <a:rPr lang="en-US" sz="2200" dirty="0"/>
              <a:t> It serves as a foundation, so </a:t>
            </a:r>
            <a:r>
              <a:rPr lang="en-US" sz="2200" dirty="0" smtClean="0"/>
              <a:t>need not to start </a:t>
            </a:r>
            <a:r>
              <a:rPr lang="en-US" sz="2200" dirty="0"/>
              <a:t>entirely from scratch</a:t>
            </a:r>
            <a:r>
              <a:rPr lang="en-US" sz="2200" dirty="0" smtClean="0"/>
              <a:t>.</a:t>
            </a:r>
          </a:p>
          <a:p>
            <a:pPr marL="280988" indent="-171450">
              <a:lnSpc>
                <a:spcPct val="150000"/>
              </a:lnSpc>
              <a:spcBef>
                <a:spcPts val="600"/>
              </a:spcBef>
            </a:pPr>
            <a:r>
              <a:rPr lang="en-US" sz="2200" dirty="0" smtClean="0"/>
              <a:t>One type of tool used by an organizations to </a:t>
            </a:r>
            <a:r>
              <a:rPr lang="en-US" sz="2200" dirty="0"/>
              <a:t>support their process and organizational improvement efforts</a:t>
            </a:r>
            <a:endParaRPr lang="en-IN" sz="2200" dirty="0"/>
          </a:p>
        </p:txBody>
      </p:sp>
    </p:spTree>
    <p:extLst>
      <p:ext uri="{BB962C8B-B14F-4D97-AF65-F5344CB8AC3E}">
        <p14:creationId xmlns:p14="http://schemas.microsoft.com/office/powerpoint/2010/main" val="138951193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11" y="1"/>
            <a:ext cx="12114213" cy="5943600"/>
          </a:xfrm>
          <a:prstGeom prst="rect">
            <a:avLst/>
          </a:prstGeom>
        </p:spPr>
      </p:pic>
      <p:sp>
        <p:nvSpPr>
          <p:cNvPr id="3" name="TextBox 2"/>
          <p:cNvSpPr txBox="1"/>
          <p:nvPr/>
        </p:nvSpPr>
        <p:spPr>
          <a:xfrm>
            <a:off x="379412" y="6172200"/>
            <a:ext cx="11430000" cy="523220"/>
          </a:xfrm>
          <a:prstGeom prst="rect">
            <a:avLst/>
          </a:prstGeom>
          <a:noFill/>
        </p:spPr>
        <p:txBody>
          <a:bodyPr wrap="square" rtlCol="0">
            <a:spAutoFit/>
          </a:bodyPr>
          <a:lstStyle/>
          <a:p>
            <a:r>
              <a:rPr lang="en-US" sz="2800" b="1" dirty="0" smtClean="0">
                <a:solidFill>
                  <a:schemeClr val="accent1">
                    <a:lumMod val="60000"/>
                    <a:lumOff val="40000"/>
                  </a:schemeClr>
                </a:solidFill>
                <a:latin typeface="+mn-lt"/>
              </a:rPr>
              <a:t>Framework </a:t>
            </a:r>
            <a:r>
              <a:rPr lang="en-US" sz="2800" b="1" dirty="0">
                <a:solidFill>
                  <a:schemeClr val="accent1">
                    <a:lumMod val="60000"/>
                    <a:lumOff val="40000"/>
                  </a:schemeClr>
                </a:solidFill>
                <a:latin typeface="+mn-lt"/>
              </a:rPr>
              <a:t>for academic program assessment and continuous improvement</a:t>
            </a:r>
            <a:endParaRPr lang="en-US" sz="2800" dirty="0">
              <a:solidFill>
                <a:schemeClr val="accent1">
                  <a:lumMod val="60000"/>
                  <a:lumOff val="40000"/>
                </a:schemeClr>
              </a:solidFill>
              <a:latin typeface="+mn-lt"/>
            </a:endParaRPr>
          </a:p>
        </p:txBody>
      </p:sp>
    </p:spTree>
    <p:extLst>
      <p:ext uri="{BB962C8B-B14F-4D97-AF65-F5344CB8AC3E}">
        <p14:creationId xmlns:p14="http://schemas.microsoft.com/office/powerpoint/2010/main" val="111651920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412" y="152400"/>
            <a:ext cx="11201400" cy="5943600"/>
          </a:xfrm>
        </p:spPr>
        <p:txBody>
          <a:bodyPr/>
          <a:lstStyle/>
          <a:p>
            <a:pPr marL="0" indent="0">
              <a:lnSpc>
                <a:spcPct val="100000"/>
              </a:lnSpc>
              <a:spcBef>
                <a:spcPts val="0"/>
              </a:spcBef>
              <a:spcAft>
                <a:spcPts val="1000"/>
              </a:spcAft>
              <a:buNone/>
            </a:pPr>
            <a:r>
              <a:rPr lang="en-US" sz="2200" b="1" dirty="0">
                <a:solidFill>
                  <a:srgbClr val="FFFF00"/>
                </a:solidFill>
              </a:rPr>
              <a:t>Inputs &amp; </a:t>
            </a:r>
            <a:r>
              <a:rPr lang="en-US" sz="2200" b="1" dirty="0" smtClean="0">
                <a:solidFill>
                  <a:srgbClr val="FFFF00"/>
                </a:solidFill>
              </a:rPr>
              <a:t>Feedback(</a:t>
            </a:r>
            <a:r>
              <a:rPr lang="en-US" sz="2200" dirty="0" smtClean="0"/>
              <a:t>Left </a:t>
            </a:r>
            <a:r>
              <a:rPr lang="en-US" sz="2200" dirty="0"/>
              <a:t>Side</a:t>
            </a:r>
            <a:r>
              <a:rPr lang="en-US" sz="2200" dirty="0" smtClean="0"/>
              <a:t>)</a:t>
            </a:r>
            <a:r>
              <a:rPr lang="en-US" sz="2200" b="1" dirty="0" smtClean="0"/>
              <a:t>:</a:t>
            </a:r>
            <a:r>
              <a:rPr lang="en-US" sz="2200" dirty="0" smtClean="0"/>
              <a:t> </a:t>
            </a:r>
            <a:r>
              <a:rPr lang="en-US" sz="2200" dirty="0"/>
              <a:t>Industry and professional organizations provide guidance.</a:t>
            </a:r>
          </a:p>
          <a:p>
            <a:pPr marL="0" indent="0">
              <a:lnSpc>
                <a:spcPct val="100000"/>
              </a:lnSpc>
              <a:spcBef>
                <a:spcPts val="0"/>
              </a:spcBef>
              <a:spcAft>
                <a:spcPts val="1000"/>
              </a:spcAft>
              <a:buNone/>
            </a:pPr>
            <a:r>
              <a:rPr lang="en-US" sz="2200" b="1" dirty="0" smtClean="0">
                <a:solidFill>
                  <a:schemeClr val="accent1">
                    <a:lumMod val="60000"/>
                    <a:lumOff val="40000"/>
                  </a:schemeClr>
                </a:solidFill>
              </a:rPr>
              <a:t>Outcome</a:t>
            </a:r>
            <a:r>
              <a:rPr lang="en-US" sz="2200" b="1" dirty="0" smtClean="0"/>
              <a:t>s(</a:t>
            </a:r>
            <a:r>
              <a:rPr lang="en-US" sz="2200" dirty="0" smtClean="0"/>
              <a:t>Middle Section</a:t>
            </a:r>
            <a:r>
              <a:rPr lang="en-US" sz="2200" b="1" dirty="0" smtClean="0"/>
              <a:t>):</a:t>
            </a:r>
            <a:endParaRPr lang="en-US" sz="2200" dirty="0"/>
          </a:p>
          <a:p>
            <a:pPr marL="377825" lvl="1" indent="0">
              <a:lnSpc>
                <a:spcPct val="100000"/>
              </a:lnSpc>
              <a:spcBef>
                <a:spcPts val="0"/>
              </a:spcBef>
              <a:spcAft>
                <a:spcPts val="1000"/>
              </a:spcAft>
              <a:buNone/>
            </a:pPr>
            <a:r>
              <a:rPr lang="en-US" sz="2200" b="1" dirty="0"/>
              <a:t>Institutional:</a:t>
            </a:r>
            <a:r>
              <a:rPr lang="en-US" sz="2200" dirty="0"/>
              <a:t> Mission/Vision</a:t>
            </a:r>
          </a:p>
          <a:p>
            <a:pPr marL="377825" lvl="1" indent="0">
              <a:lnSpc>
                <a:spcPct val="100000"/>
              </a:lnSpc>
              <a:spcBef>
                <a:spcPts val="0"/>
              </a:spcBef>
              <a:spcAft>
                <a:spcPts val="1000"/>
              </a:spcAft>
              <a:buNone/>
            </a:pPr>
            <a:r>
              <a:rPr lang="en-US" sz="2200" b="1" dirty="0"/>
              <a:t>Program:</a:t>
            </a:r>
            <a:r>
              <a:rPr lang="en-US" sz="2200" dirty="0"/>
              <a:t> Educational Objectives &amp; Student Outcomes</a:t>
            </a:r>
          </a:p>
          <a:p>
            <a:pPr marL="377825" lvl="1" indent="0">
              <a:lnSpc>
                <a:spcPct val="100000"/>
              </a:lnSpc>
              <a:spcBef>
                <a:spcPts val="0"/>
              </a:spcBef>
              <a:spcAft>
                <a:spcPts val="1000"/>
              </a:spcAft>
              <a:buNone/>
            </a:pPr>
            <a:r>
              <a:rPr lang="en-US" sz="2200" b="1" dirty="0"/>
              <a:t>Course:</a:t>
            </a:r>
            <a:r>
              <a:rPr lang="en-US" sz="2200" dirty="0"/>
              <a:t> Course Learning Outcomes</a:t>
            </a:r>
          </a:p>
          <a:p>
            <a:pPr marL="0" indent="0">
              <a:lnSpc>
                <a:spcPct val="100000"/>
              </a:lnSpc>
              <a:spcBef>
                <a:spcPts val="0"/>
              </a:spcBef>
              <a:spcAft>
                <a:spcPts val="1000"/>
              </a:spcAft>
              <a:buNone/>
            </a:pPr>
            <a:r>
              <a:rPr lang="en-US" sz="2200" b="1" dirty="0">
                <a:solidFill>
                  <a:srgbClr val="FFFF00"/>
                </a:solidFill>
              </a:rPr>
              <a:t>Assessment &amp; </a:t>
            </a:r>
            <a:r>
              <a:rPr lang="en-US" sz="2200" b="1" dirty="0" smtClean="0">
                <a:solidFill>
                  <a:srgbClr val="FFFF00"/>
                </a:solidFill>
              </a:rPr>
              <a:t>Evaluation</a:t>
            </a:r>
            <a:r>
              <a:rPr lang="en-US" sz="2200" dirty="0"/>
              <a:t>(Right Side</a:t>
            </a:r>
            <a:r>
              <a:rPr lang="en-US" sz="2200" dirty="0" smtClean="0"/>
              <a:t>)</a:t>
            </a:r>
            <a:r>
              <a:rPr lang="en-US" sz="2200" b="1" dirty="0" smtClean="0"/>
              <a:t>:</a:t>
            </a:r>
            <a:r>
              <a:rPr lang="en-US" sz="2400" dirty="0"/>
              <a:t>This section ensures </a:t>
            </a:r>
            <a:r>
              <a:rPr lang="en-US" sz="2400" b="1" dirty="0"/>
              <a:t>program effectiveness</a:t>
            </a:r>
            <a:r>
              <a:rPr lang="en-US" sz="2400" dirty="0"/>
              <a:t>:</a:t>
            </a:r>
            <a:endParaRPr lang="en-US" sz="2200" dirty="0"/>
          </a:p>
          <a:p>
            <a:pPr marL="377825" lvl="1" indent="0">
              <a:lnSpc>
                <a:spcPct val="100000"/>
              </a:lnSpc>
              <a:spcBef>
                <a:spcPts val="0"/>
              </a:spcBef>
              <a:spcAft>
                <a:spcPts val="1000"/>
              </a:spcAft>
              <a:buNone/>
            </a:pPr>
            <a:r>
              <a:rPr lang="en-US" sz="2200" dirty="0"/>
              <a:t>Course, Program, and Institutional Assessments ensure effectiveness.</a:t>
            </a:r>
          </a:p>
          <a:p>
            <a:pPr marL="0" indent="0">
              <a:lnSpc>
                <a:spcPct val="100000"/>
              </a:lnSpc>
              <a:spcBef>
                <a:spcPts val="0"/>
              </a:spcBef>
              <a:spcAft>
                <a:spcPts val="1000"/>
              </a:spcAft>
              <a:buNone/>
            </a:pPr>
            <a:r>
              <a:rPr lang="en-US" sz="2200" b="1" dirty="0">
                <a:solidFill>
                  <a:schemeClr val="accent1">
                    <a:lumMod val="60000"/>
                    <a:lumOff val="40000"/>
                  </a:schemeClr>
                </a:solidFill>
              </a:rPr>
              <a:t>Course Planning &amp; Delivery</a:t>
            </a:r>
            <a:r>
              <a:rPr lang="en-US" sz="2200" b="1" dirty="0"/>
              <a:t>:</a:t>
            </a:r>
            <a:r>
              <a:rPr lang="en-US" sz="2200" dirty="0"/>
              <a:t> To achieve desired outcomes, institutions </a:t>
            </a:r>
            <a:r>
              <a:rPr lang="en-US" sz="2200" dirty="0" smtClean="0"/>
              <a:t>implement</a:t>
            </a:r>
            <a:endParaRPr lang="en-US" sz="2200" dirty="0"/>
          </a:p>
          <a:p>
            <a:pPr marL="0" indent="0">
              <a:lnSpc>
                <a:spcPct val="100000"/>
              </a:lnSpc>
              <a:spcBef>
                <a:spcPts val="0"/>
              </a:spcBef>
              <a:spcAft>
                <a:spcPts val="1000"/>
              </a:spcAft>
              <a:buNone/>
            </a:pPr>
            <a:r>
              <a:rPr lang="en-US" sz="2200" dirty="0" smtClean="0"/>
              <a:t>Syllabus</a:t>
            </a:r>
            <a:r>
              <a:rPr lang="en-US" sz="2200" dirty="0"/>
              <a:t>, teaching methods, activities, and assessment tools.</a:t>
            </a:r>
          </a:p>
          <a:p>
            <a:pPr marL="0" indent="0">
              <a:lnSpc>
                <a:spcPct val="100000"/>
              </a:lnSpc>
              <a:spcBef>
                <a:spcPts val="0"/>
              </a:spcBef>
              <a:spcAft>
                <a:spcPts val="1000"/>
              </a:spcAft>
              <a:buNone/>
            </a:pPr>
            <a:r>
              <a:rPr lang="en-US" sz="2200" b="1" dirty="0">
                <a:solidFill>
                  <a:srgbClr val="FFFF00"/>
                </a:solidFill>
              </a:rPr>
              <a:t>Continuous Improvement</a:t>
            </a:r>
            <a:r>
              <a:rPr lang="en-US" sz="2200" b="1" dirty="0"/>
              <a:t> (Middle Arrow</a:t>
            </a:r>
            <a:r>
              <a:rPr lang="en-US" sz="2200" b="1" dirty="0" smtClean="0"/>
              <a:t>):</a:t>
            </a:r>
          </a:p>
          <a:p>
            <a:pPr marL="0" indent="0">
              <a:lnSpc>
                <a:spcPct val="100000"/>
              </a:lnSpc>
              <a:spcBef>
                <a:spcPts val="0"/>
              </a:spcBef>
              <a:spcAft>
                <a:spcPts val="1000"/>
              </a:spcAft>
              <a:buNone/>
            </a:pPr>
            <a:r>
              <a:rPr lang="en-US" sz="2200" dirty="0" smtClean="0"/>
              <a:t>Results </a:t>
            </a:r>
            <a:r>
              <a:rPr lang="en-US" sz="2200" dirty="0"/>
              <a:t>from assessments are </a:t>
            </a:r>
            <a:r>
              <a:rPr lang="en-US" sz="2200" b="1" dirty="0"/>
              <a:t>fed back</a:t>
            </a:r>
            <a:r>
              <a:rPr lang="en-US" sz="2200" dirty="0"/>
              <a:t> into the system for continuous improvement in curriculum, teaching strategies, and evaluation </a:t>
            </a:r>
            <a:r>
              <a:rPr lang="en-US" sz="2200" dirty="0" smtClean="0"/>
              <a:t>methods</a:t>
            </a:r>
            <a:r>
              <a:rPr lang="en-US" sz="2400" dirty="0" smtClean="0"/>
              <a:t>.</a:t>
            </a:r>
            <a:endParaRPr lang="en-US" sz="2200" dirty="0"/>
          </a:p>
          <a:p>
            <a:pPr marL="0" indent="0">
              <a:lnSpc>
                <a:spcPct val="100000"/>
              </a:lnSpc>
              <a:spcBef>
                <a:spcPts val="0"/>
              </a:spcBef>
              <a:spcAft>
                <a:spcPts val="1000"/>
              </a:spcAft>
              <a:buNone/>
            </a:pPr>
            <a:r>
              <a:rPr lang="en-US" sz="2200" dirty="0" smtClean="0"/>
              <a:t>This </a:t>
            </a:r>
            <a:r>
              <a:rPr lang="en-US" sz="2200" dirty="0"/>
              <a:t>framework </a:t>
            </a:r>
            <a:r>
              <a:rPr lang="en-US" sz="2200" b="1" dirty="0"/>
              <a:t>aligns education with industry needs</a:t>
            </a:r>
            <a:r>
              <a:rPr lang="en-US" sz="2200" dirty="0"/>
              <a:t> and fosters </a:t>
            </a:r>
            <a:r>
              <a:rPr lang="en-US" sz="2200" b="1" dirty="0"/>
              <a:t>continuous enhancement</a:t>
            </a:r>
            <a:r>
              <a:rPr lang="en-US" sz="2200" dirty="0"/>
              <a:t> of learning outcomes.</a:t>
            </a:r>
          </a:p>
          <a:p>
            <a:pPr marL="0" indent="0">
              <a:buNone/>
            </a:pPr>
            <a:endParaRPr lang="en-US" dirty="0"/>
          </a:p>
        </p:txBody>
      </p:sp>
    </p:spTree>
    <p:extLst>
      <p:ext uri="{BB962C8B-B14F-4D97-AF65-F5344CB8AC3E}">
        <p14:creationId xmlns:p14="http://schemas.microsoft.com/office/powerpoint/2010/main" val="48243217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2665412" y="0"/>
            <a:ext cx="8534400" cy="566822"/>
          </a:xfrm>
          <a:prstGeom prst="rect">
            <a:avLst/>
          </a:prstGeom>
        </p:spPr>
        <p:txBody>
          <a:bodyPr vert="horz" wrap="square" lIns="0" tIns="12700" rIns="0" bIns="0" rtlCol="0">
            <a:spAutoFit/>
          </a:bodyPr>
          <a:lstStyle/>
          <a:p>
            <a:pPr marL="12700" algn="ctr">
              <a:lnSpc>
                <a:spcPct val="100000"/>
              </a:lnSpc>
              <a:spcBef>
                <a:spcPts val="100"/>
              </a:spcBef>
            </a:pPr>
            <a:r>
              <a:rPr lang="en-US" sz="3600" b="1" dirty="0" smtClean="0">
                <a:solidFill>
                  <a:schemeClr val="accent1">
                    <a:lumMod val="60000"/>
                    <a:lumOff val="40000"/>
                  </a:schemeClr>
                </a:solidFill>
                <a:latin typeface="+mn-lt"/>
              </a:rPr>
              <a:t>DLT :  </a:t>
            </a:r>
            <a:r>
              <a:rPr lang="en-US" sz="3200" b="1" dirty="0" smtClean="0">
                <a:solidFill>
                  <a:srgbClr val="FFFF00"/>
                </a:solidFill>
                <a:latin typeface="+mn-lt"/>
              </a:rPr>
              <a:t>Analytical framework</a:t>
            </a:r>
            <a:endParaRPr sz="3200" dirty="0">
              <a:solidFill>
                <a:srgbClr val="FFFF00"/>
              </a:solidFill>
              <a:latin typeface="+mn-lt"/>
              <a:cs typeface="Trebuchet MS"/>
            </a:endParaRPr>
          </a:p>
        </p:txBody>
      </p:sp>
      <p:sp>
        <p:nvSpPr>
          <p:cNvPr id="6" name="Rectangle 5"/>
          <p:cNvSpPr/>
          <p:nvPr/>
        </p:nvSpPr>
        <p:spPr>
          <a:xfrm>
            <a:off x="684212" y="588151"/>
            <a:ext cx="11430000" cy="3139321"/>
          </a:xfrm>
          <a:prstGeom prst="rect">
            <a:avLst/>
          </a:prstGeom>
        </p:spPr>
        <p:txBody>
          <a:bodyPr wrap="square">
            <a:spAutoFit/>
          </a:bodyPr>
          <a:lstStyle/>
          <a:p>
            <a:pPr>
              <a:lnSpc>
                <a:spcPct val="150000"/>
              </a:lnSpc>
            </a:pPr>
            <a:r>
              <a:rPr lang="en-US" sz="2200" b="1" dirty="0">
                <a:solidFill>
                  <a:schemeClr val="accent1">
                    <a:lumMod val="60000"/>
                    <a:lumOff val="40000"/>
                  </a:schemeClr>
                </a:solidFill>
                <a:latin typeface="+mn-lt"/>
              </a:rPr>
              <a:t>Analytical framework </a:t>
            </a:r>
            <a:r>
              <a:rPr lang="en-US" sz="2200" dirty="0" smtClean="0">
                <a:latin typeface="+mn-lt"/>
              </a:rPr>
              <a:t>: Combination  </a:t>
            </a:r>
            <a:r>
              <a:rPr lang="en-US" sz="2200" dirty="0">
                <a:latin typeface="+mn-lt"/>
              </a:rPr>
              <a:t>of </a:t>
            </a:r>
            <a:r>
              <a:rPr lang="en-US" sz="2200" dirty="0" smtClean="0">
                <a:latin typeface="+mn-lt"/>
              </a:rPr>
              <a:t>, theoretical </a:t>
            </a:r>
            <a:r>
              <a:rPr lang="en-US" sz="2200" dirty="0">
                <a:latin typeface="+mn-lt"/>
              </a:rPr>
              <a:t>and a conceptual framework</a:t>
            </a:r>
            <a:endParaRPr lang="en-US" sz="2200" dirty="0" smtClean="0">
              <a:latin typeface="+mn-lt"/>
            </a:endParaRPr>
          </a:p>
          <a:p>
            <a:pPr>
              <a:lnSpc>
                <a:spcPct val="150000"/>
              </a:lnSpc>
            </a:pPr>
            <a:r>
              <a:rPr lang="en-US" sz="2200" dirty="0" smtClean="0">
                <a:latin typeface="+mn-lt"/>
              </a:rPr>
              <a:t>This framework is </a:t>
            </a:r>
            <a:r>
              <a:rPr lang="en-US" sz="2200" dirty="0">
                <a:latin typeface="+mn-lt"/>
              </a:rPr>
              <a:t>designed to structure an analyst's thinking, and to help logical thinking in a systematic manner. </a:t>
            </a:r>
            <a:endParaRPr lang="en-US" sz="2200" dirty="0" smtClean="0">
              <a:latin typeface="+mn-lt"/>
            </a:endParaRPr>
          </a:p>
          <a:p>
            <a:pPr>
              <a:lnSpc>
                <a:spcPct val="150000"/>
              </a:lnSpc>
            </a:pPr>
            <a:r>
              <a:rPr lang="en-US" sz="2200" b="1" dirty="0">
                <a:solidFill>
                  <a:srgbClr val="00B0F0"/>
                </a:solidFill>
                <a:latin typeface="+mn-lt"/>
              </a:rPr>
              <a:t>Analytical frameworks are models that help people understand and make sense of information.</a:t>
            </a:r>
          </a:p>
          <a:p>
            <a:pPr>
              <a:lnSpc>
                <a:spcPct val="150000"/>
              </a:lnSpc>
            </a:pPr>
            <a:endParaRPr lang="en-US" sz="2200" dirty="0" smtClean="0">
              <a:solidFill>
                <a:srgbClr val="00B0F0"/>
              </a:solidFill>
              <a:latin typeface="+mn-lt"/>
            </a:endParaRPr>
          </a:p>
          <a:p>
            <a:pPr>
              <a:lnSpc>
                <a:spcPct val="150000"/>
              </a:lnSpc>
            </a:pPr>
            <a:endParaRPr lang="en-US" sz="2200" dirty="0" smtClean="0">
              <a:latin typeface="+mn-lt"/>
            </a:endParaRPr>
          </a:p>
        </p:txBody>
      </p:sp>
      <p:sp>
        <p:nvSpPr>
          <p:cNvPr id="7" name="Rectangle 6"/>
          <p:cNvSpPr/>
          <p:nvPr/>
        </p:nvSpPr>
        <p:spPr>
          <a:xfrm>
            <a:off x="822958" y="2711809"/>
            <a:ext cx="11138853" cy="1055545"/>
          </a:xfrm>
          <a:prstGeom prst="rect">
            <a:avLst/>
          </a:prstGeom>
        </p:spPr>
        <p:txBody>
          <a:bodyPr wrap="square">
            <a:spAutoFit/>
          </a:bodyPr>
          <a:lstStyle/>
          <a:p>
            <a:pPr>
              <a:lnSpc>
                <a:spcPct val="150000"/>
              </a:lnSpc>
            </a:pPr>
            <a:r>
              <a:rPr lang="en-US" sz="2200" dirty="0" smtClean="0">
                <a:latin typeface="+mn-lt"/>
              </a:rPr>
              <a:t>DLT </a:t>
            </a:r>
            <a:r>
              <a:rPr lang="en-US" sz="2200" dirty="0">
                <a:latin typeface="+mn-lt"/>
              </a:rPr>
              <a:t>analytical </a:t>
            </a:r>
            <a:r>
              <a:rPr lang="en-US" sz="2200" dirty="0" smtClean="0">
                <a:latin typeface="+mn-lt"/>
              </a:rPr>
              <a:t>framework </a:t>
            </a:r>
            <a:r>
              <a:rPr lang="en-US" sz="2200" dirty="0">
                <a:latin typeface="+mn-lt"/>
              </a:rPr>
              <a:t>helps central banks and authorities understand DLT-based payment, clearing, and settlement systems by assessing their benefits and risks. </a:t>
            </a:r>
            <a:endParaRPr lang="en-US" sz="2200" dirty="0" smtClean="0">
              <a:latin typeface="+mn-lt"/>
            </a:endParaRPr>
          </a:p>
        </p:txBody>
      </p:sp>
    </p:spTree>
    <p:extLst>
      <p:ext uri="{BB962C8B-B14F-4D97-AF65-F5344CB8AC3E}">
        <p14:creationId xmlns:p14="http://schemas.microsoft.com/office/powerpoint/2010/main" val="2467734933"/>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2665412" y="0"/>
            <a:ext cx="8534400" cy="566822"/>
          </a:xfrm>
          <a:prstGeom prst="rect">
            <a:avLst/>
          </a:prstGeom>
        </p:spPr>
        <p:txBody>
          <a:bodyPr vert="horz" wrap="square" lIns="0" tIns="12700" rIns="0" bIns="0" rtlCol="0">
            <a:spAutoFit/>
          </a:bodyPr>
          <a:lstStyle/>
          <a:p>
            <a:pPr marL="12700" algn="ctr">
              <a:lnSpc>
                <a:spcPct val="100000"/>
              </a:lnSpc>
              <a:spcBef>
                <a:spcPts val="100"/>
              </a:spcBef>
            </a:pPr>
            <a:r>
              <a:rPr lang="en-US" sz="3600" b="1" dirty="0" smtClean="0">
                <a:solidFill>
                  <a:schemeClr val="accent1">
                    <a:lumMod val="60000"/>
                    <a:lumOff val="40000"/>
                  </a:schemeClr>
                </a:solidFill>
                <a:latin typeface="+mn-lt"/>
              </a:rPr>
              <a:t>DLT :  </a:t>
            </a:r>
            <a:r>
              <a:rPr lang="en-US" sz="3200" b="1" dirty="0" smtClean="0">
                <a:solidFill>
                  <a:srgbClr val="FFFF00"/>
                </a:solidFill>
                <a:latin typeface="+mn-lt"/>
              </a:rPr>
              <a:t>Analytical framework</a:t>
            </a:r>
            <a:endParaRPr sz="3200" dirty="0">
              <a:solidFill>
                <a:srgbClr val="FFFF00"/>
              </a:solidFill>
              <a:latin typeface="+mn-lt"/>
              <a:cs typeface="Trebuchet MS"/>
            </a:endParaRPr>
          </a:p>
        </p:txBody>
      </p:sp>
      <p:sp>
        <p:nvSpPr>
          <p:cNvPr id="2" name="Rectangle 1"/>
          <p:cNvSpPr/>
          <p:nvPr/>
        </p:nvSpPr>
        <p:spPr>
          <a:xfrm>
            <a:off x="836612" y="982177"/>
            <a:ext cx="11125200" cy="3693319"/>
          </a:xfrm>
          <a:prstGeom prst="rect">
            <a:avLst/>
          </a:prstGeom>
        </p:spPr>
        <p:txBody>
          <a:bodyPr wrap="square">
            <a:spAutoFit/>
          </a:bodyPr>
          <a:lstStyle/>
          <a:p>
            <a:pPr>
              <a:lnSpc>
                <a:spcPct val="150000"/>
              </a:lnSpc>
            </a:pPr>
            <a:r>
              <a:rPr lang="en-US" b="1" dirty="0">
                <a:solidFill>
                  <a:srgbClr val="FFFF00"/>
                </a:solidFill>
                <a:latin typeface="+mn-lt"/>
              </a:rPr>
              <a:t>F</a:t>
            </a:r>
            <a:r>
              <a:rPr lang="en-US" b="1" dirty="0" smtClean="0">
                <a:solidFill>
                  <a:srgbClr val="FFFF00"/>
                </a:solidFill>
                <a:latin typeface="+mn-lt"/>
              </a:rPr>
              <a:t>ramework based </a:t>
            </a:r>
            <a:r>
              <a:rPr lang="en-US" b="1" dirty="0">
                <a:solidFill>
                  <a:srgbClr val="FFFF00"/>
                </a:solidFill>
                <a:latin typeface="+mn-lt"/>
              </a:rPr>
              <a:t>on four core components</a:t>
            </a:r>
            <a:r>
              <a:rPr lang="en-US" sz="2200" dirty="0">
                <a:latin typeface="+mn-lt"/>
              </a:rPr>
              <a:t>: </a:t>
            </a:r>
            <a:endParaRPr lang="en-US" sz="2200" dirty="0" smtClean="0">
              <a:latin typeface="+mn-lt"/>
            </a:endParaRPr>
          </a:p>
          <a:p>
            <a:pPr>
              <a:lnSpc>
                <a:spcPct val="150000"/>
              </a:lnSpc>
            </a:pPr>
            <a:r>
              <a:rPr lang="en-US" sz="2200" b="1" dirty="0">
                <a:latin typeface="+mn-lt"/>
              </a:rPr>
              <a:t>S</a:t>
            </a:r>
            <a:r>
              <a:rPr lang="en-US" sz="2200" b="1" dirty="0" smtClean="0">
                <a:latin typeface="+mn-lt"/>
              </a:rPr>
              <a:t>cope</a:t>
            </a:r>
            <a:r>
              <a:rPr lang="en-US" sz="2200" dirty="0">
                <a:latin typeface="+mn-lt"/>
              </a:rPr>
              <a:t>: understanding the arrangement </a:t>
            </a:r>
            <a:r>
              <a:rPr lang="en-US" sz="2200" dirty="0" smtClean="0">
                <a:latin typeface="+mn-lt"/>
              </a:rPr>
              <a:t>which </a:t>
            </a:r>
            <a:r>
              <a:rPr lang="en-US" sz="2200" dirty="0">
                <a:latin typeface="+mn-lt"/>
              </a:rPr>
              <a:t>includes </a:t>
            </a:r>
            <a:endParaRPr lang="en-US" sz="2200" dirty="0" smtClean="0">
              <a:latin typeface="+mn-lt"/>
            </a:endParaRPr>
          </a:p>
          <a:p>
            <a:pPr marL="342900" indent="230188">
              <a:lnSpc>
                <a:spcPct val="150000"/>
              </a:lnSpc>
              <a:buFont typeface="Wingdings" pitchFamily="2" charset="2"/>
              <a:buChar char="§"/>
              <a:tabLst>
                <a:tab pos="633413" algn="l"/>
              </a:tabLst>
            </a:pPr>
            <a:r>
              <a:rPr lang="en-US" sz="2200" dirty="0" smtClean="0">
                <a:latin typeface="+mn-lt"/>
              </a:rPr>
              <a:t>Its </a:t>
            </a:r>
            <a:r>
              <a:rPr lang="en-US" sz="2200" dirty="0">
                <a:latin typeface="+mn-lt"/>
              </a:rPr>
              <a:t>functionality and nature of </a:t>
            </a:r>
            <a:r>
              <a:rPr lang="en-US" sz="2200" dirty="0" smtClean="0">
                <a:latin typeface="+mn-lt"/>
              </a:rPr>
              <a:t>service</a:t>
            </a:r>
          </a:p>
          <a:p>
            <a:pPr marL="342900" indent="230188">
              <a:lnSpc>
                <a:spcPct val="150000"/>
              </a:lnSpc>
              <a:buFont typeface="Wingdings" pitchFamily="2" charset="2"/>
              <a:buChar char="§"/>
              <a:tabLst>
                <a:tab pos="633413" algn="l"/>
              </a:tabLst>
            </a:pPr>
            <a:r>
              <a:rPr lang="en-US" sz="2200" dirty="0">
                <a:latin typeface="+mn-lt"/>
              </a:rPr>
              <a:t>F</a:t>
            </a:r>
            <a:r>
              <a:rPr lang="en-US" sz="2200" dirty="0" smtClean="0">
                <a:latin typeface="+mn-lt"/>
              </a:rPr>
              <a:t>actors </a:t>
            </a:r>
            <a:r>
              <a:rPr lang="en-US" sz="2200" dirty="0">
                <a:latin typeface="+mn-lt"/>
              </a:rPr>
              <a:t>for its effective </a:t>
            </a:r>
            <a:r>
              <a:rPr lang="en-US" sz="2200" dirty="0" smtClean="0">
                <a:latin typeface="+mn-lt"/>
              </a:rPr>
              <a:t>implementation</a:t>
            </a:r>
          </a:p>
          <a:p>
            <a:pPr>
              <a:lnSpc>
                <a:spcPct val="150000"/>
              </a:lnSpc>
            </a:pPr>
            <a:r>
              <a:rPr lang="en-US" sz="2200" b="1" dirty="0" smtClean="0">
                <a:latin typeface="+mn-lt"/>
              </a:rPr>
              <a:t>Efficiency</a:t>
            </a:r>
            <a:r>
              <a:rPr lang="en-US" sz="2200" dirty="0">
                <a:latin typeface="+mn-lt"/>
              </a:rPr>
              <a:t>: A</a:t>
            </a:r>
            <a:r>
              <a:rPr lang="en-US" sz="2200" dirty="0" smtClean="0">
                <a:latin typeface="+mn-lt"/>
              </a:rPr>
              <a:t>nalyzing </a:t>
            </a:r>
            <a:r>
              <a:rPr lang="en-US" sz="2200" dirty="0">
                <a:latin typeface="+mn-lt"/>
              </a:rPr>
              <a:t>the arrangement’s implications for efficiency </a:t>
            </a:r>
          </a:p>
          <a:p>
            <a:pPr>
              <a:lnSpc>
                <a:spcPct val="150000"/>
              </a:lnSpc>
            </a:pPr>
            <a:r>
              <a:rPr lang="en-US" sz="2200" b="1" dirty="0" smtClean="0">
                <a:latin typeface="+mn-lt"/>
              </a:rPr>
              <a:t>Safety</a:t>
            </a:r>
            <a:r>
              <a:rPr lang="en-US" sz="2200" dirty="0">
                <a:latin typeface="+mn-lt"/>
              </a:rPr>
              <a:t>: A</a:t>
            </a:r>
            <a:r>
              <a:rPr lang="en-US" sz="2200" dirty="0" smtClean="0">
                <a:latin typeface="+mn-lt"/>
              </a:rPr>
              <a:t>nalyzing </a:t>
            </a:r>
            <a:r>
              <a:rPr lang="en-US" sz="2200" dirty="0">
                <a:latin typeface="+mn-lt"/>
              </a:rPr>
              <a:t>the arrangement’s implications for </a:t>
            </a:r>
            <a:r>
              <a:rPr lang="en-US" sz="2200" dirty="0" smtClean="0">
                <a:latin typeface="+mn-lt"/>
              </a:rPr>
              <a:t>safety</a:t>
            </a:r>
          </a:p>
          <a:p>
            <a:pPr>
              <a:lnSpc>
                <a:spcPct val="150000"/>
              </a:lnSpc>
            </a:pPr>
            <a:r>
              <a:rPr lang="en-US" sz="2200" dirty="0" smtClean="0">
                <a:latin typeface="+mn-lt"/>
              </a:rPr>
              <a:t>B</a:t>
            </a:r>
            <a:r>
              <a:rPr lang="en-US" sz="2200" b="1" dirty="0" smtClean="0">
                <a:latin typeface="+mn-lt"/>
              </a:rPr>
              <a:t>roader </a:t>
            </a:r>
            <a:r>
              <a:rPr lang="en-US" sz="2200" b="1" dirty="0">
                <a:latin typeface="+mn-lt"/>
              </a:rPr>
              <a:t>implications</a:t>
            </a:r>
            <a:r>
              <a:rPr lang="en-US" sz="2200" dirty="0">
                <a:latin typeface="+mn-lt"/>
              </a:rPr>
              <a:t>: A</a:t>
            </a:r>
            <a:r>
              <a:rPr lang="en-US" sz="2200" dirty="0" smtClean="0">
                <a:latin typeface="+mn-lt"/>
              </a:rPr>
              <a:t>nalyzing </a:t>
            </a:r>
            <a:r>
              <a:rPr lang="en-US" sz="2200" dirty="0">
                <a:latin typeface="+mn-lt"/>
              </a:rPr>
              <a:t>the arrangement’s broader financial market implications </a:t>
            </a:r>
            <a:endParaRPr lang="en-IN" sz="2200" dirty="0">
              <a:latin typeface="+mn-lt"/>
            </a:endParaRPr>
          </a:p>
        </p:txBody>
      </p:sp>
    </p:spTree>
    <p:extLst>
      <p:ext uri="{BB962C8B-B14F-4D97-AF65-F5344CB8AC3E}">
        <p14:creationId xmlns:p14="http://schemas.microsoft.com/office/powerpoint/2010/main" val="1928418966"/>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836612" y="0"/>
            <a:ext cx="11154988" cy="412934"/>
          </a:xfrm>
          <a:prstGeom prst="rect">
            <a:avLst/>
          </a:prstGeom>
        </p:spPr>
        <p:txBody>
          <a:bodyPr vert="horz" wrap="square" lIns="0" tIns="12700" rIns="0" bIns="0" rtlCol="0">
            <a:spAutoFit/>
          </a:bodyPr>
          <a:lstStyle/>
          <a:p>
            <a:pPr marL="12700">
              <a:spcBef>
                <a:spcPts val="100"/>
              </a:spcBef>
            </a:pPr>
            <a:r>
              <a:rPr lang="en-US" sz="2600" b="1" dirty="0" smtClean="0">
                <a:solidFill>
                  <a:srgbClr val="FFFF00"/>
                </a:solidFill>
                <a:latin typeface="+mn-lt"/>
              </a:rPr>
              <a:t>Analytical framework - </a:t>
            </a:r>
            <a:r>
              <a:rPr lang="en-US" sz="2200" b="1" dirty="0">
                <a:solidFill>
                  <a:srgbClr val="FFFF00"/>
                </a:solidFill>
                <a:latin typeface="+mn-lt"/>
              </a:rPr>
              <a:t>First component of framework </a:t>
            </a:r>
            <a:r>
              <a:rPr lang="en-US" sz="2200" dirty="0">
                <a:latin typeface="+mn-lt"/>
              </a:rPr>
              <a:t>: Understanding the </a:t>
            </a:r>
            <a:r>
              <a:rPr lang="en-US" sz="2200" dirty="0" smtClean="0">
                <a:latin typeface="+mn-lt"/>
              </a:rPr>
              <a:t>arrangement</a:t>
            </a:r>
            <a:endParaRPr sz="2600" dirty="0">
              <a:solidFill>
                <a:srgbClr val="FFFF00"/>
              </a:solidFill>
              <a:latin typeface="+mn-lt"/>
              <a:cs typeface="Trebuchet MS"/>
            </a:endParaRPr>
          </a:p>
        </p:txBody>
      </p:sp>
      <p:sp>
        <p:nvSpPr>
          <p:cNvPr id="2" name="Rectangle 1"/>
          <p:cNvSpPr/>
          <p:nvPr/>
        </p:nvSpPr>
        <p:spPr>
          <a:xfrm>
            <a:off x="866400" y="271166"/>
            <a:ext cx="11125200" cy="6163226"/>
          </a:xfrm>
          <a:prstGeom prst="rect">
            <a:avLst/>
          </a:prstGeom>
        </p:spPr>
        <p:txBody>
          <a:bodyPr wrap="square">
            <a:spAutoFit/>
          </a:bodyPr>
          <a:lstStyle/>
          <a:p>
            <a:pPr>
              <a:lnSpc>
                <a:spcPct val="150000"/>
              </a:lnSpc>
            </a:pPr>
            <a:r>
              <a:rPr lang="en-US" sz="2300" dirty="0" smtClean="0">
                <a:latin typeface="+mn-lt"/>
              </a:rPr>
              <a:t>What </a:t>
            </a:r>
            <a:r>
              <a:rPr lang="en-US" sz="2300" dirty="0">
                <a:latin typeface="+mn-lt"/>
              </a:rPr>
              <a:t>is the functionality and nature of the arrangement</a:t>
            </a:r>
            <a:r>
              <a:rPr lang="en-US" sz="2300" dirty="0" smtClean="0">
                <a:latin typeface="+mn-lt"/>
              </a:rPr>
              <a:t>?</a:t>
            </a:r>
          </a:p>
          <a:p>
            <a:pPr>
              <a:lnSpc>
                <a:spcPct val="150000"/>
              </a:lnSpc>
            </a:pPr>
            <a:r>
              <a:rPr lang="en-US" sz="2000" dirty="0" smtClean="0">
                <a:latin typeface="+mn-lt"/>
              </a:rPr>
              <a:t>DLT </a:t>
            </a:r>
            <a:r>
              <a:rPr lang="en-US" sz="2000" dirty="0">
                <a:latin typeface="+mn-lt"/>
              </a:rPr>
              <a:t>arrangement typically does one or more of the following:</a:t>
            </a:r>
          </a:p>
          <a:p>
            <a:pPr>
              <a:lnSpc>
                <a:spcPct val="150000"/>
              </a:lnSpc>
            </a:pPr>
            <a:r>
              <a:rPr lang="en-US" sz="2000" b="1" dirty="0">
                <a:solidFill>
                  <a:srgbClr val="FFFF00"/>
                </a:solidFill>
                <a:latin typeface="+mn-lt"/>
              </a:rPr>
              <a:t>Record Keeping: </a:t>
            </a:r>
            <a:endParaRPr lang="en-US" sz="2000" b="1" dirty="0" smtClean="0">
              <a:solidFill>
                <a:srgbClr val="FFFF00"/>
              </a:solidFill>
              <a:latin typeface="+mn-lt"/>
            </a:endParaRPr>
          </a:p>
          <a:p>
            <a:pPr>
              <a:lnSpc>
                <a:spcPct val="150000"/>
              </a:lnSpc>
            </a:pPr>
            <a:r>
              <a:rPr lang="en-US" sz="2000" dirty="0" smtClean="0">
                <a:latin typeface="+mn-lt"/>
              </a:rPr>
              <a:t>It </a:t>
            </a:r>
            <a:r>
              <a:rPr lang="en-US" sz="2000" dirty="0">
                <a:latin typeface="+mn-lt"/>
              </a:rPr>
              <a:t>keeps track of information, like who owns an asset or how much money is in an </a:t>
            </a:r>
            <a:r>
              <a:rPr lang="en-US" sz="2000" dirty="0" smtClean="0">
                <a:latin typeface="+mn-lt"/>
              </a:rPr>
              <a:t>account.</a:t>
            </a:r>
          </a:p>
          <a:p>
            <a:pPr>
              <a:lnSpc>
                <a:spcPct val="150000"/>
              </a:lnSpc>
            </a:pPr>
            <a:r>
              <a:rPr lang="en-US" sz="2000" i="1" dirty="0" smtClean="0">
                <a:solidFill>
                  <a:srgbClr val="FFFF00"/>
                </a:solidFill>
                <a:latin typeface="+mn-lt"/>
              </a:rPr>
              <a:t>Example</a:t>
            </a:r>
            <a:r>
              <a:rPr lang="en-US" sz="2000" dirty="0">
                <a:latin typeface="+mn-lt"/>
              </a:rPr>
              <a:t>: A DLT ledger could record that Alice owns 10 shares of a company.</a:t>
            </a:r>
          </a:p>
          <a:p>
            <a:pPr>
              <a:lnSpc>
                <a:spcPct val="150000"/>
              </a:lnSpc>
            </a:pPr>
            <a:r>
              <a:rPr lang="en-US" sz="2000" b="1" dirty="0">
                <a:solidFill>
                  <a:srgbClr val="FFFF00"/>
                </a:solidFill>
                <a:latin typeface="+mn-lt"/>
              </a:rPr>
              <a:t>Transfer of Assets or Updating Balances</a:t>
            </a:r>
            <a:r>
              <a:rPr lang="en-US" sz="2000" dirty="0">
                <a:latin typeface="+mn-lt"/>
              </a:rPr>
              <a:t>: </a:t>
            </a:r>
            <a:endParaRPr lang="en-US" sz="2000" dirty="0" smtClean="0">
              <a:latin typeface="+mn-lt"/>
            </a:endParaRPr>
          </a:p>
          <a:p>
            <a:pPr>
              <a:lnSpc>
                <a:spcPct val="150000"/>
              </a:lnSpc>
            </a:pPr>
            <a:r>
              <a:rPr lang="en-US" sz="2000" dirty="0" smtClean="0">
                <a:latin typeface="+mn-lt"/>
              </a:rPr>
              <a:t>It </a:t>
            </a:r>
            <a:r>
              <a:rPr lang="en-US" sz="2000" dirty="0">
                <a:latin typeface="+mn-lt"/>
              </a:rPr>
              <a:t>helps move assets (like money or property) from one person to another and updates the balances </a:t>
            </a:r>
            <a:r>
              <a:rPr lang="en-US" sz="2000" dirty="0" smtClean="0">
                <a:latin typeface="+mn-lt"/>
              </a:rPr>
              <a:t>automatically.</a:t>
            </a:r>
          </a:p>
          <a:p>
            <a:pPr>
              <a:lnSpc>
                <a:spcPct val="150000"/>
              </a:lnSpc>
            </a:pPr>
            <a:r>
              <a:rPr lang="en-US" sz="2000" i="1" dirty="0" smtClean="0">
                <a:solidFill>
                  <a:srgbClr val="FFFF00"/>
                </a:solidFill>
                <a:latin typeface="+mn-lt"/>
              </a:rPr>
              <a:t>Example</a:t>
            </a:r>
            <a:r>
              <a:rPr lang="en-US" sz="2000" dirty="0">
                <a:latin typeface="+mn-lt"/>
              </a:rPr>
              <a:t>: If Alice </a:t>
            </a:r>
            <a:r>
              <a:rPr lang="en-US" sz="2000" dirty="0" smtClean="0">
                <a:latin typeface="+mn-lt"/>
              </a:rPr>
              <a:t>has 10 shares and sends </a:t>
            </a:r>
            <a:r>
              <a:rPr lang="en-US" sz="2000" dirty="0">
                <a:latin typeface="+mn-lt"/>
              </a:rPr>
              <a:t>5 shares to Bob, </a:t>
            </a:r>
            <a:r>
              <a:rPr lang="en-US" sz="2000" dirty="0" smtClean="0">
                <a:latin typeface="+mn-lt"/>
              </a:rPr>
              <a:t>ledger </a:t>
            </a:r>
            <a:r>
              <a:rPr lang="en-US" sz="2000" dirty="0">
                <a:latin typeface="+mn-lt"/>
              </a:rPr>
              <a:t>updates to show Alice now has 5 shares and Bob has 5 shares.</a:t>
            </a:r>
          </a:p>
          <a:p>
            <a:pPr>
              <a:lnSpc>
                <a:spcPct val="150000"/>
              </a:lnSpc>
            </a:pPr>
            <a:r>
              <a:rPr lang="en-US" sz="2000" b="1" dirty="0">
                <a:solidFill>
                  <a:srgbClr val="FFFF00"/>
                </a:solidFill>
                <a:latin typeface="+mn-lt"/>
              </a:rPr>
              <a:t>Automation Tools</a:t>
            </a:r>
            <a:r>
              <a:rPr lang="en-US" sz="2000" dirty="0" smtClean="0">
                <a:latin typeface="+mn-lt"/>
              </a:rPr>
              <a:t>:</a:t>
            </a:r>
          </a:p>
          <a:p>
            <a:pPr>
              <a:lnSpc>
                <a:spcPct val="150000"/>
              </a:lnSpc>
            </a:pPr>
            <a:r>
              <a:rPr lang="en-US" sz="2000" dirty="0" smtClean="0">
                <a:latin typeface="+mn-lt"/>
              </a:rPr>
              <a:t>It </a:t>
            </a:r>
            <a:r>
              <a:rPr lang="en-US" sz="2000" dirty="0">
                <a:latin typeface="+mn-lt"/>
              </a:rPr>
              <a:t>uses smart contracts </a:t>
            </a:r>
            <a:r>
              <a:rPr lang="en-US" sz="2000" dirty="0" smtClean="0">
                <a:latin typeface="+mn-lt"/>
              </a:rPr>
              <a:t>to </a:t>
            </a:r>
            <a:r>
              <a:rPr lang="en-US" sz="2000" dirty="0">
                <a:latin typeface="+mn-lt"/>
              </a:rPr>
              <a:t>automate tasks, like releasing payment when certain conditions are </a:t>
            </a:r>
            <a:r>
              <a:rPr lang="en-US" sz="2000" dirty="0" smtClean="0">
                <a:latin typeface="+mn-lt"/>
              </a:rPr>
              <a:t>met.</a:t>
            </a:r>
          </a:p>
          <a:p>
            <a:pPr>
              <a:lnSpc>
                <a:spcPct val="150000"/>
              </a:lnSpc>
            </a:pPr>
            <a:r>
              <a:rPr lang="en-US" sz="2000" i="1" dirty="0" smtClean="0">
                <a:solidFill>
                  <a:srgbClr val="FFFF00"/>
                </a:solidFill>
                <a:latin typeface="+mn-lt"/>
              </a:rPr>
              <a:t>Example</a:t>
            </a:r>
            <a:r>
              <a:rPr lang="en-US" sz="2000" dirty="0">
                <a:solidFill>
                  <a:srgbClr val="FFFF00"/>
                </a:solidFill>
                <a:latin typeface="+mn-lt"/>
              </a:rPr>
              <a:t>: </a:t>
            </a:r>
            <a:r>
              <a:rPr lang="en-US" sz="2000" dirty="0">
                <a:latin typeface="+mn-lt"/>
              </a:rPr>
              <a:t>A smart contract could automatically pay a supplier when goods are delivered</a:t>
            </a:r>
            <a:r>
              <a:rPr lang="en-US" sz="2000" dirty="0" smtClean="0">
                <a:latin typeface="+mn-lt"/>
              </a:rPr>
              <a:t>.</a:t>
            </a:r>
            <a:endParaRPr lang="en-US" dirty="0" smtClean="0">
              <a:latin typeface="+mn-lt"/>
            </a:endParaRPr>
          </a:p>
        </p:txBody>
      </p:sp>
    </p:spTree>
    <p:extLst>
      <p:ext uri="{BB962C8B-B14F-4D97-AF65-F5344CB8AC3E}">
        <p14:creationId xmlns:p14="http://schemas.microsoft.com/office/powerpoint/2010/main" val="1520491369"/>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2665412" y="0"/>
            <a:ext cx="8534400" cy="566822"/>
          </a:xfrm>
          <a:prstGeom prst="rect">
            <a:avLst/>
          </a:prstGeom>
        </p:spPr>
        <p:txBody>
          <a:bodyPr vert="horz" wrap="square" lIns="0" tIns="12700" rIns="0" bIns="0" rtlCol="0">
            <a:spAutoFit/>
          </a:bodyPr>
          <a:lstStyle/>
          <a:p>
            <a:pPr marL="12700" algn="ctr">
              <a:lnSpc>
                <a:spcPct val="100000"/>
              </a:lnSpc>
              <a:spcBef>
                <a:spcPts val="100"/>
              </a:spcBef>
            </a:pPr>
            <a:r>
              <a:rPr lang="en-US" sz="3600" b="1" dirty="0" smtClean="0">
                <a:solidFill>
                  <a:schemeClr val="accent1">
                    <a:lumMod val="60000"/>
                    <a:lumOff val="40000"/>
                  </a:schemeClr>
                </a:solidFill>
                <a:latin typeface="+mn-lt"/>
              </a:rPr>
              <a:t>DLT :  </a:t>
            </a:r>
            <a:r>
              <a:rPr lang="en-US" sz="3200" b="1" dirty="0" smtClean="0">
                <a:solidFill>
                  <a:srgbClr val="FFFF00"/>
                </a:solidFill>
                <a:latin typeface="+mn-lt"/>
              </a:rPr>
              <a:t>Analytical framework</a:t>
            </a:r>
            <a:endParaRPr sz="3200" dirty="0">
              <a:solidFill>
                <a:srgbClr val="FFFF00"/>
              </a:solidFill>
              <a:latin typeface="+mn-lt"/>
              <a:cs typeface="Trebuchet MS"/>
            </a:endParaRPr>
          </a:p>
        </p:txBody>
      </p:sp>
      <p:sp>
        <p:nvSpPr>
          <p:cNvPr id="2" name="Rectangle 1"/>
          <p:cNvSpPr/>
          <p:nvPr/>
        </p:nvSpPr>
        <p:spPr>
          <a:xfrm>
            <a:off x="836612" y="982177"/>
            <a:ext cx="11125200" cy="3993401"/>
          </a:xfrm>
          <a:prstGeom prst="rect">
            <a:avLst/>
          </a:prstGeom>
        </p:spPr>
        <p:txBody>
          <a:bodyPr wrap="square">
            <a:spAutoFit/>
          </a:bodyPr>
          <a:lstStyle/>
          <a:p>
            <a:pPr>
              <a:lnSpc>
                <a:spcPct val="150000"/>
              </a:lnSpc>
            </a:pPr>
            <a:r>
              <a:rPr lang="en-US" b="1" dirty="0" smtClean="0">
                <a:solidFill>
                  <a:srgbClr val="FFFF00"/>
                </a:solidFill>
                <a:latin typeface="+mn-lt"/>
              </a:rPr>
              <a:t>First component of framework </a:t>
            </a:r>
            <a:r>
              <a:rPr lang="en-US" sz="2200" dirty="0" smtClean="0">
                <a:latin typeface="+mn-lt"/>
              </a:rPr>
              <a:t>: </a:t>
            </a:r>
            <a:r>
              <a:rPr lang="en-US" sz="2200" dirty="0"/>
              <a:t>U</a:t>
            </a:r>
            <a:r>
              <a:rPr lang="en-US" sz="2200" dirty="0" smtClean="0"/>
              <a:t>nderstanding </a:t>
            </a:r>
            <a:r>
              <a:rPr lang="en-US" sz="2200" dirty="0"/>
              <a:t>the </a:t>
            </a:r>
            <a:r>
              <a:rPr lang="en-US" sz="2200" dirty="0" smtClean="0"/>
              <a:t>arrangement</a:t>
            </a:r>
          </a:p>
          <a:p>
            <a:pPr>
              <a:lnSpc>
                <a:spcPct val="150000"/>
              </a:lnSpc>
            </a:pPr>
            <a:r>
              <a:rPr lang="en-US" sz="2200" dirty="0">
                <a:latin typeface="+mn-lt"/>
              </a:rPr>
              <a:t>What is the functionality and nature of the arrangement?</a:t>
            </a:r>
            <a:endParaRPr lang="en-US" sz="2200" dirty="0" smtClean="0">
              <a:latin typeface="+mn-lt"/>
            </a:endParaRPr>
          </a:p>
          <a:p>
            <a:pPr>
              <a:lnSpc>
                <a:spcPct val="150000"/>
              </a:lnSpc>
            </a:pPr>
            <a:r>
              <a:rPr lang="en-US" sz="2000" dirty="0" smtClean="0">
                <a:solidFill>
                  <a:srgbClr val="FFFF00"/>
                </a:solidFill>
              </a:rPr>
              <a:t>In </a:t>
            </a:r>
            <a:r>
              <a:rPr lang="en-US" sz="2000" dirty="0">
                <a:solidFill>
                  <a:srgbClr val="FFFF00"/>
                </a:solidFill>
              </a:rPr>
              <a:t>understanding the functionality and nature of the service, </a:t>
            </a:r>
            <a:r>
              <a:rPr lang="en-US" sz="2000" dirty="0" smtClean="0">
                <a:solidFill>
                  <a:srgbClr val="FFFF00"/>
                </a:solidFill>
              </a:rPr>
              <a:t>it is </a:t>
            </a:r>
            <a:r>
              <a:rPr lang="en-US" sz="2000" dirty="0">
                <a:solidFill>
                  <a:srgbClr val="FFFF00"/>
                </a:solidFill>
              </a:rPr>
              <a:t>useful to understand the </a:t>
            </a:r>
            <a:r>
              <a:rPr lang="en-US" sz="2000" dirty="0" smtClean="0">
                <a:solidFill>
                  <a:srgbClr val="FFFF00"/>
                </a:solidFill>
              </a:rPr>
              <a:t>  </a:t>
            </a:r>
          </a:p>
          <a:p>
            <a:pPr marL="457200" indent="-285750">
              <a:lnSpc>
                <a:spcPct val="150000"/>
              </a:lnSpc>
              <a:buFont typeface="+mj-lt"/>
              <a:buAutoNum type="arabicPeriod"/>
            </a:pPr>
            <a:r>
              <a:rPr lang="en-US" sz="2000" dirty="0" smtClean="0">
                <a:solidFill>
                  <a:schemeClr val="accent1">
                    <a:lumMod val="60000"/>
                    <a:lumOff val="40000"/>
                  </a:schemeClr>
                </a:solidFill>
              </a:rPr>
              <a:t>  Improvement </a:t>
            </a:r>
            <a:r>
              <a:rPr lang="en-US" sz="2000" dirty="0">
                <a:solidFill>
                  <a:schemeClr val="accent1">
                    <a:lumMod val="60000"/>
                    <a:lumOff val="40000"/>
                  </a:schemeClr>
                </a:solidFill>
              </a:rPr>
              <a:t>the arrangement is trying to </a:t>
            </a:r>
            <a:r>
              <a:rPr lang="en-US" sz="2000" dirty="0" smtClean="0">
                <a:solidFill>
                  <a:schemeClr val="accent1">
                    <a:lumMod val="60000"/>
                    <a:lumOff val="40000"/>
                  </a:schemeClr>
                </a:solidFill>
              </a:rPr>
              <a:t>effect</a:t>
            </a:r>
          </a:p>
          <a:p>
            <a:pPr marL="631825" indent="-457200">
              <a:lnSpc>
                <a:spcPct val="150000"/>
              </a:lnSpc>
              <a:buFont typeface="+mj-lt"/>
              <a:buAutoNum type="arabicPeriod"/>
            </a:pPr>
            <a:r>
              <a:rPr lang="en-US" sz="2000" dirty="0" smtClean="0">
                <a:solidFill>
                  <a:schemeClr val="accent1">
                    <a:lumMod val="60000"/>
                    <a:lumOff val="40000"/>
                  </a:schemeClr>
                </a:solidFill>
              </a:rPr>
              <a:t>what </a:t>
            </a:r>
            <a:r>
              <a:rPr lang="en-US" sz="2000" dirty="0">
                <a:solidFill>
                  <a:schemeClr val="accent1">
                    <a:lumMod val="60000"/>
                    <a:lumOff val="40000"/>
                  </a:schemeClr>
                </a:solidFill>
              </a:rPr>
              <a:t>part (or parts) of the value chain is </a:t>
            </a:r>
            <a:r>
              <a:rPr lang="en-US" sz="2000" dirty="0" smtClean="0">
                <a:solidFill>
                  <a:schemeClr val="accent1">
                    <a:lumMod val="60000"/>
                    <a:lumOff val="40000"/>
                  </a:schemeClr>
                </a:solidFill>
              </a:rPr>
              <a:t>affected</a:t>
            </a:r>
          </a:p>
          <a:p>
            <a:pPr marL="631825" indent="-457200">
              <a:lnSpc>
                <a:spcPct val="150000"/>
              </a:lnSpc>
              <a:buFont typeface="+mj-lt"/>
              <a:buAutoNum type="arabicPeriod"/>
            </a:pPr>
            <a:r>
              <a:rPr lang="en-US" sz="2000" dirty="0" smtClean="0">
                <a:solidFill>
                  <a:schemeClr val="accent1">
                    <a:lumMod val="60000"/>
                    <a:lumOff val="40000"/>
                  </a:schemeClr>
                </a:solidFill>
              </a:rPr>
              <a:t>how </a:t>
            </a:r>
            <a:r>
              <a:rPr lang="en-US" sz="2000" dirty="0">
                <a:solidFill>
                  <a:schemeClr val="accent1">
                    <a:lumMod val="60000"/>
                    <a:lumOff val="40000"/>
                  </a:schemeClr>
                </a:solidFill>
              </a:rPr>
              <a:t>it is designed and </a:t>
            </a:r>
            <a:endParaRPr lang="en-US" sz="2000" dirty="0" smtClean="0">
              <a:solidFill>
                <a:schemeClr val="accent1">
                  <a:lumMod val="60000"/>
                  <a:lumOff val="40000"/>
                </a:schemeClr>
              </a:solidFill>
            </a:endParaRPr>
          </a:p>
          <a:p>
            <a:pPr marL="631825" indent="-457200">
              <a:lnSpc>
                <a:spcPct val="150000"/>
              </a:lnSpc>
              <a:buFont typeface="+mj-lt"/>
              <a:buAutoNum type="arabicPeriod"/>
            </a:pPr>
            <a:r>
              <a:rPr lang="en-US" sz="2000" dirty="0" smtClean="0">
                <a:solidFill>
                  <a:schemeClr val="accent1">
                    <a:lumMod val="60000"/>
                    <a:lumOff val="40000"/>
                  </a:schemeClr>
                </a:solidFill>
              </a:rPr>
              <a:t>which </a:t>
            </a:r>
            <a:r>
              <a:rPr lang="en-US" sz="2000" dirty="0">
                <a:solidFill>
                  <a:schemeClr val="accent1">
                    <a:lumMod val="60000"/>
                    <a:lumOff val="40000"/>
                  </a:schemeClr>
                </a:solidFill>
              </a:rPr>
              <a:t>participants and users will be impacted by it. </a:t>
            </a:r>
            <a:r>
              <a:rPr lang="en-US" sz="2100" dirty="0" smtClean="0">
                <a:solidFill>
                  <a:schemeClr val="accent1">
                    <a:lumMod val="60000"/>
                    <a:lumOff val="40000"/>
                  </a:schemeClr>
                </a:solidFill>
                <a:latin typeface="+mn-lt"/>
              </a:rPr>
              <a:t> </a:t>
            </a:r>
          </a:p>
          <a:p>
            <a:pPr>
              <a:lnSpc>
                <a:spcPct val="150000"/>
              </a:lnSpc>
            </a:pPr>
            <a:endParaRPr lang="en-US" sz="2200" dirty="0" smtClean="0">
              <a:latin typeface="+mn-lt"/>
            </a:endParaRPr>
          </a:p>
        </p:txBody>
      </p:sp>
    </p:spTree>
    <p:extLst>
      <p:ext uri="{BB962C8B-B14F-4D97-AF65-F5344CB8AC3E}">
        <p14:creationId xmlns:p14="http://schemas.microsoft.com/office/powerpoint/2010/main" val="2434181991"/>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01496" y="-1524"/>
            <a:ext cx="11236516" cy="6740307"/>
          </a:xfrm>
          <a:prstGeom prst="rect">
            <a:avLst/>
          </a:prstGeom>
        </p:spPr>
        <p:txBody>
          <a:bodyPr wrap="square">
            <a:spAutoFit/>
          </a:bodyPr>
          <a:lstStyle/>
          <a:p>
            <a:pPr>
              <a:spcAft>
                <a:spcPts val="1200"/>
              </a:spcAft>
            </a:pPr>
            <a:r>
              <a:rPr lang="en-US" b="1" dirty="0" smtClean="0">
                <a:solidFill>
                  <a:srgbClr val="FFFF00"/>
                </a:solidFill>
                <a:latin typeface="+mn-lt"/>
              </a:rPr>
              <a:t>First component of framework </a:t>
            </a:r>
            <a:r>
              <a:rPr lang="en-US" sz="2200" dirty="0" smtClean="0">
                <a:latin typeface="+mn-lt"/>
              </a:rPr>
              <a:t>: </a:t>
            </a:r>
            <a:r>
              <a:rPr lang="en-US" sz="2200" dirty="0"/>
              <a:t>U</a:t>
            </a:r>
            <a:r>
              <a:rPr lang="en-US" sz="2200" dirty="0" smtClean="0"/>
              <a:t>nderstanding </a:t>
            </a:r>
            <a:r>
              <a:rPr lang="en-US" sz="2200" dirty="0"/>
              <a:t>the </a:t>
            </a:r>
            <a:r>
              <a:rPr lang="en-US" sz="2200" dirty="0" smtClean="0"/>
              <a:t>arrangement</a:t>
            </a:r>
          </a:p>
          <a:p>
            <a:pPr>
              <a:spcAft>
                <a:spcPts val="1200"/>
              </a:spcAft>
            </a:pPr>
            <a:r>
              <a:rPr lang="en-US" sz="2200" dirty="0">
                <a:latin typeface="+mn-lt"/>
              </a:rPr>
              <a:t>What is the functionality and nature of the </a:t>
            </a:r>
            <a:r>
              <a:rPr lang="en-US" sz="2200" dirty="0" smtClean="0">
                <a:latin typeface="+mn-lt"/>
              </a:rPr>
              <a:t>arrangement?</a:t>
            </a:r>
            <a:endParaRPr lang="en-US" sz="2200" dirty="0">
              <a:latin typeface="+mn-lt"/>
            </a:endParaRPr>
          </a:p>
          <a:p>
            <a:pPr>
              <a:spcAft>
                <a:spcPts val="1200"/>
              </a:spcAft>
            </a:pPr>
            <a:r>
              <a:rPr lang="en-US" sz="2800" b="1" dirty="0" smtClean="0">
                <a:solidFill>
                  <a:srgbClr val="FFFF00"/>
                </a:solidFill>
                <a:latin typeface="+mn-lt"/>
              </a:rPr>
              <a:t>1</a:t>
            </a:r>
            <a:r>
              <a:rPr lang="en-US" sz="2200" b="1" dirty="0" smtClean="0">
                <a:solidFill>
                  <a:srgbClr val="FFFF00"/>
                </a:solidFill>
                <a:latin typeface="+mn-lt"/>
              </a:rPr>
              <a:t>. Identifying </a:t>
            </a:r>
            <a:r>
              <a:rPr lang="en-US" sz="2200" b="1" dirty="0">
                <a:solidFill>
                  <a:srgbClr val="FFFF00"/>
                </a:solidFill>
                <a:latin typeface="+mn-lt"/>
              </a:rPr>
              <a:t>problems, inefficiencies or improvements that it is </a:t>
            </a:r>
            <a:r>
              <a:rPr lang="en-US" sz="2200" b="1" dirty="0" smtClean="0">
                <a:solidFill>
                  <a:srgbClr val="FFFF00"/>
                </a:solidFill>
                <a:latin typeface="+mn-lt"/>
              </a:rPr>
              <a:t>addressing</a:t>
            </a:r>
          </a:p>
          <a:p>
            <a:pPr>
              <a:spcAft>
                <a:spcPts val="1200"/>
              </a:spcAft>
            </a:pPr>
            <a:r>
              <a:rPr lang="en-US" sz="2000" dirty="0">
                <a:latin typeface="+mn-lt"/>
              </a:rPr>
              <a:t>DLT system is typically introduced to solve a problem or make an existing process better</a:t>
            </a:r>
            <a:r>
              <a:rPr lang="en-US" sz="2000" dirty="0"/>
              <a:t>. </a:t>
            </a:r>
            <a:endParaRPr lang="en-US" sz="2000" dirty="0" smtClean="0"/>
          </a:p>
          <a:p>
            <a:pPr>
              <a:spcAft>
                <a:spcPts val="1200"/>
              </a:spcAft>
            </a:pPr>
            <a:r>
              <a:rPr lang="en-US" sz="2000" b="1" dirty="0">
                <a:solidFill>
                  <a:schemeClr val="accent1">
                    <a:lumMod val="60000"/>
                    <a:lumOff val="40000"/>
                  </a:schemeClr>
                </a:solidFill>
                <a:latin typeface="+mn-lt"/>
              </a:rPr>
              <a:t>Simplifying Processes</a:t>
            </a:r>
            <a:r>
              <a:rPr lang="en-US" sz="2000" b="1" dirty="0">
                <a:latin typeface="+mn-lt"/>
              </a:rPr>
              <a:t>:</a:t>
            </a:r>
            <a:r>
              <a:rPr lang="en-US" sz="2000" dirty="0">
                <a:latin typeface="+mn-lt"/>
              </a:rPr>
              <a:t> </a:t>
            </a:r>
            <a:endParaRPr lang="en-US" sz="2000" dirty="0" smtClean="0">
              <a:latin typeface="+mn-lt"/>
            </a:endParaRPr>
          </a:p>
          <a:p>
            <a:pPr>
              <a:spcAft>
                <a:spcPts val="1200"/>
              </a:spcAft>
            </a:pPr>
            <a:r>
              <a:rPr lang="en-US" sz="2000" dirty="0" smtClean="0">
                <a:latin typeface="+mn-lt"/>
              </a:rPr>
              <a:t>Instead </a:t>
            </a:r>
            <a:r>
              <a:rPr lang="en-US" sz="2000" dirty="0">
                <a:latin typeface="+mn-lt"/>
              </a:rPr>
              <a:t>of relying on manual paperwork for financial transactions, DLT automates and speeds </a:t>
            </a:r>
            <a:r>
              <a:rPr lang="en-US" sz="2000" dirty="0" smtClean="0">
                <a:latin typeface="+mn-lt"/>
              </a:rPr>
              <a:t>up </a:t>
            </a:r>
            <a:r>
              <a:rPr lang="en-US" sz="2000" dirty="0">
                <a:latin typeface="+mn-lt"/>
              </a:rPr>
              <a:t>process</a:t>
            </a:r>
            <a:r>
              <a:rPr lang="en-US" sz="2000" dirty="0" smtClean="0">
                <a:latin typeface="+mn-lt"/>
              </a:rPr>
              <a:t>.</a:t>
            </a:r>
          </a:p>
          <a:p>
            <a:pPr>
              <a:spcAft>
                <a:spcPts val="1200"/>
              </a:spcAft>
            </a:pPr>
            <a:r>
              <a:rPr lang="en-US" sz="2000" b="1" dirty="0" smtClean="0">
                <a:solidFill>
                  <a:schemeClr val="accent1">
                    <a:lumMod val="60000"/>
                    <a:lumOff val="40000"/>
                  </a:schemeClr>
                </a:solidFill>
                <a:latin typeface="+mn-lt"/>
              </a:rPr>
              <a:t>Improving </a:t>
            </a:r>
            <a:r>
              <a:rPr lang="en-US" sz="2000" b="1" dirty="0">
                <a:solidFill>
                  <a:schemeClr val="accent1">
                    <a:lumMod val="60000"/>
                    <a:lumOff val="40000"/>
                  </a:schemeClr>
                </a:solidFill>
                <a:latin typeface="+mn-lt"/>
              </a:rPr>
              <a:t>Information Flow</a:t>
            </a:r>
            <a:r>
              <a:rPr lang="en-US" sz="2000" b="1" dirty="0">
                <a:latin typeface="+mn-lt"/>
              </a:rPr>
              <a:t>:</a:t>
            </a:r>
            <a:r>
              <a:rPr lang="en-US" sz="2000" dirty="0">
                <a:latin typeface="+mn-lt"/>
              </a:rPr>
              <a:t> Ensuring all relevant parties have access to the same data in real time</a:t>
            </a:r>
            <a:r>
              <a:rPr lang="en-US" sz="2000" dirty="0" smtClean="0">
                <a:latin typeface="+mn-lt"/>
              </a:rPr>
              <a:t>.</a:t>
            </a:r>
          </a:p>
          <a:p>
            <a:pPr>
              <a:spcAft>
                <a:spcPts val="1200"/>
              </a:spcAft>
            </a:pPr>
            <a:r>
              <a:rPr lang="en-US" sz="2000" b="1" dirty="0" smtClean="0">
                <a:solidFill>
                  <a:schemeClr val="accent1">
                    <a:lumMod val="60000"/>
                    <a:lumOff val="40000"/>
                  </a:schemeClr>
                </a:solidFill>
                <a:latin typeface="+mn-lt"/>
              </a:rPr>
              <a:t>Reducing </a:t>
            </a:r>
            <a:r>
              <a:rPr lang="en-US" sz="2000" b="1" dirty="0">
                <a:solidFill>
                  <a:schemeClr val="accent1">
                    <a:lumMod val="60000"/>
                    <a:lumOff val="40000"/>
                  </a:schemeClr>
                </a:solidFill>
                <a:latin typeface="+mn-lt"/>
              </a:rPr>
              <a:t>Costs</a:t>
            </a:r>
            <a:r>
              <a:rPr lang="en-US" sz="2000" b="1" dirty="0">
                <a:latin typeface="+mn-lt"/>
              </a:rPr>
              <a:t>:</a:t>
            </a:r>
            <a:r>
              <a:rPr lang="en-US" sz="2000" dirty="0">
                <a:latin typeface="+mn-lt"/>
              </a:rPr>
              <a:t> </a:t>
            </a:r>
            <a:endParaRPr lang="en-US" sz="2000" dirty="0" smtClean="0">
              <a:latin typeface="+mn-lt"/>
            </a:endParaRPr>
          </a:p>
          <a:p>
            <a:pPr>
              <a:spcAft>
                <a:spcPts val="1200"/>
              </a:spcAft>
            </a:pPr>
            <a:r>
              <a:rPr lang="en-US" sz="2000" dirty="0" smtClean="0">
                <a:latin typeface="+mn-lt"/>
              </a:rPr>
              <a:t>Removing need </a:t>
            </a:r>
            <a:r>
              <a:rPr lang="en-US" sz="2000" dirty="0">
                <a:latin typeface="+mn-lt"/>
              </a:rPr>
              <a:t>for intermediaries (e.g., </a:t>
            </a:r>
            <a:r>
              <a:rPr lang="en-US" sz="2000" dirty="0" smtClean="0">
                <a:latin typeface="+mn-lt"/>
              </a:rPr>
              <a:t>banks/brokers</a:t>
            </a:r>
            <a:r>
              <a:rPr lang="en-US" sz="2000" dirty="0">
                <a:latin typeface="+mn-lt"/>
              </a:rPr>
              <a:t>), thus cutting operational expenses</a:t>
            </a:r>
            <a:r>
              <a:rPr lang="en-US" sz="2000" dirty="0" smtClean="0">
                <a:latin typeface="+mn-lt"/>
              </a:rPr>
              <a:t>.</a:t>
            </a:r>
          </a:p>
          <a:p>
            <a:pPr>
              <a:spcAft>
                <a:spcPts val="1200"/>
              </a:spcAft>
            </a:pPr>
            <a:r>
              <a:rPr lang="en-US" sz="2000" b="1" dirty="0" smtClean="0">
                <a:solidFill>
                  <a:schemeClr val="accent1">
                    <a:lumMod val="60000"/>
                    <a:lumOff val="40000"/>
                  </a:schemeClr>
                </a:solidFill>
                <a:latin typeface="+mn-lt"/>
              </a:rPr>
              <a:t>Enhancing </a:t>
            </a:r>
            <a:r>
              <a:rPr lang="en-US" sz="2000" b="1" dirty="0">
                <a:solidFill>
                  <a:schemeClr val="accent1">
                    <a:lumMod val="60000"/>
                    <a:lumOff val="40000"/>
                  </a:schemeClr>
                </a:solidFill>
                <a:latin typeface="+mn-lt"/>
              </a:rPr>
              <a:t>Financial Inclusion</a:t>
            </a:r>
            <a:r>
              <a:rPr lang="en-US" sz="2000" b="1" dirty="0">
                <a:latin typeface="+mn-lt"/>
              </a:rPr>
              <a:t>:</a:t>
            </a:r>
            <a:r>
              <a:rPr lang="en-US" sz="2000" dirty="0">
                <a:latin typeface="+mn-lt"/>
              </a:rPr>
              <a:t> </a:t>
            </a:r>
            <a:endParaRPr lang="en-US" sz="2000" dirty="0" smtClean="0">
              <a:latin typeface="+mn-lt"/>
            </a:endParaRPr>
          </a:p>
          <a:p>
            <a:pPr>
              <a:spcAft>
                <a:spcPts val="1200"/>
              </a:spcAft>
            </a:pPr>
            <a:r>
              <a:rPr lang="en-US" sz="2000" dirty="0" smtClean="0">
                <a:latin typeface="+mn-lt"/>
              </a:rPr>
              <a:t>Allowing </a:t>
            </a:r>
            <a:r>
              <a:rPr lang="en-US" sz="1800" dirty="0" smtClean="0">
                <a:latin typeface="+mn-lt"/>
              </a:rPr>
              <a:t>people(</a:t>
            </a:r>
            <a:r>
              <a:rPr lang="en-US" sz="1800" dirty="0"/>
              <a:t>especially in remote or underdeveloped </a:t>
            </a:r>
            <a:r>
              <a:rPr lang="en-US" sz="1800" dirty="0" smtClean="0"/>
              <a:t>areas</a:t>
            </a:r>
            <a:r>
              <a:rPr lang="en-US" sz="2000" dirty="0" smtClean="0"/>
              <a:t>) </a:t>
            </a:r>
            <a:r>
              <a:rPr lang="en-US" sz="2000" dirty="0" smtClean="0">
                <a:latin typeface="+mn-lt"/>
              </a:rPr>
              <a:t> </a:t>
            </a:r>
            <a:r>
              <a:rPr lang="en-US" sz="2000" dirty="0">
                <a:latin typeface="+mn-lt"/>
              </a:rPr>
              <a:t>without traditional bank accounts to access financial services using blockchain technology</a:t>
            </a:r>
            <a:r>
              <a:rPr lang="en-US" sz="2000" dirty="0" smtClean="0">
                <a:latin typeface="+mn-lt"/>
              </a:rPr>
              <a:t>.</a:t>
            </a:r>
          </a:p>
          <a:p>
            <a:pPr>
              <a:spcAft>
                <a:spcPts val="1200"/>
              </a:spcAft>
            </a:pPr>
            <a:r>
              <a:rPr lang="en-US" sz="2000" b="1" dirty="0" smtClean="0">
                <a:solidFill>
                  <a:schemeClr val="accent1">
                    <a:lumMod val="60000"/>
                    <a:lumOff val="40000"/>
                  </a:schemeClr>
                </a:solidFill>
                <a:latin typeface="+mn-lt"/>
              </a:rPr>
              <a:t>Increasing </a:t>
            </a:r>
            <a:r>
              <a:rPr lang="en-US" sz="2000" b="1" dirty="0">
                <a:solidFill>
                  <a:schemeClr val="accent1">
                    <a:lumMod val="60000"/>
                    <a:lumOff val="40000"/>
                  </a:schemeClr>
                </a:solidFill>
                <a:latin typeface="+mn-lt"/>
              </a:rPr>
              <a:t>Automation</a:t>
            </a:r>
            <a:r>
              <a:rPr lang="en-US" sz="2000" b="1" dirty="0">
                <a:latin typeface="+mn-lt"/>
              </a:rPr>
              <a:t>:</a:t>
            </a:r>
            <a:r>
              <a:rPr lang="en-US" sz="2000" dirty="0">
                <a:latin typeface="+mn-lt"/>
              </a:rPr>
              <a:t> Reducing human errors and manual intervention with smart contracts</a:t>
            </a:r>
            <a:r>
              <a:rPr lang="en-US" sz="2000" dirty="0"/>
              <a:t>.</a:t>
            </a:r>
            <a:r>
              <a:rPr lang="en-US" sz="2200" dirty="0" smtClean="0">
                <a:latin typeface="+mn-lt"/>
              </a:rPr>
              <a:t> </a:t>
            </a:r>
          </a:p>
          <a:p>
            <a:pPr indent="174625">
              <a:lnSpc>
                <a:spcPct val="150000"/>
              </a:lnSpc>
            </a:pPr>
            <a:endParaRPr lang="en-US" dirty="0" smtClean="0">
              <a:latin typeface="+mn-lt"/>
            </a:endParaRPr>
          </a:p>
        </p:txBody>
      </p:sp>
    </p:spTree>
    <p:extLst>
      <p:ext uri="{BB962C8B-B14F-4D97-AF65-F5344CB8AC3E}">
        <p14:creationId xmlns:p14="http://schemas.microsoft.com/office/powerpoint/2010/main" val="2449692459"/>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01496" y="-1524"/>
            <a:ext cx="11125200" cy="6924973"/>
          </a:xfrm>
          <a:prstGeom prst="rect">
            <a:avLst/>
          </a:prstGeom>
        </p:spPr>
        <p:txBody>
          <a:bodyPr wrap="square">
            <a:spAutoFit/>
          </a:bodyPr>
          <a:lstStyle/>
          <a:p>
            <a:pPr>
              <a:spcAft>
                <a:spcPts val="600"/>
              </a:spcAft>
            </a:pPr>
            <a:r>
              <a:rPr lang="en-US" b="1" dirty="0" smtClean="0">
                <a:solidFill>
                  <a:srgbClr val="FFFF00"/>
                </a:solidFill>
                <a:latin typeface="+mn-lt"/>
              </a:rPr>
              <a:t>First component of framework </a:t>
            </a:r>
            <a:r>
              <a:rPr lang="en-US" sz="2200" dirty="0" smtClean="0">
                <a:latin typeface="+mn-lt"/>
              </a:rPr>
              <a:t>: </a:t>
            </a:r>
            <a:r>
              <a:rPr lang="en-US" sz="2200" dirty="0"/>
              <a:t>U</a:t>
            </a:r>
            <a:r>
              <a:rPr lang="en-US" sz="2200" dirty="0" smtClean="0"/>
              <a:t>nderstanding </a:t>
            </a:r>
            <a:r>
              <a:rPr lang="en-US" sz="2200" dirty="0"/>
              <a:t>the </a:t>
            </a:r>
            <a:r>
              <a:rPr lang="en-US" sz="2200" dirty="0" smtClean="0"/>
              <a:t>arrangement</a:t>
            </a:r>
          </a:p>
          <a:p>
            <a:pPr>
              <a:spcAft>
                <a:spcPts val="600"/>
              </a:spcAft>
            </a:pPr>
            <a:r>
              <a:rPr lang="en-US" sz="2200" dirty="0">
                <a:latin typeface="+mn-lt"/>
              </a:rPr>
              <a:t>What is the functionality and nature of the </a:t>
            </a:r>
            <a:r>
              <a:rPr lang="en-US" sz="2200" dirty="0" smtClean="0">
                <a:latin typeface="+mn-lt"/>
              </a:rPr>
              <a:t>arrangement?</a:t>
            </a:r>
            <a:endParaRPr lang="en-US" sz="2200" dirty="0">
              <a:latin typeface="+mn-lt"/>
            </a:endParaRPr>
          </a:p>
          <a:p>
            <a:pPr>
              <a:spcAft>
                <a:spcPts val="600"/>
              </a:spcAft>
            </a:pPr>
            <a:r>
              <a:rPr lang="en-US" sz="2800" dirty="0" smtClean="0">
                <a:latin typeface="+mn-lt"/>
              </a:rPr>
              <a:t>1</a:t>
            </a:r>
            <a:r>
              <a:rPr lang="en-US" sz="2200" dirty="0" smtClean="0">
                <a:solidFill>
                  <a:schemeClr val="accent1">
                    <a:lumMod val="60000"/>
                    <a:lumOff val="40000"/>
                  </a:schemeClr>
                </a:solidFill>
                <a:latin typeface="+mn-lt"/>
              </a:rPr>
              <a:t>. Identifying </a:t>
            </a:r>
            <a:r>
              <a:rPr lang="en-US" sz="2200" dirty="0">
                <a:solidFill>
                  <a:schemeClr val="accent1">
                    <a:lumMod val="60000"/>
                    <a:lumOff val="40000"/>
                  </a:schemeClr>
                </a:solidFill>
                <a:latin typeface="+mn-lt"/>
              </a:rPr>
              <a:t>problems, inefficiencies or improvements that it is </a:t>
            </a:r>
            <a:r>
              <a:rPr lang="en-US" sz="2200" dirty="0" smtClean="0">
                <a:solidFill>
                  <a:schemeClr val="accent1">
                    <a:lumMod val="60000"/>
                    <a:lumOff val="40000"/>
                  </a:schemeClr>
                </a:solidFill>
                <a:latin typeface="+mn-lt"/>
              </a:rPr>
              <a:t>addressing</a:t>
            </a:r>
          </a:p>
          <a:p>
            <a:pPr>
              <a:spcAft>
                <a:spcPts val="600"/>
              </a:spcAft>
            </a:pPr>
            <a:r>
              <a:rPr lang="en-US" sz="2000" b="1" dirty="0">
                <a:latin typeface="+mn-lt"/>
              </a:rPr>
              <a:t>Short Examples for Each Case</a:t>
            </a:r>
          </a:p>
          <a:p>
            <a:pPr>
              <a:lnSpc>
                <a:spcPct val="150000"/>
              </a:lnSpc>
            </a:pPr>
            <a:r>
              <a:rPr lang="en-US" sz="2000" b="1" dirty="0">
                <a:solidFill>
                  <a:srgbClr val="FFFF00"/>
                </a:solidFill>
                <a:latin typeface="+mn-lt"/>
              </a:rPr>
              <a:t>Simplifying Processes</a:t>
            </a:r>
            <a:r>
              <a:rPr lang="en-US" sz="2000" dirty="0">
                <a:solidFill>
                  <a:srgbClr val="FFFF00"/>
                </a:solidFill>
                <a:latin typeface="+mn-lt"/>
              </a:rPr>
              <a:t> </a:t>
            </a:r>
            <a:r>
              <a:rPr lang="en-US" sz="2000" dirty="0">
                <a:latin typeface="+mn-lt"/>
              </a:rPr>
              <a:t>– </a:t>
            </a:r>
            <a:r>
              <a:rPr lang="en-US" sz="2000" b="1" dirty="0">
                <a:latin typeface="+mn-lt"/>
              </a:rPr>
              <a:t>Blockchain-based property registry</a:t>
            </a:r>
            <a:r>
              <a:rPr lang="en-US" sz="2000" dirty="0">
                <a:latin typeface="+mn-lt"/>
              </a:rPr>
              <a:t> automates real estate transactions, removing manual paperwork and speeding up ownership transfers.</a:t>
            </a:r>
          </a:p>
          <a:p>
            <a:pPr>
              <a:lnSpc>
                <a:spcPct val="150000"/>
              </a:lnSpc>
            </a:pPr>
            <a:r>
              <a:rPr lang="en-US" sz="2000" b="1" dirty="0">
                <a:solidFill>
                  <a:srgbClr val="FFFF00"/>
                </a:solidFill>
                <a:latin typeface="+mn-lt"/>
              </a:rPr>
              <a:t>Improving Information Flow</a:t>
            </a:r>
            <a:r>
              <a:rPr lang="en-US" sz="2000" dirty="0">
                <a:solidFill>
                  <a:srgbClr val="FFFF00"/>
                </a:solidFill>
                <a:latin typeface="+mn-lt"/>
              </a:rPr>
              <a:t> </a:t>
            </a:r>
            <a:r>
              <a:rPr lang="en-US" sz="2000" dirty="0">
                <a:latin typeface="+mn-lt"/>
              </a:rPr>
              <a:t>– </a:t>
            </a:r>
            <a:r>
              <a:rPr lang="en-US" sz="2000" b="1" dirty="0">
                <a:latin typeface="+mn-lt"/>
              </a:rPr>
              <a:t>Blockchain in supply chains</a:t>
            </a:r>
            <a:r>
              <a:rPr lang="en-US" sz="2000" dirty="0">
                <a:latin typeface="+mn-lt"/>
              </a:rPr>
              <a:t> allows real-time tracking of goods, enabling quick recalls and improved transparency.</a:t>
            </a:r>
          </a:p>
          <a:p>
            <a:pPr>
              <a:lnSpc>
                <a:spcPct val="150000"/>
              </a:lnSpc>
            </a:pPr>
            <a:r>
              <a:rPr lang="en-US" sz="2000" b="1" dirty="0">
                <a:solidFill>
                  <a:srgbClr val="FFFF00"/>
                </a:solidFill>
                <a:latin typeface="+mn-lt"/>
              </a:rPr>
              <a:t>Reducing Costs</a:t>
            </a:r>
            <a:r>
              <a:rPr lang="en-US" sz="2000" dirty="0">
                <a:solidFill>
                  <a:srgbClr val="FFFF00"/>
                </a:solidFill>
                <a:latin typeface="+mn-lt"/>
              </a:rPr>
              <a:t> </a:t>
            </a:r>
            <a:r>
              <a:rPr lang="en-US" sz="2000" dirty="0">
                <a:latin typeface="+mn-lt"/>
              </a:rPr>
              <a:t>– </a:t>
            </a:r>
            <a:r>
              <a:rPr lang="en-US" sz="2000" b="1" dirty="0">
                <a:latin typeface="+mn-lt"/>
              </a:rPr>
              <a:t>Crypto-based remittance services (e.g., Ripple/XRP)</a:t>
            </a:r>
            <a:r>
              <a:rPr lang="en-US" sz="2000" dirty="0">
                <a:latin typeface="+mn-lt"/>
              </a:rPr>
              <a:t> enable instant, low-cost international money transfers by eliminating banks and middlemen.</a:t>
            </a:r>
          </a:p>
          <a:p>
            <a:pPr>
              <a:lnSpc>
                <a:spcPct val="150000"/>
              </a:lnSpc>
            </a:pPr>
            <a:r>
              <a:rPr lang="en-US" sz="2000" b="1" dirty="0">
                <a:solidFill>
                  <a:srgbClr val="FFFF00"/>
                </a:solidFill>
                <a:latin typeface="+mn-lt"/>
              </a:rPr>
              <a:t>Enhancing Financial Inclusion</a:t>
            </a:r>
            <a:r>
              <a:rPr lang="en-US" sz="2000" dirty="0">
                <a:solidFill>
                  <a:srgbClr val="FFFF00"/>
                </a:solidFill>
                <a:latin typeface="+mn-lt"/>
              </a:rPr>
              <a:t> </a:t>
            </a:r>
            <a:r>
              <a:rPr lang="en-US" sz="2000" dirty="0">
                <a:latin typeface="+mn-lt"/>
              </a:rPr>
              <a:t>– </a:t>
            </a:r>
            <a:r>
              <a:rPr lang="en-US" sz="2000" b="1" dirty="0">
                <a:latin typeface="+mn-lt"/>
              </a:rPr>
              <a:t>Decentralized finance (</a:t>
            </a:r>
            <a:r>
              <a:rPr lang="en-US" sz="2000" b="1" dirty="0" err="1">
                <a:latin typeface="+mn-lt"/>
              </a:rPr>
              <a:t>DeFi</a:t>
            </a:r>
            <a:r>
              <a:rPr lang="en-US" sz="2000" b="1" dirty="0">
                <a:latin typeface="+mn-lt"/>
              </a:rPr>
              <a:t>) platforms</a:t>
            </a:r>
            <a:r>
              <a:rPr lang="en-US" sz="2000" dirty="0">
                <a:latin typeface="+mn-lt"/>
              </a:rPr>
              <a:t> </a:t>
            </a:r>
            <a:r>
              <a:rPr lang="en-US" sz="2000" dirty="0" smtClean="0">
                <a:latin typeface="+mn-lt"/>
              </a:rPr>
              <a:t> </a:t>
            </a:r>
            <a:r>
              <a:rPr lang="en-US" sz="2000" dirty="0">
                <a:latin typeface="+mn-lt"/>
              </a:rPr>
              <a:t>allow users to </a:t>
            </a:r>
            <a:r>
              <a:rPr lang="en-US" sz="2000" dirty="0" smtClean="0">
                <a:latin typeface="+mn-lt"/>
              </a:rPr>
              <a:t>store, send , and receive  </a:t>
            </a:r>
            <a:r>
              <a:rPr lang="en-US" sz="2000" dirty="0">
                <a:latin typeface="+mn-lt"/>
              </a:rPr>
              <a:t>digital assets using a mobile phone and a blockchain wallet, providing </a:t>
            </a:r>
            <a:r>
              <a:rPr lang="en-US" sz="2000" b="1" dirty="0">
                <a:latin typeface="+mn-lt"/>
              </a:rPr>
              <a:t>financial access without needing a traditional bank account</a:t>
            </a:r>
            <a:r>
              <a:rPr lang="en-US" sz="2000" dirty="0" smtClean="0"/>
              <a:t>.</a:t>
            </a:r>
            <a:endParaRPr lang="en-US" sz="2000" dirty="0">
              <a:latin typeface="+mn-lt"/>
            </a:endParaRPr>
          </a:p>
          <a:p>
            <a:pPr>
              <a:lnSpc>
                <a:spcPct val="150000"/>
              </a:lnSpc>
            </a:pPr>
            <a:r>
              <a:rPr lang="en-US" sz="2000" b="1" dirty="0">
                <a:solidFill>
                  <a:srgbClr val="FFFF00"/>
                </a:solidFill>
                <a:latin typeface="+mn-lt"/>
              </a:rPr>
              <a:t>Increasing Automation</a:t>
            </a:r>
            <a:r>
              <a:rPr lang="en-US" sz="2000" dirty="0">
                <a:solidFill>
                  <a:srgbClr val="FFFF00"/>
                </a:solidFill>
                <a:latin typeface="+mn-lt"/>
              </a:rPr>
              <a:t> </a:t>
            </a:r>
            <a:r>
              <a:rPr lang="en-US" sz="2000" dirty="0">
                <a:latin typeface="+mn-lt"/>
              </a:rPr>
              <a:t>– </a:t>
            </a:r>
            <a:r>
              <a:rPr lang="en-US" sz="2000" b="1" dirty="0">
                <a:latin typeface="+mn-lt"/>
              </a:rPr>
              <a:t>Smart contracts in insurance</a:t>
            </a:r>
            <a:r>
              <a:rPr lang="en-US" sz="2000" dirty="0">
                <a:latin typeface="+mn-lt"/>
              </a:rPr>
              <a:t> automatically process claims (e.g., flight delay compensation) based on real-time data, reducing manual </a:t>
            </a:r>
            <a:r>
              <a:rPr lang="en-US" sz="2000" dirty="0" smtClean="0">
                <a:latin typeface="+mn-lt"/>
              </a:rPr>
              <a:t>verification</a:t>
            </a:r>
            <a:endParaRPr lang="en-US" dirty="0" smtClean="0">
              <a:latin typeface="+mn-lt"/>
            </a:endParaRPr>
          </a:p>
        </p:txBody>
      </p:sp>
    </p:spTree>
    <p:extLst>
      <p:ext uri="{BB962C8B-B14F-4D97-AF65-F5344CB8AC3E}">
        <p14:creationId xmlns:p14="http://schemas.microsoft.com/office/powerpoint/2010/main" val="76106023"/>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55096"/>
            <a:ext cx="11125200" cy="6347892"/>
          </a:xfrm>
          <a:prstGeom prst="rect">
            <a:avLst/>
          </a:prstGeom>
        </p:spPr>
        <p:txBody>
          <a:bodyPr wrap="square">
            <a:spAutoFit/>
          </a:bodyPr>
          <a:lstStyle/>
          <a:p>
            <a:pPr>
              <a:lnSpc>
                <a:spcPct val="150000"/>
              </a:lnSpc>
            </a:pPr>
            <a:r>
              <a:rPr lang="en-US" b="1" dirty="0" smtClean="0">
                <a:solidFill>
                  <a:srgbClr val="FFFF00"/>
                </a:solidFill>
                <a:latin typeface="+mn-lt"/>
              </a:rPr>
              <a:t>First component of framework </a:t>
            </a:r>
            <a:r>
              <a:rPr lang="en-US" sz="2200" dirty="0" smtClean="0">
                <a:latin typeface="+mn-lt"/>
              </a:rPr>
              <a:t>: </a:t>
            </a:r>
            <a:r>
              <a:rPr lang="en-US" sz="2200" dirty="0"/>
              <a:t>U</a:t>
            </a:r>
            <a:r>
              <a:rPr lang="en-US" sz="2200" dirty="0" smtClean="0"/>
              <a:t>nderstanding </a:t>
            </a:r>
            <a:r>
              <a:rPr lang="en-US" sz="2200" dirty="0"/>
              <a:t>the </a:t>
            </a:r>
            <a:r>
              <a:rPr lang="en-US" sz="2200" dirty="0" smtClean="0"/>
              <a:t>arrangement</a:t>
            </a:r>
          </a:p>
          <a:p>
            <a:pPr>
              <a:lnSpc>
                <a:spcPct val="150000"/>
              </a:lnSpc>
            </a:pPr>
            <a:r>
              <a:rPr lang="en-US" dirty="0">
                <a:latin typeface="+mn-lt"/>
              </a:rPr>
              <a:t>What is the functionality and nature of the </a:t>
            </a:r>
            <a:r>
              <a:rPr lang="en-US" dirty="0" smtClean="0">
                <a:latin typeface="+mn-lt"/>
              </a:rPr>
              <a:t>arrangement?</a:t>
            </a:r>
          </a:p>
          <a:p>
            <a:pPr>
              <a:lnSpc>
                <a:spcPct val="150000"/>
              </a:lnSpc>
            </a:pPr>
            <a:r>
              <a:rPr lang="en-US" sz="2300" dirty="0" smtClean="0">
                <a:latin typeface="+mn-lt"/>
              </a:rPr>
              <a:t>2</a:t>
            </a:r>
            <a:r>
              <a:rPr lang="en-US" sz="2300" b="1" dirty="0" smtClean="0">
                <a:solidFill>
                  <a:srgbClr val="FFFF00"/>
                </a:solidFill>
                <a:latin typeface="+mn-lt"/>
              </a:rPr>
              <a:t>. Identifying </a:t>
            </a:r>
            <a:r>
              <a:rPr lang="en-US" sz="2300" b="1" dirty="0">
                <a:solidFill>
                  <a:srgbClr val="FFFF00"/>
                </a:solidFill>
                <a:latin typeface="+mn-lt"/>
              </a:rPr>
              <a:t>the affected part or parts of the value </a:t>
            </a:r>
            <a:r>
              <a:rPr lang="en-US" sz="2300" b="1" dirty="0" smtClean="0">
                <a:solidFill>
                  <a:srgbClr val="FFFF00"/>
                </a:solidFill>
                <a:latin typeface="+mn-lt"/>
              </a:rPr>
              <a:t>chain</a:t>
            </a:r>
          </a:p>
          <a:p>
            <a:pPr>
              <a:lnSpc>
                <a:spcPct val="150000"/>
              </a:lnSpc>
            </a:pPr>
            <a:r>
              <a:rPr lang="en-US" sz="2000" dirty="0" smtClean="0">
                <a:latin typeface="+mn-lt"/>
              </a:rPr>
              <a:t>Impact </a:t>
            </a:r>
            <a:r>
              <a:rPr lang="en-US" sz="2000" dirty="0">
                <a:latin typeface="+mn-lt"/>
              </a:rPr>
              <a:t>of an arrangement on </a:t>
            </a:r>
            <a:r>
              <a:rPr lang="en-US" sz="2000" dirty="0" smtClean="0">
                <a:latin typeface="+mn-lt"/>
              </a:rPr>
              <a:t>value chain("</a:t>
            </a:r>
            <a:r>
              <a:rPr lang="en-US" sz="2000" dirty="0">
                <a:latin typeface="+mn-lt"/>
              </a:rPr>
              <a:t>journey" a product or service takes from start to finish, with each step adding value to meet customer needs</a:t>
            </a:r>
            <a:r>
              <a:rPr lang="en-US" sz="2000" dirty="0" smtClean="0"/>
              <a:t>.) </a:t>
            </a:r>
            <a:r>
              <a:rPr lang="en-US" sz="2000" dirty="0" smtClean="0">
                <a:latin typeface="+mn-lt"/>
              </a:rPr>
              <a:t> </a:t>
            </a:r>
            <a:r>
              <a:rPr lang="en-US" sz="2000" dirty="0">
                <a:latin typeface="+mn-lt"/>
              </a:rPr>
              <a:t>depends on which part is affected </a:t>
            </a:r>
            <a:r>
              <a:rPr lang="en-US" sz="2000" dirty="0" smtClean="0">
                <a:latin typeface="+mn-lt"/>
              </a:rPr>
              <a:t>and </a:t>
            </a:r>
            <a:r>
              <a:rPr lang="en-US" sz="2000" dirty="0">
                <a:latin typeface="+mn-lt"/>
              </a:rPr>
              <a:t>whether it introduces disruptive or incremental </a:t>
            </a:r>
            <a:r>
              <a:rPr lang="en-US" sz="2000" dirty="0" smtClean="0">
                <a:latin typeface="+mn-lt"/>
              </a:rPr>
              <a:t>innovation</a:t>
            </a:r>
          </a:p>
          <a:p>
            <a:pPr>
              <a:lnSpc>
                <a:spcPct val="150000"/>
              </a:lnSpc>
            </a:pPr>
            <a:r>
              <a:rPr lang="en-US" sz="2000" b="1" dirty="0">
                <a:solidFill>
                  <a:srgbClr val="FFFF00"/>
                </a:solidFill>
                <a:latin typeface="+mn-lt"/>
              </a:rPr>
              <a:t>The value chain can be </a:t>
            </a:r>
            <a:r>
              <a:rPr lang="en-US" sz="2000" b="1" dirty="0" smtClean="0">
                <a:solidFill>
                  <a:srgbClr val="FFFF00"/>
                </a:solidFill>
                <a:latin typeface="+mn-lt"/>
              </a:rPr>
              <a:t>categorized </a:t>
            </a:r>
            <a:r>
              <a:rPr lang="en-US" sz="2000" b="1" dirty="0">
                <a:solidFill>
                  <a:srgbClr val="FFFF00"/>
                </a:solidFill>
                <a:latin typeface="+mn-lt"/>
              </a:rPr>
              <a:t>in a number of ways, including</a:t>
            </a:r>
            <a:r>
              <a:rPr lang="en-US" sz="2000" b="1" dirty="0" smtClean="0">
                <a:solidFill>
                  <a:srgbClr val="FFFF00"/>
                </a:solidFill>
                <a:latin typeface="+mn-lt"/>
              </a:rPr>
              <a:t>:</a:t>
            </a:r>
          </a:p>
          <a:p>
            <a:pPr marL="342900" indent="-342900">
              <a:lnSpc>
                <a:spcPct val="150000"/>
              </a:lnSpc>
              <a:buFont typeface="Wingdings" pitchFamily="2" charset="2"/>
              <a:buChar char="§"/>
            </a:pPr>
            <a:r>
              <a:rPr lang="en-US" sz="2000" dirty="0"/>
              <a:t>Customer identification</a:t>
            </a:r>
          </a:p>
          <a:p>
            <a:pPr marL="342900" indent="-342900">
              <a:lnSpc>
                <a:spcPct val="150000"/>
              </a:lnSpc>
              <a:buFont typeface="Wingdings" pitchFamily="2" charset="2"/>
              <a:buChar char="§"/>
            </a:pPr>
            <a:r>
              <a:rPr lang="en-US" sz="2000" dirty="0"/>
              <a:t>Pre-transaction</a:t>
            </a:r>
          </a:p>
          <a:p>
            <a:pPr marL="342900" indent="-342900">
              <a:lnSpc>
                <a:spcPct val="150000"/>
              </a:lnSpc>
              <a:buFont typeface="Wingdings" pitchFamily="2" charset="2"/>
              <a:buChar char="§"/>
            </a:pPr>
            <a:r>
              <a:rPr lang="en-US" sz="2000" dirty="0"/>
              <a:t>Clearing</a:t>
            </a:r>
          </a:p>
          <a:p>
            <a:pPr marL="342900" indent="-342900">
              <a:lnSpc>
                <a:spcPct val="150000"/>
              </a:lnSpc>
              <a:buFont typeface="Wingdings" pitchFamily="2" charset="2"/>
              <a:buChar char="§"/>
            </a:pPr>
            <a:r>
              <a:rPr lang="en-US" sz="2000" dirty="0"/>
              <a:t>Settlement </a:t>
            </a:r>
          </a:p>
          <a:p>
            <a:pPr marL="342900" indent="-342900">
              <a:lnSpc>
                <a:spcPct val="150000"/>
              </a:lnSpc>
              <a:buFont typeface="Wingdings" pitchFamily="2" charset="2"/>
              <a:buChar char="§"/>
            </a:pPr>
            <a:r>
              <a:rPr lang="en-US" sz="2000" dirty="0"/>
              <a:t>Post-settlement </a:t>
            </a:r>
            <a:endParaRPr lang="en-US" sz="2000" dirty="0" smtClean="0"/>
          </a:p>
          <a:p>
            <a:pPr>
              <a:lnSpc>
                <a:spcPct val="150000"/>
              </a:lnSpc>
            </a:pPr>
            <a:r>
              <a:rPr lang="en-US" sz="2000" dirty="0" smtClean="0">
                <a:latin typeface="+mn-lt"/>
              </a:rPr>
              <a:t>Now explore each one by one --</a:t>
            </a:r>
          </a:p>
        </p:txBody>
      </p:sp>
    </p:spTree>
    <p:extLst>
      <p:ext uri="{BB962C8B-B14F-4D97-AF65-F5344CB8AC3E}">
        <p14:creationId xmlns:p14="http://schemas.microsoft.com/office/powerpoint/2010/main" val="4107230580"/>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55096"/>
            <a:ext cx="11125200" cy="5539978"/>
          </a:xfrm>
          <a:prstGeom prst="rect">
            <a:avLst/>
          </a:prstGeom>
        </p:spPr>
        <p:txBody>
          <a:bodyPr wrap="square">
            <a:spAutoFit/>
          </a:bodyPr>
          <a:lstStyle/>
          <a:p>
            <a:pPr>
              <a:spcAft>
                <a:spcPts val="600"/>
              </a:spcAft>
            </a:pPr>
            <a:r>
              <a:rPr lang="en-US" sz="2300" b="1" dirty="0" smtClean="0">
                <a:solidFill>
                  <a:srgbClr val="FFFF00"/>
                </a:solidFill>
                <a:latin typeface="+mn-lt"/>
              </a:rPr>
              <a:t>First component of framework </a:t>
            </a:r>
            <a:r>
              <a:rPr lang="en-US" sz="2300" dirty="0" smtClean="0">
                <a:latin typeface="+mn-lt"/>
              </a:rPr>
              <a:t>: </a:t>
            </a:r>
            <a:r>
              <a:rPr lang="en-US" sz="2300" dirty="0">
                <a:latin typeface="+mn-lt"/>
              </a:rPr>
              <a:t>U</a:t>
            </a:r>
            <a:r>
              <a:rPr lang="en-US" sz="2300" dirty="0" smtClean="0">
                <a:latin typeface="+mn-lt"/>
              </a:rPr>
              <a:t>nderstanding </a:t>
            </a:r>
            <a:r>
              <a:rPr lang="en-US" sz="2300" dirty="0">
                <a:latin typeface="+mn-lt"/>
              </a:rPr>
              <a:t>the </a:t>
            </a:r>
            <a:r>
              <a:rPr lang="en-US" sz="2300" dirty="0" smtClean="0">
                <a:latin typeface="+mn-lt"/>
              </a:rPr>
              <a:t>arrangement</a:t>
            </a:r>
          </a:p>
          <a:p>
            <a:pPr>
              <a:spcAft>
                <a:spcPts val="600"/>
              </a:spcAft>
            </a:pPr>
            <a:r>
              <a:rPr lang="en-US" sz="2300" dirty="0">
                <a:latin typeface="+mn-lt"/>
              </a:rPr>
              <a:t>What is the functionality and nature of the </a:t>
            </a:r>
            <a:r>
              <a:rPr lang="en-US" sz="2300" dirty="0" smtClean="0">
                <a:latin typeface="+mn-lt"/>
              </a:rPr>
              <a:t>arrangement?</a:t>
            </a:r>
          </a:p>
          <a:p>
            <a:pPr>
              <a:spcAft>
                <a:spcPts val="600"/>
              </a:spcAft>
            </a:pPr>
            <a:r>
              <a:rPr lang="en-US" sz="2300" dirty="0" smtClean="0">
                <a:latin typeface="+mn-lt"/>
              </a:rPr>
              <a:t>2. </a:t>
            </a:r>
            <a:r>
              <a:rPr lang="en-US" sz="2300" b="1" dirty="0" smtClean="0">
                <a:solidFill>
                  <a:srgbClr val="FFFF00"/>
                </a:solidFill>
                <a:latin typeface="+mn-lt"/>
              </a:rPr>
              <a:t>Identifying </a:t>
            </a:r>
            <a:r>
              <a:rPr lang="en-US" sz="2300" b="1" dirty="0">
                <a:solidFill>
                  <a:srgbClr val="FFFF00"/>
                </a:solidFill>
                <a:latin typeface="+mn-lt"/>
              </a:rPr>
              <a:t>the affected part or parts of the value </a:t>
            </a:r>
            <a:r>
              <a:rPr lang="en-US" sz="2300" b="1" dirty="0" smtClean="0">
                <a:solidFill>
                  <a:srgbClr val="FFFF00"/>
                </a:solidFill>
                <a:latin typeface="+mn-lt"/>
              </a:rPr>
              <a:t>chain</a:t>
            </a:r>
          </a:p>
          <a:p>
            <a:pPr>
              <a:lnSpc>
                <a:spcPct val="150000"/>
              </a:lnSpc>
            </a:pPr>
            <a:r>
              <a:rPr lang="en-US" sz="2000" b="1" dirty="0">
                <a:solidFill>
                  <a:srgbClr val="FFFF00"/>
                </a:solidFill>
                <a:latin typeface="+mn-lt"/>
              </a:rPr>
              <a:t>Customer Identification </a:t>
            </a:r>
            <a:r>
              <a:rPr lang="en-US" sz="2000" dirty="0">
                <a:latin typeface="+mn-lt"/>
              </a:rPr>
              <a:t>– Verifying user identity, ensuring compliance with laws like Know Your Customer (KYC) and Anti-Money Laundering (AML) regulations</a:t>
            </a:r>
            <a:r>
              <a:rPr lang="en-US" sz="2000" dirty="0" smtClean="0">
                <a:latin typeface="+mn-lt"/>
              </a:rPr>
              <a:t>.</a:t>
            </a:r>
          </a:p>
          <a:p>
            <a:pPr>
              <a:lnSpc>
                <a:spcPct val="150000"/>
              </a:lnSpc>
            </a:pPr>
            <a:r>
              <a:rPr lang="en-US" sz="2000" b="1" dirty="0">
                <a:solidFill>
                  <a:srgbClr val="FFFF00"/>
                </a:solidFill>
                <a:latin typeface="+mn-lt"/>
              </a:rPr>
              <a:t>Pre-Transaction:</a:t>
            </a:r>
            <a:r>
              <a:rPr lang="en-US" sz="2000" dirty="0">
                <a:latin typeface="+mn-lt"/>
              </a:rPr>
              <a:t> This </a:t>
            </a:r>
            <a:r>
              <a:rPr lang="en-US" sz="2000" dirty="0" smtClean="0">
                <a:latin typeface="+mn-lt"/>
              </a:rPr>
              <a:t>includes </a:t>
            </a:r>
            <a:r>
              <a:rPr lang="en-US" sz="2000" dirty="0">
                <a:latin typeface="+mn-lt"/>
              </a:rPr>
              <a:t>creating, validating, and sending payment instructions or other obligations. It also involves checking asset holdings and preparing data for clearing and settlement</a:t>
            </a:r>
            <a:r>
              <a:rPr lang="en-US" sz="2000" dirty="0" smtClean="0"/>
              <a:t>.</a:t>
            </a:r>
          </a:p>
          <a:p>
            <a:pPr>
              <a:lnSpc>
                <a:spcPct val="150000"/>
              </a:lnSpc>
            </a:pPr>
            <a:r>
              <a:rPr lang="en-US" sz="2000" b="1" dirty="0">
                <a:solidFill>
                  <a:srgbClr val="FFFF00"/>
                </a:solidFill>
                <a:latin typeface="+mn-lt"/>
              </a:rPr>
              <a:t>Clearing</a:t>
            </a:r>
            <a:r>
              <a:rPr lang="en-US" sz="2000" dirty="0">
                <a:latin typeface="+mn-lt"/>
              </a:rPr>
              <a:t>: This involves confirming, reconciling, and sometimes netting transactions to determine final positions for settlement</a:t>
            </a:r>
            <a:r>
              <a:rPr lang="en-US" sz="2000" dirty="0" smtClean="0">
                <a:latin typeface="+mn-lt"/>
              </a:rPr>
              <a:t>.</a:t>
            </a:r>
          </a:p>
          <a:p>
            <a:pPr>
              <a:lnSpc>
                <a:spcPct val="150000"/>
              </a:lnSpc>
            </a:pPr>
            <a:r>
              <a:rPr lang="en-US" sz="2000" b="1" dirty="0">
                <a:solidFill>
                  <a:srgbClr val="FFFF00"/>
                </a:solidFill>
                <a:latin typeface="+mn-lt"/>
              </a:rPr>
              <a:t>Settlement</a:t>
            </a:r>
            <a:r>
              <a:rPr lang="en-US" sz="2000" dirty="0">
                <a:solidFill>
                  <a:srgbClr val="FFFF00"/>
                </a:solidFill>
                <a:latin typeface="+mn-lt"/>
              </a:rPr>
              <a:t> </a:t>
            </a:r>
            <a:r>
              <a:rPr lang="en-US" sz="2000" dirty="0">
                <a:latin typeface="+mn-lt"/>
              </a:rPr>
              <a:t>– Transferring money or assets to complete a transaction based on agreed terms</a:t>
            </a:r>
            <a:r>
              <a:rPr lang="en-US" sz="2000" dirty="0" smtClean="0"/>
              <a:t>.</a:t>
            </a:r>
          </a:p>
          <a:p>
            <a:pPr>
              <a:lnSpc>
                <a:spcPct val="150000"/>
              </a:lnSpc>
            </a:pPr>
            <a:r>
              <a:rPr lang="en-US" sz="2000" b="1" dirty="0">
                <a:solidFill>
                  <a:srgbClr val="FFFF00"/>
                </a:solidFill>
                <a:latin typeface="+mn-lt"/>
              </a:rPr>
              <a:t>Post-Settlement</a:t>
            </a:r>
            <a:r>
              <a:rPr lang="en-US" sz="2000" dirty="0">
                <a:solidFill>
                  <a:srgbClr val="FFFF00"/>
                </a:solidFill>
                <a:latin typeface="+mn-lt"/>
              </a:rPr>
              <a:t>: </a:t>
            </a:r>
            <a:r>
              <a:rPr lang="en-US" sz="2000" dirty="0">
                <a:latin typeface="+mn-lt"/>
              </a:rPr>
              <a:t>This includes activities like reconciliation, reporting, asset servicing (e.g., handling interest payments), and enforcing contract terms (e.g., through smart contracts</a:t>
            </a:r>
            <a:r>
              <a:rPr lang="en-US" sz="2000" dirty="0" smtClean="0">
                <a:latin typeface="+mn-lt"/>
              </a:rPr>
              <a:t>).</a:t>
            </a:r>
            <a:endParaRPr lang="en-US" sz="2300" dirty="0" smtClean="0">
              <a:latin typeface="+mn-lt"/>
            </a:endParaRPr>
          </a:p>
        </p:txBody>
      </p:sp>
      <p:sp>
        <p:nvSpPr>
          <p:cNvPr id="3" name="Rectangle 2"/>
          <p:cNvSpPr/>
          <p:nvPr/>
        </p:nvSpPr>
        <p:spPr>
          <a:xfrm>
            <a:off x="73024" y="5524813"/>
            <a:ext cx="12039600" cy="1015663"/>
          </a:xfrm>
          <a:prstGeom prst="rect">
            <a:avLst/>
          </a:prstGeom>
        </p:spPr>
        <p:txBody>
          <a:bodyPr wrap="square">
            <a:spAutoFit/>
          </a:bodyPr>
          <a:lstStyle/>
          <a:p>
            <a:pPr>
              <a:spcAft>
                <a:spcPts val="1200"/>
              </a:spcAft>
            </a:pPr>
            <a:r>
              <a:rPr lang="en-US" sz="2000" dirty="0">
                <a:latin typeface="+mn-lt"/>
              </a:rPr>
              <a:t>Some arrangements may only affect one or two steps. For example, </a:t>
            </a:r>
            <a:r>
              <a:rPr lang="en-US" sz="2000" dirty="0" smtClean="0">
                <a:latin typeface="+mn-lt"/>
              </a:rPr>
              <a:t>certain DLT </a:t>
            </a:r>
            <a:r>
              <a:rPr lang="en-US" sz="2000" dirty="0">
                <a:latin typeface="+mn-lt"/>
              </a:rPr>
              <a:t>systems focus on improving clearing by sharing information more efficiently but don’t handle settlement. Others may transform </a:t>
            </a:r>
            <a:r>
              <a:rPr lang="en-US" sz="2000" dirty="0" smtClean="0">
                <a:latin typeface="+mn-lt"/>
              </a:rPr>
              <a:t>entire </a:t>
            </a:r>
            <a:r>
              <a:rPr lang="en-US" sz="2000" dirty="0">
                <a:latin typeface="+mn-lt"/>
              </a:rPr>
              <a:t>process, enabling not just information exchange but also </a:t>
            </a:r>
            <a:r>
              <a:rPr lang="en-US" sz="2000" dirty="0" smtClean="0">
                <a:latin typeface="+mn-lt"/>
              </a:rPr>
              <a:t>transfer </a:t>
            </a:r>
            <a:r>
              <a:rPr lang="en-US" sz="2000" dirty="0">
                <a:latin typeface="+mn-lt"/>
              </a:rPr>
              <a:t>of assets on a digital ledger.</a:t>
            </a:r>
          </a:p>
        </p:txBody>
      </p:sp>
    </p:spTree>
    <p:extLst>
      <p:ext uri="{BB962C8B-B14F-4D97-AF65-F5344CB8AC3E}">
        <p14:creationId xmlns:p14="http://schemas.microsoft.com/office/powerpoint/2010/main" val="840457411"/>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66400" y="18182"/>
            <a:ext cx="11125200" cy="5180905"/>
          </a:xfrm>
          <a:prstGeom prst="rect">
            <a:avLst/>
          </a:prstGeom>
        </p:spPr>
        <p:txBody>
          <a:bodyPr wrap="square">
            <a:spAutoFit/>
          </a:bodyPr>
          <a:lstStyle/>
          <a:p>
            <a:pPr>
              <a:spcAft>
                <a:spcPts val="600"/>
              </a:spcAft>
            </a:pPr>
            <a:r>
              <a:rPr lang="en-US" sz="2300" b="1" dirty="0" smtClean="0">
                <a:solidFill>
                  <a:srgbClr val="FFFF00"/>
                </a:solidFill>
                <a:latin typeface="+mn-lt"/>
              </a:rPr>
              <a:t>First component of framework </a:t>
            </a:r>
            <a:r>
              <a:rPr lang="en-US" sz="2300" dirty="0" smtClean="0">
                <a:latin typeface="+mn-lt"/>
              </a:rPr>
              <a:t>: </a:t>
            </a:r>
            <a:r>
              <a:rPr lang="en-US" sz="2300" dirty="0">
                <a:latin typeface="+mn-lt"/>
              </a:rPr>
              <a:t>U</a:t>
            </a:r>
            <a:r>
              <a:rPr lang="en-US" sz="2300" dirty="0" smtClean="0">
                <a:latin typeface="+mn-lt"/>
              </a:rPr>
              <a:t>nderstanding </a:t>
            </a:r>
            <a:r>
              <a:rPr lang="en-US" sz="2300" dirty="0">
                <a:latin typeface="+mn-lt"/>
              </a:rPr>
              <a:t>the </a:t>
            </a:r>
            <a:r>
              <a:rPr lang="en-US" sz="2300" dirty="0" smtClean="0">
                <a:latin typeface="+mn-lt"/>
              </a:rPr>
              <a:t>arrangement</a:t>
            </a:r>
          </a:p>
          <a:p>
            <a:pPr>
              <a:spcAft>
                <a:spcPts val="600"/>
              </a:spcAft>
            </a:pPr>
            <a:r>
              <a:rPr lang="en-US" sz="2300" dirty="0">
                <a:latin typeface="+mn-lt"/>
              </a:rPr>
              <a:t>What is the functionality and nature of the </a:t>
            </a:r>
            <a:r>
              <a:rPr lang="en-US" sz="2300" dirty="0" smtClean="0">
                <a:latin typeface="+mn-lt"/>
              </a:rPr>
              <a:t>arrangement?</a:t>
            </a:r>
          </a:p>
          <a:p>
            <a:pPr>
              <a:spcAft>
                <a:spcPts val="600"/>
              </a:spcAft>
            </a:pPr>
            <a:r>
              <a:rPr lang="en-US" sz="2300" dirty="0">
                <a:latin typeface="+mn-lt"/>
              </a:rPr>
              <a:t>3</a:t>
            </a:r>
            <a:r>
              <a:rPr lang="en-US" sz="2300" dirty="0" smtClean="0">
                <a:latin typeface="+mn-lt"/>
              </a:rPr>
              <a:t>. </a:t>
            </a:r>
            <a:r>
              <a:rPr lang="en-US" sz="2300" b="1" dirty="0">
                <a:solidFill>
                  <a:schemeClr val="accent1">
                    <a:lumMod val="60000"/>
                    <a:lumOff val="40000"/>
                  </a:schemeClr>
                </a:solidFill>
                <a:latin typeface="+mn-lt"/>
              </a:rPr>
              <a:t>Understanding the design, technology and associated </a:t>
            </a:r>
            <a:r>
              <a:rPr lang="en-US" sz="2300" b="1" dirty="0" smtClean="0">
                <a:solidFill>
                  <a:schemeClr val="accent1">
                    <a:lumMod val="60000"/>
                    <a:lumOff val="40000"/>
                  </a:schemeClr>
                </a:solidFill>
                <a:latin typeface="+mn-lt"/>
              </a:rPr>
              <a:t>processes </a:t>
            </a:r>
            <a:r>
              <a:rPr lang="en-US" sz="2300" b="1" dirty="0">
                <a:solidFill>
                  <a:schemeClr val="accent1">
                    <a:lumMod val="60000"/>
                    <a:lumOff val="40000"/>
                  </a:schemeClr>
                </a:solidFill>
                <a:latin typeface="+mn-lt"/>
              </a:rPr>
              <a:t>behind an </a:t>
            </a:r>
            <a:r>
              <a:rPr lang="en-US" sz="2300" b="1" dirty="0" smtClean="0">
                <a:solidFill>
                  <a:schemeClr val="accent1">
                    <a:lumMod val="60000"/>
                    <a:lumOff val="40000"/>
                  </a:schemeClr>
                </a:solidFill>
                <a:latin typeface="+mn-lt"/>
              </a:rPr>
              <a:t>arrangement</a:t>
            </a:r>
          </a:p>
          <a:p>
            <a:pPr>
              <a:spcAft>
                <a:spcPts val="800"/>
              </a:spcAft>
            </a:pPr>
            <a:r>
              <a:rPr lang="en-US" sz="2000" dirty="0">
                <a:latin typeface="+mn-lt"/>
              </a:rPr>
              <a:t>Every </a:t>
            </a:r>
            <a:r>
              <a:rPr lang="en-US" sz="2000" b="1" dirty="0">
                <a:latin typeface="+mn-lt"/>
              </a:rPr>
              <a:t>DLT-based system</a:t>
            </a:r>
            <a:r>
              <a:rPr lang="en-US" sz="2000" dirty="0">
                <a:latin typeface="+mn-lt"/>
              </a:rPr>
              <a:t> is designed differently based on </a:t>
            </a:r>
            <a:r>
              <a:rPr lang="en-US" sz="2000" b="1" dirty="0">
                <a:latin typeface="+mn-lt"/>
              </a:rPr>
              <a:t>what problem it solves, the technology used, and how it operates</a:t>
            </a:r>
            <a:r>
              <a:rPr lang="en-US" sz="2000" dirty="0">
                <a:latin typeface="+mn-lt"/>
              </a:rPr>
              <a:t>. These differences depend on:</a:t>
            </a:r>
          </a:p>
          <a:p>
            <a:pPr marL="342900" indent="-342900">
              <a:spcAft>
                <a:spcPts val="800"/>
              </a:spcAft>
              <a:buFont typeface="Wingdings" pitchFamily="2" charset="2"/>
              <a:buChar char="§"/>
            </a:pPr>
            <a:r>
              <a:rPr lang="en-US" sz="2000" b="1" dirty="0">
                <a:latin typeface="+mn-lt"/>
              </a:rPr>
              <a:t>The type of service it provides</a:t>
            </a:r>
            <a:endParaRPr lang="en-US" sz="2000" dirty="0">
              <a:latin typeface="+mn-lt"/>
            </a:endParaRPr>
          </a:p>
          <a:p>
            <a:pPr marL="342900" indent="-342900">
              <a:spcAft>
                <a:spcPts val="800"/>
              </a:spcAft>
              <a:buFont typeface="Wingdings" pitchFamily="2" charset="2"/>
              <a:buChar char="§"/>
            </a:pPr>
            <a:r>
              <a:rPr lang="en-US" sz="2000" b="1" dirty="0">
                <a:latin typeface="+mn-lt"/>
              </a:rPr>
              <a:t>The technology behind it</a:t>
            </a:r>
            <a:endParaRPr lang="en-US" sz="2000" dirty="0">
              <a:latin typeface="+mn-lt"/>
            </a:endParaRPr>
          </a:p>
          <a:p>
            <a:pPr marL="342900" indent="-342900">
              <a:spcAft>
                <a:spcPts val="800"/>
              </a:spcAft>
              <a:buFont typeface="Wingdings" pitchFamily="2" charset="2"/>
              <a:buChar char="§"/>
            </a:pPr>
            <a:r>
              <a:rPr lang="en-US" sz="2000" b="1" dirty="0">
                <a:latin typeface="+mn-lt"/>
              </a:rPr>
              <a:t>How it fits into the existing financial or business </a:t>
            </a:r>
            <a:r>
              <a:rPr lang="en-US" sz="2000" b="1" dirty="0" smtClean="0">
                <a:latin typeface="+mn-lt"/>
              </a:rPr>
              <a:t>system</a:t>
            </a:r>
          </a:p>
          <a:p>
            <a:pPr>
              <a:spcAft>
                <a:spcPts val="800"/>
              </a:spcAft>
            </a:pPr>
            <a:r>
              <a:rPr lang="en-US" sz="2000" dirty="0">
                <a:latin typeface="+mn-lt"/>
              </a:rPr>
              <a:t>1. Banking &amp; Payments (Technology for Faster Transactions</a:t>
            </a:r>
            <a:r>
              <a:rPr lang="en-US" sz="2000" dirty="0" smtClean="0">
                <a:latin typeface="+mn-lt"/>
              </a:rPr>
              <a:t>)- </a:t>
            </a:r>
            <a:r>
              <a:rPr lang="en-US" sz="2000" dirty="0">
                <a:latin typeface="+mn-lt"/>
              </a:rPr>
              <a:t>Example: UPI vs. Blockchain Payments</a:t>
            </a:r>
          </a:p>
          <a:p>
            <a:pPr>
              <a:spcAft>
                <a:spcPts val="800"/>
              </a:spcAft>
            </a:pPr>
            <a:r>
              <a:rPr lang="en-US" sz="2000" dirty="0">
                <a:latin typeface="+mn-lt"/>
              </a:rPr>
              <a:t>2. Stock Market (Automation for Faster Settlements</a:t>
            </a:r>
            <a:r>
              <a:rPr lang="en-US" sz="2000" dirty="0" smtClean="0">
                <a:latin typeface="+mn-lt"/>
              </a:rPr>
              <a:t>)--   </a:t>
            </a:r>
            <a:r>
              <a:rPr lang="en-US" sz="2000" dirty="0">
                <a:latin typeface="+mn-lt"/>
              </a:rPr>
              <a:t>Example: Traditional vs. Blockchain-Based Settlement</a:t>
            </a:r>
          </a:p>
          <a:p>
            <a:pPr>
              <a:spcAft>
                <a:spcPts val="800"/>
              </a:spcAft>
            </a:pPr>
            <a:r>
              <a:rPr lang="en-US" sz="2000" dirty="0">
                <a:latin typeface="+mn-lt"/>
              </a:rPr>
              <a:t>3. Supply Chain (Tracking Goods with Blockchain</a:t>
            </a:r>
            <a:r>
              <a:rPr lang="en-US" sz="2000" dirty="0" smtClean="0">
                <a:latin typeface="+mn-lt"/>
              </a:rPr>
              <a:t>)--    </a:t>
            </a:r>
            <a:r>
              <a:rPr lang="en-US" sz="2000" dirty="0">
                <a:latin typeface="+mn-lt"/>
              </a:rPr>
              <a:t>Example: Tracking Mango Exports from India</a:t>
            </a:r>
          </a:p>
          <a:p>
            <a:pPr>
              <a:spcAft>
                <a:spcPts val="800"/>
              </a:spcAft>
            </a:pPr>
            <a:r>
              <a:rPr lang="en-US" sz="2000" dirty="0">
                <a:latin typeface="+mn-lt"/>
              </a:rPr>
              <a:t>4. Land Records (Preventing Fraud &amp; Duplication</a:t>
            </a:r>
            <a:r>
              <a:rPr lang="en-US" sz="2000" dirty="0" smtClean="0">
                <a:latin typeface="+mn-lt"/>
              </a:rPr>
              <a:t>)--    </a:t>
            </a:r>
            <a:r>
              <a:rPr lang="en-US" sz="2000" dirty="0">
                <a:latin typeface="+mn-lt"/>
              </a:rPr>
              <a:t>Example: Land Registry in </a:t>
            </a:r>
            <a:r>
              <a:rPr lang="en-US" sz="2000" dirty="0" smtClean="0">
                <a:latin typeface="+mn-lt"/>
              </a:rPr>
              <a:t>Telangana</a:t>
            </a:r>
            <a:endParaRPr lang="en-US" sz="2300" dirty="0" smtClean="0">
              <a:latin typeface="+mn-lt"/>
            </a:endParaRPr>
          </a:p>
        </p:txBody>
      </p:sp>
      <p:sp>
        <p:nvSpPr>
          <p:cNvPr id="3" name="Rectangle 2"/>
          <p:cNvSpPr/>
          <p:nvPr/>
        </p:nvSpPr>
        <p:spPr>
          <a:xfrm>
            <a:off x="0" y="5334000"/>
            <a:ext cx="11991600" cy="1477328"/>
          </a:xfrm>
          <a:prstGeom prst="rect">
            <a:avLst/>
          </a:prstGeom>
        </p:spPr>
        <p:txBody>
          <a:bodyPr wrap="square">
            <a:spAutoFit/>
          </a:bodyPr>
          <a:lstStyle/>
          <a:p>
            <a:pPr>
              <a:lnSpc>
                <a:spcPct val="150000"/>
              </a:lnSpc>
            </a:pPr>
            <a:r>
              <a:rPr lang="en-US" sz="2000" b="1" dirty="0">
                <a:solidFill>
                  <a:srgbClr val="FFFF00"/>
                </a:solidFill>
                <a:latin typeface="+mn-lt"/>
              </a:rPr>
              <a:t>DLT systems vary by purpose—some enhance existing processes (e.g., stock settlements), while others introduce new methods (e.g., blockchain land records). Understanding design, technology, and processes helps in selecting the right solution for each industry</a:t>
            </a:r>
            <a:r>
              <a:rPr lang="en-US" sz="2000" dirty="0">
                <a:latin typeface="+mn-lt"/>
              </a:rPr>
              <a:t>.</a:t>
            </a:r>
          </a:p>
        </p:txBody>
      </p:sp>
    </p:spTree>
    <p:extLst>
      <p:ext uri="{BB962C8B-B14F-4D97-AF65-F5344CB8AC3E}">
        <p14:creationId xmlns:p14="http://schemas.microsoft.com/office/powerpoint/2010/main" val="1380103323"/>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66400" y="0"/>
            <a:ext cx="11125200" cy="4778231"/>
          </a:xfrm>
          <a:prstGeom prst="rect">
            <a:avLst/>
          </a:prstGeom>
        </p:spPr>
        <p:txBody>
          <a:bodyPr wrap="square">
            <a:spAutoFit/>
          </a:bodyPr>
          <a:lstStyle/>
          <a:p>
            <a:pPr>
              <a:spcAft>
                <a:spcPts val="1200"/>
              </a:spcAft>
            </a:pPr>
            <a:r>
              <a:rPr lang="en-US" sz="2200" b="1" dirty="0" smtClean="0">
                <a:solidFill>
                  <a:srgbClr val="FFFF00"/>
                </a:solidFill>
                <a:latin typeface="+mn-lt"/>
              </a:rPr>
              <a:t>First component of framework </a:t>
            </a:r>
            <a:r>
              <a:rPr lang="en-US" sz="2200" dirty="0" smtClean="0">
                <a:latin typeface="+mn-lt"/>
              </a:rPr>
              <a:t>: </a:t>
            </a:r>
            <a:r>
              <a:rPr lang="en-US" sz="2200" dirty="0">
                <a:latin typeface="+mn-lt"/>
              </a:rPr>
              <a:t>U</a:t>
            </a:r>
            <a:r>
              <a:rPr lang="en-US" sz="2200" dirty="0" smtClean="0">
                <a:latin typeface="+mn-lt"/>
              </a:rPr>
              <a:t>nderstanding </a:t>
            </a:r>
            <a:r>
              <a:rPr lang="en-US" sz="2200" dirty="0">
                <a:latin typeface="+mn-lt"/>
              </a:rPr>
              <a:t>the </a:t>
            </a:r>
            <a:r>
              <a:rPr lang="en-US" sz="2200" dirty="0" smtClean="0">
                <a:latin typeface="+mn-lt"/>
              </a:rPr>
              <a:t>arrangement</a:t>
            </a:r>
          </a:p>
          <a:p>
            <a:pPr>
              <a:spcAft>
                <a:spcPts val="1200"/>
              </a:spcAft>
            </a:pPr>
            <a:r>
              <a:rPr lang="en-US" sz="2200" dirty="0">
                <a:latin typeface="+mn-lt"/>
              </a:rPr>
              <a:t>What is the functionality and nature of the </a:t>
            </a:r>
            <a:r>
              <a:rPr lang="en-US" sz="2200" dirty="0" smtClean="0">
                <a:latin typeface="+mn-lt"/>
              </a:rPr>
              <a:t>arrangement?</a:t>
            </a:r>
          </a:p>
          <a:p>
            <a:pPr>
              <a:spcAft>
                <a:spcPts val="1200"/>
              </a:spcAft>
            </a:pPr>
            <a:r>
              <a:rPr lang="en-US" sz="2200" b="1" dirty="0" smtClean="0">
                <a:solidFill>
                  <a:schemeClr val="accent1">
                    <a:lumMod val="60000"/>
                    <a:lumOff val="40000"/>
                  </a:schemeClr>
                </a:solidFill>
                <a:latin typeface="+mn-lt"/>
              </a:rPr>
              <a:t>4. </a:t>
            </a:r>
            <a:r>
              <a:rPr lang="en-US" sz="2200" b="1" dirty="0">
                <a:solidFill>
                  <a:schemeClr val="accent1">
                    <a:lumMod val="60000"/>
                    <a:lumOff val="40000"/>
                  </a:schemeClr>
                </a:solidFill>
                <a:latin typeface="+mn-lt"/>
              </a:rPr>
              <a:t>Identifying the affected market participants </a:t>
            </a:r>
            <a:endParaRPr lang="en-US" sz="2200" b="1" dirty="0" smtClean="0">
              <a:solidFill>
                <a:schemeClr val="accent1">
                  <a:lumMod val="60000"/>
                  <a:lumOff val="40000"/>
                </a:schemeClr>
              </a:solidFill>
              <a:latin typeface="+mn-lt"/>
            </a:endParaRPr>
          </a:p>
          <a:p>
            <a:pPr>
              <a:lnSpc>
                <a:spcPct val="150000"/>
              </a:lnSpc>
              <a:spcAft>
                <a:spcPts val="0"/>
              </a:spcAft>
            </a:pPr>
            <a:r>
              <a:rPr lang="en-US" sz="2000" dirty="0">
                <a:latin typeface="+mn-lt"/>
              </a:rPr>
              <a:t>Understanding which market participants are impacted by a </a:t>
            </a:r>
            <a:r>
              <a:rPr lang="en-US" sz="2000" b="1" dirty="0">
                <a:latin typeface="+mn-lt"/>
              </a:rPr>
              <a:t>DLT-based system</a:t>
            </a:r>
            <a:r>
              <a:rPr lang="en-US" sz="2000" dirty="0">
                <a:latin typeface="+mn-lt"/>
              </a:rPr>
              <a:t> is crucial for assessing its effects on </a:t>
            </a:r>
            <a:r>
              <a:rPr lang="en-US" sz="2000" b="1" dirty="0">
                <a:latin typeface="+mn-lt"/>
              </a:rPr>
              <a:t>efficiency, security, and risk</a:t>
            </a:r>
            <a:r>
              <a:rPr lang="en-US" sz="2000" dirty="0">
                <a:latin typeface="+mn-lt"/>
              </a:rPr>
              <a:t> in the financial system</a:t>
            </a:r>
            <a:r>
              <a:rPr lang="en-US" sz="2000" dirty="0" smtClean="0">
                <a:latin typeface="+mn-lt"/>
              </a:rPr>
              <a:t>.</a:t>
            </a:r>
          </a:p>
          <a:p>
            <a:pPr>
              <a:lnSpc>
                <a:spcPct val="150000"/>
              </a:lnSpc>
              <a:spcAft>
                <a:spcPts val="0"/>
              </a:spcAft>
            </a:pPr>
            <a:r>
              <a:rPr lang="en-US" sz="2000" dirty="0">
                <a:latin typeface="+mn-lt"/>
              </a:rPr>
              <a:t>Potential categories of market participants to consider include</a:t>
            </a:r>
            <a:r>
              <a:rPr lang="en-US" sz="2000" dirty="0" smtClean="0"/>
              <a:t>:</a:t>
            </a:r>
          </a:p>
          <a:p>
            <a:pPr>
              <a:lnSpc>
                <a:spcPct val="150000"/>
              </a:lnSpc>
              <a:spcAft>
                <a:spcPts val="0"/>
              </a:spcAft>
            </a:pPr>
            <a:r>
              <a:rPr lang="en-US" sz="2300" b="1" dirty="0">
                <a:solidFill>
                  <a:schemeClr val="accent1">
                    <a:lumMod val="60000"/>
                    <a:lumOff val="40000"/>
                  </a:schemeClr>
                </a:solidFill>
                <a:latin typeface="+mn-lt"/>
              </a:rPr>
              <a:t>1 </a:t>
            </a:r>
            <a:r>
              <a:rPr lang="en-US" sz="1800" dirty="0">
                <a:latin typeface="+mn-lt"/>
              </a:rPr>
              <a:t>Financial Market Infrastructures (FMIs) – Organizations that handle transactions (e.g., stock </a:t>
            </a:r>
            <a:r>
              <a:rPr lang="en-US" sz="1800" dirty="0" smtClean="0">
                <a:latin typeface="+mn-lt"/>
              </a:rPr>
              <a:t>exchanges</a:t>
            </a:r>
            <a:r>
              <a:rPr lang="en-US" sz="1800" dirty="0">
                <a:latin typeface="+mn-lt"/>
              </a:rPr>
              <a:t>)</a:t>
            </a:r>
          </a:p>
          <a:p>
            <a:pPr>
              <a:lnSpc>
                <a:spcPct val="150000"/>
              </a:lnSpc>
              <a:spcAft>
                <a:spcPts val="0"/>
              </a:spcAft>
            </a:pPr>
            <a:r>
              <a:rPr lang="en-US" sz="1800" dirty="0">
                <a:latin typeface="+mn-lt"/>
              </a:rPr>
              <a:t>2. Banks &amp; Financial Institutions – Entities providing financial services that may benefit or face challenges from DLT.</a:t>
            </a:r>
          </a:p>
          <a:p>
            <a:pPr>
              <a:lnSpc>
                <a:spcPct val="150000"/>
              </a:lnSpc>
              <a:spcAft>
                <a:spcPts val="0"/>
              </a:spcAft>
            </a:pPr>
            <a:r>
              <a:rPr lang="en-US" sz="1800" dirty="0" smtClean="0">
                <a:latin typeface="+mn-lt"/>
              </a:rPr>
              <a:t>3</a:t>
            </a:r>
            <a:r>
              <a:rPr lang="en-US" sz="1800" dirty="0">
                <a:latin typeface="+mn-lt"/>
              </a:rPr>
              <a:t> </a:t>
            </a:r>
            <a:r>
              <a:rPr lang="en-US" sz="1800" dirty="0" smtClean="0">
                <a:latin typeface="+mn-lt"/>
              </a:rPr>
              <a:t>Customers </a:t>
            </a:r>
            <a:r>
              <a:rPr lang="en-US" sz="1800" dirty="0">
                <a:latin typeface="+mn-lt"/>
              </a:rPr>
              <a:t>&amp; Businesses – End-users who gain faster, more secure transactions or experience changes in service.</a:t>
            </a:r>
          </a:p>
          <a:p>
            <a:pPr>
              <a:lnSpc>
                <a:spcPct val="150000"/>
              </a:lnSpc>
              <a:spcAft>
                <a:spcPts val="0"/>
              </a:spcAft>
            </a:pPr>
            <a:r>
              <a:rPr lang="en-US" sz="1800" dirty="0" smtClean="0">
                <a:latin typeface="+mn-lt"/>
              </a:rPr>
              <a:t>4 </a:t>
            </a:r>
            <a:r>
              <a:rPr lang="en-US" sz="1800" dirty="0">
                <a:latin typeface="+mn-lt"/>
              </a:rPr>
              <a:t>Regulatory Authorities – Government bodies ensuring compliance, security, and risk management</a:t>
            </a:r>
            <a:r>
              <a:rPr lang="en-US" sz="1800" dirty="0" smtClean="0">
                <a:latin typeface="+mn-lt"/>
              </a:rPr>
              <a:t>.</a:t>
            </a:r>
            <a:endParaRPr lang="en-US" sz="2300" b="1" dirty="0" smtClean="0">
              <a:solidFill>
                <a:schemeClr val="accent1">
                  <a:lumMod val="60000"/>
                  <a:lumOff val="40000"/>
                </a:schemeClr>
              </a:solidFill>
              <a:latin typeface="+mn-lt"/>
            </a:endParaRPr>
          </a:p>
        </p:txBody>
      </p:sp>
      <p:sp>
        <p:nvSpPr>
          <p:cNvPr id="3" name="Rectangle 2"/>
          <p:cNvSpPr/>
          <p:nvPr/>
        </p:nvSpPr>
        <p:spPr>
          <a:xfrm>
            <a:off x="150812" y="4648200"/>
            <a:ext cx="11840788" cy="2092881"/>
          </a:xfrm>
          <a:prstGeom prst="rect">
            <a:avLst/>
          </a:prstGeom>
        </p:spPr>
        <p:txBody>
          <a:bodyPr wrap="square">
            <a:spAutoFit/>
          </a:bodyPr>
          <a:lstStyle/>
          <a:p>
            <a:pPr>
              <a:spcAft>
                <a:spcPts val="1200"/>
              </a:spcAft>
            </a:pPr>
            <a:r>
              <a:rPr lang="en-US" sz="2000" b="1" dirty="0">
                <a:solidFill>
                  <a:srgbClr val="FFFF00"/>
                </a:solidFill>
                <a:latin typeface="+mn-lt"/>
              </a:rPr>
              <a:t>Example: Blockchain in </a:t>
            </a:r>
            <a:r>
              <a:rPr lang="en-US" sz="2000" b="1" dirty="0" smtClean="0">
                <a:solidFill>
                  <a:srgbClr val="FFFF00"/>
                </a:solidFill>
                <a:latin typeface="+mn-lt"/>
              </a:rPr>
              <a:t>Banking</a:t>
            </a:r>
            <a:endParaRPr lang="en-US" sz="2000" b="1" dirty="0">
              <a:solidFill>
                <a:srgbClr val="FFFF00"/>
              </a:solidFill>
              <a:latin typeface="+mn-lt"/>
            </a:endParaRPr>
          </a:p>
          <a:p>
            <a:pPr>
              <a:spcAft>
                <a:spcPts val="1200"/>
              </a:spcAft>
            </a:pPr>
            <a:r>
              <a:rPr lang="en-US" sz="2000" b="1" dirty="0">
                <a:latin typeface="+mn-lt"/>
              </a:rPr>
              <a:t>Before DLT:</a:t>
            </a:r>
            <a:r>
              <a:rPr lang="en-US" sz="2000" dirty="0">
                <a:latin typeface="+mn-lt"/>
              </a:rPr>
              <a:t> Banks take 2–3 days to process cross-border transactions due to manual verification.</a:t>
            </a:r>
          </a:p>
          <a:p>
            <a:pPr>
              <a:spcAft>
                <a:spcPts val="1200"/>
              </a:spcAft>
            </a:pPr>
            <a:r>
              <a:rPr lang="en-US" sz="2000" b="1" dirty="0">
                <a:latin typeface="+mn-lt"/>
              </a:rPr>
              <a:t>After DLT:</a:t>
            </a:r>
            <a:r>
              <a:rPr lang="en-US" sz="2000" dirty="0">
                <a:latin typeface="+mn-lt"/>
              </a:rPr>
              <a:t> Using blockchain (e.g., </a:t>
            </a:r>
            <a:r>
              <a:rPr lang="en-US" sz="2000" b="1" dirty="0">
                <a:latin typeface="+mn-lt"/>
              </a:rPr>
              <a:t>ICICI Bank’s blockchain pilot</a:t>
            </a:r>
            <a:r>
              <a:rPr lang="en-US" sz="2000" dirty="0">
                <a:latin typeface="+mn-lt"/>
              </a:rPr>
              <a:t>), transactions are settled </a:t>
            </a:r>
            <a:r>
              <a:rPr lang="en-US" sz="2000" b="1" dirty="0">
                <a:latin typeface="+mn-lt"/>
              </a:rPr>
              <a:t>instantly</a:t>
            </a:r>
            <a:r>
              <a:rPr lang="en-US" sz="2000" dirty="0">
                <a:latin typeface="+mn-lt"/>
              </a:rPr>
              <a:t> with reduced costs and improved transparency.</a:t>
            </a:r>
          </a:p>
          <a:p>
            <a:pPr>
              <a:spcAft>
                <a:spcPts val="1200"/>
              </a:spcAft>
            </a:pPr>
            <a:r>
              <a:rPr lang="en-US" sz="2000" b="1" dirty="0">
                <a:latin typeface="+mn-lt"/>
              </a:rPr>
              <a:t>Impact:</a:t>
            </a:r>
            <a:r>
              <a:rPr lang="en-US" sz="2000" dirty="0">
                <a:latin typeface="+mn-lt"/>
              </a:rPr>
              <a:t> Banks benefit from </a:t>
            </a:r>
            <a:r>
              <a:rPr lang="en-US" sz="2000" b="1" dirty="0">
                <a:latin typeface="+mn-lt"/>
              </a:rPr>
              <a:t>faster settlements</a:t>
            </a:r>
            <a:r>
              <a:rPr lang="en-US" sz="2000" dirty="0">
                <a:latin typeface="+mn-lt"/>
              </a:rPr>
              <a:t>, but regulators must </a:t>
            </a:r>
            <a:r>
              <a:rPr lang="en-US" sz="2000" b="1" dirty="0">
                <a:latin typeface="+mn-lt"/>
              </a:rPr>
              <a:t>ensure security and compliance</a:t>
            </a:r>
            <a:r>
              <a:rPr lang="en-US" sz="2000" dirty="0">
                <a:latin typeface="+mn-lt"/>
              </a:rPr>
              <a:t>.</a:t>
            </a:r>
          </a:p>
        </p:txBody>
      </p:sp>
    </p:spTree>
    <p:extLst>
      <p:ext uri="{BB962C8B-B14F-4D97-AF65-F5344CB8AC3E}">
        <p14:creationId xmlns:p14="http://schemas.microsoft.com/office/powerpoint/2010/main" val="1933854182"/>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04543" y="0"/>
            <a:ext cx="11384281" cy="5345053"/>
          </a:xfrm>
          <a:prstGeom prst="rect">
            <a:avLst/>
          </a:prstGeom>
        </p:spPr>
        <p:txBody>
          <a:bodyPr wrap="square">
            <a:spAutoFit/>
          </a:bodyPr>
          <a:lstStyle/>
          <a:p>
            <a:pPr>
              <a:spcAft>
                <a:spcPts val="800"/>
              </a:spcAft>
            </a:pPr>
            <a:r>
              <a:rPr lang="en-US" sz="2200" b="1" dirty="0" smtClean="0">
                <a:solidFill>
                  <a:srgbClr val="FFFF00"/>
                </a:solidFill>
                <a:latin typeface="+mn-lt"/>
              </a:rPr>
              <a:t>First component of framework </a:t>
            </a:r>
            <a:r>
              <a:rPr lang="en-US" sz="2200" dirty="0" smtClean="0">
                <a:latin typeface="+mn-lt"/>
              </a:rPr>
              <a:t>: </a:t>
            </a:r>
            <a:r>
              <a:rPr lang="en-US" sz="2200" dirty="0">
                <a:latin typeface="+mn-lt"/>
              </a:rPr>
              <a:t>U</a:t>
            </a:r>
            <a:r>
              <a:rPr lang="en-US" sz="2200" dirty="0" smtClean="0">
                <a:latin typeface="+mn-lt"/>
              </a:rPr>
              <a:t>nderstanding </a:t>
            </a:r>
            <a:r>
              <a:rPr lang="en-US" sz="2200" dirty="0">
                <a:latin typeface="+mn-lt"/>
              </a:rPr>
              <a:t>the </a:t>
            </a:r>
            <a:r>
              <a:rPr lang="en-US" sz="2200" dirty="0" smtClean="0">
                <a:latin typeface="+mn-lt"/>
              </a:rPr>
              <a:t>arrangement</a:t>
            </a:r>
          </a:p>
          <a:p>
            <a:pPr>
              <a:spcAft>
                <a:spcPts val="800"/>
              </a:spcAft>
            </a:pPr>
            <a:r>
              <a:rPr lang="en-US" sz="2100" b="1" dirty="0">
                <a:solidFill>
                  <a:schemeClr val="accent1">
                    <a:lumMod val="60000"/>
                    <a:lumOff val="40000"/>
                  </a:schemeClr>
                </a:solidFill>
                <a:latin typeface="+mn-lt"/>
              </a:rPr>
              <a:t>What are the key factors for effective implementation</a:t>
            </a:r>
            <a:r>
              <a:rPr lang="en-US" sz="2100" b="1" dirty="0" smtClean="0">
                <a:solidFill>
                  <a:schemeClr val="accent1">
                    <a:lumMod val="60000"/>
                    <a:lumOff val="40000"/>
                  </a:schemeClr>
                </a:solidFill>
                <a:latin typeface="+mn-lt"/>
              </a:rPr>
              <a:t>?</a:t>
            </a:r>
          </a:p>
          <a:p>
            <a:pPr>
              <a:lnSpc>
                <a:spcPct val="150000"/>
              </a:lnSpc>
            </a:pPr>
            <a:r>
              <a:rPr lang="en-US" sz="1900" b="1" dirty="0">
                <a:solidFill>
                  <a:srgbClr val="FFFF00"/>
                </a:solidFill>
                <a:latin typeface="+mn-lt"/>
              </a:rPr>
              <a:t>Adoption Requirements</a:t>
            </a:r>
            <a:r>
              <a:rPr lang="en-US" sz="1900" dirty="0">
                <a:latin typeface="+mn-lt"/>
              </a:rPr>
              <a:t>:</a:t>
            </a:r>
          </a:p>
          <a:p>
            <a:pPr marL="341313" lvl="1" indent="-280988">
              <a:lnSpc>
                <a:spcPct val="150000"/>
              </a:lnSpc>
              <a:buFont typeface="Wingdings" pitchFamily="2" charset="2"/>
              <a:buChar char="§"/>
            </a:pPr>
            <a:r>
              <a:rPr lang="en-US" sz="1900" dirty="0">
                <a:latin typeface="+mn-lt"/>
              </a:rPr>
              <a:t>Some arrangements involve only a single entity or a small group.</a:t>
            </a:r>
          </a:p>
          <a:p>
            <a:pPr marL="341313" lvl="1" indent="-280988">
              <a:lnSpc>
                <a:spcPct val="150000"/>
              </a:lnSpc>
              <a:buFont typeface="Wingdings" pitchFamily="2" charset="2"/>
              <a:buChar char="§"/>
            </a:pPr>
            <a:r>
              <a:rPr lang="en-US" sz="1900" dirty="0">
                <a:latin typeface="+mn-lt"/>
              </a:rPr>
              <a:t>Others need widespread industry adoption to achieve efficiency gains, as benefits often depend on </a:t>
            </a:r>
            <a:r>
              <a:rPr lang="en-US" sz="1900" dirty="0" smtClean="0">
                <a:latin typeface="+mn-lt"/>
              </a:rPr>
              <a:t>n/w effects</a:t>
            </a:r>
            <a:endParaRPr lang="en-US" sz="1900" dirty="0">
              <a:latin typeface="+mn-lt"/>
            </a:endParaRPr>
          </a:p>
          <a:p>
            <a:pPr marL="341313" lvl="1" indent="-280988">
              <a:lnSpc>
                <a:spcPct val="150000"/>
              </a:lnSpc>
              <a:buFont typeface="Wingdings" pitchFamily="2" charset="2"/>
              <a:buChar char="§"/>
            </a:pPr>
            <a:r>
              <a:rPr lang="en-US" sz="1900" dirty="0">
                <a:latin typeface="+mn-lt"/>
              </a:rPr>
              <a:t>A critical mass of participants may be necessary to realize potential benefits.</a:t>
            </a:r>
          </a:p>
          <a:p>
            <a:pPr>
              <a:lnSpc>
                <a:spcPct val="150000"/>
              </a:lnSpc>
            </a:pPr>
            <a:r>
              <a:rPr lang="en-US" sz="1900" b="1" dirty="0">
                <a:solidFill>
                  <a:srgbClr val="FFFF00"/>
                </a:solidFill>
                <a:latin typeface="+mn-lt"/>
              </a:rPr>
              <a:t>Market Changes</a:t>
            </a:r>
            <a:r>
              <a:rPr lang="en-US" sz="1900" dirty="0">
                <a:latin typeface="+mn-lt"/>
              </a:rPr>
              <a:t>:</a:t>
            </a:r>
          </a:p>
          <a:p>
            <a:pPr lvl="1" indent="-266700">
              <a:lnSpc>
                <a:spcPct val="150000"/>
              </a:lnSpc>
            </a:pPr>
            <a:r>
              <a:rPr lang="en-US" sz="1900" dirty="0">
                <a:latin typeface="+mn-lt"/>
              </a:rPr>
              <a:t>Implementation may require significant structural changes, such as shifts in market conventions or practices.</a:t>
            </a:r>
          </a:p>
          <a:p>
            <a:pPr>
              <a:lnSpc>
                <a:spcPct val="150000"/>
              </a:lnSpc>
            </a:pPr>
            <a:r>
              <a:rPr lang="en-US" sz="1900" b="1" dirty="0">
                <a:solidFill>
                  <a:srgbClr val="FFFF00"/>
                </a:solidFill>
                <a:latin typeface="+mn-lt"/>
              </a:rPr>
              <a:t>Factors Affecting Implementation</a:t>
            </a:r>
            <a:r>
              <a:rPr lang="en-US" sz="1900" dirty="0">
                <a:latin typeface="+mn-lt"/>
              </a:rPr>
              <a:t>:</a:t>
            </a:r>
          </a:p>
          <a:p>
            <a:pPr lvl="1">
              <a:lnSpc>
                <a:spcPct val="150000"/>
              </a:lnSpc>
            </a:pPr>
            <a:r>
              <a:rPr lang="en-US" sz="1900" dirty="0">
                <a:latin typeface="+mn-lt"/>
              </a:rPr>
              <a:t>Environmental: Regulatory, legal, or geopolitical conditions.</a:t>
            </a:r>
          </a:p>
          <a:p>
            <a:pPr lvl="1">
              <a:lnSpc>
                <a:spcPct val="150000"/>
              </a:lnSpc>
            </a:pPr>
            <a:r>
              <a:rPr lang="en-US" sz="1900" dirty="0">
                <a:latin typeface="+mn-lt"/>
              </a:rPr>
              <a:t>Technological: Availability of technology or infrastructure.</a:t>
            </a:r>
          </a:p>
          <a:p>
            <a:pPr lvl="1">
              <a:lnSpc>
                <a:spcPct val="150000"/>
              </a:lnSpc>
            </a:pPr>
            <a:r>
              <a:rPr lang="en-US" sz="1900" dirty="0">
                <a:latin typeface="+mn-lt"/>
              </a:rPr>
              <a:t>Financial: Costs, funding, or economic viability</a:t>
            </a:r>
            <a:r>
              <a:rPr lang="en-US" sz="1900" dirty="0" smtClean="0">
                <a:latin typeface="+mn-lt"/>
              </a:rPr>
              <a:t>. </a:t>
            </a:r>
          </a:p>
        </p:txBody>
      </p:sp>
      <p:sp>
        <p:nvSpPr>
          <p:cNvPr id="3" name="Rectangle 2"/>
          <p:cNvSpPr/>
          <p:nvPr/>
        </p:nvSpPr>
        <p:spPr>
          <a:xfrm>
            <a:off x="225424" y="5345053"/>
            <a:ext cx="11734800" cy="1084912"/>
          </a:xfrm>
          <a:prstGeom prst="rect">
            <a:avLst/>
          </a:prstGeom>
        </p:spPr>
        <p:txBody>
          <a:bodyPr wrap="square">
            <a:spAutoFit/>
          </a:bodyPr>
          <a:lstStyle/>
          <a:p>
            <a:pPr>
              <a:lnSpc>
                <a:spcPct val="150000"/>
              </a:lnSpc>
            </a:pPr>
            <a:r>
              <a:rPr lang="en-US" sz="1900" b="1" i="1" dirty="0" smtClean="0">
                <a:solidFill>
                  <a:srgbClr val="FFFF00"/>
                </a:solidFill>
                <a:latin typeface="+mn-lt"/>
              </a:rPr>
              <a:t>Example</a:t>
            </a:r>
            <a:r>
              <a:rPr lang="en-US" sz="1900" b="1" dirty="0">
                <a:solidFill>
                  <a:srgbClr val="FFFF00"/>
                </a:solidFill>
                <a:latin typeface="+mn-lt"/>
              </a:rPr>
              <a:t>:</a:t>
            </a:r>
            <a:r>
              <a:rPr lang="en-US" sz="1900" dirty="0">
                <a:latin typeface="+mn-lt"/>
              </a:rPr>
              <a:t> A new digital payment system may only succeed if enough banks and customers adopt it, and if existing market practices (e.g., cash reliance) are adjusted to accommodate it</a:t>
            </a:r>
            <a:r>
              <a:rPr lang="en-US" dirty="0"/>
              <a:t>.</a:t>
            </a:r>
          </a:p>
        </p:txBody>
      </p:sp>
    </p:spTree>
    <p:extLst>
      <p:ext uri="{BB962C8B-B14F-4D97-AF65-F5344CB8AC3E}">
        <p14:creationId xmlns:p14="http://schemas.microsoft.com/office/powerpoint/2010/main" val="4047667780"/>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836612" y="0"/>
            <a:ext cx="11154988" cy="366767"/>
          </a:xfrm>
          <a:prstGeom prst="rect">
            <a:avLst/>
          </a:prstGeom>
        </p:spPr>
        <p:txBody>
          <a:bodyPr vert="horz" wrap="square" lIns="0" tIns="12700" rIns="0" bIns="0" rtlCol="0">
            <a:spAutoFit/>
          </a:bodyPr>
          <a:lstStyle/>
          <a:p>
            <a:pPr marL="12700">
              <a:spcBef>
                <a:spcPts val="100"/>
              </a:spcBef>
            </a:pPr>
            <a:r>
              <a:rPr lang="en-US" sz="2200" b="1" dirty="0" smtClean="0">
                <a:solidFill>
                  <a:srgbClr val="FFFF00"/>
                </a:solidFill>
                <a:latin typeface="+mn-lt"/>
              </a:rPr>
              <a:t>Analytical framework- </a:t>
            </a:r>
            <a:r>
              <a:rPr lang="en-US" sz="2200" b="1" dirty="0">
                <a:solidFill>
                  <a:srgbClr val="FFFF00"/>
                </a:solidFill>
                <a:latin typeface="+mn-lt"/>
              </a:rPr>
              <a:t>First component of framework </a:t>
            </a:r>
            <a:r>
              <a:rPr lang="en-US" sz="2300" dirty="0">
                <a:latin typeface="+mn-lt"/>
              </a:rPr>
              <a:t>: Understanding the </a:t>
            </a:r>
            <a:r>
              <a:rPr lang="en-US" sz="2300" dirty="0" smtClean="0">
                <a:latin typeface="+mn-lt"/>
              </a:rPr>
              <a:t>arrangement</a:t>
            </a:r>
            <a:endParaRPr sz="3200" dirty="0">
              <a:solidFill>
                <a:srgbClr val="FFFF00"/>
              </a:solidFill>
              <a:latin typeface="+mn-lt"/>
              <a:cs typeface="Trebuchet MS"/>
            </a:endParaRPr>
          </a:p>
        </p:txBody>
      </p:sp>
      <p:sp>
        <p:nvSpPr>
          <p:cNvPr id="2" name="Rectangle 1"/>
          <p:cNvSpPr/>
          <p:nvPr/>
        </p:nvSpPr>
        <p:spPr>
          <a:xfrm>
            <a:off x="836612" y="412934"/>
            <a:ext cx="11177784" cy="892552"/>
          </a:xfrm>
          <a:prstGeom prst="rect">
            <a:avLst/>
          </a:prstGeom>
        </p:spPr>
        <p:txBody>
          <a:bodyPr wrap="square">
            <a:spAutoFit/>
          </a:bodyPr>
          <a:lstStyle/>
          <a:p>
            <a:r>
              <a:rPr lang="en-US" sz="2200" b="1" dirty="0" smtClean="0">
                <a:solidFill>
                  <a:schemeClr val="accent1">
                    <a:lumMod val="60000"/>
                    <a:lumOff val="40000"/>
                  </a:schemeClr>
                </a:solidFill>
                <a:latin typeface="+mn-lt"/>
              </a:rPr>
              <a:t>What </a:t>
            </a:r>
            <a:r>
              <a:rPr lang="en-US" sz="2200" b="1" dirty="0">
                <a:solidFill>
                  <a:schemeClr val="accent1">
                    <a:lumMod val="60000"/>
                    <a:lumOff val="40000"/>
                  </a:schemeClr>
                </a:solidFill>
                <a:latin typeface="+mn-lt"/>
              </a:rPr>
              <a:t>are the key factors for effective implementation</a:t>
            </a:r>
            <a:r>
              <a:rPr lang="en-US" sz="2200" b="1" dirty="0" smtClean="0">
                <a:solidFill>
                  <a:schemeClr val="accent1">
                    <a:lumMod val="60000"/>
                    <a:lumOff val="40000"/>
                  </a:schemeClr>
                </a:solidFill>
                <a:latin typeface="+mn-lt"/>
              </a:rPr>
              <a:t>?</a:t>
            </a:r>
          </a:p>
          <a:p>
            <a:pPr>
              <a:lnSpc>
                <a:spcPct val="150000"/>
              </a:lnSpc>
            </a:pPr>
            <a:r>
              <a:rPr lang="en-US" sz="2000" dirty="0" smtClean="0">
                <a:latin typeface="+mn-lt"/>
              </a:rPr>
              <a:t>Following  </a:t>
            </a:r>
            <a:r>
              <a:rPr lang="en-US" sz="2000" dirty="0">
                <a:latin typeface="+mn-lt"/>
              </a:rPr>
              <a:t>factors </a:t>
            </a:r>
            <a:r>
              <a:rPr lang="en-US" sz="2000" dirty="0" smtClean="0">
                <a:latin typeface="+mn-lt"/>
              </a:rPr>
              <a:t>plays important part in the </a:t>
            </a:r>
            <a:r>
              <a:rPr lang="en-US" sz="2000" dirty="0">
                <a:latin typeface="+mn-lt"/>
              </a:rPr>
              <a:t>implementation of an arrangement</a:t>
            </a:r>
            <a:r>
              <a:rPr lang="en-US" sz="2000" dirty="0" smtClean="0">
                <a:latin typeface="+mn-lt"/>
              </a:rPr>
              <a:t>:</a:t>
            </a:r>
          </a:p>
        </p:txBody>
      </p:sp>
      <p:sp>
        <p:nvSpPr>
          <p:cNvPr id="3" name="Rectangle 2"/>
          <p:cNvSpPr/>
          <p:nvPr/>
        </p:nvSpPr>
        <p:spPr>
          <a:xfrm>
            <a:off x="836612" y="1474763"/>
            <a:ext cx="11154988" cy="4331955"/>
          </a:xfrm>
          <a:prstGeom prst="rect">
            <a:avLst/>
          </a:prstGeom>
        </p:spPr>
        <p:txBody>
          <a:bodyPr wrap="square">
            <a:spAutoFit/>
          </a:bodyPr>
          <a:lstStyle/>
          <a:p>
            <a:r>
              <a:rPr lang="en-US" sz="1900" b="1" dirty="0">
                <a:solidFill>
                  <a:srgbClr val="FFFF00"/>
                </a:solidFill>
                <a:latin typeface="+mn-lt"/>
              </a:rPr>
              <a:t>1. Environmental Factors</a:t>
            </a:r>
          </a:p>
          <a:p>
            <a:pPr>
              <a:lnSpc>
                <a:spcPct val="150000"/>
              </a:lnSpc>
            </a:pPr>
            <a:r>
              <a:rPr lang="en-US" sz="1900" dirty="0">
                <a:latin typeface="+mn-lt"/>
              </a:rPr>
              <a:t>These are external conditions that influence the adoption of a new arrangement. They include:</a:t>
            </a:r>
          </a:p>
          <a:p>
            <a:pPr marL="342900" indent="-342900">
              <a:lnSpc>
                <a:spcPct val="150000"/>
              </a:lnSpc>
              <a:buFont typeface="Wingdings" pitchFamily="2" charset="2"/>
              <a:buChar char="§"/>
            </a:pPr>
            <a:r>
              <a:rPr lang="en-US" sz="1900" b="1" dirty="0">
                <a:solidFill>
                  <a:schemeClr val="accent1">
                    <a:lumMod val="60000"/>
                    <a:lumOff val="40000"/>
                  </a:schemeClr>
                </a:solidFill>
                <a:latin typeface="+mn-lt"/>
              </a:rPr>
              <a:t>Institutional acceptance</a:t>
            </a:r>
            <a:r>
              <a:rPr lang="en-US" sz="1900" dirty="0">
                <a:latin typeface="+mn-lt"/>
              </a:rPr>
              <a:t>: Whether organizations are willing to adopt new technology.</a:t>
            </a:r>
          </a:p>
          <a:p>
            <a:pPr marL="342900" indent="-342900">
              <a:lnSpc>
                <a:spcPct val="150000"/>
              </a:lnSpc>
              <a:buFont typeface="Wingdings" pitchFamily="2" charset="2"/>
              <a:buChar char="§"/>
            </a:pPr>
            <a:r>
              <a:rPr lang="en-US" sz="1900" b="1" dirty="0">
                <a:solidFill>
                  <a:schemeClr val="accent1">
                    <a:lumMod val="60000"/>
                    <a:lumOff val="40000"/>
                  </a:schemeClr>
                </a:solidFill>
                <a:latin typeface="+mn-lt"/>
              </a:rPr>
              <a:t>Market factors</a:t>
            </a:r>
            <a:r>
              <a:rPr lang="en-US" sz="1900" dirty="0">
                <a:latin typeface="+mn-lt"/>
              </a:rPr>
              <a:t>: The size of the market, its structure, and existing practices.</a:t>
            </a:r>
          </a:p>
          <a:p>
            <a:pPr marL="342900" indent="-342900">
              <a:lnSpc>
                <a:spcPct val="150000"/>
              </a:lnSpc>
              <a:buFont typeface="Wingdings" pitchFamily="2" charset="2"/>
              <a:buChar char="§"/>
            </a:pPr>
            <a:r>
              <a:rPr lang="en-US" sz="1900" b="1" dirty="0">
                <a:solidFill>
                  <a:schemeClr val="accent1">
                    <a:lumMod val="60000"/>
                    <a:lumOff val="40000"/>
                  </a:schemeClr>
                </a:solidFill>
                <a:latin typeface="+mn-lt"/>
              </a:rPr>
              <a:t>Regulatory and legal conditions</a:t>
            </a:r>
            <a:r>
              <a:rPr lang="en-US" sz="1900" dirty="0">
                <a:latin typeface="+mn-lt"/>
              </a:rPr>
              <a:t>: Rules and laws that may support or hinder adoption.</a:t>
            </a:r>
          </a:p>
          <a:p>
            <a:pPr marL="342900" indent="-342900">
              <a:lnSpc>
                <a:spcPct val="150000"/>
              </a:lnSpc>
              <a:buFont typeface="Wingdings" pitchFamily="2" charset="2"/>
              <a:buChar char="§"/>
            </a:pPr>
            <a:r>
              <a:rPr lang="en-US" sz="1900" b="1" dirty="0">
                <a:solidFill>
                  <a:schemeClr val="accent1">
                    <a:lumMod val="60000"/>
                    <a:lumOff val="40000"/>
                  </a:schemeClr>
                </a:solidFill>
                <a:latin typeface="+mn-lt"/>
              </a:rPr>
              <a:t>Industry coordination</a:t>
            </a:r>
            <a:r>
              <a:rPr lang="en-US" sz="1900" dirty="0">
                <a:latin typeface="+mn-lt"/>
              </a:rPr>
              <a:t>: How well different players in the industry work together.</a:t>
            </a:r>
          </a:p>
          <a:p>
            <a:pPr>
              <a:lnSpc>
                <a:spcPct val="150000"/>
              </a:lnSpc>
            </a:pPr>
            <a:r>
              <a:rPr lang="en-US" sz="1900" b="1" dirty="0">
                <a:solidFill>
                  <a:srgbClr val="FFFF00"/>
                </a:solidFill>
                <a:latin typeface="+mn-lt"/>
              </a:rPr>
              <a:t>Example</a:t>
            </a:r>
            <a:r>
              <a:rPr lang="en-US" sz="1900" dirty="0">
                <a:latin typeface="+mn-lt"/>
              </a:rPr>
              <a:t>:</a:t>
            </a:r>
          </a:p>
          <a:p>
            <a:pPr>
              <a:lnSpc>
                <a:spcPct val="150000"/>
              </a:lnSpc>
            </a:pPr>
            <a:r>
              <a:rPr lang="en-US" sz="1900" dirty="0">
                <a:latin typeface="+mn-lt"/>
              </a:rPr>
              <a:t>A new blockchain-based payment system might face challenges if banks are hesitant to adopt it (institutional acceptance), if the market is dominated by cash transactions (market practices), or if regulations are unclear about digital currencies (regulatory conditions).</a:t>
            </a:r>
          </a:p>
        </p:txBody>
      </p:sp>
    </p:spTree>
    <p:extLst>
      <p:ext uri="{BB962C8B-B14F-4D97-AF65-F5344CB8AC3E}">
        <p14:creationId xmlns:p14="http://schemas.microsoft.com/office/powerpoint/2010/main" val="1996802746"/>
      </p:ext>
    </p:extLst>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836612" y="0"/>
            <a:ext cx="11154988" cy="366767"/>
          </a:xfrm>
          <a:prstGeom prst="rect">
            <a:avLst/>
          </a:prstGeom>
        </p:spPr>
        <p:txBody>
          <a:bodyPr vert="horz" wrap="square" lIns="0" tIns="12700" rIns="0" bIns="0" rtlCol="0">
            <a:spAutoFit/>
          </a:bodyPr>
          <a:lstStyle/>
          <a:p>
            <a:pPr marL="12700">
              <a:spcBef>
                <a:spcPts val="100"/>
              </a:spcBef>
            </a:pPr>
            <a:r>
              <a:rPr lang="en-US" sz="2200" b="1" dirty="0" smtClean="0">
                <a:solidFill>
                  <a:srgbClr val="FFFF00"/>
                </a:solidFill>
                <a:latin typeface="+mn-lt"/>
              </a:rPr>
              <a:t>Analytical framework- </a:t>
            </a:r>
            <a:r>
              <a:rPr lang="en-US" sz="2200" b="1" dirty="0">
                <a:solidFill>
                  <a:srgbClr val="FFFF00"/>
                </a:solidFill>
                <a:latin typeface="+mn-lt"/>
              </a:rPr>
              <a:t>First component of framework </a:t>
            </a:r>
            <a:r>
              <a:rPr lang="en-US" sz="2300" dirty="0">
                <a:latin typeface="+mn-lt"/>
              </a:rPr>
              <a:t>: Understanding the </a:t>
            </a:r>
            <a:r>
              <a:rPr lang="en-US" sz="2300" dirty="0" smtClean="0">
                <a:latin typeface="+mn-lt"/>
              </a:rPr>
              <a:t>arrangement</a:t>
            </a:r>
            <a:endParaRPr sz="3200" dirty="0">
              <a:solidFill>
                <a:srgbClr val="FFFF00"/>
              </a:solidFill>
              <a:latin typeface="+mn-lt"/>
              <a:cs typeface="Trebuchet MS"/>
            </a:endParaRPr>
          </a:p>
        </p:txBody>
      </p:sp>
      <p:sp>
        <p:nvSpPr>
          <p:cNvPr id="2" name="Rectangle 1"/>
          <p:cNvSpPr/>
          <p:nvPr/>
        </p:nvSpPr>
        <p:spPr>
          <a:xfrm>
            <a:off x="836612" y="412934"/>
            <a:ext cx="11177784" cy="815608"/>
          </a:xfrm>
          <a:prstGeom prst="rect">
            <a:avLst/>
          </a:prstGeom>
        </p:spPr>
        <p:txBody>
          <a:bodyPr wrap="square">
            <a:spAutoFit/>
          </a:bodyPr>
          <a:lstStyle/>
          <a:p>
            <a:pPr>
              <a:spcAft>
                <a:spcPts val="600"/>
              </a:spcAft>
            </a:pPr>
            <a:r>
              <a:rPr lang="en-US" sz="2200" b="1" dirty="0" smtClean="0">
                <a:solidFill>
                  <a:schemeClr val="accent1">
                    <a:lumMod val="60000"/>
                    <a:lumOff val="40000"/>
                  </a:schemeClr>
                </a:solidFill>
                <a:latin typeface="+mn-lt"/>
              </a:rPr>
              <a:t>What </a:t>
            </a:r>
            <a:r>
              <a:rPr lang="en-US" sz="2200" b="1" dirty="0">
                <a:solidFill>
                  <a:schemeClr val="accent1">
                    <a:lumMod val="60000"/>
                    <a:lumOff val="40000"/>
                  </a:schemeClr>
                </a:solidFill>
                <a:latin typeface="+mn-lt"/>
              </a:rPr>
              <a:t>are the key factors for effective implementation</a:t>
            </a:r>
            <a:r>
              <a:rPr lang="en-US" sz="2200" b="1" dirty="0" smtClean="0">
                <a:solidFill>
                  <a:schemeClr val="accent1">
                    <a:lumMod val="60000"/>
                    <a:lumOff val="40000"/>
                  </a:schemeClr>
                </a:solidFill>
                <a:latin typeface="+mn-lt"/>
              </a:rPr>
              <a:t>?</a:t>
            </a:r>
          </a:p>
          <a:p>
            <a:pPr>
              <a:spcAft>
                <a:spcPts val="600"/>
              </a:spcAft>
            </a:pPr>
            <a:r>
              <a:rPr lang="en-US" sz="2000" dirty="0" smtClean="0">
                <a:latin typeface="+mn-lt"/>
              </a:rPr>
              <a:t>Following  </a:t>
            </a:r>
            <a:r>
              <a:rPr lang="en-US" sz="2000" dirty="0">
                <a:latin typeface="+mn-lt"/>
              </a:rPr>
              <a:t>factors </a:t>
            </a:r>
            <a:r>
              <a:rPr lang="en-US" sz="2000" dirty="0" smtClean="0">
                <a:latin typeface="+mn-lt"/>
              </a:rPr>
              <a:t>plays important part in the </a:t>
            </a:r>
            <a:r>
              <a:rPr lang="en-US" sz="2000" dirty="0">
                <a:latin typeface="+mn-lt"/>
              </a:rPr>
              <a:t>implementation of an arrangement</a:t>
            </a:r>
            <a:r>
              <a:rPr lang="en-US" sz="2000" dirty="0" smtClean="0">
                <a:latin typeface="+mn-lt"/>
              </a:rPr>
              <a:t>:</a:t>
            </a:r>
          </a:p>
        </p:txBody>
      </p:sp>
      <p:sp>
        <p:nvSpPr>
          <p:cNvPr id="4" name="Rectangle 3"/>
          <p:cNvSpPr/>
          <p:nvPr/>
        </p:nvSpPr>
        <p:spPr>
          <a:xfrm>
            <a:off x="807592" y="1228542"/>
            <a:ext cx="11184008" cy="3276282"/>
          </a:xfrm>
          <a:prstGeom prst="rect">
            <a:avLst/>
          </a:prstGeom>
        </p:spPr>
        <p:txBody>
          <a:bodyPr wrap="square">
            <a:spAutoFit/>
          </a:bodyPr>
          <a:lstStyle/>
          <a:p>
            <a:r>
              <a:rPr lang="en-US" sz="2000" b="1" dirty="0">
                <a:solidFill>
                  <a:srgbClr val="FFFF00"/>
                </a:solidFill>
                <a:latin typeface="+mn-lt"/>
              </a:rPr>
              <a:t>2. Technological Factors</a:t>
            </a:r>
          </a:p>
          <a:p>
            <a:pPr>
              <a:lnSpc>
                <a:spcPct val="150000"/>
              </a:lnSpc>
            </a:pPr>
            <a:r>
              <a:rPr lang="en-US" sz="2000" dirty="0">
                <a:latin typeface="+mn-lt"/>
              </a:rPr>
              <a:t>These relate to the technology itself and how well it fits into existing systems. Key considerations include:</a:t>
            </a:r>
          </a:p>
          <a:p>
            <a:pPr marL="342900" indent="-342900">
              <a:lnSpc>
                <a:spcPct val="150000"/>
              </a:lnSpc>
              <a:buFont typeface="Wingdings" pitchFamily="2" charset="2"/>
              <a:buChar char="§"/>
            </a:pPr>
            <a:r>
              <a:rPr lang="en-US" sz="2000" b="1" dirty="0">
                <a:latin typeface="+mn-lt"/>
              </a:rPr>
              <a:t>Maturity of the technology</a:t>
            </a:r>
            <a:r>
              <a:rPr lang="en-US" sz="2000" dirty="0">
                <a:latin typeface="+mn-lt"/>
              </a:rPr>
              <a:t>: Is the technology proven and reliable, or still experimental?</a:t>
            </a:r>
          </a:p>
          <a:p>
            <a:pPr marL="342900" indent="-342900">
              <a:lnSpc>
                <a:spcPct val="150000"/>
              </a:lnSpc>
              <a:buFont typeface="Wingdings" pitchFamily="2" charset="2"/>
              <a:buChar char="§"/>
            </a:pPr>
            <a:r>
              <a:rPr lang="en-US" sz="2000" b="1" dirty="0">
                <a:latin typeface="+mn-lt"/>
              </a:rPr>
              <a:t>Interoperability</a:t>
            </a:r>
            <a:r>
              <a:rPr lang="en-US" sz="2000" dirty="0">
                <a:latin typeface="+mn-lt"/>
              </a:rPr>
              <a:t>: Can it work seamlessly with current systems and processes?</a:t>
            </a:r>
          </a:p>
          <a:p>
            <a:pPr>
              <a:lnSpc>
                <a:spcPct val="150000"/>
              </a:lnSpc>
            </a:pPr>
            <a:r>
              <a:rPr lang="en-US" sz="2000" b="1" dirty="0">
                <a:solidFill>
                  <a:srgbClr val="FFFF00"/>
                </a:solidFill>
                <a:latin typeface="+mn-lt"/>
              </a:rPr>
              <a:t>Example:</a:t>
            </a:r>
            <a:r>
              <a:rPr lang="en-US" sz="2000" dirty="0">
                <a:latin typeface="+mn-lt"/>
              </a:rPr>
              <a:t/>
            </a:r>
            <a:br>
              <a:rPr lang="en-US" sz="2000" dirty="0">
                <a:latin typeface="+mn-lt"/>
              </a:rPr>
            </a:br>
            <a:r>
              <a:rPr lang="en-US" sz="2000" dirty="0">
                <a:latin typeface="+mn-lt"/>
              </a:rPr>
              <a:t>A new AI-powered trading platform is more likely to be adopted if it is compatible with existing trading software (interoperability) and has been tested successfully in other markets (maturity)</a:t>
            </a:r>
          </a:p>
        </p:txBody>
      </p:sp>
    </p:spTree>
    <p:extLst>
      <p:ext uri="{BB962C8B-B14F-4D97-AF65-F5344CB8AC3E}">
        <p14:creationId xmlns:p14="http://schemas.microsoft.com/office/powerpoint/2010/main" val="157272202"/>
      </p:ext>
    </p:extLst>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836612" y="0"/>
            <a:ext cx="11154988" cy="366767"/>
          </a:xfrm>
          <a:prstGeom prst="rect">
            <a:avLst/>
          </a:prstGeom>
        </p:spPr>
        <p:txBody>
          <a:bodyPr vert="horz" wrap="square" lIns="0" tIns="12700" rIns="0" bIns="0" rtlCol="0">
            <a:spAutoFit/>
          </a:bodyPr>
          <a:lstStyle/>
          <a:p>
            <a:pPr marL="12700">
              <a:spcBef>
                <a:spcPts val="100"/>
              </a:spcBef>
            </a:pPr>
            <a:r>
              <a:rPr lang="en-US" sz="2200" b="1" dirty="0" smtClean="0">
                <a:solidFill>
                  <a:srgbClr val="FFFF00"/>
                </a:solidFill>
                <a:latin typeface="+mn-lt"/>
              </a:rPr>
              <a:t>Analytical framework- </a:t>
            </a:r>
            <a:r>
              <a:rPr lang="en-US" sz="2200" b="1" dirty="0">
                <a:solidFill>
                  <a:srgbClr val="FFFF00"/>
                </a:solidFill>
                <a:latin typeface="+mn-lt"/>
              </a:rPr>
              <a:t>First component of framework </a:t>
            </a:r>
            <a:r>
              <a:rPr lang="en-US" sz="2300" dirty="0">
                <a:latin typeface="+mn-lt"/>
              </a:rPr>
              <a:t>: Understanding the </a:t>
            </a:r>
            <a:r>
              <a:rPr lang="en-US" sz="2300" dirty="0" smtClean="0">
                <a:latin typeface="+mn-lt"/>
              </a:rPr>
              <a:t>arrangement</a:t>
            </a:r>
            <a:endParaRPr sz="3200" dirty="0">
              <a:solidFill>
                <a:srgbClr val="FFFF00"/>
              </a:solidFill>
              <a:latin typeface="+mn-lt"/>
              <a:cs typeface="Trebuchet MS"/>
            </a:endParaRPr>
          </a:p>
        </p:txBody>
      </p:sp>
      <p:sp>
        <p:nvSpPr>
          <p:cNvPr id="2" name="Rectangle 1"/>
          <p:cNvSpPr/>
          <p:nvPr/>
        </p:nvSpPr>
        <p:spPr>
          <a:xfrm>
            <a:off x="836612" y="412934"/>
            <a:ext cx="11177784" cy="815608"/>
          </a:xfrm>
          <a:prstGeom prst="rect">
            <a:avLst/>
          </a:prstGeom>
        </p:spPr>
        <p:txBody>
          <a:bodyPr wrap="square">
            <a:spAutoFit/>
          </a:bodyPr>
          <a:lstStyle/>
          <a:p>
            <a:pPr>
              <a:spcAft>
                <a:spcPts val="600"/>
              </a:spcAft>
            </a:pPr>
            <a:r>
              <a:rPr lang="en-US" sz="2200" b="1" dirty="0" smtClean="0">
                <a:solidFill>
                  <a:schemeClr val="accent1">
                    <a:lumMod val="60000"/>
                    <a:lumOff val="40000"/>
                  </a:schemeClr>
                </a:solidFill>
                <a:latin typeface="+mn-lt"/>
              </a:rPr>
              <a:t>What </a:t>
            </a:r>
            <a:r>
              <a:rPr lang="en-US" sz="2200" b="1" dirty="0">
                <a:solidFill>
                  <a:schemeClr val="accent1">
                    <a:lumMod val="60000"/>
                    <a:lumOff val="40000"/>
                  </a:schemeClr>
                </a:solidFill>
                <a:latin typeface="+mn-lt"/>
              </a:rPr>
              <a:t>are the key factors for effective implementation</a:t>
            </a:r>
            <a:r>
              <a:rPr lang="en-US" sz="2200" b="1" dirty="0" smtClean="0">
                <a:solidFill>
                  <a:schemeClr val="accent1">
                    <a:lumMod val="60000"/>
                    <a:lumOff val="40000"/>
                  </a:schemeClr>
                </a:solidFill>
                <a:latin typeface="+mn-lt"/>
              </a:rPr>
              <a:t>?</a:t>
            </a:r>
          </a:p>
          <a:p>
            <a:pPr>
              <a:spcAft>
                <a:spcPts val="600"/>
              </a:spcAft>
            </a:pPr>
            <a:r>
              <a:rPr lang="en-US" sz="2000" dirty="0" smtClean="0">
                <a:latin typeface="+mn-lt"/>
              </a:rPr>
              <a:t>Following  </a:t>
            </a:r>
            <a:r>
              <a:rPr lang="en-US" sz="2000" dirty="0">
                <a:latin typeface="+mn-lt"/>
              </a:rPr>
              <a:t>factors </a:t>
            </a:r>
            <a:r>
              <a:rPr lang="en-US" sz="2000" dirty="0" smtClean="0">
                <a:latin typeface="+mn-lt"/>
              </a:rPr>
              <a:t>plays important part in the </a:t>
            </a:r>
            <a:r>
              <a:rPr lang="en-US" sz="2000" dirty="0">
                <a:latin typeface="+mn-lt"/>
              </a:rPr>
              <a:t>implementation of an arrangement</a:t>
            </a:r>
            <a:r>
              <a:rPr lang="en-US" sz="2000" dirty="0" smtClean="0">
                <a:latin typeface="+mn-lt"/>
              </a:rPr>
              <a:t>:</a:t>
            </a:r>
          </a:p>
        </p:txBody>
      </p:sp>
      <p:sp>
        <p:nvSpPr>
          <p:cNvPr id="4" name="Rectangle 3"/>
          <p:cNvSpPr/>
          <p:nvPr/>
        </p:nvSpPr>
        <p:spPr>
          <a:xfrm>
            <a:off x="807592" y="1228542"/>
            <a:ext cx="11184008" cy="3323987"/>
          </a:xfrm>
          <a:prstGeom prst="rect">
            <a:avLst/>
          </a:prstGeom>
        </p:spPr>
        <p:txBody>
          <a:bodyPr wrap="square">
            <a:spAutoFit/>
          </a:bodyPr>
          <a:lstStyle/>
          <a:p>
            <a:pPr>
              <a:lnSpc>
                <a:spcPct val="150000"/>
              </a:lnSpc>
            </a:pPr>
            <a:r>
              <a:rPr lang="en-US" sz="2000" b="1" dirty="0">
                <a:solidFill>
                  <a:srgbClr val="FFFF00"/>
                </a:solidFill>
                <a:latin typeface="+mn-lt"/>
              </a:rPr>
              <a:t>3. Financial Factors</a:t>
            </a:r>
          </a:p>
          <a:p>
            <a:pPr>
              <a:lnSpc>
                <a:spcPct val="150000"/>
              </a:lnSpc>
            </a:pPr>
            <a:r>
              <a:rPr lang="en-US" sz="2000" dirty="0">
                <a:latin typeface="+mn-lt"/>
              </a:rPr>
              <a:t>These involve </a:t>
            </a:r>
            <a:r>
              <a:rPr lang="en-US" sz="2000" dirty="0" smtClean="0">
                <a:latin typeface="+mn-lt"/>
              </a:rPr>
              <a:t>economic </a:t>
            </a:r>
            <a:r>
              <a:rPr lang="en-US" sz="2000" dirty="0">
                <a:latin typeface="+mn-lt"/>
              </a:rPr>
              <a:t>benefits of adopting </a:t>
            </a:r>
            <a:r>
              <a:rPr lang="en-US" sz="2000" dirty="0" smtClean="0">
                <a:latin typeface="+mn-lt"/>
              </a:rPr>
              <a:t>arrangement</a:t>
            </a:r>
            <a:r>
              <a:rPr lang="en-US" sz="2000" dirty="0">
                <a:latin typeface="+mn-lt"/>
              </a:rPr>
              <a:t>. Projects are more likely to be adopted if they:</a:t>
            </a:r>
          </a:p>
          <a:p>
            <a:pPr marL="342900" indent="-342900">
              <a:lnSpc>
                <a:spcPct val="150000"/>
              </a:lnSpc>
              <a:buFont typeface="Wingdings" pitchFamily="2" charset="2"/>
              <a:buChar char="§"/>
            </a:pPr>
            <a:r>
              <a:rPr lang="en-US" sz="2000" dirty="0">
                <a:latin typeface="+mn-lt"/>
              </a:rPr>
              <a:t>Offer </a:t>
            </a:r>
            <a:r>
              <a:rPr lang="en-US" sz="2000" b="1" dirty="0">
                <a:latin typeface="+mn-lt"/>
              </a:rPr>
              <a:t>cost savings</a:t>
            </a:r>
            <a:r>
              <a:rPr lang="en-US" sz="2000" dirty="0">
                <a:latin typeface="+mn-lt"/>
              </a:rPr>
              <a:t>: Reduce operational expenses.</a:t>
            </a:r>
          </a:p>
          <a:p>
            <a:pPr marL="342900" indent="-342900">
              <a:lnSpc>
                <a:spcPct val="150000"/>
              </a:lnSpc>
              <a:buFont typeface="Wingdings" pitchFamily="2" charset="2"/>
              <a:buChar char="§"/>
            </a:pPr>
            <a:r>
              <a:rPr lang="en-US" sz="2000" dirty="0">
                <a:latin typeface="+mn-lt"/>
              </a:rPr>
              <a:t>Have </a:t>
            </a:r>
            <a:r>
              <a:rPr lang="en-US" sz="2000" b="1" dirty="0">
                <a:latin typeface="+mn-lt"/>
              </a:rPr>
              <a:t>revenue potential</a:t>
            </a:r>
            <a:r>
              <a:rPr lang="en-US" sz="2000" dirty="0">
                <a:latin typeface="+mn-lt"/>
              </a:rPr>
              <a:t>: Generate new income streams.</a:t>
            </a:r>
          </a:p>
          <a:p>
            <a:pPr>
              <a:lnSpc>
                <a:spcPct val="150000"/>
              </a:lnSpc>
            </a:pPr>
            <a:r>
              <a:rPr lang="en-US" sz="2000" b="1" dirty="0">
                <a:solidFill>
                  <a:schemeClr val="accent1">
                    <a:lumMod val="60000"/>
                    <a:lumOff val="40000"/>
                  </a:schemeClr>
                </a:solidFill>
                <a:latin typeface="+mn-lt"/>
              </a:rPr>
              <a:t>Example:</a:t>
            </a:r>
            <a:r>
              <a:rPr lang="en-US" sz="2000" dirty="0">
                <a:latin typeface="+mn-lt"/>
              </a:rPr>
              <a:t/>
            </a:r>
            <a:br>
              <a:rPr lang="en-US" sz="2000" dirty="0">
                <a:latin typeface="+mn-lt"/>
              </a:rPr>
            </a:br>
            <a:r>
              <a:rPr lang="en-US" sz="2000" dirty="0">
                <a:latin typeface="+mn-lt"/>
              </a:rPr>
              <a:t>A bank may adopt a new cloud-based system if it reduces IT maintenance costs (cost savings) and allows the bank to offer new digital services to customers (revenue potential).</a:t>
            </a:r>
          </a:p>
        </p:txBody>
      </p:sp>
      <p:sp>
        <p:nvSpPr>
          <p:cNvPr id="3" name="Rectangle 2"/>
          <p:cNvSpPr/>
          <p:nvPr/>
        </p:nvSpPr>
        <p:spPr>
          <a:xfrm>
            <a:off x="531812" y="4876800"/>
            <a:ext cx="11459788" cy="830997"/>
          </a:xfrm>
          <a:prstGeom prst="rect">
            <a:avLst/>
          </a:prstGeom>
        </p:spPr>
        <p:txBody>
          <a:bodyPr wrap="square">
            <a:spAutoFit/>
          </a:bodyPr>
          <a:lstStyle/>
          <a:p>
            <a:r>
              <a:rPr lang="en-US" sz="2200" dirty="0">
                <a:solidFill>
                  <a:srgbClr val="FFFF00"/>
                </a:solidFill>
                <a:latin typeface="+mn-lt"/>
              </a:rPr>
              <a:t>By considering </a:t>
            </a:r>
            <a:r>
              <a:rPr lang="en-US" sz="2200" dirty="0" smtClean="0">
                <a:solidFill>
                  <a:srgbClr val="FFFF00"/>
                </a:solidFill>
                <a:latin typeface="+mn-lt"/>
              </a:rPr>
              <a:t>all these </a:t>
            </a:r>
            <a:r>
              <a:rPr lang="en-US" sz="2200" dirty="0">
                <a:solidFill>
                  <a:srgbClr val="FFFF00"/>
                </a:solidFill>
                <a:latin typeface="+mn-lt"/>
              </a:rPr>
              <a:t>three (</a:t>
            </a:r>
            <a:r>
              <a:rPr lang="en-US" sz="2200" dirty="0" smtClean="0">
                <a:latin typeface="+mn-lt"/>
              </a:rPr>
              <a:t>Environmental , Technological </a:t>
            </a:r>
            <a:r>
              <a:rPr lang="en-US" sz="2200" dirty="0">
                <a:latin typeface="+mn-lt"/>
              </a:rPr>
              <a:t>and Financial </a:t>
            </a:r>
            <a:r>
              <a:rPr lang="en-US" sz="2200" dirty="0" smtClean="0">
                <a:solidFill>
                  <a:srgbClr val="FFFF00"/>
                </a:solidFill>
                <a:latin typeface="+mn-lt"/>
              </a:rPr>
              <a:t>) factors</a:t>
            </a:r>
            <a:r>
              <a:rPr lang="en-US" sz="2200" dirty="0">
                <a:solidFill>
                  <a:srgbClr val="FFFF00"/>
                </a:solidFill>
                <a:latin typeface="+mn-lt"/>
              </a:rPr>
              <a:t>, organizations can better evaluate whether a new arrangement is feasible and beneficial</a:t>
            </a:r>
            <a:r>
              <a:rPr lang="en-US" dirty="0"/>
              <a:t>.</a:t>
            </a:r>
          </a:p>
        </p:txBody>
      </p:sp>
    </p:spTree>
    <p:extLst>
      <p:ext uri="{BB962C8B-B14F-4D97-AF65-F5344CB8AC3E}">
        <p14:creationId xmlns:p14="http://schemas.microsoft.com/office/powerpoint/2010/main" val="2145513487"/>
      </p:ext>
    </p:extLst>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612" y="152400"/>
            <a:ext cx="11125200" cy="5626027"/>
          </a:xfrm>
          <a:prstGeom prst="rect">
            <a:avLst/>
          </a:prstGeom>
        </p:spPr>
        <p:txBody>
          <a:bodyPr wrap="square">
            <a:spAutoFit/>
          </a:bodyPr>
          <a:lstStyle/>
          <a:p>
            <a:pPr>
              <a:lnSpc>
                <a:spcPct val="150000"/>
              </a:lnSpc>
            </a:pPr>
            <a:r>
              <a:rPr lang="en-US" sz="2000" b="1" dirty="0">
                <a:solidFill>
                  <a:schemeClr val="accent1">
                    <a:lumMod val="60000"/>
                    <a:lumOff val="40000"/>
                  </a:schemeClr>
                </a:solidFill>
                <a:latin typeface="+mn-lt"/>
              </a:rPr>
              <a:t>Environmental Factors (Regulatory &amp; Market Acceptance</a:t>
            </a:r>
            <a:r>
              <a:rPr lang="en-US" sz="2000" b="1" dirty="0" smtClean="0">
                <a:solidFill>
                  <a:schemeClr val="accent1">
                    <a:lumMod val="60000"/>
                    <a:lumOff val="40000"/>
                  </a:schemeClr>
                </a:solidFill>
                <a:latin typeface="+mn-lt"/>
              </a:rPr>
              <a:t>)</a:t>
            </a:r>
          </a:p>
          <a:p>
            <a:pPr marL="512763" indent="-280988">
              <a:lnSpc>
                <a:spcPct val="150000"/>
              </a:lnSpc>
              <a:buFont typeface="Wingdings" pitchFamily="2" charset="2"/>
              <a:buChar char="§"/>
            </a:pPr>
            <a:r>
              <a:rPr lang="en-US" sz="2000" dirty="0" smtClean="0">
                <a:latin typeface="+mn-lt"/>
              </a:rPr>
              <a:t>Land </a:t>
            </a:r>
            <a:r>
              <a:rPr lang="en-US" sz="2000" dirty="0">
                <a:latin typeface="+mn-lt"/>
              </a:rPr>
              <a:t>Registry on Blockchain – Governments must approve blockchain for official records</a:t>
            </a:r>
            <a:r>
              <a:rPr lang="en-US" sz="2000" dirty="0" smtClean="0">
                <a:latin typeface="+mn-lt"/>
              </a:rPr>
              <a:t>.</a:t>
            </a:r>
          </a:p>
          <a:p>
            <a:pPr marL="512763" indent="-280988">
              <a:lnSpc>
                <a:spcPct val="150000"/>
              </a:lnSpc>
              <a:buFont typeface="Wingdings" pitchFamily="2" charset="2"/>
              <a:buChar char="§"/>
            </a:pPr>
            <a:r>
              <a:rPr lang="en-US" sz="2000" dirty="0" smtClean="0">
                <a:latin typeface="+mn-lt"/>
              </a:rPr>
              <a:t>Decentralized </a:t>
            </a:r>
            <a:r>
              <a:rPr lang="en-US" sz="2000" dirty="0">
                <a:latin typeface="+mn-lt"/>
              </a:rPr>
              <a:t>Identity Verification – Industries need common standards for wide adoption</a:t>
            </a:r>
            <a:r>
              <a:rPr lang="en-US" sz="2000" dirty="0" smtClean="0">
                <a:latin typeface="+mn-lt"/>
              </a:rPr>
              <a:t>.</a:t>
            </a:r>
          </a:p>
          <a:p>
            <a:pPr marL="512763" indent="-280988">
              <a:lnSpc>
                <a:spcPct val="150000"/>
              </a:lnSpc>
              <a:buFont typeface="Wingdings" pitchFamily="2" charset="2"/>
              <a:buChar char="§"/>
            </a:pPr>
            <a:r>
              <a:rPr lang="en-US" sz="2000" dirty="0" smtClean="0">
                <a:latin typeface="+mn-lt"/>
              </a:rPr>
              <a:t>Cross-Border </a:t>
            </a:r>
            <a:r>
              <a:rPr lang="en-US" sz="2000" dirty="0">
                <a:latin typeface="+mn-lt"/>
              </a:rPr>
              <a:t>Payments – Regulatory compliance is necessary for legal transactions</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Technological </a:t>
            </a:r>
            <a:r>
              <a:rPr lang="en-US" sz="2000" b="1" dirty="0">
                <a:solidFill>
                  <a:schemeClr val="accent1">
                    <a:lumMod val="60000"/>
                    <a:lumOff val="40000"/>
                  </a:schemeClr>
                </a:solidFill>
                <a:latin typeface="+mn-lt"/>
              </a:rPr>
              <a:t>Factors (Integration &amp; Compatibility</a:t>
            </a:r>
            <a:r>
              <a:rPr lang="en-US" sz="2000" b="1" dirty="0" smtClean="0">
                <a:solidFill>
                  <a:schemeClr val="accent1">
                    <a:lumMod val="60000"/>
                    <a:lumOff val="40000"/>
                  </a:schemeClr>
                </a:solidFill>
                <a:latin typeface="+mn-lt"/>
              </a:rPr>
              <a:t>)</a:t>
            </a:r>
          </a:p>
          <a:p>
            <a:pPr marL="512763" indent="-280988">
              <a:lnSpc>
                <a:spcPct val="150000"/>
              </a:lnSpc>
              <a:buFont typeface="Wingdings" pitchFamily="2" charset="2"/>
              <a:buChar char="§"/>
            </a:pPr>
            <a:r>
              <a:rPr lang="en-US" sz="2000" dirty="0" smtClean="0">
                <a:latin typeface="+mn-lt"/>
              </a:rPr>
              <a:t>Blockchain </a:t>
            </a:r>
            <a:r>
              <a:rPr lang="en-US" sz="2000" dirty="0">
                <a:latin typeface="+mn-lt"/>
              </a:rPr>
              <a:t>Supply Chain Tracking – Must connect with logistics software for real-time updates</a:t>
            </a:r>
            <a:r>
              <a:rPr lang="en-US" sz="2000" dirty="0" smtClean="0">
                <a:latin typeface="+mn-lt"/>
              </a:rPr>
              <a:t>.</a:t>
            </a:r>
          </a:p>
          <a:p>
            <a:pPr marL="512763" indent="-280988">
              <a:lnSpc>
                <a:spcPct val="150000"/>
              </a:lnSpc>
              <a:buFont typeface="Wingdings" pitchFamily="2" charset="2"/>
              <a:buChar char="§"/>
            </a:pPr>
            <a:r>
              <a:rPr lang="en-US" sz="2000" dirty="0" smtClean="0">
                <a:latin typeface="+mn-lt"/>
              </a:rPr>
              <a:t>Smart </a:t>
            </a:r>
            <a:r>
              <a:rPr lang="en-US" sz="2000" dirty="0">
                <a:latin typeface="+mn-lt"/>
              </a:rPr>
              <a:t>Contracts Across Blockchains – Needs interoperability to function on different networks</a:t>
            </a:r>
            <a:r>
              <a:rPr lang="en-US" sz="2000" dirty="0" smtClean="0">
                <a:latin typeface="+mn-lt"/>
              </a:rPr>
              <a:t>.</a:t>
            </a:r>
          </a:p>
          <a:p>
            <a:pPr marL="512763" indent="-280988">
              <a:lnSpc>
                <a:spcPct val="150000"/>
              </a:lnSpc>
              <a:buFont typeface="Wingdings" pitchFamily="2" charset="2"/>
              <a:buChar char="§"/>
            </a:pPr>
            <a:r>
              <a:rPr lang="en-US" sz="2000" dirty="0" smtClean="0">
                <a:latin typeface="+mn-lt"/>
              </a:rPr>
              <a:t>DLT-Based </a:t>
            </a:r>
            <a:r>
              <a:rPr lang="en-US" sz="2000" dirty="0">
                <a:latin typeface="+mn-lt"/>
              </a:rPr>
              <a:t>Healthcare Records – Must work with hospital databases while ensuring data privacy</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Financial </a:t>
            </a:r>
            <a:r>
              <a:rPr lang="en-US" sz="2000" b="1" dirty="0">
                <a:solidFill>
                  <a:schemeClr val="accent1">
                    <a:lumMod val="60000"/>
                    <a:lumOff val="40000"/>
                  </a:schemeClr>
                </a:solidFill>
                <a:latin typeface="+mn-lt"/>
              </a:rPr>
              <a:t>Factors (Cost &amp; Benefits</a:t>
            </a:r>
            <a:r>
              <a:rPr lang="en-US" sz="2000" b="1" dirty="0" smtClean="0">
                <a:solidFill>
                  <a:schemeClr val="accent1">
                    <a:lumMod val="60000"/>
                    <a:lumOff val="40000"/>
                  </a:schemeClr>
                </a:solidFill>
                <a:latin typeface="+mn-lt"/>
              </a:rPr>
              <a:t>)</a:t>
            </a:r>
          </a:p>
          <a:p>
            <a:pPr marL="463550" indent="-292100">
              <a:lnSpc>
                <a:spcPct val="150000"/>
              </a:lnSpc>
              <a:buFont typeface="Wingdings" pitchFamily="2" charset="2"/>
              <a:buChar char="§"/>
            </a:pPr>
            <a:r>
              <a:rPr lang="en-US" sz="2000" dirty="0" smtClean="0">
                <a:latin typeface="+mn-lt"/>
              </a:rPr>
              <a:t>DLT-Based </a:t>
            </a:r>
            <a:r>
              <a:rPr lang="en-US" sz="2000" dirty="0">
                <a:latin typeface="+mn-lt"/>
              </a:rPr>
              <a:t>Remittance Services – Should reduce transaction fees to compete with banks</a:t>
            </a:r>
            <a:r>
              <a:rPr lang="en-US" sz="2000" dirty="0" smtClean="0">
                <a:latin typeface="+mn-lt"/>
              </a:rPr>
              <a:t>.</a:t>
            </a:r>
          </a:p>
          <a:p>
            <a:pPr marL="463550" indent="-292100">
              <a:lnSpc>
                <a:spcPct val="150000"/>
              </a:lnSpc>
              <a:buFont typeface="Wingdings" pitchFamily="2" charset="2"/>
              <a:buChar char="§"/>
            </a:pPr>
            <a:r>
              <a:rPr lang="en-US" sz="2000" dirty="0" smtClean="0">
                <a:latin typeface="+mn-lt"/>
              </a:rPr>
              <a:t>Tokenized </a:t>
            </a:r>
            <a:r>
              <a:rPr lang="en-US" sz="2000" dirty="0">
                <a:latin typeface="+mn-lt"/>
              </a:rPr>
              <a:t>Real Estate Investment – Needs to offer better returns to attract </a:t>
            </a:r>
            <a:r>
              <a:rPr lang="en-US" sz="2000" dirty="0" smtClean="0">
                <a:latin typeface="+mn-lt"/>
              </a:rPr>
              <a:t>investors</a:t>
            </a:r>
          </a:p>
          <a:p>
            <a:pPr marL="463550" indent="-292100">
              <a:lnSpc>
                <a:spcPct val="150000"/>
              </a:lnSpc>
              <a:buFont typeface="Wingdings" pitchFamily="2" charset="2"/>
              <a:buChar char="§"/>
            </a:pPr>
            <a:r>
              <a:rPr lang="en-US" sz="2000" dirty="0" smtClean="0">
                <a:latin typeface="+mn-lt"/>
              </a:rPr>
              <a:t>DLT </a:t>
            </a:r>
            <a:r>
              <a:rPr lang="en-US" sz="2000" dirty="0">
                <a:latin typeface="+mn-lt"/>
              </a:rPr>
              <a:t>in Insurance Claims – Should lower fraud risks and improve claim processing efficiency</a:t>
            </a:r>
            <a:r>
              <a:rPr lang="en-US" sz="2200" dirty="0">
                <a:latin typeface="+mn-lt"/>
              </a:rPr>
              <a:t>.</a:t>
            </a:r>
          </a:p>
        </p:txBody>
      </p:sp>
    </p:spTree>
    <p:extLst>
      <p:ext uri="{BB962C8B-B14F-4D97-AF65-F5344CB8AC3E}">
        <p14:creationId xmlns:p14="http://schemas.microsoft.com/office/powerpoint/2010/main" val="4228209236"/>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25880" y="18182"/>
            <a:ext cx="11125200" cy="5078313"/>
          </a:xfrm>
          <a:prstGeom prst="rect">
            <a:avLst/>
          </a:prstGeom>
        </p:spPr>
        <p:txBody>
          <a:bodyPr wrap="square">
            <a:spAutoFit/>
          </a:bodyPr>
          <a:lstStyle/>
          <a:p>
            <a:r>
              <a:rPr lang="en-US" b="1" dirty="0" smtClean="0">
                <a:solidFill>
                  <a:srgbClr val="FFFF00"/>
                </a:solidFill>
                <a:latin typeface="+mn-lt"/>
              </a:rPr>
              <a:t>Second component of framework </a:t>
            </a:r>
            <a:r>
              <a:rPr lang="en-US" sz="2200" dirty="0" smtClean="0">
                <a:latin typeface="+mn-lt"/>
              </a:rPr>
              <a:t>: </a:t>
            </a:r>
            <a:r>
              <a:rPr lang="en-IN"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lnSpc>
                <a:spcPct val="150000"/>
              </a:lnSpc>
            </a:pPr>
            <a:r>
              <a:rPr lang="en-US" sz="2000" b="1" dirty="0">
                <a:latin typeface="+mn-lt"/>
              </a:rPr>
              <a:t>Many believe that </a:t>
            </a:r>
            <a:r>
              <a:rPr lang="en-US" sz="2000" b="1" dirty="0" smtClean="0">
                <a:latin typeface="+mn-lt"/>
              </a:rPr>
              <a:t>DLT </a:t>
            </a:r>
            <a:r>
              <a:rPr lang="en-US" sz="2000" b="1" dirty="0">
                <a:latin typeface="+mn-lt"/>
              </a:rPr>
              <a:t>can improve market efficiency</a:t>
            </a:r>
            <a:r>
              <a:rPr lang="en-US" sz="2000" dirty="0">
                <a:latin typeface="+mn-lt"/>
              </a:rPr>
              <a:t>. Efficiency here refers to how well the system works, including its design, functionality, and resource requirements</a:t>
            </a:r>
            <a:r>
              <a:rPr lang="en-US" sz="2000" dirty="0"/>
              <a:t>.  </a:t>
            </a:r>
            <a:endParaRPr lang="en-US" sz="2000" dirty="0" smtClean="0"/>
          </a:p>
          <a:p>
            <a:pPr>
              <a:lnSpc>
                <a:spcPct val="150000"/>
              </a:lnSpc>
            </a:pPr>
            <a:r>
              <a:rPr lang="en-US" sz="2000" b="1" dirty="0" smtClean="0">
                <a:solidFill>
                  <a:schemeClr val="accent1">
                    <a:lumMod val="60000"/>
                    <a:lumOff val="40000"/>
                  </a:schemeClr>
                </a:solidFill>
                <a:latin typeface="+mn-lt"/>
              </a:rPr>
              <a:t>Under this point we will explore 5 points </a:t>
            </a:r>
          </a:p>
          <a:p>
            <a:pPr>
              <a:lnSpc>
                <a:spcPct val="150000"/>
              </a:lnSpc>
            </a:pPr>
            <a:r>
              <a:rPr lang="en-US" sz="2000" dirty="0">
                <a:latin typeface="+mn-lt"/>
              </a:rPr>
              <a:t> </a:t>
            </a:r>
            <a:r>
              <a:rPr lang="en-US" sz="2000" dirty="0" smtClean="0">
                <a:latin typeface="+mn-lt"/>
              </a:rPr>
              <a:t> 1. </a:t>
            </a:r>
            <a:r>
              <a:rPr lang="en-IN" sz="1900" dirty="0" smtClean="0">
                <a:latin typeface="+mn-lt"/>
              </a:rPr>
              <a:t>Speed </a:t>
            </a:r>
            <a:r>
              <a:rPr lang="en-IN" sz="1900" dirty="0">
                <a:latin typeface="+mn-lt"/>
              </a:rPr>
              <a:t>of end-to-end </a:t>
            </a:r>
            <a:r>
              <a:rPr lang="en-IN" sz="1900" dirty="0" smtClean="0">
                <a:latin typeface="+mn-lt"/>
              </a:rPr>
              <a:t>processing</a:t>
            </a:r>
          </a:p>
          <a:p>
            <a:pPr>
              <a:lnSpc>
                <a:spcPct val="150000"/>
              </a:lnSpc>
            </a:pPr>
            <a:r>
              <a:rPr lang="en-IN" sz="1900" dirty="0">
                <a:latin typeface="+mn-lt"/>
              </a:rPr>
              <a:t> </a:t>
            </a:r>
            <a:r>
              <a:rPr lang="en-IN" sz="1900" dirty="0" smtClean="0">
                <a:latin typeface="+mn-lt"/>
              </a:rPr>
              <a:t> 2. Cost </a:t>
            </a:r>
            <a:r>
              <a:rPr lang="en-IN" sz="1900" dirty="0">
                <a:latin typeface="+mn-lt"/>
              </a:rPr>
              <a:t>of </a:t>
            </a:r>
            <a:r>
              <a:rPr lang="en-IN" sz="1900" dirty="0" smtClean="0">
                <a:latin typeface="+mn-lt"/>
              </a:rPr>
              <a:t>processing</a:t>
            </a:r>
          </a:p>
          <a:p>
            <a:pPr>
              <a:lnSpc>
                <a:spcPct val="150000"/>
              </a:lnSpc>
            </a:pPr>
            <a:r>
              <a:rPr lang="en-IN" sz="1900" dirty="0">
                <a:latin typeface="+mn-lt"/>
              </a:rPr>
              <a:t> </a:t>
            </a:r>
            <a:r>
              <a:rPr lang="en-IN" sz="1900" dirty="0" smtClean="0">
                <a:latin typeface="+mn-lt"/>
              </a:rPr>
              <a:t> 3. </a:t>
            </a:r>
            <a:r>
              <a:rPr lang="en-US" sz="1900" dirty="0" smtClean="0">
                <a:latin typeface="+mn-lt"/>
              </a:rPr>
              <a:t>Speed </a:t>
            </a:r>
            <a:r>
              <a:rPr lang="en-US" sz="1900" dirty="0">
                <a:latin typeface="+mn-lt"/>
              </a:rPr>
              <a:t>and transparency in </a:t>
            </a:r>
            <a:r>
              <a:rPr lang="en-US" sz="1900" dirty="0" smtClean="0">
                <a:latin typeface="+mn-lt"/>
              </a:rPr>
              <a:t>reconciliation</a:t>
            </a:r>
          </a:p>
          <a:p>
            <a:pPr>
              <a:lnSpc>
                <a:spcPct val="150000"/>
              </a:lnSpc>
            </a:pPr>
            <a:r>
              <a:rPr lang="en-US" sz="1900" dirty="0">
                <a:latin typeface="+mn-lt"/>
              </a:rPr>
              <a:t> </a:t>
            </a:r>
            <a:r>
              <a:rPr lang="en-US" sz="1900" dirty="0" smtClean="0">
                <a:latin typeface="+mn-lt"/>
              </a:rPr>
              <a:t> 4. Cost </a:t>
            </a:r>
            <a:r>
              <a:rPr lang="en-US" sz="1900" dirty="0">
                <a:latin typeface="+mn-lt"/>
              </a:rPr>
              <a:t>of credit and liquidity </a:t>
            </a:r>
            <a:r>
              <a:rPr lang="en-US" sz="1900" dirty="0" smtClean="0">
                <a:latin typeface="+mn-lt"/>
              </a:rPr>
              <a:t>management</a:t>
            </a:r>
          </a:p>
          <a:p>
            <a:pPr>
              <a:lnSpc>
                <a:spcPct val="150000"/>
              </a:lnSpc>
            </a:pPr>
            <a:r>
              <a:rPr lang="en-US" sz="1900" dirty="0">
                <a:latin typeface="+mn-lt"/>
              </a:rPr>
              <a:t> </a:t>
            </a:r>
            <a:r>
              <a:rPr lang="en-US" sz="1900" dirty="0" smtClean="0">
                <a:latin typeface="+mn-lt"/>
              </a:rPr>
              <a:t> 5. Efficiency </a:t>
            </a:r>
            <a:r>
              <a:rPr lang="en-US" sz="1900" dirty="0">
                <a:latin typeface="+mn-lt"/>
              </a:rPr>
              <a:t>gains from automated contract </a:t>
            </a:r>
            <a:r>
              <a:rPr lang="en-US" sz="1900" dirty="0" smtClean="0">
                <a:latin typeface="+mn-lt"/>
              </a:rPr>
              <a:t>tools</a:t>
            </a:r>
          </a:p>
          <a:p>
            <a:pPr>
              <a:lnSpc>
                <a:spcPct val="150000"/>
              </a:lnSpc>
            </a:pPr>
            <a:r>
              <a:rPr lang="en-US" sz="2000" b="1" dirty="0" smtClean="0">
                <a:solidFill>
                  <a:srgbClr val="FFFF00"/>
                </a:solidFill>
                <a:latin typeface="+mn-lt"/>
              </a:rPr>
              <a:t>Efficiency</a:t>
            </a:r>
            <a:r>
              <a:rPr lang="en-US" sz="2000" b="1" dirty="0">
                <a:solidFill>
                  <a:srgbClr val="FFFF00"/>
                </a:solidFill>
                <a:latin typeface="+mn-lt"/>
              </a:rPr>
              <a:t> </a:t>
            </a:r>
            <a:r>
              <a:rPr lang="en-US" sz="2000" b="1" dirty="0" smtClean="0">
                <a:solidFill>
                  <a:srgbClr val="FFFF00"/>
                </a:solidFill>
                <a:latin typeface="+mn-lt"/>
              </a:rPr>
              <a:t>is </a:t>
            </a:r>
            <a:r>
              <a:rPr lang="en-US" sz="2000" b="1" dirty="0">
                <a:solidFill>
                  <a:srgbClr val="FFFF00"/>
                </a:solidFill>
                <a:latin typeface="+mn-lt"/>
              </a:rPr>
              <a:t>about speed, cost, and effectiveness of a </a:t>
            </a:r>
            <a:r>
              <a:rPr lang="en-US" sz="2000" b="1" dirty="0" smtClean="0">
                <a:solidFill>
                  <a:srgbClr val="FFFF00"/>
                </a:solidFill>
                <a:latin typeface="+mn-lt"/>
              </a:rPr>
              <a:t>system and it depends </a:t>
            </a:r>
            <a:r>
              <a:rPr lang="en-US" sz="2000" b="1" dirty="0">
                <a:solidFill>
                  <a:srgbClr val="FFFF00"/>
                </a:solidFill>
                <a:latin typeface="+mn-lt"/>
              </a:rPr>
              <a:t>on </a:t>
            </a:r>
            <a:r>
              <a:rPr lang="en-US" sz="2000" b="1" dirty="0" smtClean="0">
                <a:solidFill>
                  <a:srgbClr val="FFFF00"/>
                </a:solidFill>
                <a:latin typeface="+mn-lt"/>
              </a:rPr>
              <a:t>reconciliation (</a:t>
            </a:r>
            <a:r>
              <a:rPr lang="en-US" sz="2000" dirty="0" smtClean="0">
                <a:latin typeface="+mn-lt"/>
              </a:rPr>
              <a:t>means </a:t>
            </a:r>
            <a:r>
              <a:rPr lang="en-US" sz="2000" dirty="0">
                <a:latin typeface="+mn-lt"/>
              </a:rPr>
              <a:t>matching records to ensure </a:t>
            </a:r>
            <a:r>
              <a:rPr lang="en-US" sz="2000" dirty="0" smtClean="0">
                <a:latin typeface="+mn-lt"/>
              </a:rPr>
              <a:t>accuracy</a:t>
            </a:r>
            <a:r>
              <a:rPr lang="en-US" sz="2000" dirty="0" smtClean="0"/>
              <a:t>) </a:t>
            </a:r>
            <a:r>
              <a:rPr lang="en-US" sz="2000" b="1" dirty="0" smtClean="0">
                <a:solidFill>
                  <a:srgbClr val="FFFF00"/>
                </a:solidFill>
                <a:latin typeface="+mn-lt"/>
              </a:rPr>
              <a:t>, </a:t>
            </a:r>
            <a:r>
              <a:rPr lang="en-US" sz="2000" b="1" dirty="0">
                <a:solidFill>
                  <a:srgbClr val="FFFF00"/>
                </a:solidFill>
                <a:latin typeface="+mn-lt"/>
              </a:rPr>
              <a:t>liquidity management, and automation</a:t>
            </a:r>
            <a:r>
              <a:rPr lang="en-US" sz="2000" dirty="0"/>
              <a:t>.</a:t>
            </a:r>
            <a:endParaRPr lang="en-US" sz="2200" dirty="0" smtClean="0">
              <a:latin typeface="+mn-lt"/>
            </a:endParaRPr>
          </a:p>
        </p:txBody>
      </p:sp>
      <p:sp>
        <p:nvSpPr>
          <p:cNvPr id="3" name="Rectangle 2"/>
          <p:cNvSpPr/>
          <p:nvPr/>
        </p:nvSpPr>
        <p:spPr>
          <a:xfrm>
            <a:off x="25844" y="4953000"/>
            <a:ext cx="11951080" cy="1508105"/>
          </a:xfrm>
          <a:prstGeom prst="rect">
            <a:avLst/>
          </a:prstGeom>
        </p:spPr>
        <p:txBody>
          <a:bodyPr wrap="square">
            <a:spAutoFit/>
          </a:bodyPr>
          <a:lstStyle/>
          <a:p>
            <a:r>
              <a:rPr lang="en-US" sz="2100" b="1" dirty="0">
                <a:solidFill>
                  <a:schemeClr val="accent1">
                    <a:lumMod val="60000"/>
                    <a:lumOff val="40000"/>
                  </a:schemeClr>
                </a:solidFill>
                <a:latin typeface="+mn-lt"/>
              </a:rPr>
              <a:t>Example: </a:t>
            </a:r>
            <a:endParaRPr lang="en-US" sz="2100" b="1" dirty="0" smtClean="0">
              <a:solidFill>
                <a:schemeClr val="accent1">
                  <a:lumMod val="60000"/>
                  <a:lumOff val="40000"/>
                </a:schemeClr>
              </a:solidFill>
              <a:latin typeface="+mn-lt"/>
            </a:endParaRPr>
          </a:p>
          <a:p>
            <a:pPr>
              <a:spcAft>
                <a:spcPts val="1200"/>
              </a:spcAft>
            </a:pPr>
            <a:r>
              <a:rPr lang="en-US" sz="2000" dirty="0" smtClean="0">
                <a:latin typeface="+mn-lt"/>
              </a:rPr>
              <a:t>A </a:t>
            </a:r>
            <a:r>
              <a:rPr lang="en-US" sz="2000" dirty="0">
                <a:latin typeface="+mn-lt"/>
              </a:rPr>
              <a:t>student who scores well, meets deadlines, and balances studies with </a:t>
            </a:r>
            <a:r>
              <a:rPr lang="en-US" sz="2000" dirty="0" smtClean="0">
                <a:latin typeface="+mn-lt"/>
              </a:rPr>
              <a:t>extracurricular </a:t>
            </a:r>
            <a:r>
              <a:rPr lang="en-US" sz="2000" dirty="0">
                <a:latin typeface="+mn-lt"/>
              </a:rPr>
              <a:t>is </a:t>
            </a:r>
            <a:r>
              <a:rPr lang="en-US" sz="2000" dirty="0" smtClean="0">
                <a:latin typeface="+mn-lt"/>
              </a:rPr>
              <a:t>efficient</a:t>
            </a:r>
          </a:p>
          <a:p>
            <a:pPr>
              <a:spcAft>
                <a:spcPts val="1200"/>
              </a:spcAft>
            </a:pPr>
            <a:r>
              <a:rPr lang="en-US" sz="2000" dirty="0">
                <a:latin typeface="+mn-lt"/>
              </a:rPr>
              <a:t>A DLT-based stock trading speed up transactions (from days to seconds), reduce costs (by cutting out middlemen), and improve accuracy (through automated reconciliation</a:t>
            </a:r>
            <a:r>
              <a:rPr lang="en-US" sz="2100" dirty="0">
                <a:latin typeface="+mn-lt"/>
              </a:rPr>
              <a:t>)</a:t>
            </a:r>
          </a:p>
        </p:txBody>
      </p:sp>
    </p:spTree>
    <p:extLst>
      <p:ext uri="{BB962C8B-B14F-4D97-AF65-F5344CB8AC3E}">
        <p14:creationId xmlns:p14="http://schemas.microsoft.com/office/powerpoint/2010/main" val="2588389920"/>
      </p:ext>
    </p:extLst>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10" name="object 2"/>
          <p:cNvSpPr txBox="1"/>
          <p:nvPr/>
        </p:nvSpPr>
        <p:spPr>
          <a:xfrm>
            <a:off x="866400" y="0"/>
            <a:ext cx="10333412" cy="366767"/>
          </a:xfrm>
          <a:prstGeom prst="rect">
            <a:avLst/>
          </a:prstGeom>
        </p:spPr>
        <p:txBody>
          <a:bodyPr vert="horz" wrap="square" lIns="0" tIns="12700" rIns="0" bIns="0" rtlCol="0">
            <a:spAutoFit/>
          </a:bodyPr>
          <a:lstStyle/>
          <a:p>
            <a:pPr marL="12700">
              <a:lnSpc>
                <a:spcPct val="100000"/>
              </a:lnSpc>
              <a:spcBef>
                <a:spcPts val="100"/>
              </a:spcBef>
            </a:pPr>
            <a:r>
              <a:rPr lang="en-US" sz="2300" b="1" dirty="0" smtClean="0">
                <a:solidFill>
                  <a:srgbClr val="FFFF00"/>
                </a:solidFill>
                <a:latin typeface="+mn-lt"/>
              </a:rPr>
              <a:t>  Analytical framework: </a:t>
            </a:r>
            <a:r>
              <a:rPr lang="en-IN" sz="2300" b="1" dirty="0">
                <a:solidFill>
                  <a:schemeClr val="accent1">
                    <a:lumMod val="60000"/>
                    <a:lumOff val="40000"/>
                  </a:schemeClr>
                </a:solidFill>
                <a:latin typeface="+mn-lt"/>
              </a:rPr>
              <a:t>Potential implications for efficiency </a:t>
            </a:r>
            <a:endParaRPr sz="2300" dirty="0">
              <a:solidFill>
                <a:srgbClr val="FFFF00"/>
              </a:solidFill>
              <a:latin typeface="+mn-lt"/>
              <a:cs typeface="Trebuchet MS"/>
            </a:endParaRPr>
          </a:p>
        </p:txBody>
      </p:sp>
      <p:sp>
        <p:nvSpPr>
          <p:cNvPr id="2" name="Rectangle 1"/>
          <p:cNvSpPr/>
          <p:nvPr/>
        </p:nvSpPr>
        <p:spPr>
          <a:xfrm>
            <a:off x="889196" y="384949"/>
            <a:ext cx="11125200" cy="5370701"/>
          </a:xfrm>
          <a:prstGeom prst="rect">
            <a:avLst/>
          </a:prstGeom>
        </p:spPr>
        <p:txBody>
          <a:bodyPr wrap="square">
            <a:spAutoFit/>
          </a:bodyPr>
          <a:lstStyle/>
          <a:p>
            <a:r>
              <a:rPr lang="en-US" sz="2200" b="1" dirty="0" smtClean="0">
                <a:solidFill>
                  <a:srgbClr val="FFFF00"/>
                </a:solidFill>
                <a:latin typeface="+mn-lt"/>
              </a:rPr>
              <a:t>Second component of framework </a:t>
            </a:r>
            <a:r>
              <a:rPr lang="en-US" sz="2200" dirty="0" smtClean="0">
                <a:latin typeface="+mn-lt"/>
              </a:rPr>
              <a:t>: </a:t>
            </a:r>
            <a:r>
              <a:rPr lang="en-IN" sz="2200"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lnSpc>
                <a:spcPct val="150000"/>
              </a:lnSpc>
            </a:pPr>
            <a:r>
              <a:rPr lang="en-US" sz="2200" dirty="0" smtClean="0">
                <a:latin typeface="+mn-lt"/>
              </a:rPr>
              <a:t>Under this point we will explore 5 points –Let-us explore first point</a:t>
            </a:r>
          </a:p>
          <a:p>
            <a:pPr>
              <a:lnSpc>
                <a:spcPct val="150000"/>
              </a:lnSpc>
            </a:pPr>
            <a:r>
              <a:rPr lang="en-US" sz="2000" dirty="0" smtClean="0">
                <a:latin typeface="+mn-lt"/>
              </a:rPr>
              <a:t>1. </a:t>
            </a:r>
            <a:r>
              <a:rPr lang="en-IN" sz="2000" b="1" dirty="0" smtClean="0">
                <a:solidFill>
                  <a:srgbClr val="FFFF00"/>
                </a:solidFill>
                <a:latin typeface="+mn-lt"/>
              </a:rPr>
              <a:t>Speed </a:t>
            </a:r>
            <a:r>
              <a:rPr lang="en-IN" sz="2000" b="1" dirty="0">
                <a:solidFill>
                  <a:srgbClr val="FFFF00"/>
                </a:solidFill>
                <a:latin typeface="+mn-lt"/>
              </a:rPr>
              <a:t>of end-to-end </a:t>
            </a:r>
            <a:r>
              <a:rPr lang="en-IN" sz="2000" b="1" dirty="0" smtClean="0">
                <a:solidFill>
                  <a:srgbClr val="FFFF00"/>
                </a:solidFill>
                <a:latin typeface="+mn-lt"/>
              </a:rPr>
              <a:t>processing-  </a:t>
            </a:r>
            <a:r>
              <a:rPr lang="en-IN" sz="2000" dirty="0" smtClean="0">
                <a:latin typeface="+mn-lt"/>
              </a:rPr>
              <a:t>How to speed-up end-to-end processing so efficiency will improve</a:t>
            </a:r>
          </a:p>
          <a:p>
            <a:pPr marL="285750" indent="-285750">
              <a:lnSpc>
                <a:spcPct val="150000"/>
              </a:lnSpc>
              <a:buFont typeface="Wingdings" pitchFamily="2" charset="2"/>
              <a:buChar char="§"/>
            </a:pPr>
            <a:r>
              <a:rPr lang="en-US" sz="1800" b="1" dirty="0">
                <a:latin typeface="+mn-lt"/>
              </a:rPr>
              <a:t>DLT can speed up transactions</a:t>
            </a:r>
            <a:r>
              <a:rPr lang="en-US" sz="1800" dirty="0">
                <a:latin typeface="+mn-lt"/>
              </a:rPr>
              <a:t> by reducing delays in </a:t>
            </a:r>
            <a:r>
              <a:rPr lang="en-US" sz="1800" b="1" dirty="0">
                <a:latin typeface="+mn-lt"/>
              </a:rPr>
              <a:t>information sharing</a:t>
            </a:r>
            <a:r>
              <a:rPr lang="en-US" sz="1800" dirty="0">
                <a:latin typeface="+mn-lt"/>
              </a:rPr>
              <a:t> among participants</a:t>
            </a:r>
            <a:r>
              <a:rPr lang="en-US" sz="1800" dirty="0" smtClean="0">
                <a:latin typeface="+mn-lt"/>
              </a:rPr>
              <a:t>.</a:t>
            </a:r>
          </a:p>
          <a:p>
            <a:pPr marL="285750" indent="-285750">
              <a:lnSpc>
                <a:spcPct val="150000"/>
              </a:lnSpc>
              <a:buFont typeface="Wingdings" pitchFamily="2" charset="2"/>
              <a:buChar char="§"/>
            </a:pPr>
            <a:r>
              <a:rPr lang="en-US" sz="1800" dirty="0" smtClean="0">
                <a:latin typeface="+mn-lt"/>
              </a:rPr>
              <a:t>It </a:t>
            </a:r>
            <a:r>
              <a:rPr lang="en-US" sz="1800" dirty="0">
                <a:latin typeface="+mn-lt"/>
              </a:rPr>
              <a:t>helps </a:t>
            </a:r>
            <a:r>
              <a:rPr lang="en-US" sz="1800" b="1" dirty="0">
                <a:latin typeface="+mn-lt"/>
              </a:rPr>
              <a:t>simplify processes</a:t>
            </a:r>
            <a:r>
              <a:rPr lang="en-US" sz="1800" dirty="0">
                <a:latin typeface="+mn-lt"/>
              </a:rPr>
              <a:t>, making settlements </a:t>
            </a:r>
            <a:r>
              <a:rPr lang="en-US" sz="1800" b="1" dirty="0">
                <a:latin typeface="+mn-lt"/>
              </a:rPr>
              <a:t>more efficient</a:t>
            </a:r>
            <a:r>
              <a:rPr lang="en-US" sz="1800" dirty="0">
                <a:latin typeface="+mn-lt"/>
              </a:rPr>
              <a:t> at an </a:t>
            </a:r>
            <a:r>
              <a:rPr lang="en-US" sz="1800" b="1" dirty="0">
                <a:latin typeface="+mn-lt"/>
              </a:rPr>
              <a:t>ecosystem level</a:t>
            </a:r>
            <a:r>
              <a:rPr lang="en-US" sz="1800" dirty="0">
                <a:latin typeface="+mn-lt"/>
              </a:rPr>
              <a:t> (across </a:t>
            </a:r>
            <a:r>
              <a:rPr lang="en-US" sz="1800" dirty="0" smtClean="0">
                <a:latin typeface="+mn-lt"/>
              </a:rPr>
              <a:t>entire </a:t>
            </a:r>
            <a:r>
              <a:rPr lang="en-US" sz="1800" dirty="0">
                <a:latin typeface="+mn-lt"/>
              </a:rPr>
              <a:t>value chain</a:t>
            </a:r>
            <a:r>
              <a:rPr lang="en-US" sz="1800" dirty="0" smtClean="0">
                <a:latin typeface="+mn-lt"/>
              </a:rPr>
              <a:t>).</a:t>
            </a:r>
          </a:p>
          <a:p>
            <a:pPr marL="285750" indent="-285750">
              <a:lnSpc>
                <a:spcPct val="150000"/>
              </a:lnSpc>
              <a:buFont typeface="Wingdings" pitchFamily="2" charset="2"/>
              <a:buChar char="§"/>
            </a:pPr>
            <a:r>
              <a:rPr lang="en-US" sz="1800" dirty="0" smtClean="0">
                <a:latin typeface="+mn-lt"/>
              </a:rPr>
              <a:t>However</a:t>
            </a:r>
            <a:r>
              <a:rPr lang="en-US" sz="1800" dirty="0">
                <a:latin typeface="+mn-lt"/>
              </a:rPr>
              <a:t>, </a:t>
            </a:r>
            <a:r>
              <a:rPr lang="en-US" sz="1800" b="1" dirty="0">
                <a:latin typeface="+mn-lt"/>
              </a:rPr>
              <a:t>within the system itself</a:t>
            </a:r>
            <a:r>
              <a:rPr lang="en-US" sz="1800" dirty="0">
                <a:latin typeface="+mn-lt"/>
              </a:rPr>
              <a:t>, DLT transactions might be </a:t>
            </a:r>
            <a:r>
              <a:rPr lang="en-US" sz="1800" b="1" dirty="0">
                <a:latin typeface="+mn-lt"/>
              </a:rPr>
              <a:t>slower</a:t>
            </a:r>
            <a:r>
              <a:rPr lang="en-US" sz="1800" dirty="0">
                <a:latin typeface="+mn-lt"/>
              </a:rPr>
              <a:t> than traditional methods due to the </a:t>
            </a:r>
            <a:r>
              <a:rPr lang="en-US" sz="1800" b="1" dirty="0">
                <a:latin typeface="+mn-lt"/>
              </a:rPr>
              <a:t>complex validation process</a:t>
            </a:r>
            <a:r>
              <a:rPr lang="en-US" sz="1800" dirty="0">
                <a:latin typeface="+mn-lt"/>
              </a:rPr>
              <a:t>.</a:t>
            </a:r>
            <a:endParaRPr lang="en-US" sz="1800" b="1" dirty="0" smtClean="0">
              <a:solidFill>
                <a:srgbClr val="FFFF00"/>
              </a:solidFill>
              <a:latin typeface="+mn-lt"/>
            </a:endParaRPr>
          </a:p>
          <a:p>
            <a:pPr>
              <a:lnSpc>
                <a:spcPct val="150000"/>
              </a:lnSpc>
            </a:pPr>
            <a:r>
              <a:rPr lang="en-US" sz="2000" b="1" dirty="0" smtClean="0">
                <a:solidFill>
                  <a:srgbClr val="FFFF00"/>
                </a:solidFill>
                <a:latin typeface="+mn-lt"/>
              </a:rPr>
              <a:t>Example:</a:t>
            </a:r>
          </a:p>
          <a:p>
            <a:pPr>
              <a:lnSpc>
                <a:spcPct val="150000"/>
              </a:lnSpc>
            </a:pPr>
            <a:r>
              <a:rPr lang="en-US" sz="1900" b="1" dirty="0">
                <a:latin typeface="+mn-lt"/>
              </a:rPr>
              <a:t>RTGS (Real-Time Gross Settlement):</a:t>
            </a:r>
            <a:r>
              <a:rPr lang="en-US" sz="1900" dirty="0">
                <a:latin typeface="+mn-lt"/>
              </a:rPr>
              <a:t> Used by banks for high-value transactions, where payments are settled </a:t>
            </a:r>
            <a:r>
              <a:rPr lang="en-US" sz="1900" b="1" dirty="0">
                <a:latin typeface="+mn-lt"/>
              </a:rPr>
              <a:t>instantly</a:t>
            </a:r>
            <a:r>
              <a:rPr lang="en-US" sz="1900" dirty="0">
                <a:latin typeface="+mn-lt"/>
              </a:rPr>
              <a:t> by a central authority (RBI in India</a:t>
            </a:r>
            <a:r>
              <a:rPr lang="en-US" sz="1900" dirty="0" smtClean="0">
                <a:latin typeface="+mn-lt"/>
              </a:rPr>
              <a:t>).</a:t>
            </a:r>
          </a:p>
          <a:p>
            <a:pPr>
              <a:lnSpc>
                <a:spcPct val="150000"/>
              </a:lnSpc>
            </a:pPr>
            <a:r>
              <a:rPr lang="en-US" sz="1900" b="1" dirty="0" smtClean="0">
                <a:latin typeface="+mn-lt"/>
              </a:rPr>
              <a:t>DLT-Based </a:t>
            </a:r>
            <a:r>
              <a:rPr lang="en-US" sz="1900" b="1" dirty="0">
                <a:latin typeface="+mn-lt"/>
              </a:rPr>
              <a:t>Settlement:</a:t>
            </a:r>
            <a:r>
              <a:rPr lang="en-US" sz="1900" dirty="0">
                <a:latin typeface="+mn-lt"/>
              </a:rPr>
              <a:t> Transactions go through </a:t>
            </a:r>
            <a:r>
              <a:rPr lang="en-US" sz="1900" b="1" dirty="0">
                <a:latin typeface="+mn-lt"/>
              </a:rPr>
              <a:t>decentralized validation</a:t>
            </a:r>
            <a:r>
              <a:rPr lang="en-US" sz="1900" dirty="0">
                <a:latin typeface="+mn-lt"/>
              </a:rPr>
              <a:t> (multiple nodes approving), which may take longer than RTGS</a:t>
            </a:r>
            <a:r>
              <a:rPr lang="en-US" sz="2000" dirty="0"/>
              <a:t>.</a:t>
            </a:r>
            <a:endParaRPr lang="en-US" sz="2000" dirty="0" smtClean="0">
              <a:latin typeface="+mn-lt"/>
            </a:endParaRPr>
          </a:p>
        </p:txBody>
      </p:sp>
      <p:sp>
        <p:nvSpPr>
          <p:cNvPr id="3" name="Rectangle 2"/>
          <p:cNvSpPr/>
          <p:nvPr/>
        </p:nvSpPr>
        <p:spPr>
          <a:xfrm>
            <a:off x="357383" y="5638800"/>
            <a:ext cx="11375829" cy="924227"/>
          </a:xfrm>
          <a:prstGeom prst="rect">
            <a:avLst/>
          </a:prstGeom>
        </p:spPr>
        <p:txBody>
          <a:bodyPr wrap="square">
            <a:spAutoFit/>
          </a:bodyPr>
          <a:lstStyle/>
          <a:p>
            <a:pPr>
              <a:lnSpc>
                <a:spcPct val="150000"/>
              </a:lnSpc>
            </a:pPr>
            <a:r>
              <a:rPr lang="en-US" sz="1900" b="1" dirty="0">
                <a:solidFill>
                  <a:srgbClr val="FFFF00"/>
                </a:solidFill>
                <a:latin typeface="+mn-lt"/>
              </a:rPr>
              <a:t>DLT improves efficiency overall, </a:t>
            </a:r>
            <a:r>
              <a:rPr lang="en-US" sz="1900" b="1" dirty="0" smtClean="0">
                <a:solidFill>
                  <a:srgbClr val="FFFF00"/>
                </a:solidFill>
                <a:latin typeface="+mn-lt"/>
              </a:rPr>
              <a:t>but its </a:t>
            </a:r>
            <a:r>
              <a:rPr lang="en-US" sz="1900" b="1" dirty="0">
                <a:solidFill>
                  <a:srgbClr val="FFFF00"/>
                </a:solidFill>
                <a:latin typeface="+mn-lt"/>
              </a:rPr>
              <a:t>internal processing may sometimes be slower than centralized systems like RTGS due to its consensus mechanism</a:t>
            </a:r>
          </a:p>
        </p:txBody>
      </p:sp>
    </p:spTree>
    <p:extLst>
      <p:ext uri="{BB962C8B-B14F-4D97-AF65-F5344CB8AC3E}">
        <p14:creationId xmlns:p14="http://schemas.microsoft.com/office/powerpoint/2010/main" val="2718061044"/>
      </p:ext>
    </p:extLst>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61764" y="2942"/>
            <a:ext cx="11125200" cy="5170646"/>
          </a:xfrm>
          <a:prstGeom prst="rect">
            <a:avLst/>
          </a:prstGeom>
        </p:spPr>
        <p:txBody>
          <a:bodyPr wrap="square">
            <a:spAutoFit/>
          </a:bodyPr>
          <a:lstStyle/>
          <a:p>
            <a:r>
              <a:rPr lang="en-US" b="1" dirty="0" smtClean="0">
                <a:solidFill>
                  <a:srgbClr val="FFFF00"/>
                </a:solidFill>
                <a:latin typeface="+mn-lt"/>
              </a:rPr>
              <a:t>Second component of framework </a:t>
            </a:r>
            <a:r>
              <a:rPr lang="en-US" sz="2200" dirty="0" smtClean="0">
                <a:latin typeface="+mn-lt"/>
              </a:rPr>
              <a:t>: </a:t>
            </a:r>
            <a:r>
              <a:rPr lang="en-IN"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lnSpc>
                <a:spcPct val="150000"/>
              </a:lnSpc>
            </a:pPr>
            <a:r>
              <a:rPr lang="en-US" dirty="0" smtClean="0">
                <a:latin typeface="+mn-lt"/>
              </a:rPr>
              <a:t> Under this point we will explore 5 points –Let-us explore second point</a:t>
            </a:r>
          </a:p>
          <a:p>
            <a:pPr>
              <a:lnSpc>
                <a:spcPct val="150000"/>
              </a:lnSpc>
            </a:pPr>
            <a:r>
              <a:rPr lang="en-US" sz="2000" dirty="0">
                <a:latin typeface="+mn-lt"/>
              </a:rPr>
              <a:t> </a:t>
            </a:r>
            <a:r>
              <a:rPr lang="en-US" sz="2000" dirty="0" smtClean="0">
                <a:latin typeface="+mn-lt"/>
              </a:rPr>
              <a:t> 2. </a:t>
            </a:r>
            <a:r>
              <a:rPr lang="en-IN" sz="2000" b="1" dirty="0">
                <a:solidFill>
                  <a:srgbClr val="FFFF00"/>
                </a:solidFill>
              </a:rPr>
              <a:t>Cost of processing </a:t>
            </a:r>
            <a:r>
              <a:rPr lang="en-IN" sz="2000" dirty="0" smtClean="0"/>
              <a:t>:</a:t>
            </a:r>
          </a:p>
          <a:p>
            <a:pPr>
              <a:lnSpc>
                <a:spcPct val="150000"/>
              </a:lnSpc>
            </a:pPr>
            <a:r>
              <a:rPr lang="en-US" sz="2000" dirty="0">
                <a:latin typeface="+mn-lt"/>
              </a:rPr>
              <a:t>I</a:t>
            </a:r>
            <a:r>
              <a:rPr lang="en-US" sz="2000" dirty="0" smtClean="0">
                <a:latin typeface="+mn-lt"/>
              </a:rPr>
              <a:t>ndustry may explore  </a:t>
            </a:r>
            <a:r>
              <a:rPr lang="en-US" sz="2000" dirty="0">
                <a:latin typeface="+mn-lt"/>
              </a:rPr>
              <a:t>variety of DLT arrangements </a:t>
            </a:r>
            <a:r>
              <a:rPr lang="en-US" sz="2000" dirty="0" smtClean="0">
                <a:latin typeface="+mn-lt"/>
              </a:rPr>
              <a:t> </a:t>
            </a:r>
            <a:r>
              <a:rPr lang="en-US" sz="2000" dirty="0">
                <a:latin typeface="+mn-lt"/>
              </a:rPr>
              <a:t>to reduce costs in certain parts of the value chain </a:t>
            </a:r>
            <a:endParaRPr lang="en-US" sz="2000" dirty="0" smtClean="0">
              <a:latin typeface="+mn-lt"/>
            </a:endParaRPr>
          </a:p>
          <a:p>
            <a:pPr>
              <a:lnSpc>
                <a:spcPct val="150000"/>
              </a:lnSpc>
            </a:pPr>
            <a:r>
              <a:rPr lang="en-US" sz="2000" dirty="0"/>
              <a:t>For </a:t>
            </a:r>
            <a:r>
              <a:rPr lang="en-US" sz="2000" dirty="0" smtClean="0"/>
              <a:t>example</a:t>
            </a:r>
          </a:p>
          <a:p>
            <a:pPr marL="342900" indent="-342900">
              <a:lnSpc>
                <a:spcPct val="150000"/>
              </a:lnSpc>
              <a:buFont typeface="Wingdings" pitchFamily="2" charset="2"/>
              <a:buChar char="§"/>
            </a:pPr>
            <a:r>
              <a:rPr lang="en-US" sz="2000" dirty="0" smtClean="0">
                <a:latin typeface="+mn-lt"/>
              </a:rPr>
              <a:t>DLT </a:t>
            </a:r>
            <a:r>
              <a:rPr lang="en-US" sz="2000" dirty="0">
                <a:latin typeface="+mn-lt"/>
              </a:rPr>
              <a:t>could </a:t>
            </a:r>
            <a:r>
              <a:rPr lang="en-US" sz="2000" b="1" dirty="0">
                <a:latin typeface="+mn-lt"/>
              </a:rPr>
              <a:t>reduce costs</a:t>
            </a:r>
            <a:r>
              <a:rPr lang="en-US" sz="2000" dirty="0">
                <a:latin typeface="+mn-lt"/>
              </a:rPr>
              <a:t> by sharing maintenance expenses among participants instead of a central institution handling all the work and charging </a:t>
            </a:r>
            <a:r>
              <a:rPr lang="en-US" sz="2000" dirty="0" smtClean="0">
                <a:latin typeface="+mn-lt"/>
              </a:rPr>
              <a:t>fees</a:t>
            </a:r>
          </a:p>
          <a:p>
            <a:pPr marL="342900" indent="-342900">
              <a:lnSpc>
                <a:spcPct val="150000"/>
              </a:lnSpc>
              <a:buFont typeface="Wingdings" pitchFamily="2" charset="2"/>
              <a:buChar char="§"/>
            </a:pPr>
            <a:r>
              <a:rPr lang="en-US" sz="2000" dirty="0">
                <a:latin typeface="+mn-lt"/>
              </a:rPr>
              <a:t>DLT eliminates intermediaries like SWIFT, reducing transaction fees</a:t>
            </a:r>
            <a:r>
              <a:rPr lang="en-US" sz="2000" dirty="0" smtClean="0">
                <a:latin typeface="+mn-lt"/>
              </a:rPr>
              <a:t>.</a:t>
            </a:r>
          </a:p>
          <a:p>
            <a:pPr marL="342900" indent="-342900">
              <a:lnSpc>
                <a:spcPct val="150000"/>
              </a:lnSpc>
              <a:buFont typeface="Wingdings" pitchFamily="2" charset="2"/>
              <a:buChar char="§"/>
            </a:pPr>
            <a:r>
              <a:rPr lang="en-US" sz="2000" dirty="0">
                <a:latin typeface="+mn-lt"/>
              </a:rPr>
              <a:t>Smart contracts automate </a:t>
            </a:r>
            <a:r>
              <a:rPr lang="en-US" sz="2000" b="1" dirty="0">
                <a:latin typeface="+mn-lt"/>
              </a:rPr>
              <a:t>letter of credit</a:t>
            </a:r>
            <a:r>
              <a:rPr lang="en-US" sz="2000" dirty="0">
                <a:latin typeface="+mn-lt"/>
              </a:rPr>
              <a:t> issuance, reducing paperwork and manual verification costs</a:t>
            </a:r>
            <a:r>
              <a:rPr lang="en-US" sz="2000" dirty="0" smtClean="0">
                <a:latin typeface="+mn-lt"/>
              </a:rPr>
              <a:t>.</a:t>
            </a:r>
          </a:p>
          <a:p>
            <a:pPr marL="342900" indent="-342900">
              <a:lnSpc>
                <a:spcPct val="150000"/>
              </a:lnSpc>
              <a:buFont typeface="Wingdings" pitchFamily="2" charset="2"/>
              <a:buChar char="§"/>
            </a:pPr>
            <a:r>
              <a:rPr lang="en-US" sz="2000" dirty="0">
                <a:latin typeface="+mn-lt"/>
              </a:rPr>
              <a:t>Hospitals can </a:t>
            </a:r>
            <a:r>
              <a:rPr lang="en-US" sz="2000" b="1" dirty="0">
                <a:latin typeface="+mn-lt"/>
              </a:rPr>
              <a:t>share verified patient records</a:t>
            </a:r>
            <a:r>
              <a:rPr lang="en-US" sz="2000" dirty="0">
                <a:latin typeface="+mn-lt"/>
              </a:rPr>
              <a:t>, reducing administrative expenses</a:t>
            </a:r>
            <a:r>
              <a:rPr lang="en-US" sz="2000" dirty="0" smtClean="0">
                <a:latin typeface="+mn-lt"/>
              </a:rPr>
              <a:t>.</a:t>
            </a:r>
          </a:p>
          <a:p>
            <a:pPr marL="342900" indent="-342900">
              <a:lnSpc>
                <a:spcPct val="150000"/>
              </a:lnSpc>
              <a:buFont typeface="Wingdings" pitchFamily="2" charset="2"/>
              <a:buChar char="§"/>
            </a:pPr>
            <a:r>
              <a:rPr lang="en-US" sz="2000" dirty="0">
                <a:latin typeface="+mn-lt"/>
              </a:rPr>
              <a:t>DLT removes the need for </a:t>
            </a:r>
            <a:r>
              <a:rPr lang="en-US" sz="2000" b="1" dirty="0">
                <a:latin typeface="+mn-lt"/>
              </a:rPr>
              <a:t>brokers and legal intermediaries</a:t>
            </a:r>
            <a:r>
              <a:rPr lang="en-US" sz="2000" dirty="0">
                <a:latin typeface="+mn-lt"/>
              </a:rPr>
              <a:t>, lowering transaction costs.</a:t>
            </a:r>
            <a:endParaRPr lang="en-US" sz="2200" dirty="0" smtClean="0">
              <a:latin typeface="+mn-lt"/>
            </a:endParaRPr>
          </a:p>
        </p:txBody>
      </p:sp>
      <p:sp>
        <p:nvSpPr>
          <p:cNvPr id="3" name="Rectangle 2"/>
          <p:cNvSpPr/>
          <p:nvPr/>
        </p:nvSpPr>
        <p:spPr>
          <a:xfrm>
            <a:off x="0" y="5430565"/>
            <a:ext cx="11840788" cy="830997"/>
          </a:xfrm>
          <a:prstGeom prst="rect">
            <a:avLst/>
          </a:prstGeom>
        </p:spPr>
        <p:txBody>
          <a:bodyPr wrap="square">
            <a:spAutoFit/>
          </a:bodyPr>
          <a:lstStyle/>
          <a:p>
            <a:r>
              <a:rPr lang="en-US" sz="2200" dirty="0">
                <a:solidFill>
                  <a:srgbClr val="FFFF00"/>
                </a:solidFill>
                <a:latin typeface="+mn-lt"/>
              </a:rPr>
              <a:t>DLT lowers costs by eliminating middlemen and automating processes, but some users bear higher direct expenses for infrastructure and maintenance</a:t>
            </a:r>
            <a:r>
              <a:rPr lang="en-US" dirty="0"/>
              <a:t>.</a:t>
            </a:r>
          </a:p>
        </p:txBody>
      </p:sp>
    </p:spTree>
    <p:extLst>
      <p:ext uri="{BB962C8B-B14F-4D97-AF65-F5344CB8AC3E}">
        <p14:creationId xmlns:p14="http://schemas.microsoft.com/office/powerpoint/2010/main" val="221133525"/>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07592" y="5990"/>
            <a:ext cx="11125200" cy="6514604"/>
          </a:xfrm>
          <a:prstGeom prst="rect">
            <a:avLst/>
          </a:prstGeom>
        </p:spPr>
        <p:txBody>
          <a:bodyPr wrap="square">
            <a:spAutoFit/>
          </a:bodyPr>
          <a:lstStyle/>
          <a:p>
            <a:pPr>
              <a:spcAft>
                <a:spcPts val="600"/>
              </a:spcAft>
            </a:pPr>
            <a:r>
              <a:rPr lang="en-US" sz="2200" b="1" dirty="0" smtClean="0">
                <a:solidFill>
                  <a:srgbClr val="FFFF00"/>
                </a:solidFill>
                <a:latin typeface="+mn-lt"/>
              </a:rPr>
              <a:t>Second component of framework </a:t>
            </a:r>
            <a:r>
              <a:rPr lang="en-US" sz="2200" dirty="0" smtClean="0">
                <a:latin typeface="+mn-lt"/>
              </a:rPr>
              <a:t>: </a:t>
            </a:r>
            <a:r>
              <a:rPr lang="en-IN" sz="2200"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spcAft>
                <a:spcPts val="600"/>
              </a:spcAft>
            </a:pPr>
            <a:r>
              <a:rPr lang="en-US" sz="2200" dirty="0" smtClean="0">
                <a:latin typeface="+mn-lt"/>
              </a:rPr>
              <a:t> </a:t>
            </a:r>
            <a:r>
              <a:rPr lang="en-US" sz="2200" b="1" dirty="0" smtClean="0">
                <a:solidFill>
                  <a:srgbClr val="FFFF00"/>
                </a:solidFill>
                <a:latin typeface="+mn-lt"/>
              </a:rPr>
              <a:t>Now </a:t>
            </a:r>
            <a:r>
              <a:rPr lang="en-US" sz="2200" b="1" dirty="0" smtClean="0">
                <a:solidFill>
                  <a:srgbClr val="FFFF00"/>
                </a:solidFill>
                <a:latin typeface="+mn-lt"/>
              </a:rPr>
              <a:t>explore </a:t>
            </a:r>
            <a:r>
              <a:rPr lang="en-US" sz="2200" b="1" dirty="0" smtClean="0">
                <a:solidFill>
                  <a:srgbClr val="FFFF00"/>
                </a:solidFill>
                <a:latin typeface="+mn-lt"/>
              </a:rPr>
              <a:t>3</a:t>
            </a:r>
            <a:r>
              <a:rPr lang="en-US" sz="2200" b="1" baseline="30000" dirty="0" smtClean="0">
                <a:solidFill>
                  <a:srgbClr val="FFFF00"/>
                </a:solidFill>
                <a:latin typeface="+mn-lt"/>
              </a:rPr>
              <a:t>rd</a:t>
            </a:r>
            <a:r>
              <a:rPr lang="en-US" sz="2200" b="1" dirty="0" smtClean="0">
                <a:solidFill>
                  <a:srgbClr val="FFFF00"/>
                </a:solidFill>
                <a:latin typeface="+mn-lt"/>
              </a:rPr>
              <a:t> </a:t>
            </a:r>
            <a:r>
              <a:rPr lang="en-US" sz="2200" b="1" dirty="0" smtClean="0">
                <a:solidFill>
                  <a:srgbClr val="FFFF00"/>
                </a:solidFill>
                <a:latin typeface="+mn-lt"/>
              </a:rPr>
              <a:t> point--</a:t>
            </a:r>
            <a:r>
              <a:rPr lang="en-US" sz="2000" b="1" dirty="0" smtClean="0">
                <a:solidFill>
                  <a:srgbClr val="FFFF00"/>
                </a:solidFill>
                <a:latin typeface="+mn-lt"/>
              </a:rPr>
              <a:t>  </a:t>
            </a:r>
            <a:r>
              <a:rPr lang="en-US" sz="1900" b="1" dirty="0" smtClean="0">
                <a:solidFill>
                  <a:srgbClr val="FFFF00"/>
                </a:solidFill>
                <a:latin typeface="+mn-lt"/>
              </a:rPr>
              <a:t>Speed </a:t>
            </a:r>
            <a:r>
              <a:rPr lang="en-US" sz="1900" b="1" dirty="0">
                <a:solidFill>
                  <a:srgbClr val="FFFF00"/>
                </a:solidFill>
                <a:latin typeface="+mn-lt"/>
              </a:rPr>
              <a:t>and Transparency in Reconciliation</a:t>
            </a:r>
          </a:p>
          <a:p>
            <a:pPr>
              <a:spcAft>
                <a:spcPts val="600"/>
              </a:spcAft>
            </a:pPr>
            <a:r>
              <a:rPr lang="en-US" sz="1900" b="1" dirty="0">
                <a:solidFill>
                  <a:schemeClr val="accent1">
                    <a:lumMod val="60000"/>
                    <a:lumOff val="40000"/>
                  </a:schemeClr>
                </a:solidFill>
                <a:latin typeface="+mn-lt"/>
              </a:rPr>
              <a:t>What is Reconciliation?</a:t>
            </a:r>
          </a:p>
          <a:p>
            <a:pPr marL="800100" lvl="1" indent="-342900">
              <a:spcAft>
                <a:spcPts val="800"/>
              </a:spcAft>
              <a:buFont typeface="Wingdings" pitchFamily="2" charset="2"/>
              <a:buChar char="§"/>
            </a:pPr>
            <a:r>
              <a:rPr lang="en-US" sz="1900" dirty="0">
                <a:latin typeface="+mn-lt"/>
              </a:rPr>
              <a:t>Ensuring that internal transaction records match across </a:t>
            </a:r>
            <a:r>
              <a:rPr lang="en-US" sz="1900" dirty="0" smtClean="0">
                <a:latin typeface="+mn-lt"/>
              </a:rPr>
              <a:t> relevant </a:t>
            </a:r>
            <a:r>
              <a:rPr lang="en-US" sz="1900" dirty="0">
                <a:latin typeface="+mn-lt"/>
              </a:rPr>
              <a:t>parties.</a:t>
            </a:r>
          </a:p>
          <a:p>
            <a:pPr marL="800100" lvl="1" indent="-342900">
              <a:spcAft>
                <a:spcPts val="800"/>
              </a:spcAft>
              <a:buFont typeface="Wingdings" pitchFamily="2" charset="2"/>
              <a:buChar char="§"/>
            </a:pPr>
            <a:r>
              <a:rPr lang="en-US" sz="1900" dirty="0">
                <a:latin typeface="+mn-lt"/>
              </a:rPr>
              <a:t>Traditionally a </a:t>
            </a:r>
            <a:r>
              <a:rPr lang="en-US" sz="1900" b="1" dirty="0">
                <a:latin typeface="+mn-lt"/>
              </a:rPr>
              <a:t>time-consuming and labor-intensive</a:t>
            </a:r>
            <a:r>
              <a:rPr lang="en-US" sz="1900" dirty="0">
                <a:latin typeface="+mn-lt"/>
              </a:rPr>
              <a:t> process.</a:t>
            </a:r>
          </a:p>
          <a:p>
            <a:pPr marL="800100" lvl="1" indent="-342900">
              <a:spcAft>
                <a:spcPts val="800"/>
              </a:spcAft>
              <a:buFont typeface="Wingdings" pitchFamily="2" charset="2"/>
              <a:buChar char="§"/>
            </a:pPr>
            <a:r>
              <a:rPr lang="en-US" sz="1900" dirty="0">
                <a:latin typeface="+mn-lt"/>
              </a:rPr>
              <a:t>Involves reconciling information from different ledgers, recording, and storing it in various formats.</a:t>
            </a:r>
          </a:p>
          <a:p>
            <a:pPr>
              <a:spcAft>
                <a:spcPts val="800"/>
              </a:spcAft>
            </a:pPr>
            <a:r>
              <a:rPr lang="en-US" sz="1900" b="1" dirty="0">
                <a:solidFill>
                  <a:schemeClr val="accent1">
                    <a:lumMod val="60000"/>
                    <a:lumOff val="40000"/>
                  </a:schemeClr>
                </a:solidFill>
                <a:latin typeface="+mn-lt"/>
              </a:rPr>
              <a:t>How DLT Improves Reconciliation?</a:t>
            </a:r>
            <a:endParaRPr lang="en-US" sz="1900" dirty="0">
              <a:solidFill>
                <a:schemeClr val="accent1">
                  <a:lumMod val="60000"/>
                  <a:lumOff val="40000"/>
                </a:schemeClr>
              </a:solidFill>
              <a:latin typeface="+mn-lt"/>
            </a:endParaRPr>
          </a:p>
          <a:p>
            <a:pPr lvl="1">
              <a:spcAft>
                <a:spcPts val="800"/>
              </a:spcAft>
            </a:pPr>
            <a:r>
              <a:rPr lang="en-US" sz="1900" b="1" dirty="0">
                <a:solidFill>
                  <a:srgbClr val="FFFF00"/>
                </a:solidFill>
                <a:latin typeface="+mn-lt"/>
              </a:rPr>
              <a:t>Faster Processing</a:t>
            </a:r>
            <a:r>
              <a:rPr lang="en-US" sz="1900" dirty="0">
                <a:latin typeface="+mn-lt"/>
              </a:rPr>
              <a:t>: All parties access a </a:t>
            </a:r>
            <a:r>
              <a:rPr lang="en-US" sz="1900" b="1" dirty="0">
                <a:latin typeface="+mn-lt"/>
              </a:rPr>
              <a:t>shared, consistent record</a:t>
            </a:r>
            <a:r>
              <a:rPr lang="en-US" sz="1900" dirty="0">
                <a:latin typeface="+mn-lt"/>
              </a:rPr>
              <a:t>, avoiding manual comparison.</a:t>
            </a:r>
          </a:p>
          <a:p>
            <a:pPr lvl="1">
              <a:spcAft>
                <a:spcPts val="800"/>
              </a:spcAft>
            </a:pPr>
            <a:r>
              <a:rPr lang="en-US" sz="1900" b="1" dirty="0">
                <a:solidFill>
                  <a:srgbClr val="FFFF00"/>
                </a:solidFill>
                <a:latin typeface="+mn-lt"/>
              </a:rPr>
              <a:t>Error Reduction</a:t>
            </a:r>
            <a:r>
              <a:rPr lang="en-US" sz="1900" dirty="0">
                <a:latin typeface="+mn-lt"/>
              </a:rPr>
              <a:t>: Minimizes discrepancies and back-office work.</a:t>
            </a:r>
          </a:p>
          <a:p>
            <a:pPr lvl="1">
              <a:spcAft>
                <a:spcPts val="800"/>
              </a:spcAft>
            </a:pPr>
            <a:r>
              <a:rPr lang="en-US" sz="1900" b="1" dirty="0">
                <a:solidFill>
                  <a:srgbClr val="FFFF00"/>
                </a:solidFill>
                <a:latin typeface="+mn-lt"/>
              </a:rPr>
              <a:t>Transparency</a:t>
            </a:r>
            <a:r>
              <a:rPr lang="en-US" sz="1900" dirty="0">
                <a:latin typeface="+mn-lt"/>
              </a:rPr>
              <a:t>: Data can be shared across participants for better </a:t>
            </a:r>
            <a:r>
              <a:rPr lang="en-US" sz="1900" b="1" dirty="0">
                <a:latin typeface="+mn-lt"/>
              </a:rPr>
              <a:t>market visibility</a:t>
            </a:r>
            <a:r>
              <a:rPr lang="en-US" sz="1900" dirty="0">
                <a:latin typeface="+mn-lt"/>
              </a:rPr>
              <a:t>.</a:t>
            </a:r>
          </a:p>
          <a:p>
            <a:pPr lvl="1">
              <a:spcAft>
                <a:spcPts val="800"/>
              </a:spcAft>
            </a:pPr>
            <a:r>
              <a:rPr lang="en-US" sz="1900" b="1" dirty="0">
                <a:solidFill>
                  <a:srgbClr val="FFFF00"/>
                </a:solidFill>
                <a:latin typeface="+mn-lt"/>
              </a:rPr>
              <a:t>Privacy Concerns</a:t>
            </a:r>
            <a:r>
              <a:rPr lang="en-US" sz="1900" dirty="0">
                <a:latin typeface="+mn-lt"/>
              </a:rPr>
              <a:t>: While improving reconciliation speed, </a:t>
            </a:r>
            <a:r>
              <a:rPr lang="en-US" sz="1900" b="1" dirty="0">
                <a:latin typeface="+mn-lt"/>
              </a:rPr>
              <a:t>data protection and privacy must be ensured</a:t>
            </a:r>
            <a:r>
              <a:rPr lang="en-US" sz="1900" dirty="0">
                <a:latin typeface="+mn-lt"/>
              </a:rPr>
              <a:t>.</a:t>
            </a:r>
          </a:p>
          <a:p>
            <a:pPr>
              <a:spcAft>
                <a:spcPts val="800"/>
              </a:spcAft>
            </a:pPr>
            <a:r>
              <a:rPr lang="en-US" sz="1900" b="1" dirty="0">
                <a:solidFill>
                  <a:schemeClr val="accent1">
                    <a:lumMod val="60000"/>
                    <a:lumOff val="40000"/>
                  </a:schemeClr>
                </a:solidFill>
                <a:latin typeface="+mn-lt"/>
              </a:rPr>
              <a:t>Example:</a:t>
            </a:r>
            <a:endParaRPr lang="en-US" sz="1900" dirty="0">
              <a:solidFill>
                <a:schemeClr val="accent1">
                  <a:lumMod val="60000"/>
                  <a:lumOff val="40000"/>
                </a:schemeClr>
              </a:solidFill>
              <a:latin typeface="+mn-lt"/>
            </a:endParaRPr>
          </a:p>
          <a:p>
            <a:pPr marL="231775" lvl="1" indent="0">
              <a:spcAft>
                <a:spcPts val="800"/>
              </a:spcAft>
            </a:pPr>
            <a:r>
              <a:rPr lang="en-US" sz="1900" b="1" dirty="0">
                <a:latin typeface="+mn-lt"/>
              </a:rPr>
              <a:t>Banking Sector</a:t>
            </a:r>
            <a:r>
              <a:rPr lang="en-US" sz="1900" dirty="0">
                <a:latin typeface="+mn-lt"/>
              </a:rPr>
              <a:t>: </a:t>
            </a:r>
            <a:r>
              <a:rPr lang="en-US" sz="1900" b="1" dirty="0">
                <a:latin typeface="+mn-lt"/>
              </a:rPr>
              <a:t>State Bank of India (SBI)</a:t>
            </a:r>
            <a:r>
              <a:rPr lang="en-US" sz="1900" dirty="0">
                <a:latin typeface="+mn-lt"/>
              </a:rPr>
              <a:t> is exploring blockchain to reconcile transactions across branches, reducing errors and settlement time.</a:t>
            </a:r>
          </a:p>
          <a:p>
            <a:pPr marL="231775" lvl="1" indent="0">
              <a:spcAft>
                <a:spcPts val="800"/>
              </a:spcAft>
            </a:pPr>
            <a:r>
              <a:rPr lang="en-US" sz="1900" b="1" dirty="0">
                <a:latin typeface="+mn-lt"/>
              </a:rPr>
              <a:t>Stock Markets</a:t>
            </a:r>
            <a:r>
              <a:rPr lang="en-US" sz="1900" dirty="0">
                <a:latin typeface="+mn-lt"/>
              </a:rPr>
              <a:t>: </a:t>
            </a:r>
            <a:r>
              <a:rPr lang="en-US" sz="1900" b="1" dirty="0">
                <a:latin typeface="+mn-lt"/>
              </a:rPr>
              <a:t>National Stock Exchange (NSE) of India</a:t>
            </a:r>
            <a:r>
              <a:rPr lang="en-US" sz="1900" dirty="0">
                <a:latin typeface="+mn-lt"/>
              </a:rPr>
              <a:t> is piloting DLT for clearing and settlement, ensuring faster trade reconciliation.</a:t>
            </a:r>
          </a:p>
          <a:p>
            <a:pPr marL="231775" lvl="1" indent="0">
              <a:spcAft>
                <a:spcPts val="800"/>
              </a:spcAft>
            </a:pPr>
            <a:r>
              <a:rPr lang="en-US" sz="1900" b="1" dirty="0">
                <a:latin typeface="+mn-lt"/>
              </a:rPr>
              <a:t>Insurance Claims</a:t>
            </a:r>
            <a:r>
              <a:rPr lang="en-US" sz="1900" dirty="0">
                <a:latin typeface="+mn-lt"/>
              </a:rPr>
              <a:t>: </a:t>
            </a:r>
            <a:r>
              <a:rPr lang="en-US" sz="1900" b="1" dirty="0">
                <a:latin typeface="+mn-lt"/>
              </a:rPr>
              <a:t>ICICI Lombard</a:t>
            </a:r>
            <a:r>
              <a:rPr lang="en-US" sz="1900" dirty="0">
                <a:latin typeface="+mn-lt"/>
              </a:rPr>
              <a:t> uses blockchain to speed up claim verification, reducing fraud and delays</a:t>
            </a:r>
            <a:r>
              <a:rPr lang="en-US" sz="1900" dirty="0" smtClean="0">
                <a:latin typeface="+mn-lt"/>
              </a:rPr>
              <a:t>.</a:t>
            </a:r>
            <a:endParaRPr lang="en-IN" sz="1900" b="1" dirty="0" smtClean="0">
              <a:solidFill>
                <a:srgbClr val="FFFF00"/>
              </a:solidFill>
              <a:latin typeface="+mn-lt"/>
            </a:endParaRPr>
          </a:p>
        </p:txBody>
      </p:sp>
    </p:spTree>
    <p:extLst>
      <p:ext uri="{BB962C8B-B14F-4D97-AF65-F5344CB8AC3E}">
        <p14:creationId xmlns:p14="http://schemas.microsoft.com/office/powerpoint/2010/main" val="4220547132"/>
      </p:ext>
    </p:extLst>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1524"/>
            <a:ext cx="11125200" cy="6994222"/>
          </a:xfrm>
          <a:prstGeom prst="rect">
            <a:avLst/>
          </a:prstGeom>
        </p:spPr>
        <p:txBody>
          <a:bodyPr wrap="square">
            <a:spAutoFit/>
          </a:bodyPr>
          <a:lstStyle/>
          <a:p>
            <a:r>
              <a:rPr lang="en-US" b="1" dirty="0" smtClean="0">
                <a:solidFill>
                  <a:srgbClr val="FFFF00"/>
                </a:solidFill>
                <a:latin typeface="+mn-lt"/>
              </a:rPr>
              <a:t>Second component of framework </a:t>
            </a:r>
            <a:r>
              <a:rPr lang="en-US" sz="2200" dirty="0" smtClean="0">
                <a:latin typeface="+mn-lt"/>
              </a:rPr>
              <a:t>: </a:t>
            </a:r>
            <a:r>
              <a:rPr lang="en-IN"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lnSpc>
                <a:spcPct val="150000"/>
              </a:lnSpc>
            </a:pPr>
            <a:r>
              <a:rPr lang="en-US" dirty="0" smtClean="0">
                <a:latin typeface="+mn-lt"/>
              </a:rPr>
              <a:t> Under this point we will explore 5 points –Let-us explore fourth point</a:t>
            </a:r>
          </a:p>
          <a:p>
            <a:pPr>
              <a:lnSpc>
                <a:spcPct val="150000"/>
              </a:lnSpc>
            </a:pPr>
            <a:r>
              <a:rPr lang="en-US" sz="2000" dirty="0" smtClean="0">
                <a:latin typeface="+mn-lt"/>
              </a:rPr>
              <a:t>4. </a:t>
            </a:r>
            <a:r>
              <a:rPr lang="en-US" sz="2200" b="1" dirty="0" smtClean="0">
                <a:solidFill>
                  <a:srgbClr val="FFFF00"/>
                </a:solidFill>
                <a:latin typeface="+mn-lt"/>
              </a:rPr>
              <a:t>Cost </a:t>
            </a:r>
            <a:r>
              <a:rPr lang="en-US" sz="2200" b="1" dirty="0">
                <a:solidFill>
                  <a:srgbClr val="FFFF00"/>
                </a:solidFill>
                <a:latin typeface="+mn-lt"/>
              </a:rPr>
              <a:t>of credit and liquidity management </a:t>
            </a:r>
            <a:r>
              <a:rPr lang="en-IN" sz="2200" b="1" dirty="0" smtClean="0">
                <a:solidFill>
                  <a:srgbClr val="FFFF00"/>
                </a:solidFill>
                <a:latin typeface="+mn-lt"/>
              </a:rPr>
              <a:t>:</a:t>
            </a:r>
          </a:p>
          <a:p>
            <a:pPr>
              <a:lnSpc>
                <a:spcPct val="150000"/>
              </a:lnSpc>
            </a:pPr>
            <a:r>
              <a:rPr lang="en-US" sz="2000" dirty="0" smtClean="0">
                <a:latin typeface="+mn-lt"/>
              </a:rPr>
              <a:t>C</a:t>
            </a:r>
            <a:r>
              <a:rPr lang="en-US" sz="2000" b="1" dirty="0" smtClean="0">
                <a:latin typeface="+mn-lt"/>
              </a:rPr>
              <a:t>redit</a:t>
            </a:r>
            <a:r>
              <a:rPr lang="en-US" sz="2000" dirty="0" smtClean="0">
                <a:latin typeface="+mn-lt"/>
              </a:rPr>
              <a:t>  --Borrowed </a:t>
            </a:r>
            <a:r>
              <a:rPr lang="en-US" sz="2000" dirty="0">
                <a:latin typeface="+mn-lt"/>
              </a:rPr>
              <a:t>money, and </a:t>
            </a:r>
            <a:r>
              <a:rPr lang="en-US" sz="2000" b="1" dirty="0">
                <a:latin typeface="+mn-lt"/>
              </a:rPr>
              <a:t>liquidity</a:t>
            </a:r>
            <a:r>
              <a:rPr lang="en-US" sz="2000" dirty="0">
                <a:latin typeface="+mn-lt"/>
              </a:rPr>
              <a:t> </a:t>
            </a:r>
            <a:r>
              <a:rPr lang="en-US" sz="2000" dirty="0" smtClean="0">
                <a:latin typeface="+mn-lt"/>
              </a:rPr>
              <a:t>-- Cash </a:t>
            </a:r>
            <a:r>
              <a:rPr lang="en-US" sz="2000" dirty="0">
                <a:latin typeface="+mn-lt"/>
              </a:rPr>
              <a:t>available to make payments. </a:t>
            </a:r>
            <a:endParaRPr lang="en-US" sz="2000" dirty="0"/>
          </a:p>
          <a:p>
            <a:pPr>
              <a:lnSpc>
                <a:spcPct val="150000"/>
              </a:lnSpc>
            </a:pPr>
            <a:r>
              <a:rPr lang="en-US" sz="2000" b="1" dirty="0">
                <a:solidFill>
                  <a:schemeClr val="accent1">
                    <a:lumMod val="60000"/>
                    <a:lumOff val="40000"/>
                  </a:schemeClr>
                </a:solidFill>
                <a:latin typeface="+mn-lt"/>
              </a:rPr>
              <a:t>Faster Transactions Reduce the Need for Credit</a:t>
            </a:r>
          </a:p>
          <a:p>
            <a:pPr marL="342900" indent="-342900">
              <a:lnSpc>
                <a:spcPct val="150000"/>
              </a:lnSpc>
              <a:buFont typeface="Wingdings" pitchFamily="2" charset="2"/>
              <a:buChar char="§"/>
            </a:pPr>
            <a:r>
              <a:rPr lang="en-US" sz="2000" dirty="0">
                <a:latin typeface="+mn-lt"/>
              </a:rPr>
              <a:t>In traditional banking, transactions take time to complete, so businesses often borrow money (credit) to cover </a:t>
            </a:r>
            <a:r>
              <a:rPr lang="en-US" sz="2000" dirty="0" smtClean="0">
                <a:latin typeface="+mn-lt"/>
              </a:rPr>
              <a:t>delays</a:t>
            </a:r>
            <a:endParaRPr lang="en-US" sz="2000" dirty="0">
              <a:latin typeface="+mn-lt"/>
            </a:endParaRPr>
          </a:p>
          <a:p>
            <a:pPr marL="342900" indent="-342900">
              <a:lnSpc>
                <a:spcPct val="150000"/>
              </a:lnSpc>
              <a:buFont typeface="Wingdings" pitchFamily="2" charset="2"/>
              <a:buChar char="§"/>
            </a:pPr>
            <a:r>
              <a:rPr lang="en-US" sz="2000" dirty="0">
                <a:latin typeface="+mn-lt"/>
              </a:rPr>
              <a:t>DLT enables </a:t>
            </a:r>
            <a:r>
              <a:rPr lang="en-US" sz="2000" b="1" dirty="0">
                <a:latin typeface="+mn-lt"/>
              </a:rPr>
              <a:t>instant or faster payments</a:t>
            </a:r>
            <a:r>
              <a:rPr lang="en-US" sz="2000" dirty="0">
                <a:latin typeface="+mn-lt"/>
              </a:rPr>
              <a:t>, reducing the need to borrow money</a:t>
            </a:r>
            <a:r>
              <a:rPr lang="en-US" sz="2000" dirty="0" smtClean="0"/>
              <a:t>.</a:t>
            </a:r>
          </a:p>
          <a:p>
            <a:pPr>
              <a:lnSpc>
                <a:spcPct val="150000"/>
              </a:lnSpc>
            </a:pPr>
            <a:r>
              <a:rPr lang="en-US" sz="2000" b="1" dirty="0">
                <a:solidFill>
                  <a:schemeClr val="accent1">
                    <a:lumMod val="60000"/>
                    <a:lumOff val="40000"/>
                  </a:schemeClr>
                </a:solidFill>
                <a:latin typeface="+mn-lt"/>
              </a:rPr>
              <a:t>Higher Liquidity Requirements</a:t>
            </a:r>
          </a:p>
          <a:p>
            <a:pPr marL="342900" indent="-342900">
              <a:lnSpc>
                <a:spcPct val="150000"/>
              </a:lnSpc>
              <a:buFont typeface="Wingdings" pitchFamily="2" charset="2"/>
              <a:buChar char="§"/>
            </a:pPr>
            <a:r>
              <a:rPr lang="en-US" sz="1900" dirty="0">
                <a:latin typeface="+mn-lt"/>
              </a:rPr>
              <a:t>Since transactions happen </a:t>
            </a:r>
            <a:r>
              <a:rPr lang="en-US" sz="1900" b="1" dirty="0" smtClean="0">
                <a:latin typeface="+mn-lt"/>
              </a:rPr>
              <a:t>instantly/near-instantly</a:t>
            </a:r>
            <a:r>
              <a:rPr lang="en-US" sz="1900" dirty="0">
                <a:latin typeface="+mn-lt"/>
              </a:rPr>
              <a:t>, participants must have </a:t>
            </a:r>
            <a:r>
              <a:rPr lang="en-US" sz="1900" b="1" dirty="0">
                <a:latin typeface="+mn-lt"/>
              </a:rPr>
              <a:t>enough liquidity</a:t>
            </a:r>
            <a:r>
              <a:rPr lang="en-US" sz="1900" dirty="0">
                <a:latin typeface="+mn-lt"/>
              </a:rPr>
              <a:t> </a:t>
            </a:r>
            <a:r>
              <a:rPr lang="en-US" sz="1900" dirty="0" smtClean="0">
                <a:latin typeface="+mn-lt"/>
              </a:rPr>
              <a:t>at </a:t>
            </a:r>
            <a:r>
              <a:rPr lang="en-US" sz="1900" dirty="0">
                <a:latin typeface="+mn-lt"/>
              </a:rPr>
              <a:t>all times.</a:t>
            </a:r>
          </a:p>
          <a:p>
            <a:pPr marL="342900" indent="-342900">
              <a:lnSpc>
                <a:spcPct val="150000"/>
              </a:lnSpc>
              <a:buFont typeface="Wingdings" pitchFamily="2" charset="2"/>
              <a:buChar char="§"/>
            </a:pPr>
            <a:r>
              <a:rPr lang="en-US" sz="1900" dirty="0">
                <a:latin typeface="+mn-lt"/>
              </a:rPr>
              <a:t>Unlike traditional systems where delays allow firms to manage cash flows, </a:t>
            </a:r>
            <a:r>
              <a:rPr lang="en-US" sz="1900" b="1" dirty="0">
                <a:latin typeface="+mn-lt"/>
              </a:rPr>
              <a:t>DLT-based instant settlement requires immediate funds</a:t>
            </a:r>
            <a:r>
              <a:rPr lang="en-US" sz="1900" dirty="0" smtClean="0">
                <a:latin typeface="+mn-lt"/>
              </a:rPr>
              <a:t>.</a:t>
            </a:r>
          </a:p>
          <a:p>
            <a:pPr>
              <a:lnSpc>
                <a:spcPct val="150000"/>
              </a:lnSpc>
            </a:pPr>
            <a:r>
              <a:rPr lang="en-US" sz="2000" b="1" dirty="0">
                <a:solidFill>
                  <a:schemeClr val="accent1">
                    <a:lumMod val="60000"/>
                    <a:lumOff val="40000"/>
                  </a:schemeClr>
                </a:solidFill>
                <a:latin typeface="+mn-lt"/>
              </a:rPr>
              <a:t>Reduced Collateral Requirements</a:t>
            </a:r>
          </a:p>
          <a:p>
            <a:pPr marL="342900" indent="-342900">
              <a:lnSpc>
                <a:spcPct val="150000"/>
              </a:lnSpc>
              <a:buFont typeface="Wingdings" pitchFamily="2" charset="2"/>
              <a:buChar char="§"/>
            </a:pPr>
            <a:r>
              <a:rPr lang="en-US" sz="2000" dirty="0" smtClean="0">
                <a:latin typeface="+mn-lt"/>
              </a:rPr>
              <a:t>DLT </a:t>
            </a:r>
            <a:r>
              <a:rPr lang="en-US" sz="2000" dirty="0">
                <a:latin typeface="+mn-lt"/>
              </a:rPr>
              <a:t>reduces </a:t>
            </a:r>
            <a:r>
              <a:rPr lang="en-US" sz="2000" dirty="0" smtClean="0">
                <a:latin typeface="+mn-lt"/>
              </a:rPr>
              <a:t>need </a:t>
            </a:r>
            <a:r>
              <a:rPr lang="en-US" sz="2000" dirty="0">
                <a:latin typeface="+mn-lt"/>
              </a:rPr>
              <a:t>for collateral, </a:t>
            </a:r>
            <a:r>
              <a:rPr lang="en-US" sz="2000" dirty="0" smtClean="0">
                <a:latin typeface="+mn-lt"/>
              </a:rPr>
              <a:t>so businesses </a:t>
            </a:r>
            <a:r>
              <a:rPr lang="en-US" sz="2000" dirty="0">
                <a:latin typeface="+mn-lt"/>
              </a:rPr>
              <a:t>have more money available instead of keeping it locked for </a:t>
            </a:r>
            <a:r>
              <a:rPr lang="en-US" sz="2000" dirty="0" smtClean="0">
                <a:latin typeface="+mn-lt"/>
              </a:rPr>
              <a:t>security as in traditional banking</a:t>
            </a:r>
            <a:r>
              <a:rPr lang="en-US" sz="2000" dirty="0" smtClean="0"/>
              <a:t>.</a:t>
            </a:r>
            <a:endParaRPr lang="en-IN" sz="2200" b="1" dirty="0" smtClean="0">
              <a:solidFill>
                <a:srgbClr val="FFFF00"/>
              </a:solidFill>
              <a:latin typeface="+mj-lt"/>
            </a:endParaRPr>
          </a:p>
        </p:txBody>
      </p:sp>
    </p:spTree>
    <p:extLst>
      <p:ext uri="{BB962C8B-B14F-4D97-AF65-F5344CB8AC3E}">
        <p14:creationId xmlns:p14="http://schemas.microsoft.com/office/powerpoint/2010/main" val="791888493"/>
      </p:ext>
    </p:extLst>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19783" y="0"/>
            <a:ext cx="11369041" cy="5970865"/>
          </a:xfrm>
          <a:prstGeom prst="rect">
            <a:avLst/>
          </a:prstGeom>
        </p:spPr>
        <p:txBody>
          <a:bodyPr wrap="square">
            <a:spAutoFit/>
          </a:bodyPr>
          <a:lstStyle/>
          <a:p>
            <a:pPr>
              <a:spcAft>
                <a:spcPts val="500"/>
              </a:spcAft>
            </a:pPr>
            <a:r>
              <a:rPr lang="en-US" b="1" dirty="0" smtClean="0">
                <a:solidFill>
                  <a:srgbClr val="FFFF00"/>
                </a:solidFill>
                <a:latin typeface="+mn-lt"/>
              </a:rPr>
              <a:t>Second component of framework </a:t>
            </a:r>
            <a:r>
              <a:rPr lang="en-US" sz="2200" dirty="0" smtClean="0">
                <a:latin typeface="+mn-lt"/>
              </a:rPr>
              <a:t>: </a:t>
            </a:r>
            <a:r>
              <a:rPr lang="en-IN" b="1" dirty="0">
                <a:solidFill>
                  <a:schemeClr val="accent1">
                    <a:lumMod val="60000"/>
                    <a:lumOff val="40000"/>
                  </a:schemeClr>
                </a:solidFill>
                <a:latin typeface="+mn-lt"/>
              </a:rPr>
              <a:t>Potential implications for efficiency </a:t>
            </a:r>
            <a:endParaRPr lang="en-US" sz="2200" b="1" dirty="0" smtClean="0">
              <a:solidFill>
                <a:schemeClr val="accent1">
                  <a:lumMod val="60000"/>
                  <a:lumOff val="40000"/>
                </a:schemeClr>
              </a:solidFill>
              <a:latin typeface="+mn-lt"/>
            </a:endParaRPr>
          </a:p>
          <a:p>
            <a:pPr>
              <a:spcAft>
                <a:spcPts val="500"/>
              </a:spcAft>
            </a:pPr>
            <a:r>
              <a:rPr lang="en-US" dirty="0" smtClean="0">
                <a:latin typeface="+mn-lt"/>
              </a:rPr>
              <a:t> Under this point we will explore 5 points –Let-us explore fifth point</a:t>
            </a:r>
          </a:p>
          <a:p>
            <a:pPr>
              <a:spcAft>
                <a:spcPts val="500"/>
              </a:spcAft>
            </a:pPr>
            <a:r>
              <a:rPr lang="en-US" b="1" dirty="0" smtClean="0">
                <a:solidFill>
                  <a:schemeClr val="accent1">
                    <a:lumMod val="60000"/>
                    <a:lumOff val="40000"/>
                  </a:schemeClr>
                </a:solidFill>
                <a:latin typeface="+mn-lt"/>
              </a:rPr>
              <a:t>5</a:t>
            </a:r>
            <a:r>
              <a:rPr lang="en-US" sz="2000" dirty="0" smtClean="0">
                <a:latin typeface="+mn-lt"/>
              </a:rPr>
              <a:t>.</a:t>
            </a:r>
            <a:r>
              <a:rPr lang="en-US" sz="2200" b="1" dirty="0" smtClean="0">
                <a:solidFill>
                  <a:srgbClr val="FFFF00"/>
                </a:solidFill>
                <a:latin typeface="+mn-lt"/>
              </a:rPr>
              <a:t>Efficiency </a:t>
            </a:r>
            <a:r>
              <a:rPr lang="en-US" sz="2200" b="1" dirty="0">
                <a:solidFill>
                  <a:srgbClr val="FFFF00"/>
                </a:solidFill>
                <a:latin typeface="+mn-lt"/>
              </a:rPr>
              <a:t>gains from automated contract tools </a:t>
            </a:r>
            <a:r>
              <a:rPr lang="en-IN" sz="2200" b="1" dirty="0" smtClean="0">
                <a:solidFill>
                  <a:srgbClr val="FFFF00"/>
                </a:solidFill>
                <a:latin typeface="+mn-lt"/>
              </a:rPr>
              <a:t>:</a:t>
            </a:r>
          </a:p>
          <a:p>
            <a:pPr>
              <a:spcAft>
                <a:spcPts val="500"/>
              </a:spcAft>
            </a:pPr>
            <a:r>
              <a:rPr lang="en-US" sz="2000" dirty="0">
                <a:latin typeface="+mn-lt"/>
              </a:rPr>
              <a:t>Smart contracts are </a:t>
            </a:r>
            <a:r>
              <a:rPr lang="en-US" sz="2000" dirty="0" smtClean="0">
                <a:latin typeface="+mn-lt"/>
              </a:rPr>
              <a:t>automatic </a:t>
            </a:r>
            <a:r>
              <a:rPr lang="en-US" sz="2000" dirty="0">
                <a:latin typeface="+mn-lt"/>
              </a:rPr>
              <a:t>agreements that run on DLT </a:t>
            </a:r>
            <a:r>
              <a:rPr lang="en-US" sz="2000" dirty="0" smtClean="0">
                <a:latin typeface="+mn-lt"/>
              </a:rPr>
              <a:t>.They </a:t>
            </a:r>
            <a:r>
              <a:rPr lang="en-US" sz="2000" dirty="0">
                <a:latin typeface="+mn-lt"/>
              </a:rPr>
              <a:t>follow pre-set rules and execute actions on their own without needing a person to approve them. This makes transactions faster and more efficient</a:t>
            </a:r>
            <a:r>
              <a:rPr lang="en-US" sz="2000" dirty="0" smtClean="0">
                <a:latin typeface="+mn-lt"/>
              </a:rPr>
              <a:t>.</a:t>
            </a:r>
          </a:p>
          <a:p>
            <a:pPr>
              <a:spcAft>
                <a:spcPts val="500"/>
              </a:spcAft>
            </a:pPr>
            <a:r>
              <a:rPr lang="en-US" sz="2000" b="1" dirty="0"/>
              <a:t>Examples:</a:t>
            </a:r>
          </a:p>
          <a:p>
            <a:pPr marL="342900" indent="-342900">
              <a:spcAft>
                <a:spcPts val="500"/>
              </a:spcAft>
              <a:buFont typeface="Wingdings" pitchFamily="2" charset="2"/>
              <a:buChar char="§"/>
            </a:pPr>
            <a:r>
              <a:rPr lang="en-US" sz="2000" b="1" dirty="0">
                <a:solidFill>
                  <a:schemeClr val="accent1">
                    <a:lumMod val="60000"/>
                    <a:lumOff val="40000"/>
                  </a:schemeClr>
                </a:solidFill>
                <a:latin typeface="+mn-lt"/>
              </a:rPr>
              <a:t>Automatic Loan Payments </a:t>
            </a:r>
            <a:r>
              <a:rPr lang="en-US" sz="2000" dirty="0">
                <a:latin typeface="+mn-lt"/>
              </a:rPr>
              <a:t>– A DLT-based loan contract can automatically deduct payments from a borrower’s account on the due date, without needing a bank employee.</a:t>
            </a:r>
          </a:p>
          <a:p>
            <a:pPr marL="342900" indent="-342900">
              <a:spcAft>
                <a:spcPts val="500"/>
              </a:spcAft>
              <a:buFont typeface="Wingdings" pitchFamily="2" charset="2"/>
              <a:buChar char="§"/>
            </a:pPr>
            <a:r>
              <a:rPr lang="en-US" sz="2000" b="1" dirty="0">
                <a:solidFill>
                  <a:schemeClr val="accent1">
                    <a:lumMod val="60000"/>
                    <a:lumOff val="40000"/>
                  </a:schemeClr>
                </a:solidFill>
                <a:latin typeface="+mn-lt"/>
              </a:rPr>
              <a:t>Instant Insurance Claims </a:t>
            </a:r>
            <a:r>
              <a:rPr lang="en-US" sz="2000" dirty="0">
                <a:latin typeface="+mn-lt"/>
              </a:rPr>
              <a:t>– </a:t>
            </a:r>
            <a:r>
              <a:rPr lang="en-US" sz="2000" dirty="0" smtClean="0">
                <a:latin typeface="+mn-lt"/>
              </a:rPr>
              <a:t>Blockchain-based </a:t>
            </a:r>
            <a:r>
              <a:rPr lang="en-US" sz="2000" dirty="0">
                <a:latin typeface="+mn-lt"/>
              </a:rPr>
              <a:t>insurance system can auto-approve claims if all required documents are verified, reducing delays.</a:t>
            </a:r>
          </a:p>
          <a:p>
            <a:pPr>
              <a:spcAft>
                <a:spcPts val="500"/>
              </a:spcAft>
            </a:pPr>
            <a:r>
              <a:rPr lang="en-US" sz="2000" b="1" dirty="0">
                <a:solidFill>
                  <a:srgbClr val="FFFF00"/>
                </a:solidFill>
                <a:latin typeface="+mn-lt"/>
              </a:rPr>
              <a:t>Why It’s Useful?</a:t>
            </a:r>
          </a:p>
          <a:p>
            <a:pPr marL="342900" indent="-342900">
              <a:spcAft>
                <a:spcPts val="500"/>
              </a:spcAft>
              <a:buFont typeface="Wingdings" pitchFamily="2" charset="2"/>
              <a:buChar char="§"/>
            </a:pPr>
            <a:r>
              <a:rPr lang="en-US" sz="2000" dirty="0">
                <a:latin typeface="+mn-lt"/>
              </a:rPr>
              <a:t>Saves time by removing manual approvals.</a:t>
            </a:r>
          </a:p>
          <a:p>
            <a:pPr marL="342900" indent="-342900">
              <a:spcAft>
                <a:spcPts val="500"/>
              </a:spcAft>
              <a:buFont typeface="Wingdings" pitchFamily="2" charset="2"/>
              <a:buChar char="§"/>
            </a:pPr>
            <a:r>
              <a:rPr lang="en-US" sz="2000" dirty="0">
                <a:latin typeface="+mn-lt"/>
              </a:rPr>
              <a:t>Reduces errors since there’s no human involvement.</a:t>
            </a:r>
          </a:p>
          <a:p>
            <a:pPr marL="342900" indent="-342900">
              <a:spcAft>
                <a:spcPts val="500"/>
              </a:spcAft>
              <a:buFont typeface="Wingdings" pitchFamily="2" charset="2"/>
              <a:buChar char="§"/>
            </a:pPr>
            <a:r>
              <a:rPr lang="en-US" sz="2000" dirty="0">
                <a:latin typeface="+mn-lt"/>
              </a:rPr>
              <a:t>Makes transactions faster and more efficient.</a:t>
            </a:r>
          </a:p>
          <a:p>
            <a:pPr>
              <a:spcAft>
                <a:spcPts val="500"/>
              </a:spcAft>
            </a:pPr>
            <a:r>
              <a:rPr lang="en-US" sz="2000" dirty="0">
                <a:latin typeface="+mn-lt"/>
              </a:rPr>
              <a:t>Conclusion:</a:t>
            </a:r>
          </a:p>
          <a:p>
            <a:pPr>
              <a:spcAft>
                <a:spcPts val="500"/>
              </a:spcAft>
            </a:pPr>
            <a:r>
              <a:rPr lang="en-US" sz="2000" dirty="0">
                <a:latin typeface="+mn-lt"/>
              </a:rPr>
              <a:t>Smart contracts automate processes, making payments, approvals, and transactions faster and hassle-free</a:t>
            </a:r>
            <a:r>
              <a:rPr lang="en-US" sz="2000" dirty="0" smtClean="0">
                <a:latin typeface="+mn-lt"/>
              </a:rPr>
              <a:t>.</a:t>
            </a:r>
            <a:endParaRPr lang="en-IN" sz="2200" dirty="0" smtClean="0">
              <a:solidFill>
                <a:srgbClr val="FFFF00"/>
              </a:solidFill>
              <a:latin typeface="+mn-lt"/>
            </a:endParaRPr>
          </a:p>
        </p:txBody>
      </p:sp>
    </p:spTree>
    <p:extLst>
      <p:ext uri="{BB962C8B-B14F-4D97-AF65-F5344CB8AC3E}">
        <p14:creationId xmlns:p14="http://schemas.microsoft.com/office/powerpoint/2010/main" val="2802786424"/>
      </p:ext>
    </p:extLst>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19784" y="0"/>
            <a:ext cx="11125200" cy="5788764"/>
          </a:xfrm>
          <a:prstGeom prst="rect">
            <a:avLst/>
          </a:prstGeom>
        </p:spPr>
        <p:txBody>
          <a:bodyPr wrap="square">
            <a:spAutoFit/>
          </a:bodyPr>
          <a:lstStyle/>
          <a:p>
            <a:pPr>
              <a:spcAft>
                <a:spcPts val="300"/>
              </a:spcAft>
            </a:pPr>
            <a:r>
              <a:rPr lang="en-US" b="1" dirty="0" smtClean="0">
                <a:solidFill>
                  <a:srgbClr val="FFFF00"/>
                </a:solidFill>
                <a:latin typeface="+mn-lt"/>
              </a:rPr>
              <a:t>Third component of framework </a:t>
            </a:r>
            <a:r>
              <a:rPr lang="en-US" sz="2200" dirty="0" smtClean="0">
                <a:latin typeface="+mn-lt"/>
              </a:rPr>
              <a:t>: </a:t>
            </a:r>
            <a:r>
              <a:rPr lang="en-IN" b="1" dirty="0">
                <a:solidFill>
                  <a:schemeClr val="accent1">
                    <a:lumMod val="60000"/>
                    <a:lumOff val="40000"/>
                  </a:schemeClr>
                </a:solidFill>
                <a:latin typeface="+mn-lt"/>
              </a:rPr>
              <a:t>Potential implications for safety</a:t>
            </a:r>
            <a:endParaRPr lang="en-US" sz="2200" b="1" dirty="0" smtClean="0">
              <a:solidFill>
                <a:schemeClr val="accent1">
                  <a:lumMod val="60000"/>
                  <a:lumOff val="40000"/>
                </a:schemeClr>
              </a:solidFill>
              <a:latin typeface="+mn-lt"/>
            </a:endParaRPr>
          </a:p>
          <a:p>
            <a:pPr>
              <a:spcAft>
                <a:spcPts val="300"/>
              </a:spcAft>
            </a:pPr>
            <a:r>
              <a:rPr lang="en-US" dirty="0" smtClean="0">
                <a:latin typeface="+mn-lt"/>
              </a:rPr>
              <a:t> Under this point we will explore 5 points</a:t>
            </a:r>
          </a:p>
          <a:p>
            <a:pPr marL="354013" indent="-268288">
              <a:lnSpc>
                <a:spcPct val="150000"/>
              </a:lnSpc>
              <a:spcAft>
                <a:spcPts val="600"/>
              </a:spcAft>
              <a:buFont typeface="+mj-lt"/>
              <a:buAutoNum type="arabicPeriod"/>
            </a:pPr>
            <a:r>
              <a:rPr lang="en-IN" sz="2200" b="1" dirty="0" smtClean="0">
                <a:solidFill>
                  <a:schemeClr val="accent1">
                    <a:lumMod val="60000"/>
                    <a:lumOff val="40000"/>
                  </a:schemeClr>
                </a:solidFill>
                <a:latin typeface="+mn-lt"/>
              </a:rPr>
              <a:t>Operational and security risk	</a:t>
            </a:r>
            <a:r>
              <a:rPr lang="en-IN" sz="2200" dirty="0">
                <a:latin typeface="+mn-lt"/>
              </a:rPr>
              <a:t> </a:t>
            </a:r>
            <a:r>
              <a:rPr lang="en-IN" sz="2200" b="1" dirty="0" smtClean="0">
                <a:solidFill>
                  <a:schemeClr val="accent1">
                    <a:lumMod val="60000"/>
                    <a:lumOff val="40000"/>
                  </a:schemeClr>
                </a:solidFill>
                <a:latin typeface="+mn-lt"/>
              </a:rPr>
              <a:t>3</a:t>
            </a:r>
            <a:r>
              <a:rPr lang="en-IN" sz="2200" b="1" dirty="0">
                <a:solidFill>
                  <a:schemeClr val="accent1">
                    <a:lumMod val="60000"/>
                    <a:lumOff val="40000"/>
                  </a:schemeClr>
                </a:solidFill>
                <a:latin typeface="+mn-lt"/>
              </a:rPr>
              <a:t>. Legal risk</a:t>
            </a:r>
          </a:p>
          <a:p>
            <a:pPr marL="804863" indent="-231775">
              <a:spcAft>
                <a:spcPts val="300"/>
              </a:spcAft>
              <a:buFont typeface="Wingdings" pitchFamily="2" charset="2"/>
              <a:buChar char="§"/>
            </a:pPr>
            <a:r>
              <a:rPr lang="en-US" sz="1800" dirty="0" smtClean="0">
                <a:latin typeface="+mn-lt"/>
              </a:rPr>
              <a:t>Reliability </a:t>
            </a:r>
            <a:r>
              <a:rPr lang="en-US" sz="1800" dirty="0">
                <a:latin typeface="+mn-lt"/>
              </a:rPr>
              <a:t>&amp; Resilience</a:t>
            </a:r>
          </a:p>
          <a:p>
            <a:pPr marL="804863" indent="-231775">
              <a:spcAft>
                <a:spcPts val="300"/>
              </a:spcAft>
              <a:buFont typeface="Wingdings" pitchFamily="2" charset="2"/>
              <a:buChar char="§"/>
            </a:pPr>
            <a:r>
              <a:rPr lang="en-US" sz="1800" dirty="0">
                <a:latin typeface="+mn-lt"/>
              </a:rPr>
              <a:t>Security</a:t>
            </a:r>
          </a:p>
          <a:p>
            <a:pPr marL="804863" indent="-231775">
              <a:spcAft>
                <a:spcPts val="300"/>
              </a:spcAft>
              <a:buFont typeface="Wingdings" pitchFamily="2" charset="2"/>
              <a:buChar char="§"/>
            </a:pPr>
            <a:r>
              <a:rPr lang="en-US" sz="1800" dirty="0">
                <a:latin typeface="+mn-lt"/>
              </a:rPr>
              <a:t>Operational Capacity and Scalability </a:t>
            </a:r>
          </a:p>
          <a:p>
            <a:pPr marL="85725">
              <a:lnSpc>
                <a:spcPct val="150000"/>
              </a:lnSpc>
              <a:spcAft>
                <a:spcPts val="600"/>
              </a:spcAft>
            </a:pPr>
            <a:r>
              <a:rPr lang="en-IN" sz="2200" b="1" dirty="0" smtClean="0">
                <a:solidFill>
                  <a:schemeClr val="accent1">
                    <a:lumMod val="60000"/>
                    <a:lumOff val="40000"/>
                  </a:schemeClr>
                </a:solidFill>
                <a:latin typeface="+mn-lt"/>
              </a:rPr>
              <a:t>2. Settlement issues</a:t>
            </a:r>
            <a:r>
              <a:rPr lang="en-IN" sz="2200" dirty="0" smtClean="0">
                <a:latin typeface="+mn-lt"/>
              </a:rPr>
              <a:t>			</a:t>
            </a:r>
            <a:r>
              <a:rPr lang="en-IN" sz="2200" b="1" dirty="0">
                <a:solidFill>
                  <a:schemeClr val="accent1">
                    <a:lumMod val="60000"/>
                    <a:lumOff val="40000"/>
                  </a:schemeClr>
                </a:solidFill>
                <a:latin typeface="+mn-lt"/>
              </a:rPr>
              <a:t>4. Governance</a:t>
            </a:r>
          </a:p>
          <a:p>
            <a:pPr marL="804863" indent="-231775">
              <a:spcAft>
                <a:spcPts val="600"/>
              </a:spcAft>
              <a:buFont typeface="Wingdings" pitchFamily="2" charset="2"/>
              <a:buChar char="§"/>
            </a:pPr>
            <a:r>
              <a:rPr lang="en-IN" sz="1800" dirty="0" smtClean="0">
                <a:latin typeface="+mn-lt"/>
              </a:rPr>
              <a:t>Settlement </a:t>
            </a:r>
            <a:r>
              <a:rPr lang="en-IN" sz="1800" dirty="0">
                <a:latin typeface="+mn-lt"/>
              </a:rPr>
              <a:t>asset</a:t>
            </a:r>
          </a:p>
          <a:p>
            <a:pPr marL="804863" indent="-231775">
              <a:spcAft>
                <a:spcPts val="600"/>
              </a:spcAft>
              <a:buFont typeface="Wingdings" pitchFamily="2" charset="2"/>
              <a:buChar char="§"/>
            </a:pPr>
            <a:r>
              <a:rPr lang="en-IN" sz="1800" dirty="0">
                <a:latin typeface="+mn-lt"/>
              </a:rPr>
              <a:t>Operational settlement</a:t>
            </a:r>
          </a:p>
          <a:p>
            <a:pPr marL="804863" indent="-231775">
              <a:spcAft>
                <a:spcPts val="600"/>
              </a:spcAft>
              <a:buFont typeface="Wingdings" pitchFamily="2" charset="2"/>
              <a:buChar char="§"/>
            </a:pPr>
            <a:r>
              <a:rPr lang="en-IN" sz="1800" dirty="0">
                <a:latin typeface="+mn-lt"/>
              </a:rPr>
              <a:t>Legal settlement finality</a:t>
            </a:r>
            <a:endParaRPr lang="en-IN" sz="1800" dirty="0" smtClean="0">
              <a:latin typeface="+mn-lt"/>
            </a:endParaRPr>
          </a:p>
          <a:p>
            <a:pPr marL="85725">
              <a:spcAft>
                <a:spcPts val="400"/>
              </a:spcAft>
            </a:pPr>
            <a:r>
              <a:rPr lang="en-IN" sz="2200" b="1" dirty="0" smtClean="0">
                <a:solidFill>
                  <a:schemeClr val="accent1">
                    <a:lumMod val="60000"/>
                    <a:lumOff val="40000"/>
                  </a:schemeClr>
                </a:solidFill>
                <a:latin typeface="+mn-lt"/>
              </a:rPr>
              <a:t>5. Data </a:t>
            </a:r>
            <a:r>
              <a:rPr lang="en-IN" sz="2200" b="1" dirty="0">
                <a:solidFill>
                  <a:schemeClr val="accent1">
                    <a:lumMod val="60000"/>
                    <a:lumOff val="40000"/>
                  </a:schemeClr>
                </a:solidFill>
                <a:latin typeface="+mn-lt"/>
              </a:rPr>
              <a:t>management and </a:t>
            </a:r>
            <a:r>
              <a:rPr lang="en-IN" sz="2200" b="1" dirty="0" smtClean="0">
                <a:solidFill>
                  <a:schemeClr val="accent1">
                    <a:lumMod val="60000"/>
                    <a:lumOff val="40000"/>
                  </a:schemeClr>
                </a:solidFill>
                <a:latin typeface="+mn-lt"/>
              </a:rPr>
              <a:t>protection</a:t>
            </a:r>
          </a:p>
          <a:p>
            <a:pPr marL="85725">
              <a:spcAft>
                <a:spcPts val="400"/>
              </a:spcAft>
            </a:pPr>
            <a:endParaRPr lang="en-IN" sz="2200" dirty="0" smtClean="0">
              <a:latin typeface="+mn-lt"/>
            </a:endParaRPr>
          </a:p>
          <a:p>
            <a:pPr marL="85725">
              <a:lnSpc>
                <a:spcPct val="150000"/>
              </a:lnSpc>
              <a:spcAft>
                <a:spcPts val="400"/>
              </a:spcAft>
            </a:pPr>
            <a:r>
              <a:rPr lang="en-US" sz="2000" b="1" dirty="0">
                <a:solidFill>
                  <a:srgbClr val="FFFF00"/>
                </a:solidFill>
                <a:latin typeface="+mn-lt"/>
              </a:rPr>
              <a:t>DLT can enhance security and efficiency in financial transactions but also introduces risks</a:t>
            </a:r>
            <a:r>
              <a:rPr lang="en-US" sz="2000" dirty="0">
                <a:latin typeface="+mn-lt"/>
              </a:rPr>
              <a:t>. If not properly managed, these risks could disrupt the financial system and spread instability</a:t>
            </a:r>
            <a:r>
              <a:rPr lang="en-US" sz="2000" dirty="0"/>
              <a:t>.</a:t>
            </a:r>
            <a:endParaRPr lang="en-US" sz="2200" dirty="0" smtClean="0">
              <a:latin typeface="+mn-lt"/>
            </a:endParaRPr>
          </a:p>
        </p:txBody>
      </p:sp>
    </p:spTree>
    <p:extLst>
      <p:ext uri="{BB962C8B-B14F-4D97-AF65-F5344CB8AC3E}">
        <p14:creationId xmlns:p14="http://schemas.microsoft.com/office/powerpoint/2010/main" val="3509267541"/>
      </p:ext>
    </p:extLst>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0"/>
            <a:ext cx="11125200" cy="5863144"/>
          </a:xfrm>
          <a:prstGeom prst="rect">
            <a:avLst/>
          </a:prstGeom>
        </p:spPr>
        <p:txBody>
          <a:bodyPr wrap="square">
            <a:spAutoFit/>
          </a:bodyPr>
          <a:lstStyle/>
          <a:p>
            <a:pPr>
              <a:lnSpc>
                <a:spcPct val="150000"/>
              </a:lnSpc>
            </a:pPr>
            <a:r>
              <a:rPr lang="en-US" sz="2600" b="1" dirty="0" smtClean="0">
                <a:solidFill>
                  <a:srgbClr val="FFFF00"/>
                </a:solidFill>
                <a:latin typeface="+mn-lt"/>
              </a:rPr>
              <a:t>Third component of framework </a:t>
            </a:r>
            <a:r>
              <a:rPr lang="en-US" sz="2600" dirty="0" smtClean="0">
                <a:latin typeface="+mn-lt"/>
              </a:rPr>
              <a:t>: </a:t>
            </a:r>
            <a:r>
              <a:rPr lang="en-IN" sz="2600" b="1" dirty="0">
                <a:solidFill>
                  <a:schemeClr val="accent1">
                    <a:lumMod val="60000"/>
                    <a:lumOff val="40000"/>
                  </a:schemeClr>
                </a:solidFill>
                <a:latin typeface="+mn-lt"/>
              </a:rPr>
              <a:t>Potential implications for safety</a:t>
            </a:r>
            <a:endParaRPr lang="en-US" sz="2600" b="1" dirty="0" smtClean="0">
              <a:solidFill>
                <a:schemeClr val="accent1">
                  <a:lumMod val="60000"/>
                  <a:lumOff val="40000"/>
                </a:schemeClr>
              </a:solidFill>
              <a:latin typeface="+mn-lt"/>
            </a:endParaRPr>
          </a:p>
          <a:p>
            <a:pPr>
              <a:lnSpc>
                <a:spcPct val="150000"/>
              </a:lnSpc>
            </a:pPr>
            <a:r>
              <a:rPr lang="en-US" sz="2000" dirty="0" smtClean="0">
                <a:latin typeface="+mn-lt"/>
              </a:rPr>
              <a:t> Under this point we will explore 5 points – </a:t>
            </a:r>
            <a:r>
              <a:rPr lang="en-US" sz="2000" b="1" dirty="0" smtClean="0">
                <a:solidFill>
                  <a:schemeClr val="accent1">
                    <a:lumMod val="60000"/>
                    <a:lumOff val="40000"/>
                  </a:schemeClr>
                </a:solidFill>
                <a:latin typeface="+mn-lt"/>
              </a:rPr>
              <a:t>Lets-us explore first point</a:t>
            </a:r>
            <a:r>
              <a:rPr lang="en-US" sz="2000" dirty="0" smtClean="0">
                <a:latin typeface="+mn-lt"/>
              </a:rPr>
              <a:t> </a:t>
            </a:r>
            <a:r>
              <a:rPr lang="en-US" sz="2000" b="1" dirty="0" smtClean="0">
                <a:solidFill>
                  <a:schemeClr val="accent1">
                    <a:lumMod val="60000"/>
                    <a:lumOff val="40000"/>
                  </a:schemeClr>
                </a:solidFill>
                <a:latin typeface="+mn-lt"/>
              </a:rPr>
              <a:t> </a:t>
            </a:r>
            <a:r>
              <a:rPr lang="en-US" sz="2000" b="1" dirty="0">
                <a:solidFill>
                  <a:schemeClr val="accent1">
                    <a:lumMod val="60000"/>
                    <a:lumOff val="40000"/>
                  </a:schemeClr>
                </a:solidFill>
                <a:latin typeface="+mn-lt"/>
              </a:rPr>
              <a:t>Operational and Security </a:t>
            </a:r>
            <a:r>
              <a:rPr lang="en-US" sz="2000" b="1" dirty="0" smtClean="0">
                <a:solidFill>
                  <a:schemeClr val="accent1">
                    <a:lumMod val="60000"/>
                    <a:lumOff val="40000"/>
                  </a:schemeClr>
                </a:solidFill>
                <a:latin typeface="+mn-lt"/>
              </a:rPr>
              <a:t>Risk: </a:t>
            </a:r>
          </a:p>
          <a:p>
            <a:pPr>
              <a:lnSpc>
                <a:spcPct val="150000"/>
              </a:lnSpc>
            </a:pPr>
            <a:r>
              <a:rPr lang="en-US" sz="2000" b="1" dirty="0" smtClean="0">
                <a:solidFill>
                  <a:schemeClr val="accent1">
                    <a:lumMod val="60000"/>
                    <a:lumOff val="40000"/>
                  </a:schemeClr>
                </a:solidFill>
                <a:latin typeface="+mn-lt"/>
              </a:rPr>
              <a:t>R</a:t>
            </a:r>
            <a:r>
              <a:rPr lang="en-US" sz="2000" dirty="0" smtClean="0">
                <a:latin typeface="+mn-lt"/>
              </a:rPr>
              <a:t>efers </a:t>
            </a:r>
            <a:r>
              <a:rPr lang="en-US" sz="2000" dirty="0">
                <a:latin typeface="+mn-lt"/>
              </a:rPr>
              <a:t>to </a:t>
            </a:r>
            <a:r>
              <a:rPr lang="en-US" sz="2000" dirty="0" smtClean="0">
                <a:latin typeface="+mn-lt"/>
              </a:rPr>
              <a:t>dangers </a:t>
            </a:r>
            <a:r>
              <a:rPr lang="en-US" sz="2000" dirty="0">
                <a:latin typeface="+mn-lt"/>
              </a:rPr>
              <a:t>and challenges a system faces while running and keeping data safe</a:t>
            </a:r>
            <a:r>
              <a:rPr lang="en-US" sz="2000" dirty="0" smtClean="0">
                <a:latin typeface="+mn-lt"/>
              </a:rPr>
              <a:t>.</a:t>
            </a:r>
          </a:p>
          <a:p>
            <a:pPr>
              <a:lnSpc>
                <a:spcPct val="150000"/>
              </a:lnSpc>
            </a:pPr>
            <a:r>
              <a:rPr lang="en-US" sz="2000" b="1" dirty="0">
                <a:solidFill>
                  <a:srgbClr val="FFFF00"/>
                </a:solidFill>
                <a:latin typeface="+mn-lt"/>
              </a:rPr>
              <a:t>Operational Risk</a:t>
            </a:r>
            <a:r>
              <a:rPr lang="en-US" sz="2000" dirty="0">
                <a:latin typeface="+mn-lt"/>
              </a:rPr>
              <a:t>: Problems that affect how the system works, like system failures, slow processing, or handling too many transactions at once.</a:t>
            </a:r>
          </a:p>
          <a:p>
            <a:pPr>
              <a:lnSpc>
                <a:spcPct val="150000"/>
              </a:lnSpc>
            </a:pPr>
            <a:r>
              <a:rPr lang="en-US" sz="2000" b="1" dirty="0">
                <a:solidFill>
                  <a:srgbClr val="FFFF00"/>
                </a:solidFill>
                <a:latin typeface="+mn-lt"/>
              </a:rPr>
              <a:t>Security Risk</a:t>
            </a:r>
            <a:r>
              <a:rPr lang="en-US" sz="2000" dirty="0">
                <a:latin typeface="+mn-lt"/>
              </a:rPr>
              <a:t>: Threats like hacking, data theft, or weak encryption that could allow attackers to manipulate or steal information.</a:t>
            </a:r>
          </a:p>
          <a:p>
            <a:pPr>
              <a:lnSpc>
                <a:spcPct val="150000"/>
              </a:lnSpc>
            </a:pPr>
            <a:r>
              <a:rPr lang="en-US" sz="2000" dirty="0">
                <a:latin typeface="+mn-lt"/>
              </a:rPr>
              <a:t>In simple terms, it's about making sure the system runs smoothly and stays protected from cyber threats</a:t>
            </a:r>
            <a:r>
              <a:rPr lang="en-US" sz="2000" dirty="0" smtClean="0">
                <a:latin typeface="+mn-lt"/>
              </a:rPr>
              <a:t>.</a:t>
            </a:r>
          </a:p>
          <a:p>
            <a:pPr>
              <a:lnSpc>
                <a:spcPct val="150000"/>
              </a:lnSpc>
            </a:pPr>
            <a:r>
              <a:rPr lang="en-US" sz="2000" b="1" dirty="0" smtClean="0">
                <a:solidFill>
                  <a:srgbClr val="FFFF00"/>
                </a:solidFill>
                <a:latin typeface="+mn-lt"/>
              </a:rPr>
              <a:t>This </a:t>
            </a:r>
            <a:r>
              <a:rPr lang="en-US" sz="2000" b="1" dirty="0">
                <a:solidFill>
                  <a:srgbClr val="FFFF00"/>
                </a:solidFill>
                <a:latin typeface="+mn-lt"/>
              </a:rPr>
              <a:t>Operational and Security Risk </a:t>
            </a:r>
            <a:r>
              <a:rPr lang="en-US" sz="2000" b="1" dirty="0" smtClean="0">
                <a:solidFill>
                  <a:srgbClr val="FFFF00"/>
                </a:solidFill>
                <a:latin typeface="+mn-lt"/>
              </a:rPr>
              <a:t> covers three points </a:t>
            </a:r>
          </a:p>
          <a:p>
            <a:pPr marL="342900" indent="-342900">
              <a:lnSpc>
                <a:spcPct val="150000"/>
              </a:lnSpc>
              <a:buFont typeface="Wingdings" pitchFamily="2" charset="2"/>
              <a:buChar char="§"/>
            </a:pPr>
            <a:r>
              <a:rPr lang="en-US" sz="2000" dirty="0" smtClean="0">
                <a:latin typeface="+mn-lt"/>
              </a:rPr>
              <a:t>Reliability </a:t>
            </a:r>
            <a:r>
              <a:rPr lang="en-US" sz="2000" dirty="0">
                <a:latin typeface="+mn-lt"/>
              </a:rPr>
              <a:t>&amp; </a:t>
            </a:r>
            <a:r>
              <a:rPr lang="en-US" sz="2000" dirty="0" smtClean="0">
                <a:latin typeface="+mn-lt"/>
              </a:rPr>
              <a:t>Resilience</a:t>
            </a:r>
          </a:p>
          <a:p>
            <a:pPr marL="342900" indent="-342900">
              <a:lnSpc>
                <a:spcPct val="150000"/>
              </a:lnSpc>
              <a:buFont typeface="Wingdings" pitchFamily="2" charset="2"/>
              <a:buChar char="§"/>
            </a:pPr>
            <a:r>
              <a:rPr lang="en-US" sz="2000" dirty="0" smtClean="0">
                <a:latin typeface="+mn-lt"/>
              </a:rPr>
              <a:t>Security</a:t>
            </a:r>
          </a:p>
          <a:p>
            <a:pPr marL="342900" indent="-342900">
              <a:lnSpc>
                <a:spcPct val="150000"/>
              </a:lnSpc>
              <a:buFont typeface="Wingdings" pitchFamily="2" charset="2"/>
              <a:buChar char="§"/>
            </a:pPr>
            <a:r>
              <a:rPr lang="en-US" sz="2000" dirty="0">
                <a:latin typeface="+mn-lt"/>
              </a:rPr>
              <a:t>Operational Capacity and Scalability </a:t>
            </a:r>
          </a:p>
        </p:txBody>
      </p:sp>
    </p:spTree>
    <p:extLst>
      <p:ext uri="{BB962C8B-B14F-4D97-AF65-F5344CB8AC3E}">
        <p14:creationId xmlns:p14="http://schemas.microsoft.com/office/powerpoint/2010/main" val="1225238135"/>
      </p:ext>
    </p:extLst>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0"/>
            <a:ext cx="11125200" cy="6232475"/>
          </a:xfrm>
          <a:prstGeom prst="rect">
            <a:avLst/>
          </a:prstGeom>
        </p:spPr>
        <p:txBody>
          <a:bodyPr wrap="square">
            <a:spAutoFit/>
          </a:bodyPr>
          <a:lstStyle/>
          <a:p>
            <a:pPr>
              <a:lnSpc>
                <a:spcPct val="150000"/>
              </a:lnSpc>
            </a:pPr>
            <a:r>
              <a:rPr lang="en-US" sz="2600" b="1" dirty="0" smtClean="0">
                <a:solidFill>
                  <a:srgbClr val="FFFF00"/>
                </a:solidFill>
                <a:latin typeface="+mn-lt"/>
              </a:rPr>
              <a:t>Third component of framework </a:t>
            </a:r>
            <a:r>
              <a:rPr lang="en-US" sz="2600" dirty="0" smtClean="0">
                <a:latin typeface="+mn-lt"/>
              </a:rPr>
              <a:t>: </a:t>
            </a:r>
            <a:r>
              <a:rPr lang="en-IN" sz="2600" b="1" dirty="0">
                <a:solidFill>
                  <a:schemeClr val="accent1">
                    <a:lumMod val="60000"/>
                    <a:lumOff val="40000"/>
                  </a:schemeClr>
                </a:solidFill>
                <a:latin typeface="+mn-lt"/>
              </a:rPr>
              <a:t>Potential implications for safety</a:t>
            </a:r>
            <a:endParaRPr lang="en-US" sz="2600" b="1" dirty="0" smtClean="0">
              <a:solidFill>
                <a:schemeClr val="accent1">
                  <a:lumMod val="60000"/>
                  <a:lumOff val="40000"/>
                </a:schemeClr>
              </a:solidFill>
              <a:latin typeface="+mn-lt"/>
            </a:endParaRPr>
          </a:p>
          <a:p>
            <a:pPr>
              <a:lnSpc>
                <a:spcPct val="150000"/>
              </a:lnSpc>
            </a:pPr>
            <a:r>
              <a:rPr lang="en-US" sz="2000" b="1" dirty="0" smtClean="0">
                <a:solidFill>
                  <a:schemeClr val="accent1">
                    <a:lumMod val="60000"/>
                    <a:lumOff val="40000"/>
                  </a:schemeClr>
                </a:solidFill>
                <a:latin typeface="+mn-lt"/>
              </a:rPr>
              <a:t>Reliability </a:t>
            </a:r>
            <a:r>
              <a:rPr lang="en-US" sz="2000" b="1" dirty="0">
                <a:solidFill>
                  <a:schemeClr val="accent1">
                    <a:lumMod val="60000"/>
                    <a:lumOff val="40000"/>
                  </a:schemeClr>
                </a:solidFill>
                <a:latin typeface="+mn-lt"/>
              </a:rPr>
              <a:t>&amp; Resilience</a:t>
            </a:r>
            <a:r>
              <a:rPr lang="en-US" sz="2000" b="1" dirty="0">
                <a:latin typeface="+mn-lt"/>
              </a:rPr>
              <a:t>:</a:t>
            </a:r>
            <a:r>
              <a:rPr lang="en-US" sz="2000" dirty="0">
                <a:latin typeface="+mn-lt"/>
              </a:rPr>
              <a:t> </a:t>
            </a:r>
            <a:r>
              <a:rPr lang="en-US" sz="2000" dirty="0" smtClean="0">
                <a:latin typeface="+mn-lt"/>
              </a:rPr>
              <a:t>One </a:t>
            </a:r>
            <a:r>
              <a:rPr lang="en-US" sz="2000" dirty="0">
                <a:latin typeface="+mn-lt"/>
              </a:rPr>
              <a:t>of </a:t>
            </a:r>
            <a:r>
              <a:rPr lang="en-US" sz="2000" dirty="0" smtClean="0">
                <a:latin typeface="+mn-lt"/>
              </a:rPr>
              <a:t>key </a:t>
            </a:r>
            <a:r>
              <a:rPr lang="en-US" sz="2000" dirty="0">
                <a:latin typeface="+mn-lt"/>
              </a:rPr>
              <a:t>drivers of DLT implementation is its potential to strengthen an arrangement’s resilience and reliability </a:t>
            </a:r>
            <a:endParaRPr lang="en-US" sz="2000" dirty="0" smtClean="0">
              <a:latin typeface="+mn-lt"/>
            </a:endParaRPr>
          </a:p>
          <a:p>
            <a:pPr>
              <a:lnSpc>
                <a:spcPct val="150000"/>
              </a:lnSpc>
            </a:pPr>
            <a:r>
              <a:rPr lang="en-US" sz="2000" dirty="0">
                <a:latin typeface="+mn-lt"/>
              </a:rPr>
              <a:t>DLT improves system strength by storing data on multiple computers. If one fails, others keep working, preventing system failure. This helps protect against cyber threats. However, more computers also mean more chances for hackers to attack</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Security</a:t>
            </a:r>
            <a:r>
              <a:rPr lang="en-US" sz="2000" b="1" dirty="0">
                <a:latin typeface="+mn-lt"/>
              </a:rPr>
              <a:t>:</a:t>
            </a:r>
            <a:r>
              <a:rPr lang="en-US" sz="2000" dirty="0">
                <a:latin typeface="+mn-lt"/>
              </a:rPr>
              <a:t> DLT relies on cryptographic tools like public key cryptography to keep data safe. While these tools are strong today, future technology may weaken them. A poorly managed system may struggle to handle new security threats. Transitioning from old systems to DLT may also create security risks, so multiple security layers should be used</a:t>
            </a:r>
            <a:endParaRPr lang="en-US" sz="2000" dirty="0" smtClean="0">
              <a:latin typeface="+mn-lt"/>
            </a:endParaRPr>
          </a:p>
          <a:p>
            <a:pPr>
              <a:lnSpc>
                <a:spcPct val="150000"/>
              </a:lnSpc>
            </a:pPr>
            <a:r>
              <a:rPr lang="en-US" sz="2000" b="1" dirty="0">
                <a:solidFill>
                  <a:schemeClr val="accent1">
                    <a:lumMod val="60000"/>
                    <a:lumOff val="40000"/>
                  </a:schemeClr>
                </a:solidFill>
                <a:latin typeface="+mn-lt"/>
              </a:rPr>
              <a:t>Operational Capacity and Scalability </a:t>
            </a:r>
            <a:r>
              <a:rPr lang="en-US" sz="2000" b="1" dirty="0" smtClean="0">
                <a:latin typeface="+mn-lt"/>
              </a:rPr>
              <a:t>:</a:t>
            </a:r>
            <a:r>
              <a:rPr lang="en-US" sz="2000" dirty="0" smtClean="0">
                <a:latin typeface="+mn-lt"/>
              </a:rPr>
              <a:t> </a:t>
            </a:r>
            <a:r>
              <a:rPr lang="en-US" sz="2000" dirty="0">
                <a:latin typeface="+mn-lt"/>
              </a:rPr>
              <a:t>A payment system must handle large and fluctuating transaction volumes, especially during busy periods. If it cannot scale properly, it may become unsafe. Scalability depends on data storage, consensus mechanisms, and system design</a:t>
            </a:r>
            <a:r>
              <a:rPr lang="en-US" sz="2000" dirty="0" smtClean="0"/>
              <a:t>.</a:t>
            </a:r>
            <a:endParaRPr lang="en-US" sz="2000" dirty="0" smtClean="0">
              <a:latin typeface="+mn-lt"/>
            </a:endParaRPr>
          </a:p>
        </p:txBody>
      </p:sp>
    </p:spTree>
    <p:extLst>
      <p:ext uri="{BB962C8B-B14F-4D97-AF65-F5344CB8AC3E}">
        <p14:creationId xmlns:p14="http://schemas.microsoft.com/office/powerpoint/2010/main" val="835514128"/>
      </p:ext>
    </p:extLst>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18182"/>
            <a:ext cx="11125200" cy="6409447"/>
          </a:xfrm>
          <a:prstGeom prst="rect">
            <a:avLst/>
          </a:prstGeom>
        </p:spPr>
        <p:txBody>
          <a:bodyPr wrap="square">
            <a:spAutoFit/>
          </a:bodyPr>
          <a:lstStyle/>
          <a:p>
            <a:pPr>
              <a:lnSpc>
                <a:spcPct val="150000"/>
              </a:lnSpc>
            </a:pPr>
            <a:r>
              <a:rPr lang="en-US" b="1" dirty="0" smtClean="0">
                <a:solidFill>
                  <a:srgbClr val="FFFF00"/>
                </a:solidFill>
                <a:latin typeface="+mn-lt"/>
              </a:rPr>
              <a:t>Third component of framework </a:t>
            </a:r>
            <a:r>
              <a:rPr lang="en-US" sz="2200" dirty="0" smtClean="0">
                <a:latin typeface="+mn-lt"/>
              </a:rPr>
              <a:t>: </a:t>
            </a:r>
            <a:r>
              <a:rPr lang="en-IN" b="1" dirty="0">
                <a:solidFill>
                  <a:schemeClr val="accent1">
                    <a:lumMod val="60000"/>
                    <a:lumOff val="40000"/>
                  </a:schemeClr>
                </a:solidFill>
                <a:latin typeface="+mn-lt"/>
              </a:rPr>
              <a:t>Potential implications for safety</a:t>
            </a:r>
            <a:endParaRPr lang="en-US" sz="2200" b="1" dirty="0" smtClean="0">
              <a:solidFill>
                <a:schemeClr val="accent1">
                  <a:lumMod val="60000"/>
                  <a:lumOff val="40000"/>
                </a:schemeClr>
              </a:solidFill>
              <a:latin typeface="+mn-lt"/>
            </a:endParaRPr>
          </a:p>
          <a:p>
            <a:pPr>
              <a:lnSpc>
                <a:spcPct val="150000"/>
              </a:lnSpc>
            </a:pPr>
            <a:r>
              <a:rPr lang="en-US" dirty="0" smtClean="0">
                <a:latin typeface="+mn-lt"/>
              </a:rPr>
              <a:t> Now explore the second point </a:t>
            </a:r>
            <a:r>
              <a:rPr lang="en-US" sz="2200" b="1" dirty="0" smtClean="0">
                <a:solidFill>
                  <a:srgbClr val="FFFF00"/>
                </a:solidFill>
                <a:latin typeface="+mn-lt"/>
              </a:rPr>
              <a:t>, </a:t>
            </a:r>
            <a:r>
              <a:rPr lang="en-IN" b="1" dirty="0" smtClean="0">
                <a:solidFill>
                  <a:srgbClr val="FFFF00"/>
                </a:solidFill>
                <a:latin typeface="+mn-lt"/>
              </a:rPr>
              <a:t>Settlement </a:t>
            </a:r>
            <a:r>
              <a:rPr lang="en-IN" b="1" dirty="0">
                <a:solidFill>
                  <a:srgbClr val="FFFF00"/>
                </a:solidFill>
                <a:latin typeface="+mn-lt"/>
              </a:rPr>
              <a:t>issues </a:t>
            </a:r>
            <a:r>
              <a:rPr lang="en-IN" dirty="0">
                <a:latin typeface="+mn-lt"/>
              </a:rPr>
              <a:t>: </a:t>
            </a:r>
            <a:endParaRPr lang="en-IN" dirty="0" smtClean="0">
              <a:latin typeface="+mn-lt"/>
            </a:endParaRPr>
          </a:p>
          <a:p>
            <a:pPr>
              <a:lnSpc>
                <a:spcPct val="150000"/>
              </a:lnSpc>
            </a:pPr>
            <a:r>
              <a:rPr lang="en-US" sz="2000" dirty="0">
                <a:latin typeface="+mn-lt"/>
              </a:rPr>
              <a:t>DLT can speed up financial transactions, making payments and settlements more efficient. However, it also impacts safety. Key factors include the type of asset being settled, how transactions are processed, and when they become legally final</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Example :  </a:t>
            </a:r>
            <a:r>
              <a:rPr lang="en-US" sz="2000" dirty="0" smtClean="0">
                <a:latin typeface="+mn-lt"/>
              </a:rPr>
              <a:t>Imagine </a:t>
            </a:r>
            <a:r>
              <a:rPr lang="en-US" sz="2000" dirty="0">
                <a:latin typeface="+mn-lt"/>
              </a:rPr>
              <a:t>you buy a car using cryptocurrency.</a:t>
            </a:r>
          </a:p>
          <a:p>
            <a:pPr>
              <a:lnSpc>
                <a:spcPct val="150000"/>
              </a:lnSpc>
            </a:pPr>
            <a:r>
              <a:rPr lang="en-US" sz="2000" b="1" dirty="0">
                <a:latin typeface="+mn-lt"/>
              </a:rPr>
              <a:t>Settlement Asset:</a:t>
            </a:r>
            <a:r>
              <a:rPr lang="en-US" sz="2000" dirty="0">
                <a:latin typeface="+mn-lt"/>
              </a:rPr>
              <a:t> </a:t>
            </a:r>
            <a:r>
              <a:rPr lang="en-US" sz="2000" dirty="0" smtClean="0">
                <a:latin typeface="+mn-lt"/>
              </a:rPr>
              <a:t>Digital </a:t>
            </a:r>
            <a:r>
              <a:rPr lang="en-US" sz="2000" dirty="0">
                <a:latin typeface="+mn-lt"/>
              </a:rPr>
              <a:t>payment (crypto) and car ownership record.</a:t>
            </a:r>
          </a:p>
          <a:p>
            <a:pPr>
              <a:lnSpc>
                <a:spcPct val="150000"/>
              </a:lnSpc>
            </a:pPr>
            <a:r>
              <a:rPr lang="en-US" sz="2000" b="1" dirty="0">
                <a:latin typeface="+mn-lt"/>
              </a:rPr>
              <a:t>Operational Settlement:</a:t>
            </a:r>
            <a:r>
              <a:rPr lang="en-US" sz="2000" dirty="0">
                <a:latin typeface="+mn-lt"/>
              </a:rPr>
              <a:t> </a:t>
            </a:r>
            <a:r>
              <a:rPr lang="en-US" sz="2000" dirty="0" smtClean="0">
                <a:latin typeface="+mn-lt"/>
              </a:rPr>
              <a:t>Blockchain </a:t>
            </a:r>
            <a:r>
              <a:rPr lang="en-US" sz="2000" dirty="0">
                <a:latin typeface="+mn-lt"/>
              </a:rPr>
              <a:t>updates </a:t>
            </a:r>
            <a:r>
              <a:rPr lang="en-US" sz="2000" dirty="0" smtClean="0">
                <a:latin typeface="+mn-lt"/>
              </a:rPr>
              <a:t>transaction</a:t>
            </a:r>
            <a:r>
              <a:rPr lang="en-US" sz="2000" dirty="0">
                <a:latin typeface="+mn-lt"/>
              </a:rPr>
              <a:t>, showing </a:t>
            </a:r>
            <a:r>
              <a:rPr lang="en-US" sz="2000" dirty="0" smtClean="0">
                <a:latin typeface="+mn-lt"/>
              </a:rPr>
              <a:t>seller </a:t>
            </a:r>
            <a:r>
              <a:rPr lang="en-US" sz="2000" dirty="0">
                <a:latin typeface="+mn-lt"/>
              </a:rPr>
              <a:t>received payment.</a:t>
            </a:r>
          </a:p>
          <a:p>
            <a:pPr>
              <a:lnSpc>
                <a:spcPct val="150000"/>
              </a:lnSpc>
            </a:pPr>
            <a:r>
              <a:rPr lang="en-US" sz="2000" b="1" dirty="0">
                <a:latin typeface="+mn-lt"/>
              </a:rPr>
              <a:t>Legal Finality:</a:t>
            </a:r>
            <a:r>
              <a:rPr lang="en-US" sz="2000" dirty="0">
                <a:latin typeface="+mn-lt"/>
              </a:rPr>
              <a:t> Once confirmed on </a:t>
            </a:r>
            <a:r>
              <a:rPr lang="en-US" sz="2000" dirty="0" smtClean="0">
                <a:latin typeface="+mn-lt"/>
              </a:rPr>
              <a:t>blockchain</a:t>
            </a:r>
            <a:r>
              <a:rPr lang="en-US" sz="2000" dirty="0">
                <a:latin typeface="+mn-lt"/>
              </a:rPr>
              <a:t>, </a:t>
            </a:r>
            <a:r>
              <a:rPr lang="en-US" sz="2000" dirty="0" smtClean="0">
                <a:latin typeface="+mn-lt"/>
              </a:rPr>
              <a:t>ownership </a:t>
            </a:r>
            <a:r>
              <a:rPr lang="en-US" sz="2000" dirty="0">
                <a:latin typeface="+mn-lt"/>
              </a:rPr>
              <a:t>transfer is final, preventing fraud or disputes.</a:t>
            </a:r>
          </a:p>
          <a:p>
            <a:pPr>
              <a:lnSpc>
                <a:spcPct val="150000"/>
              </a:lnSpc>
            </a:pPr>
            <a:r>
              <a:rPr lang="en-IN" sz="2000" b="1" dirty="0" smtClean="0">
                <a:solidFill>
                  <a:srgbClr val="FFFF00"/>
                </a:solidFill>
                <a:latin typeface="+mn-lt"/>
              </a:rPr>
              <a:t>Following three points are important fro settlement issues point of view </a:t>
            </a:r>
            <a:endParaRPr lang="en-IN" sz="2000" b="1" dirty="0">
              <a:solidFill>
                <a:srgbClr val="FFFF00"/>
              </a:solidFill>
              <a:latin typeface="+mn-lt"/>
            </a:endParaRPr>
          </a:p>
          <a:p>
            <a:pPr marL="342900" indent="-342900">
              <a:lnSpc>
                <a:spcPct val="150000"/>
              </a:lnSpc>
              <a:spcAft>
                <a:spcPts val="600"/>
              </a:spcAft>
              <a:buFont typeface="Wingdings" pitchFamily="2" charset="2"/>
              <a:buChar char="§"/>
            </a:pPr>
            <a:r>
              <a:rPr lang="en-US" sz="2000" dirty="0" smtClean="0">
                <a:latin typeface="+mn-lt"/>
              </a:rPr>
              <a:t>Settlement asset</a:t>
            </a:r>
          </a:p>
          <a:p>
            <a:pPr marL="342900" indent="-342900">
              <a:lnSpc>
                <a:spcPct val="150000"/>
              </a:lnSpc>
              <a:spcAft>
                <a:spcPts val="600"/>
              </a:spcAft>
              <a:buFont typeface="Wingdings" pitchFamily="2" charset="2"/>
              <a:buChar char="§"/>
            </a:pPr>
            <a:r>
              <a:rPr lang="en-US" sz="1900" dirty="0" smtClean="0">
                <a:latin typeface="+mn-lt"/>
              </a:rPr>
              <a:t>How </a:t>
            </a:r>
            <a:r>
              <a:rPr lang="en-US" sz="1900" dirty="0">
                <a:latin typeface="+mn-lt"/>
              </a:rPr>
              <a:t>settlement is achieved operationally and </a:t>
            </a:r>
            <a:endParaRPr lang="en-US" sz="1900" dirty="0" smtClean="0">
              <a:latin typeface="+mn-lt"/>
            </a:endParaRPr>
          </a:p>
          <a:p>
            <a:pPr marL="342900" indent="-342900">
              <a:lnSpc>
                <a:spcPct val="150000"/>
              </a:lnSpc>
              <a:spcAft>
                <a:spcPts val="600"/>
              </a:spcAft>
              <a:buFont typeface="Wingdings" pitchFamily="2" charset="2"/>
              <a:buChar char="§"/>
            </a:pPr>
            <a:r>
              <a:rPr lang="en-US" sz="1900" dirty="0" smtClean="0">
                <a:latin typeface="+mn-lt"/>
              </a:rPr>
              <a:t>How </a:t>
            </a:r>
            <a:r>
              <a:rPr lang="en-US" sz="1900" dirty="0">
                <a:latin typeface="+mn-lt"/>
              </a:rPr>
              <a:t>settlement finality is achieved for legal purposes</a:t>
            </a:r>
            <a:r>
              <a:rPr lang="en-US" sz="2000" dirty="0"/>
              <a:t>.</a:t>
            </a:r>
            <a:endParaRPr lang="en-IN" sz="2200" b="1" dirty="0" smtClean="0">
              <a:solidFill>
                <a:srgbClr val="FFFF00"/>
              </a:solidFill>
              <a:latin typeface="+mn-lt"/>
            </a:endParaRPr>
          </a:p>
        </p:txBody>
      </p:sp>
    </p:spTree>
    <p:extLst>
      <p:ext uri="{BB962C8B-B14F-4D97-AF65-F5344CB8AC3E}">
        <p14:creationId xmlns:p14="http://schemas.microsoft.com/office/powerpoint/2010/main" val="2878509070"/>
      </p:ext>
    </p:extLst>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612" y="152400"/>
            <a:ext cx="2724207" cy="830997"/>
          </a:xfrm>
          <a:prstGeom prst="rect">
            <a:avLst/>
          </a:prstGeom>
        </p:spPr>
        <p:txBody>
          <a:bodyPr wrap="none">
            <a:spAutoFit/>
          </a:bodyPr>
          <a:lstStyle/>
          <a:p>
            <a:r>
              <a:rPr lang="en-US" sz="2800" b="1" dirty="0">
                <a:solidFill>
                  <a:srgbClr val="FFFF00"/>
                </a:solidFill>
                <a:latin typeface="+mn-lt"/>
              </a:rPr>
              <a:t>Settlement </a:t>
            </a:r>
            <a:r>
              <a:rPr lang="en-US" sz="2800" b="1" dirty="0" smtClean="0">
                <a:solidFill>
                  <a:srgbClr val="FFFF00"/>
                </a:solidFill>
                <a:latin typeface="+mn-lt"/>
              </a:rPr>
              <a:t>Asset</a:t>
            </a:r>
          </a:p>
          <a:p>
            <a:endParaRPr lang="en-US" sz="2000" dirty="0">
              <a:solidFill>
                <a:srgbClr val="FFFF00"/>
              </a:solidFill>
              <a:latin typeface="+mn-lt"/>
            </a:endParaRPr>
          </a:p>
        </p:txBody>
      </p:sp>
      <p:sp>
        <p:nvSpPr>
          <p:cNvPr id="3" name="Rectangle 2"/>
          <p:cNvSpPr/>
          <p:nvPr/>
        </p:nvSpPr>
        <p:spPr>
          <a:xfrm>
            <a:off x="836611" y="762000"/>
            <a:ext cx="11352213" cy="4247317"/>
          </a:xfrm>
          <a:prstGeom prst="rect">
            <a:avLst/>
          </a:prstGeom>
        </p:spPr>
        <p:txBody>
          <a:bodyPr wrap="square">
            <a:spAutoFit/>
          </a:bodyPr>
          <a:lstStyle/>
          <a:p>
            <a:pPr>
              <a:lnSpc>
                <a:spcPct val="150000"/>
              </a:lnSpc>
            </a:pPr>
            <a:r>
              <a:rPr lang="en-US" sz="2000" b="1" dirty="0" smtClean="0">
                <a:solidFill>
                  <a:srgbClr val="FFFF00"/>
                </a:solidFill>
                <a:latin typeface="+mn-lt"/>
              </a:rPr>
              <a:t>Settlement Asset </a:t>
            </a:r>
            <a:r>
              <a:rPr lang="en-US" sz="2000" b="1" dirty="0">
                <a:solidFill>
                  <a:srgbClr val="FFFF00"/>
                </a:solidFill>
                <a:latin typeface="+mn-lt"/>
              </a:rPr>
              <a:t>is what is being recorded or transferred in a transaction.</a:t>
            </a:r>
          </a:p>
          <a:p>
            <a:pPr>
              <a:lnSpc>
                <a:spcPct val="150000"/>
              </a:lnSpc>
            </a:pPr>
            <a:r>
              <a:rPr lang="en-US" sz="2000" b="1" dirty="0">
                <a:solidFill>
                  <a:schemeClr val="accent1">
                    <a:lumMod val="60000"/>
                    <a:lumOff val="40000"/>
                  </a:schemeClr>
                </a:solidFill>
                <a:latin typeface="+mn-lt"/>
              </a:rPr>
              <a:t>Balance Update</a:t>
            </a:r>
            <a:r>
              <a:rPr lang="en-US" sz="2000" dirty="0">
                <a:latin typeface="+mn-lt"/>
              </a:rPr>
              <a:t>: </a:t>
            </a:r>
            <a:r>
              <a:rPr lang="en-US" sz="2000" dirty="0" smtClean="0">
                <a:latin typeface="+mn-lt"/>
              </a:rPr>
              <a:t>System </a:t>
            </a:r>
            <a:r>
              <a:rPr lang="en-US" sz="2000" dirty="0">
                <a:latin typeface="+mn-lt"/>
              </a:rPr>
              <a:t>records changes in account balances (debits and credits).</a:t>
            </a:r>
          </a:p>
          <a:p>
            <a:pPr>
              <a:lnSpc>
                <a:spcPct val="150000"/>
              </a:lnSpc>
            </a:pPr>
            <a:r>
              <a:rPr lang="en-US" sz="2000" b="1" dirty="0">
                <a:solidFill>
                  <a:schemeClr val="accent1">
                    <a:lumMod val="60000"/>
                    <a:lumOff val="40000"/>
                  </a:schemeClr>
                </a:solidFill>
                <a:latin typeface="+mn-lt"/>
              </a:rPr>
              <a:t>Digital Asset Transfer</a:t>
            </a:r>
            <a:r>
              <a:rPr lang="en-US" sz="2000" dirty="0">
                <a:latin typeface="+mn-lt"/>
              </a:rPr>
              <a:t>: Ownership of a digital asset (like cryptocurrency) is recorded on the ledger.</a:t>
            </a:r>
          </a:p>
          <a:p>
            <a:pPr>
              <a:lnSpc>
                <a:spcPct val="150000"/>
              </a:lnSpc>
            </a:pPr>
            <a:r>
              <a:rPr lang="en-US" sz="2000" b="1" dirty="0">
                <a:solidFill>
                  <a:schemeClr val="accent1">
                    <a:lumMod val="60000"/>
                    <a:lumOff val="40000"/>
                  </a:schemeClr>
                </a:solidFill>
                <a:latin typeface="+mn-lt"/>
              </a:rPr>
              <a:t>Physical Asset Representation</a:t>
            </a:r>
            <a:r>
              <a:rPr lang="en-US" sz="2000" dirty="0">
                <a:latin typeface="+mn-lt"/>
              </a:rPr>
              <a:t>: </a:t>
            </a:r>
            <a:r>
              <a:rPr lang="en-US" sz="2000" dirty="0" smtClean="0">
                <a:latin typeface="+mn-lt"/>
              </a:rPr>
              <a:t>Ledger </a:t>
            </a:r>
            <a:r>
              <a:rPr lang="en-US" sz="2000" dirty="0">
                <a:latin typeface="+mn-lt"/>
              </a:rPr>
              <a:t>tracks digital versions of real-world assets (</a:t>
            </a:r>
            <a:r>
              <a:rPr lang="en-US" sz="1700" dirty="0">
                <a:latin typeface="+mn-lt"/>
              </a:rPr>
              <a:t>like gold stored in a vault).</a:t>
            </a:r>
          </a:p>
          <a:p>
            <a:pPr>
              <a:lnSpc>
                <a:spcPct val="150000"/>
              </a:lnSpc>
            </a:pPr>
            <a:r>
              <a:rPr lang="en-US" sz="2000" b="1" dirty="0">
                <a:solidFill>
                  <a:srgbClr val="FFFF00"/>
                </a:solidFill>
                <a:latin typeface="+mn-lt"/>
              </a:rPr>
              <a:t>Example:</a:t>
            </a:r>
          </a:p>
          <a:p>
            <a:pPr>
              <a:lnSpc>
                <a:spcPct val="150000"/>
              </a:lnSpc>
            </a:pPr>
            <a:r>
              <a:rPr lang="en-US" sz="2000" dirty="0">
                <a:latin typeface="+mn-lt"/>
              </a:rPr>
              <a:t>If you transfer ₹1,000 to a friend, the bank updates your balance (balance update). </a:t>
            </a:r>
            <a:endParaRPr lang="en-US" sz="2000" dirty="0" smtClean="0">
              <a:latin typeface="+mn-lt"/>
            </a:endParaRPr>
          </a:p>
          <a:p>
            <a:pPr>
              <a:lnSpc>
                <a:spcPct val="150000"/>
              </a:lnSpc>
            </a:pPr>
            <a:r>
              <a:rPr lang="en-US" sz="2000" dirty="0" smtClean="0">
                <a:latin typeface="+mn-lt"/>
              </a:rPr>
              <a:t>If </a:t>
            </a:r>
            <a:r>
              <a:rPr lang="en-US" sz="2000" dirty="0">
                <a:latin typeface="+mn-lt"/>
              </a:rPr>
              <a:t>you send Bitcoin, ownership of the Bitcoin is recorded (digital asset transfer</a:t>
            </a:r>
            <a:r>
              <a:rPr lang="en-US" sz="2000" dirty="0" smtClean="0">
                <a:latin typeface="+mn-lt"/>
              </a:rPr>
              <a:t>).</a:t>
            </a:r>
          </a:p>
          <a:p>
            <a:pPr>
              <a:lnSpc>
                <a:spcPct val="150000"/>
              </a:lnSpc>
            </a:pPr>
            <a:r>
              <a:rPr lang="en-US" sz="2000" dirty="0" smtClean="0">
                <a:latin typeface="+mn-lt"/>
              </a:rPr>
              <a:t>If </a:t>
            </a:r>
            <a:r>
              <a:rPr lang="en-US" sz="2000" dirty="0">
                <a:latin typeface="+mn-lt"/>
              </a:rPr>
              <a:t>you trade gold-backed tokens, </a:t>
            </a:r>
            <a:r>
              <a:rPr lang="en-US" sz="2000" dirty="0" smtClean="0">
                <a:latin typeface="+mn-lt"/>
              </a:rPr>
              <a:t>ledger </a:t>
            </a:r>
            <a:r>
              <a:rPr lang="en-US" sz="2000" dirty="0">
                <a:latin typeface="+mn-lt"/>
              </a:rPr>
              <a:t>tracks ownership while </a:t>
            </a:r>
            <a:r>
              <a:rPr lang="en-US" sz="2000" dirty="0" smtClean="0">
                <a:latin typeface="+mn-lt"/>
              </a:rPr>
              <a:t>gold </a:t>
            </a:r>
            <a:r>
              <a:rPr lang="en-US" sz="2000" dirty="0">
                <a:latin typeface="+mn-lt"/>
              </a:rPr>
              <a:t>remains in a vault (</a:t>
            </a:r>
            <a:r>
              <a:rPr lang="en-US" sz="1700" dirty="0">
                <a:latin typeface="+mn-lt"/>
              </a:rPr>
              <a:t>physical asset representation).</a:t>
            </a:r>
          </a:p>
        </p:txBody>
      </p:sp>
    </p:spTree>
    <p:extLst>
      <p:ext uri="{BB962C8B-B14F-4D97-AF65-F5344CB8AC3E}">
        <p14:creationId xmlns:p14="http://schemas.microsoft.com/office/powerpoint/2010/main" val="197620799"/>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4064" y="9144"/>
            <a:ext cx="11125200" cy="851515"/>
          </a:xfrm>
          <a:prstGeom prst="rect">
            <a:avLst/>
          </a:prstGeom>
        </p:spPr>
        <p:txBody>
          <a:bodyPr wrap="square">
            <a:spAutoFit/>
          </a:bodyPr>
          <a:lstStyle/>
          <a:p>
            <a:pPr>
              <a:spcAft>
                <a:spcPts val="400"/>
              </a:spcAft>
            </a:pPr>
            <a:r>
              <a:rPr lang="en-US" sz="2200" b="1" dirty="0">
                <a:solidFill>
                  <a:srgbClr val="FFFF00"/>
                </a:solidFill>
                <a:latin typeface="+mn-lt"/>
              </a:rPr>
              <a:t>Operational Settlement </a:t>
            </a:r>
            <a:endParaRPr lang="en-US" sz="2200" b="1" dirty="0" smtClean="0">
              <a:solidFill>
                <a:srgbClr val="FFFF00"/>
              </a:solidFill>
              <a:latin typeface="+mn-lt"/>
            </a:endParaRPr>
          </a:p>
          <a:p>
            <a:pPr>
              <a:spcAft>
                <a:spcPts val="400"/>
              </a:spcAft>
            </a:pPr>
            <a:r>
              <a:rPr lang="en-US" sz="2000" dirty="0" smtClean="0">
                <a:latin typeface="+mn-lt"/>
              </a:rPr>
              <a:t>Updating </a:t>
            </a:r>
            <a:r>
              <a:rPr lang="en-US" sz="2000" dirty="0">
                <a:latin typeface="+mn-lt"/>
              </a:rPr>
              <a:t>and confirming transactions in a system, ensuring all participants agree before they are final</a:t>
            </a:r>
            <a:r>
              <a:rPr lang="en-US" dirty="0"/>
              <a:t>.</a:t>
            </a:r>
          </a:p>
        </p:txBody>
      </p:sp>
      <p:sp>
        <p:nvSpPr>
          <p:cNvPr id="3" name="Rectangle 2"/>
          <p:cNvSpPr/>
          <p:nvPr/>
        </p:nvSpPr>
        <p:spPr>
          <a:xfrm>
            <a:off x="790763" y="860659"/>
            <a:ext cx="11398061" cy="3877985"/>
          </a:xfrm>
          <a:prstGeom prst="rect">
            <a:avLst/>
          </a:prstGeom>
        </p:spPr>
        <p:txBody>
          <a:bodyPr wrap="square">
            <a:spAutoFit/>
          </a:bodyPr>
          <a:lstStyle/>
          <a:p>
            <a:pPr>
              <a:lnSpc>
                <a:spcPct val="150000"/>
              </a:lnSpc>
            </a:pPr>
            <a:r>
              <a:rPr lang="en-US" sz="2000" dirty="0" smtClean="0">
                <a:latin typeface="+mn-lt"/>
              </a:rPr>
              <a:t>In </a:t>
            </a:r>
            <a:r>
              <a:rPr lang="en-US" sz="2000" dirty="0">
                <a:latin typeface="+mn-lt"/>
              </a:rPr>
              <a:t>DLT, transactions are not final immediately—they take time to update and sync across multiple computers </a:t>
            </a:r>
            <a:endParaRPr lang="en-US" sz="2000" dirty="0" smtClean="0">
              <a:latin typeface="+mn-lt"/>
            </a:endParaRPr>
          </a:p>
          <a:p>
            <a:pPr>
              <a:lnSpc>
                <a:spcPct val="150000"/>
              </a:lnSpc>
            </a:pPr>
            <a:r>
              <a:rPr lang="en-US" sz="2000" b="1" dirty="0" smtClean="0">
                <a:solidFill>
                  <a:schemeClr val="accent1">
                    <a:lumMod val="60000"/>
                    <a:lumOff val="40000"/>
                  </a:schemeClr>
                </a:solidFill>
                <a:latin typeface="+mn-lt"/>
              </a:rPr>
              <a:t>Consensus </a:t>
            </a:r>
            <a:r>
              <a:rPr lang="en-US" sz="2000" b="1" dirty="0">
                <a:solidFill>
                  <a:schemeClr val="accent1">
                    <a:lumMod val="60000"/>
                    <a:lumOff val="40000"/>
                  </a:schemeClr>
                </a:solidFill>
                <a:latin typeface="+mn-lt"/>
              </a:rPr>
              <a:t>Delay</a:t>
            </a:r>
            <a:r>
              <a:rPr lang="en-US" sz="2000" dirty="0">
                <a:latin typeface="+mn-lt"/>
              </a:rPr>
              <a:t>: </a:t>
            </a:r>
            <a:r>
              <a:rPr lang="en-US" sz="2000" dirty="0" smtClean="0">
                <a:latin typeface="+mn-lt"/>
              </a:rPr>
              <a:t>System </a:t>
            </a:r>
            <a:r>
              <a:rPr lang="en-US" sz="2000" dirty="0">
                <a:latin typeface="+mn-lt"/>
              </a:rPr>
              <a:t>must confirm </a:t>
            </a:r>
            <a:r>
              <a:rPr lang="en-US" sz="2000" dirty="0" smtClean="0">
                <a:latin typeface="+mn-lt"/>
              </a:rPr>
              <a:t>transaction</a:t>
            </a:r>
            <a:r>
              <a:rPr lang="en-US" sz="2000" dirty="0">
                <a:latin typeface="+mn-lt"/>
              </a:rPr>
              <a:t>, which may take time</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Proof-of-Work </a:t>
            </a:r>
            <a:r>
              <a:rPr lang="en-US" sz="2000" b="1" dirty="0">
                <a:solidFill>
                  <a:schemeClr val="accent1">
                    <a:lumMod val="60000"/>
                    <a:lumOff val="40000"/>
                  </a:schemeClr>
                </a:solidFill>
                <a:latin typeface="+mn-lt"/>
              </a:rPr>
              <a:t>Model</a:t>
            </a:r>
            <a:r>
              <a:rPr lang="en-US" sz="2000" dirty="0">
                <a:latin typeface="+mn-lt"/>
              </a:rPr>
              <a:t>: More confirmations make </a:t>
            </a:r>
            <a:r>
              <a:rPr lang="en-US" sz="2000" dirty="0" smtClean="0">
                <a:latin typeface="+mn-lt"/>
              </a:rPr>
              <a:t>transaction </a:t>
            </a:r>
            <a:r>
              <a:rPr lang="en-US" sz="2000" dirty="0">
                <a:latin typeface="+mn-lt"/>
              </a:rPr>
              <a:t>more secure and less likely to be </a:t>
            </a:r>
            <a:r>
              <a:rPr lang="en-US" sz="2000" dirty="0" smtClean="0">
                <a:latin typeface="+mn-lt"/>
              </a:rPr>
              <a:t>reversed</a:t>
            </a:r>
          </a:p>
          <a:p>
            <a:pPr>
              <a:lnSpc>
                <a:spcPct val="150000"/>
              </a:lnSpc>
            </a:pPr>
            <a:r>
              <a:rPr lang="en-US" sz="2000" b="1" dirty="0" smtClean="0">
                <a:solidFill>
                  <a:schemeClr val="accent1">
                    <a:lumMod val="60000"/>
                    <a:lumOff val="40000"/>
                  </a:schemeClr>
                </a:solidFill>
                <a:latin typeface="+mn-lt"/>
              </a:rPr>
              <a:t>Complex </a:t>
            </a:r>
            <a:r>
              <a:rPr lang="en-US" sz="2000" b="1" dirty="0">
                <a:solidFill>
                  <a:schemeClr val="accent1">
                    <a:lumMod val="60000"/>
                    <a:lumOff val="40000"/>
                  </a:schemeClr>
                </a:solidFill>
                <a:latin typeface="+mn-lt"/>
              </a:rPr>
              <a:t>Transactions</a:t>
            </a:r>
            <a:r>
              <a:rPr lang="en-US" sz="2000" dirty="0">
                <a:latin typeface="+mn-lt"/>
              </a:rPr>
              <a:t>: If two assets are exchanged (e.g., stocks for money or one currency for another), settlement becomes more complicated and may involve other financial systems</a:t>
            </a:r>
            <a:r>
              <a:rPr lang="en-US" sz="2000" dirty="0" smtClean="0">
                <a:latin typeface="+mn-lt"/>
              </a:rPr>
              <a:t>.</a:t>
            </a:r>
          </a:p>
          <a:p>
            <a:pPr>
              <a:lnSpc>
                <a:spcPct val="150000"/>
              </a:lnSpc>
            </a:pPr>
            <a:r>
              <a:rPr lang="en-US" sz="2000" b="1" dirty="0" smtClean="0">
                <a:solidFill>
                  <a:srgbClr val="FFFF00"/>
                </a:solidFill>
                <a:latin typeface="+mn-lt"/>
              </a:rPr>
              <a:t>Example:</a:t>
            </a:r>
          </a:p>
          <a:p>
            <a:pPr>
              <a:lnSpc>
                <a:spcPct val="150000"/>
              </a:lnSpc>
            </a:pPr>
            <a:r>
              <a:rPr lang="en-US" sz="2000" dirty="0" smtClean="0">
                <a:latin typeface="+mn-lt"/>
              </a:rPr>
              <a:t>If </a:t>
            </a:r>
            <a:r>
              <a:rPr lang="en-US" sz="2000" dirty="0">
                <a:latin typeface="+mn-lt"/>
              </a:rPr>
              <a:t>you send Bitcoin, </a:t>
            </a:r>
            <a:r>
              <a:rPr lang="en-US" sz="2000" dirty="0" smtClean="0">
                <a:latin typeface="+mn-lt"/>
              </a:rPr>
              <a:t>transaction </a:t>
            </a:r>
            <a:r>
              <a:rPr lang="en-US" sz="2000" dirty="0">
                <a:latin typeface="+mn-lt"/>
              </a:rPr>
              <a:t>appears quickly but is only fully secure after multiple confirmations on </a:t>
            </a:r>
            <a:r>
              <a:rPr lang="en-US" sz="2000" dirty="0" smtClean="0">
                <a:latin typeface="+mn-lt"/>
              </a:rPr>
              <a:t> </a:t>
            </a:r>
            <a:r>
              <a:rPr lang="en-US" sz="2000" dirty="0">
                <a:latin typeface="+mn-lt"/>
              </a:rPr>
              <a:t>blockchain</a:t>
            </a:r>
            <a:r>
              <a:rPr lang="en-US" dirty="0"/>
              <a:t>.</a:t>
            </a:r>
          </a:p>
        </p:txBody>
      </p:sp>
    </p:spTree>
    <p:extLst>
      <p:ext uri="{BB962C8B-B14F-4D97-AF65-F5344CB8AC3E}">
        <p14:creationId xmlns:p14="http://schemas.microsoft.com/office/powerpoint/2010/main" val="2833948556"/>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612" y="243513"/>
            <a:ext cx="11049000" cy="4893647"/>
          </a:xfrm>
          <a:prstGeom prst="rect">
            <a:avLst/>
          </a:prstGeom>
        </p:spPr>
        <p:txBody>
          <a:bodyPr wrap="square">
            <a:spAutoFit/>
          </a:bodyPr>
          <a:lstStyle/>
          <a:p>
            <a:pPr>
              <a:lnSpc>
                <a:spcPct val="150000"/>
              </a:lnSpc>
            </a:pPr>
            <a:r>
              <a:rPr lang="en-US" b="1" dirty="0">
                <a:solidFill>
                  <a:srgbClr val="FFFF00"/>
                </a:solidFill>
                <a:latin typeface="+mn-lt"/>
              </a:rPr>
              <a:t>Legal Settlement Finality </a:t>
            </a:r>
          </a:p>
          <a:p>
            <a:pPr>
              <a:lnSpc>
                <a:spcPct val="150000"/>
              </a:lnSpc>
            </a:pPr>
            <a:r>
              <a:rPr lang="en-US" sz="2000" dirty="0" smtClean="0">
                <a:latin typeface="+mn-lt"/>
              </a:rPr>
              <a:t>Settlement </a:t>
            </a:r>
            <a:r>
              <a:rPr lang="en-US" sz="2000" dirty="0">
                <a:latin typeface="+mn-lt"/>
              </a:rPr>
              <a:t>finality means a transaction is legally complete and cannot be reversed, even if one party goes bankrupt</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Traditional </a:t>
            </a:r>
            <a:r>
              <a:rPr lang="en-US" sz="2000" b="1" dirty="0">
                <a:solidFill>
                  <a:schemeClr val="accent1">
                    <a:lumMod val="60000"/>
                    <a:lumOff val="40000"/>
                  </a:schemeClr>
                </a:solidFill>
                <a:latin typeface="+mn-lt"/>
              </a:rPr>
              <a:t>Systems: </a:t>
            </a:r>
            <a:r>
              <a:rPr lang="en-US" sz="2000" dirty="0">
                <a:latin typeface="+mn-lt"/>
              </a:rPr>
              <a:t>Settlement finality happens at a clear, legally defined moment</a:t>
            </a:r>
            <a:r>
              <a:rPr lang="en-US" sz="2000" dirty="0" smtClean="0">
                <a:latin typeface="+mn-lt"/>
              </a:rPr>
              <a:t>.</a:t>
            </a:r>
          </a:p>
          <a:p>
            <a:pPr>
              <a:lnSpc>
                <a:spcPct val="150000"/>
              </a:lnSpc>
            </a:pPr>
            <a:r>
              <a:rPr lang="en-US" sz="2000" b="1" dirty="0" smtClean="0">
                <a:solidFill>
                  <a:schemeClr val="accent1">
                    <a:lumMod val="60000"/>
                    <a:lumOff val="40000"/>
                  </a:schemeClr>
                </a:solidFill>
                <a:latin typeface="+mn-lt"/>
              </a:rPr>
              <a:t>DLT </a:t>
            </a:r>
            <a:r>
              <a:rPr lang="en-US" sz="2000" b="1" dirty="0">
                <a:solidFill>
                  <a:schemeClr val="accent1">
                    <a:lumMod val="60000"/>
                    <a:lumOff val="40000"/>
                  </a:schemeClr>
                </a:solidFill>
                <a:latin typeface="+mn-lt"/>
              </a:rPr>
              <a:t>Systems</a:t>
            </a:r>
            <a:r>
              <a:rPr lang="en-US" sz="2000" dirty="0">
                <a:latin typeface="+mn-lt"/>
              </a:rPr>
              <a:t>: Finality depends on the consensus mechanism, which may not have a fixed point of completion. Some legal systems may not fully recognize DLT-based settlements</a:t>
            </a:r>
            <a:r>
              <a:rPr lang="en-US" sz="2000" dirty="0" smtClean="0">
                <a:latin typeface="+mn-lt"/>
              </a:rPr>
              <a:t>.</a:t>
            </a:r>
          </a:p>
          <a:p>
            <a:pPr>
              <a:lnSpc>
                <a:spcPct val="150000"/>
              </a:lnSpc>
            </a:pPr>
            <a:r>
              <a:rPr lang="en-US" sz="2000" b="1" dirty="0" smtClean="0">
                <a:solidFill>
                  <a:srgbClr val="FFFF00"/>
                </a:solidFill>
                <a:latin typeface="+mn-lt"/>
              </a:rPr>
              <a:t>Example:</a:t>
            </a:r>
          </a:p>
          <a:p>
            <a:pPr>
              <a:lnSpc>
                <a:spcPct val="150000"/>
              </a:lnSpc>
            </a:pPr>
            <a:r>
              <a:rPr lang="en-US" sz="2000" dirty="0" smtClean="0">
                <a:latin typeface="+mn-lt"/>
              </a:rPr>
              <a:t>In </a:t>
            </a:r>
            <a:r>
              <a:rPr lang="en-US" sz="2000" dirty="0">
                <a:latin typeface="+mn-lt"/>
              </a:rPr>
              <a:t>a bank transfer, once </a:t>
            </a:r>
            <a:r>
              <a:rPr lang="en-US" sz="2000" dirty="0" smtClean="0">
                <a:latin typeface="+mn-lt"/>
              </a:rPr>
              <a:t>money </a:t>
            </a:r>
            <a:r>
              <a:rPr lang="en-US" sz="2000" dirty="0">
                <a:latin typeface="+mn-lt"/>
              </a:rPr>
              <a:t>reaches the recipient’s account, it cannot be reversed (finality is clear</a:t>
            </a:r>
            <a:r>
              <a:rPr lang="en-US" sz="2000" dirty="0" smtClean="0">
                <a:latin typeface="+mn-lt"/>
              </a:rPr>
              <a:t>).</a:t>
            </a:r>
          </a:p>
          <a:p>
            <a:pPr>
              <a:lnSpc>
                <a:spcPct val="150000"/>
              </a:lnSpc>
            </a:pPr>
            <a:r>
              <a:rPr lang="en-US" sz="2000" dirty="0" smtClean="0">
                <a:latin typeface="+mn-lt"/>
              </a:rPr>
              <a:t>In </a:t>
            </a:r>
            <a:r>
              <a:rPr lang="en-US" sz="2000" dirty="0">
                <a:latin typeface="+mn-lt"/>
              </a:rPr>
              <a:t>Bitcoin, a transaction becomes more final as more blocks confirm it, but there is no single, legally defined finality point</a:t>
            </a:r>
            <a:r>
              <a:rPr lang="en-US" dirty="0"/>
              <a:t>.</a:t>
            </a:r>
          </a:p>
        </p:txBody>
      </p:sp>
    </p:spTree>
    <p:extLst>
      <p:ext uri="{BB962C8B-B14F-4D97-AF65-F5344CB8AC3E}">
        <p14:creationId xmlns:p14="http://schemas.microsoft.com/office/powerpoint/2010/main" val="57144104"/>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10640" y="42566"/>
            <a:ext cx="11125200" cy="6278642"/>
          </a:xfrm>
          <a:prstGeom prst="rect">
            <a:avLst/>
          </a:prstGeom>
        </p:spPr>
        <p:txBody>
          <a:bodyPr wrap="square">
            <a:spAutoFit/>
          </a:bodyPr>
          <a:lstStyle/>
          <a:p>
            <a:pPr>
              <a:lnSpc>
                <a:spcPct val="150000"/>
              </a:lnSpc>
            </a:pPr>
            <a:r>
              <a:rPr lang="en-US" b="1" dirty="0" smtClean="0">
                <a:solidFill>
                  <a:srgbClr val="FFFF00"/>
                </a:solidFill>
                <a:latin typeface="+mn-lt"/>
              </a:rPr>
              <a:t>Third component of framework </a:t>
            </a:r>
            <a:r>
              <a:rPr lang="en-US" sz="2200" dirty="0" smtClean="0">
                <a:latin typeface="+mn-lt"/>
              </a:rPr>
              <a:t>: </a:t>
            </a:r>
            <a:r>
              <a:rPr lang="en-IN" b="1" dirty="0">
                <a:solidFill>
                  <a:schemeClr val="accent1">
                    <a:lumMod val="60000"/>
                    <a:lumOff val="40000"/>
                  </a:schemeClr>
                </a:solidFill>
                <a:latin typeface="+mn-lt"/>
              </a:rPr>
              <a:t>Potential implications for safety</a:t>
            </a:r>
            <a:endParaRPr lang="en-US" sz="2200" b="1" dirty="0" smtClean="0">
              <a:solidFill>
                <a:schemeClr val="accent1">
                  <a:lumMod val="60000"/>
                  <a:lumOff val="40000"/>
                </a:schemeClr>
              </a:solidFill>
              <a:latin typeface="+mn-lt"/>
            </a:endParaRPr>
          </a:p>
          <a:p>
            <a:pPr>
              <a:lnSpc>
                <a:spcPct val="150000"/>
              </a:lnSpc>
            </a:pPr>
            <a:r>
              <a:rPr lang="en-US" dirty="0" smtClean="0">
                <a:latin typeface="+mn-lt"/>
              </a:rPr>
              <a:t> Under this point we will explore 5 points – </a:t>
            </a:r>
            <a:r>
              <a:rPr lang="en-US" b="1" dirty="0" smtClean="0">
                <a:solidFill>
                  <a:srgbClr val="FFFF00"/>
                </a:solidFill>
                <a:latin typeface="+mn-lt"/>
              </a:rPr>
              <a:t>Now explore the third  point  </a:t>
            </a:r>
            <a:r>
              <a:rPr lang="en-IN" b="1" dirty="0" smtClean="0">
                <a:solidFill>
                  <a:srgbClr val="FFFF00"/>
                </a:solidFill>
                <a:latin typeface="+mn-lt"/>
              </a:rPr>
              <a:t>Legal risk  </a:t>
            </a:r>
            <a:r>
              <a:rPr lang="en-IN" sz="2000" dirty="0" smtClean="0"/>
              <a:t>: </a:t>
            </a:r>
          </a:p>
          <a:p>
            <a:pPr>
              <a:lnSpc>
                <a:spcPct val="150000"/>
              </a:lnSpc>
            </a:pPr>
            <a:r>
              <a:rPr lang="en-US" sz="2000" dirty="0">
                <a:latin typeface="+mn-lt"/>
              </a:rPr>
              <a:t>Legal risk arises when there is uncertainty about </a:t>
            </a:r>
            <a:r>
              <a:rPr lang="en-US" sz="2000" dirty="0" smtClean="0">
                <a:latin typeface="+mn-lt"/>
              </a:rPr>
              <a:t>laws </a:t>
            </a:r>
            <a:r>
              <a:rPr lang="en-US" sz="2000" dirty="0">
                <a:latin typeface="+mn-lt"/>
              </a:rPr>
              <a:t>governing financial transactions using DLT. </a:t>
            </a:r>
            <a:endParaRPr lang="en-US" sz="2000" dirty="0" smtClean="0">
              <a:latin typeface="+mn-lt"/>
            </a:endParaRPr>
          </a:p>
          <a:p>
            <a:pPr>
              <a:lnSpc>
                <a:spcPct val="150000"/>
              </a:lnSpc>
            </a:pPr>
            <a:r>
              <a:rPr lang="en-US" sz="2000" dirty="0" smtClean="0">
                <a:latin typeface="+mn-lt"/>
              </a:rPr>
              <a:t>Since </a:t>
            </a:r>
            <a:r>
              <a:rPr lang="en-US" sz="2000" dirty="0">
                <a:latin typeface="+mn-lt"/>
              </a:rPr>
              <a:t>DLT is new, existing laws may not fully apply, creating confusion about ownership, contracts, and settlement rules. </a:t>
            </a:r>
            <a:endParaRPr lang="en-US" sz="2000" dirty="0" smtClean="0">
              <a:latin typeface="+mn-lt"/>
            </a:endParaRPr>
          </a:p>
          <a:p>
            <a:pPr>
              <a:lnSpc>
                <a:spcPct val="150000"/>
              </a:lnSpc>
            </a:pPr>
            <a:r>
              <a:rPr lang="en-US" sz="2000" dirty="0" smtClean="0">
                <a:latin typeface="+mn-lt"/>
              </a:rPr>
              <a:t>However</a:t>
            </a:r>
            <a:r>
              <a:rPr lang="en-US" sz="2000" dirty="0">
                <a:latin typeface="+mn-lt"/>
              </a:rPr>
              <a:t>, DLT can also reduce legal risks by automating contract terms to ensure they are followed correctly.</a:t>
            </a:r>
          </a:p>
          <a:p>
            <a:pPr>
              <a:lnSpc>
                <a:spcPct val="150000"/>
              </a:lnSpc>
            </a:pPr>
            <a:r>
              <a:rPr lang="en-US" sz="2000" b="1" dirty="0">
                <a:solidFill>
                  <a:srgbClr val="FFFF00"/>
                </a:solidFill>
                <a:latin typeface="+mn-lt"/>
              </a:rPr>
              <a:t>Example:</a:t>
            </a:r>
          </a:p>
          <a:p>
            <a:pPr>
              <a:lnSpc>
                <a:spcPct val="150000"/>
              </a:lnSpc>
            </a:pPr>
            <a:r>
              <a:rPr lang="en-US" sz="2000" dirty="0">
                <a:latin typeface="+mn-lt"/>
              </a:rPr>
              <a:t>If you buy property using blockchain, but </a:t>
            </a:r>
            <a:r>
              <a:rPr lang="en-US" sz="2000" dirty="0" smtClean="0">
                <a:latin typeface="+mn-lt"/>
              </a:rPr>
              <a:t>law </a:t>
            </a:r>
            <a:r>
              <a:rPr lang="en-US" sz="2000" dirty="0">
                <a:latin typeface="+mn-lt"/>
              </a:rPr>
              <a:t>does not recognize blockchain records as proof of ownership, legal disputes may arise. </a:t>
            </a:r>
            <a:endParaRPr lang="en-US" sz="2000" dirty="0" smtClean="0">
              <a:latin typeface="+mn-lt"/>
            </a:endParaRPr>
          </a:p>
          <a:p>
            <a:pPr>
              <a:lnSpc>
                <a:spcPct val="150000"/>
              </a:lnSpc>
            </a:pPr>
            <a:r>
              <a:rPr lang="en-US" sz="2000" dirty="0" smtClean="0">
                <a:latin typeface="+mn-lt"/>
              </a:rPr>
              <a:t>On other </a:t>
            </a:r>
            <a:r>
              <a:rPr lang="en-US" sz="2000" dirty="0">
                <a:latin typeface="+mn-lt"/>
              </a:rPr>
              <a:t>hand, smart contracts can automate rent payments, ensuring timely enforcement of agreements</a:t>
            </a:r>
            <a:r>
              <a:rPr lang="en-US" sz="2000" dirty="0"/>
              <a:t>.</a:t>
            </a:r>
          </a:p>
          <a:p>
            <a:pPr>
              <a:lnSpc>
                <a:spcPct val="150000"/>
              </a:lnSpc>
            </a:pPr>
            <a:endParaRPr lang="en-IN" sz="2000" dirty="0" smtClean="0"/>
          </a:p>
        </p:txBody>
      </p:sp>
    </p:spTree>
    <p:extLst>
      <p:ext uri="{BB962C8B-B14F-4D97-AF65-F5344CB8AC3E}">
        <p14:creationId xmlns:p14="http://schemas.microsoft.com/office/powerpoint/2010/main" val="580740367"/>
      </p:ext>
    </p:extLst>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5990"/>
            <a:ext cx="11125200" cy="4767011"/>
          </a:xfrm>
          <a:prstGeom prst="rect">
            <a:avLst/>
          </a:prstGeom>
        </p:spPr>
        <p:txBody>
          <a:bodyPr wrap="square">
            <a:spAutoFit/>
          </a:bodyPr>
          <a:lstStyle/>
          <a:p>
            <a:pPr>
              <a:lnSpc>
                <a:spcPct val="150000"/>
              </a:lnSpc>
              <a:spcAft>
                <a:spcPts val="600"/>
              </a:spcAft>
            </a:pPr>
            <a:r>
              <a:rPr lang="en-US" b="1" dirty="0" smtClean="0">
                <a:solidFill>
                  <a:srgbClr val="FFFF00"/>
                </a:solidFill>
                <a:latin typeface="+mn-lt"/>
              </a:rPr>
              <a:t>Third component of framework </a:t>
            </a:r>
            <a:r>
              <a:rPr lang="en-US" sz="2200" dirty="0" smtClean="0">
                <a:latin typeface="+mn-lt"/>
              </a:rPr>
              <a:t>: </a:t>
            </a:r>
            <a:r>
              <a:rPr lang="en-IN" b="1" dirty="0">
                <a:solidFill>
                  <a:schemeClr val="accent1">
                    <a:lumMod val="60000"/>
                    <a:lumOff val="40000"/>
                  </a:schemeClr>
                </a:solidFill>
                <a:latin typeface="+mn-lt"/>
              </a:rPr>
              <a:t>Potential implications for safety</a:t>
            </a:r>
            <a:endParaRPr lang="en-US" sz="2200" b="1" dirty="0" smtClean="0">
              <a:solidFill>
                <a:schemeClr val="accent1">
                  <a:lumMod val="60000"/>
                  <a:lumOff val="40000"/>
                </a:schemeClr>
              </a:solidFill>
              <a:latin typeface="+mn-lt"/>
            </a:endParaRPr>
          </a:p>
          <a:p>
            <a:pPr>
              <a:lnSpc>
                <a:spcPct val="150000"/>
              </a:lnSpc>
              <a:spcAft>
                <a:spcPts val="600"/>
              </a:spcAft>
            </a:pPr>
            <a:r>
              <a:rPr lang="en-US" dirty="0" smtClean="0">
                <a:latin typeface="+mn-lt"/>
              </a:rPr>
              <a:t> Under this point we will explore 5 points – Now explore the Forth point </a:t>
            </a:r>
            <a:r>
              <a:rPr lang="en-IN" b="1" dirty="0" smtClean="0">
                <a:solidFill>
                  <a:srgbClr val="FFFF00"/>
                </a:solidFill>
                <a:latin typeface="+mn-lt"/>
              </a:rPr>
              <a:t>Governance : </a:t>
            </a:r>
          </a:p>
          <a:p>
            <a:pPr>
              <a:lnSpc>
                <a:spcPct val="150000"/>
              </a:lnSpc>
              <a:spcAft>
                <a:spcPts val="600"/>
              </a:spcAft>
            </a:pPr>
            <a:r>
              <a:rPr lang="en-US" sz="2000" dirty="0" smtClean="0">
                <a:latin typeface="+mn-lt"/>
              </a:rPr>
              <a:t>It refers </a:t>
            </a:r>
            <a:r>
              <a:rPr lang="en-US" sz="2000" dirty="0">
                <a:latin typeface="+mn-lt"/>
              </a:rPr>
              <a:t>to </a:t>
            </a:r>
            <a:r>
              <a:rPr lang="en-US" sz="2000" dirty="0" smtClean="0">
                <a:latin typeface="+mn-lt"/>
              </a:rPr>
              <a:t>rules </a:t>
            </a:r>
            <a:r>
              <a:rPr lang="en-US" sz="2000" dirty="0">
                <a:latin typeface="+mn-lt"/>
              </a:rPr>
              <a:t>and decision-making processes that manage a DLT system. </a:t>
            </a:r>
            <a:endParaRPr lang="en-US" sz="2000" dirty="0" smtClean="0">
              <a:latin typeface="+mn-lt"/>
            </a:endParaRPr>
          </a:p>
          <a:p>
            <a:pPr>
              <a:lnSpc>
                <a:spcPct val="150000"/>
              </a:lnSpc>
              <a:spcAft>
                <a:spcPts val="600"/>
              </a:spcAft>
            </a:pPr>
            <a:r>
              <a:rPr lang="en-US" sz="2000" dirty="0" smtClean="0">
                <a:latin typeface="+mn-lt"/>
              </a:rPr>
              <a:t>A </a:t>
            </a:r>
            <a:r>
              <a:rPr lang="en-US" sz="2000" dirty="0">
                <a:latin typeface="+mn-lt"/>
              </a:rPr>
              <a:t>strong governance structure improves security and efficiency, while a weak or complex one can slow responses to problems. Clear rules are needed for managing changes and handling issues.</a:t>
            </a:r>
          </a:p>
          <a:p>
            <a:pPr>
              <a:lnSpc>
                <a:spcPct val="150000"/>
              </a:lnSpc>
              <a:spcAft>
                <a:spcPts val="600"/>
              </a:spcAft>
            </a:pPr>
            <a:r>
              <a:rPr lang="en-US" sz="2000" b="1" dirty="0">
                <a:solidFill>
                  <a:srgbClr val="FFFF00"/>
                </a:solidFill>
                <a:latin typeface="+mn-lt"/>
              </a:rPr>
              <a:t>Example:</a:t>
            </a:r>
          </a:p>
          <a:p>
            <a:pPr>
              <a:lnSpc>
                <a:spcPct val="150000"/>
              </a:lnSpc>
              <a:spcAft>
                <a:spcPts val="600"/>
              </a:spcAft>
            </a:pPr>
            <a:r>
              <a:rPr lang="en-US" sz="2000" dirty="0">
                <a:latin typeface="+mn-lt"/>
              </a:rPr>
              <a:t>In a blockchain-based voting system, clear governance ensures fair rule changes and quick fixes for security issues. Without proper governance, resolving disputes or updating the system could take too long, causing disruptions</a:t>
            </a:r>
            <a:r>
              <a:rPr lang="en-US" sz="2000" dirty="0" smtClean="0"/>
              <a:t>.</a:t>
            </a:r>
            <a:endParaRPr lang="en-US" sz="2000" dirty="0"/>
          </a:p>
        </p:txBody>
      </p:sp>
    </p:spTree>
    <p:extLst>
      <p:ext uri="{BB962C8B-B14F-4D97-AF65-F5344CB8AC3E}">
        <p14:creationId xmlns:p14="http://schemas.microsoft.com/office/powerpoint/2010/main" val="3546002144"/>
      </p:ext>
    </p:extLst>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5990"/>
            <a:ext cx="11125200" cy="5124480"/>
          </a:xfrm>
          <a:prstGeom prst="rect">
            <a:avLst/>
          </a:prstGeom>
        </p:spPr>
        <p:txBody>
          <a:bodyPr wrap="square">
            <a:spAutoFit/>
          </a:bodyPr>
          <a:lstStyle/>
          <a:p>
            <a:pPr>
              <a:spcAft>
                <a:spcPts val="600"/>
              </a:spcAft>
            </a:pPr>
            <a:r>
              <a:rPr lang="en-US" b="1" dirty="0" smtClean="0">
                <a:solidFill>
                  <a:srgbClr val="FFFF00"/>
                </a:solidFill>
                <a:latin typeface="+mn-lt"/>
              </a:rPr>
              <a:t>Third component of framework </a:t>
            </a:r>
            <a:r>
              <a:rPr lang="en-US" sz="2200" dirty="0" smtClean="0">
                <a:latin typeface="+mn-lt"/>
              </a:rPr>
              <a:t>: </a:t>
            </a:r>
            <a:r>
              <a:rPr lang="en-IN" b="1" dirty="0">
                <a:solidFill>
                  <a:schemeClr val="accent1">
                    <a:lumMod val="60000"/>
                    <a:lumOff val="40000"/>
                  </a:schemeClr>
                </a:solidFill>
                <a:latin typeface="+mn-lt"/>
              </a:rPr>
              <a:t>Potential implications for safety</a:t>
            </a:r>
            <a:endParaRPr lang="en-US" sz="2200" b="1" dirty="0" smtClean="0">
              <a:solidFill>
                <a:schemeClr val="accent1">
                  <a:lumMod val="60000"/>
                  <a:lumOff val="40000"/>
                </a:schemeClr>
              </a:solidFill>
              <a:latin typeface="+mn-lt"/>
            </a:endParaRPr>
          </a:p>
          <a:p>
            <a:pPr>
              <a:spcAft>
                <a:spcPts val="600"/>
              </a:spcAft>
            </a:pPr>
            <a:r>
              <a:rPr lang="en-US" dirty="0" smtClean="0">
                <a:latin typeface="+mn-lt"/>
              </a:rPr>
              <a:t> Under this point we will explore 5 points – </a:t>
            </a:r>
          </a:p>
          <a:p>
            <a:pPr>
              <a:spcAft>
                <a:spcPts val="600"/>
              </a:spcAft>
            </a:pPr>
            <a:r>
              <a:rPr lang="en-US" dirty="0" smtClean="0">
                <a:latin typeface="+mn-lt"/>
              </a:rPr>
              <a:t>Now explore the Fifth point </a:t>
            </a:r>
            <a:r>
              <a:rPr lang="en-IN" b="1" dirty="0" smtClean="0">
                <a:solidFill>
                  <a:srgbClr val="FFFF00"/>
                </a:solidFill>
                <a:latin typeface="+mn-lt"/>
              </a:rPr>
              <a:t>Data </a:t>
            </a:r>
            <a:r>
              <a:rPr lang="en-IN" b="1" dirty="0">
                <a:solidFill>
                  <a:srgbClr val="FFFF00"/>
                </a:solidFill>
                <a:latin typeface="+mn-lt"/>
              </a:rPr>
              <a:t>management and protection </a:t>
            </a:r>
            <a:endParaRPr lang="en-IN" b="1" dirty="0" smtClean="0">
              <a:solidFill>
                <a:srgbClr val="FFFF00"/>
              </a:solidFill>
              <a:latin typeface="+mn-lt"/>
            </a:endParaRPr>
          </a:p>
          <a:p>
            <a:pPr>
              <a:lnSpc>
                <a:spcPct val="150000"/>
              </a:lnSpc>
            </a:pPr>
            <a:r>
              <a:rPr lang="en-US" sz="2000" dirty="0">
                <a:latin typeface="+mn-lt"/>
              </a:rPr>
              <a:t>Data in a DLT system must be secure, accurate, and traceable. </a:t>
            </a:r>
            <a:endParaRPr lang="en-US" sz="2000" dirty="0" smtClean="0">
              <a:latin typeface="+mn-lt"/>
            </a:endParaRPr>
          </a:p>
          <a:p>
            <a:pPr>
              <a:lnSpc>
                <a:spcPct val="150000"/>
              </a:lnSpc>
            </a:pPr>
            <a:r>
              <a:rPr lang="en-US" sz="2000" dirty="0" smtClean="0">
                <a:latin typeface="+mn-lt"/>
              </a:rPr>
              <a:t>It </a:t>
            </a:r>
            <a:r>
              <a:rPr lang="en-US" sz="2000" dirty="0">
                <a:latin typeface="+mn-lt"/>
              </a:rPr>
              <a:t>should not be lost, changed, or misused. While transparency is important, privacy must also be protected by controlling who can see or edit the data.</a:t>
            </a:r>
          </a:p>
          <a:p>
            <a:pPr>
              <a:lnSpc>
                <a:spcPct val="150000"/>
              </a:lnSpc>
            </a:pPr>
            <a:r>
              <a:rPr lang="en-US" sz="2000" b="1" dirty="0">
                <a:solidFill>
                  <a:srgbClr val="FFFF00"/>
                </a:solidFill>
                <a:latin typeface="+mn-lt"/>
              </a:rPr>
              <a:t>Example</a:t>
            </a:r>
            <a:r>
              <a:rPr lang="en-US" sz="2000" b="1" dirty="0">
                <a:latin typeface="+mn-lt"/>
              </a:rPr>
              <a:t>:</a:t>
            </a:r>
          </a:p>
          <a:p>
            <a:pPr>
              <a:lnSpc>
                <a:spcPct val="150000"/>
              </a:lnSpc>
            </a:pPr>
            <a:r>
              <a:rPr lang="en-US" sz="2000" dirty="0">
                <a:latin typeface="+mn-lt"/>
              </a:rPr>
              <a:t>In a blockchain-based bank system, all transactions are recorded permanently (immutability</a:t>
            </a:r>
            <a:r>
              <a:rPr lang="en-US" sz="2000" dirty="0" smtClean="0">
                <a:latin typeface="+mn-lt"/>
              </a:rPr>
              <a:t>).</a:t>
            </a:r>
          </a:p>
          <a:p>
            <a:pPr>
              <a:lnSpc>
                <a:spcPct val="150000"/>
              </a:lnSpc>
            </a:pPr>
            <a:r>
              <a:rPr lang="en-US" sz="2000" dirty="0" smtClean="0">
                <a:latin typeface="+mn-lt"/>
              </a:rPr>
              <a:t>However</a:t>
            </a:r>
            <a:r>
              <a:rPr lang="en-US" sz="2000" dirty="0">
                <a:latin typeface="+mn-lt"/>
              </a:rPr>
              <a:t>, if a wrong transaction occurs due to fraud or error, there must be a way to correct it while maintaining security and trust.</a:t>
            </a:r>
          </a:p>
          <a:p>
            <a:pPr>
              <a:lnSpc>
                <a:spcPct val="150000"/>
              </a:lnSpc>
              <a:spcAft>
                <a:spcPts val="600"/>
              </a:spcAft>
            </a:pPr>
            <a:endParaRPr lang="en-IN" sz="2000" b="1" dirty="0" smtClean="0">
              <a:solidFill>
                <a:srgbClr val="FFFF00"/>
              </a:solidFill>
              <a:latin typeface="+mn-lt"/>
            </a:endParaRPr>
          </a:p>
        </p:txBody>
      </p:sp>
    </p:spTree>
    <p:extLst>
      <p:ext uri="{BB962C8B-B14F-4D97-AF65-F5344CB8AC3E}">
        <p14:creationId xmlns:p14="http://schemas.microsoft.com/office/powerpoint/2010/main" val="1360876650"/>
      </p:ext>
    </p:extLst>
  </p:cSld>
  <p:clrMapOvr>
    <a:masterClrMapping/>
  </p:clrMapOvr>
  <p:transition spd="med">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0"/>
            <a:ext cx="11125200" cy="6440225"/>
          </a:xfrm>
          <a:prstGeom prst="rect">
            <a:avLst/>
          </a:prstGeom>
        </p:spPr>
        <p:txBody>
          <a:bodyPr wrap="square">
            <a:spAutoFit/>
          </a:bodyPr>
          <a:lstStyle/>
          <a:p>
            <a:r>
              <a:rPr lang="en-US" b="1" dirty="0" smtClean="0">
                <a:solidFill>
                  <a:srgbClr val="FFFF00"/>
                </a:solidFill>
                <a:latin typeface="+mn-lt"/>
              </a:rPr>
              <a:t>Fourth component of framework </a:t>
            </a:r>
            <a:r>
              <a:rPr lang="en-US" sz="2200" dirty="0" smtClean="0">
                <a:latin typeface="+mn-lt"/>
              </a:rPr>
              <a:t>: </a:t>
            </a:r>
            <a:r>
              <a:rPr lang="en-US" b="1" dirty="0">
                <a:solidFill>
                  <a:schemeClr val="accent1">
                    <a:lumMod val="60000"/>
                    <a:lumOff val="40000"/>
                  </a:schemeClr>
                </a:solidFill>
                <a:latin typeface="+mn-lt"/>
              </a:rPr>
              <a:t>Potential broader financial market </a:t>
            </a:r>
            <a:r>
              <a:rPr lang="en-US" b="1" dirty="0" smtClean="0">
                <a:solidFill>
                  <a:schemeClr val="accent1">
                    <a:lumMod val="60000"/>
                    <a:lumOff val="40000"/>
                  </a:schemeClr>
                </a:solidFill>
                <a:latin typeface="+mn-lt"/>
              </a:rPr>
              <a:t>implications</a:t>
            </a:r>
          </a:p>
          <a:p>
            <a:pPr>
              <a:lnSpc>
                <a:spcPct val="150000"/>
              </a:lnSpc>
            </a:pPr>
            <a:r>
              <a:rPr lang="en-US" sz="2000" b="1" dirty="0" smtClean="0">
                <a:latin typeface="+mn-lt"/>
              </a:rPr>
              <a:t>It </a:t>
            </a:r>
            <a:r>
              <a:rPr lang="en-US" sz="2000" dirty="0" smtClean="0">
                <a:latin typeface="+mn-lt"/>
              </a:rPr>
              <a:t>means impact </a:t>
            </a:r>
            <a:r>
              <a:rPr lang="en-US" sz="2000" dirty="0">
                <a:latin typeface="+mn-lt"/>
              </a:rPr>
              <a:t>of changes in one financial system on other connected systems, like banks, payments, and global markets</a:t>
            </a:r>
            <a:r>
              <a:rPr lang="en-US" sz="2000" dirty="0" smtClean="0"/>
              <a:t>.</a:t>
            </a:r>
          </a:p>
          <a:p>
            <a:pPr>
              <a:lnSpc>
                <a:spcPct val="150000"/>
              </a:lnSpc>
            </a:pPr>
            <a:r>
              <a:rPr lang="en-US" sz="2000" dirty="0">
                <a:latin typeface="+mn-lt"/>
              </a:rPr>
              <a:t>As DLT grows, it can impact </a:t>
            </a:r>
            <a:r>
              <a:rPr lang="en-US" sz="2000" dirty="0" smtClean="0">
                <a:latin typeface="+mn-lt"/>
              </a:rPr>
              <a:t>entire </a:t>
            </a:r>
            <a:r>
              <a:rPr lang="en-US" sz="2000" dirty="0">
                <a:latin typeface="+mn-lt"/>
              </a:rPr>
              <a:t>financial system since banks, payment systems, and securities markets are all connected. Many financial transactions involve multiple systems, sometimes across different countries, making DLT’s role even more significant.</a:t>
            </a:r>
            <a:endParaRPr lang="en-US" sz="2000" dirty="0" smtClean="0">
              <a:latin typeface="+mn-lt"/>
            </a:endParaRPr>
          </a:p>
          <a:p>
            <a:pPr>
              <a:lnSpc>
                <a:spcPct val="150000"/>
              </a:lnSpc>
            </a:pPr>
            <a:r>
              <a:rPr lang="en-US" sz="2000" b="1" dirty="0">
                <a:latin typeface="+mn-lt"/>
              </a:rPr>
              <a:t>Example:</a:t>
            </a:r>
            <a:r>
              <a:rPr lang="en-US" sz="2000" dirty="0">
                <a:latin typeface="+mn-lt"/>
              </a:rPr>
              <a:t> If a bank adopts DLT for faster payments, it can improve stock trading and international transactions. But if the system fails, it could disrupt multiple financial services</a:t>
            </a:r>
            <a:r>
              <a:rPr lang="en-US" sz="2000" dirty="0"/>
              <a:t>.</a:t>
            </a:r>
            <a:endParaRPr lang="en-US" sz="2000" dirty="0" smtClean="0"/>
          </a:p>
          <a:p>
            <a:pPr>
              <a:lnSpc>
                <a:spcPct val="150000"/>
              </a:lnSpc>
            </a:pPr>
            <a:r>
              <a:rPr lang="en-US" sz="2200" b="1" dirty="0" smtClean="0">
                <a:solidFill>
                  <a:srgbClr val="FFFF00"/>
                </a:solidFill>
                <a:latin typeface="+mn-lt"/>
              </a:rPr>
              <a:t>Under this point we will explore 3 points</a:t>
            </a:r>
          </a:p>
          <a:p>
            <a:pPr marL="450850" indent="-182563">
              <a:lnSpc>
                <a:spcPct val="150000"/>
              </a:lnSpc>
              <a:spcAft>
                <a:spcPts val="600"/>
              </a:spcAft>
              <a:buFont typeface="Wingdings" pitchFamily="2" charset="2"/>
              <a:buChar char="§"/>
            </a:pPr>
            <a:r>
              <a:rPr lang="en-US" sz="2200" dirty="0">
                <a:latin typeface="+mn-lt"/>
              </a:rPr>
              <a:t>Connectivity issues and standards development</a:t>
            </a:r>
          </a:p>
          <a:p>
            <a:pPr marL="450850" indent="-182563">
              <a:lnSpc>
                <a:spcPct val="150000"/>
              </a:lnSpc>
              <a:spcAft>
                <a:spcPts val="600"/>
              </a:spcAft>
              <a:buFont typeface="Wingdings" pitchFamily="2" charset="2"/>
              <a:buChar char="§"/>
            </a:pPr>
            <a:r>
              <a:rPr lang="en-IN" sz="2200" dirty="0">
                <a:latin typeface="+mn-lt"/>
              </a:rPr>
              <a:t>Financial market architecture</a:t>
            </a:r>
          </a:p>
          <a:p>
            <a:pPr marL="450850" indent="-182563">
              <a:lnSpc>
                <a:spcPct val="150000"/>
              </a:lnSpc>
              <a:spcAft>
                <a:spcPts val="600"/>
              </a:spcAft>
              <a:buFont typeface="Wingdings" pitchFamily="2" charset="2"/>
              <a:buChar char="§"/>
            </a:pPr>
            <a:r>
              <a:rPr lang="en-IN" sz="2200" dirty="0">
                <a:latin typeface="+mn-lt"/>
              </a:rPr>
              <a:t>Broader financial market risks</a:t>
            </a:r>
            <a:endParaRPr lang="en-US" sz="2200" b="1" dirty="0">
              <a:latin typeface="+mn-lt"/>
              <a:ea typeface="Calibri" panose="020F0502020204030204" pitchFamily="34" charset="0"/>
              <a:cs typeface="Times New Roman" panose="02020603050405020304" pitchFamily="18" charset="0"/>
            </a:endParaRPr>
          </a:p>
          <a:p>
            <a:pPr>
              <a:lnSpc>
                <a:spcPct val="150000"/>
              </a:lnSpc>
            </a:pPr>
            <a:r>
              <a:rPr lang="en-US" sz="1900" dirty="0" smtClean="0">
                <a:latin typeface="+mn-lt"/>
              </a:rPr>
              <a:t> </a:t>
            </a:r>
          </a:p>
        </p:txBody>
      </p:sp>
    </p:spTree>
    <p:extLst>
      <p:ext uri="{BB962C8B-B14F-4D97-AF65-F5344CB8AC3E}">
        <p14:creationId xmlns:p14="http://schemas.microsoft.com/office/powerpoint/2010/main" val="844295690"/>
      </p:ext>
    </p:extLst>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0"/>
            <a:ext cx="11125200" cy="6278642"/>
          </a:xfrm>
          <a:prstGeom prst="rect">
            <a:avLst/>
          </a:prstGeom>
        </p:spPr>
        <p:txBody>
          <a:bodyPr wrap="square">
            <a:spAutoFit/>
          </a:bodyPr>
          <a:lstStyle/>
          <a:p>
            <a:pPr>
              <a:lnSpc>
                <a:spcPct val="150000"/>
              </a:lnSpc>
            </a:pPr>
            <a:r>
              <a:rPr lang="en-US" b="1" dirty="0" smtClean="0">
                <a:solidFill>
                  <a:srgbClr val="FFFF00"/>
                </a:solidFill>
                <a:latin typeface="+mn-lt"/>
              </a:rPr>
              <a:t>Fourth component of framework </a:t>
            </a:r>
            <a:r>
              <a:rPr lang="en-US" sz="2200" dirty="0" smtClean="0">
                <a:latin typeface="+mn-lt"/>
              </a:rPr>
              <a:t>: </a:t>
            </a:r>
            <a:r>
              <a:rPr lang="en-US" b="1" dirty="0">
                <a:solidFill>
                  <a:schemeClr val="accent1">
                    <a:lumMod val="60000"/>
                    <a:lumOff val="40000"/>
                  </a:schemeClr>
                </a:solidFill>
                <a:latin typeface="+mn-lt"/>
              </a:rPr>
              <a:t>Potential broader financial market </a:t>
            </a:r>
            <a:r>
              <a:rPr lang="en-US" b="1" dirty="0" smtClean="0">
                <a:solidFill>
                  <a:schemeClr val="accent1">
                    <a:lumMod val="60000"/>
                    <a:lumOff val="40000"/>
                  </a:schemeClr>
                </a:solidFill>
                <a:latin typeface="+mn-lt"/>
              </a:rPr>
              <a:t>implications</a:t>
            </a:r>
          </a:p>
          <a:p>
            <a:pPr>
              <a:lnSpc>
                <a:spcPct val="150000"/>
              </a:lnSpc>
            </a:pPr>
            <a:r>
              <a:rPr lang="en-US" dirty="0" smtClean="0">
                <a:latin typeface="+mn-lt"/>
              </a:rPr>
              <a:t>Let-us explore first point :  </a:t>
            </a:r>
            <a:r>
              <a:rPr lang="en-US" sz="2200" dirty="0" smtClean="0">
                <a:latin typeface="+mn-lt"/>
              </a:rPr>
              <a:t>Connectivity </a:t>
            </a:r>
            <a:r>
              <a:rPr lang="en-US" sz="2200" dirty="0">
                <a:latin typeface="+mn-lt"/>
              </a:rPr>
              <a:t>issues and standards development</a:t>
            </a:r>
          </a:p>
          <a:p>
            <a:pPr marL="457200" indent="-457200">
              <a:lnSpc>
                <a:spcPct val="150000"/>
              </a:lnSpc>
              <a:buAutoNum type="arabicPeriod"/>
            </a:pPr>
            <a:r>
              <a:rPr lang="en-US" sz="2000" b="1" dirty="0" smtClean="0">
                <a:solidFill>
                  <a:srgbClr val="FFFF00"/>
                </a:solidFill>
                <a:latin typeface="+mn-lt"/>
              </a:rPr>
              <a:t>Connectivity </a:t>
            </a:r>
            <a:r>
              <a:rPr lang="en-US" sz="2000" b="1" dirty="0">
                <a:solidFill>
                  <a:srgbClr val="FFFF00"/>
                </a:solidFill>
                <a:latin typeface="+mn-lt"/>
              </a:rPr>
              <a:t>issues and standards </a:t>
            </a:r>
            <a:r>
              <a:rPr lang="en-US" sz="2000" b="1" dirty="0" smtClean="0">
                <a:solidFill>
                  <a:srgbClr val="FFFF00"/>
                </a:solidFill>
                <a:latin typeface="+mn-lt"/>
              </a:rPr>
              <a:t>development </a:t>
            </a:r>
            <a:r>
              <a:rPr lang="en-US" sz="2000" dirty="0" smtClean="0"/>
              <a:t>:</a:t>
            </a:r>
          </a:p>
          <a:p>
            <a:pPr>
              <a:lnSpc>
                <a:spcPct val="150000"/>
              </a:lnSpc>
            </a:pPr>
            <a:r>
              <a:rPr lang="en-US" sz="2000" dirty="0">
                <a:latin typeface="+mn-lt"/>
              </a:rPr>
              <a:t>As different DLT systems are developed, they may have similar or complementary functions but may not be able to communicate with each other or with traditional financial systems. </a:t>
            </a:r>
            <a:endParaRPr lang="en-US" sz="2000" dirty="0" smtClean="0">
              <a:latin typeface="+mn-lt"/>
            </a:endParaRPr>
          </a:p>
          <a:p>
            <a:pPr>
              <a:lnSpc>
                <a:spcPct val="150000"/>
              </a:lnSpc>
            </a:pPr>
            <a:r>
              <a:rPr lang="en-US" sz="2000" dirty="0" smtClean="0">
                <a:latin typeface="+mn-lt"/>
              </a:rPr>
              <a:t>This </a:t>
            </a:r>
            <a:r>
              <a:rPr lang="en-US" sz="2000" dirty="0">
                <a:latin typeface="+mn-lt"/>
              </a:rPr>
              <a:t>creates a challenge in conducting smooth financial transactions. </a:t>
            </a:r>
            <a:endParaRPr lang="en-US" sz="2000" dirty="0" smtClean="0">
              <a:latin typeface="+mn-lt"/>
            </a:endParaRPr>
          </a:p>
          <a:p>
            <a:pPr>
              <a:lnSpc>
                <a:spcPct val="150000"/>
              </a:lnSpc>
            </a:pPr>
            <a:r>
              <a:rPr lang="en-US" sz="2000" dirty="0" smtClean="0">
                <a:latin typeface="+mn-lt"/>
              </a:rPr>
              <a:t>To </a:t>
            </a:r>
            <a:r>
              <a:rPr lang="en-US" sz="2000" dirty="0">
                <a:latin typeface="+mn-lt"/>
              </a:rPr>
              <a:t>solve this, </a:t>
            </a:r>
            <a:r>
              <a:rPr lang="en-US" sz="2000" b="1" dirty="0">
                <a:latin typeface="+mn-lt"/>
              </a:rPr>
              <a:t>technical interoperability standards</a:t>
            </a:r>
            <a:r>
              <a:rPr lang="en-US" sz="2000" dirty="0">
                <a:latin typeface="+mn-lt"/>
              </a:rPr>
              <a:t> are needed. </a:t>
            </a:r>
            <a:endParaRPr lang="en-US" sz="2000" dirty="0" smtClean="0">
              <a:latin typeface="+mn-lt"/>
            </a:endParaRPr>
          </a:p>
          <a:p>
            <a:pPr>
              <a:lnSpc>
                <a:spcPct val="150000"/>
              </a:lnSpc>
            </a:pPr>
            <a:r>
              <a:rPr lang="en-US" sz="2000" dirty="0" smtClean="0">
                <a:latin typeface="+mn-lt"/>
              </a:rPr>
              <a:t>These </a:t>
            </a:r>
            <a:r>
              <a:rPr lang="en-US" sz="2000" dirty="0">
                <a:latin typeface="+mn-lt"/>
              </a:rPr>
              <a:t>standards act as common rules that allow different DLT systems to connect, reducing costs and improving efficiency</a:t>
            </a:r>
            <a:r>
              <a:rPr lang="en-US" sz="2000" dirty="0" smtClean="0">
                <a:latin typeface="+mn-lt"/>
              </a:rPr>
              <a:t>.</a:t>
            </a:r>
          </a:p>
          <a:p>
            <a:pPr>
              <a:lnSpc>
                <a:spcPct val="150000"/>
              </a:lnSpc>
            </a:pPr>
            <a:r>
              <a:rPr lang="en-US" sz="2000" b="1" dirty="0" smtClean="0">
                <a:solidFill>
                  <a:srgbClr val="FFFF00"/>
                </a:solidFill>
                <a:latin typeface="+mn-lt"/>
              </a:rPr>
              <a:t>Example</a:t>
            </a:r>
            <a:r>
              <a:rPr lang="en-US" sz="2000" b="1" dirty="0">
                <a:solidFill>
                  <a:srgbClr val="FFFF00"/>
                </a:solidFill>
                <a:latin typeface="+mn-lt"/>
              </a:rPr>
              <a:t>:</a:t>
            </a:r>
          </a:p>
          <a:p>
            <a:pPr>
              <a:lnSpc>
                <a:spcPct val="150000"/>
              </a:lnSpc>
            </a:pPr>
            <a:r>
              <a:rPr lang="en-US" sz="2000" dirty="0">
                <a:latin typeface="+mn-lt"/>
              </a:rPr>
              <a:t>If two banks use different blockchain platforms for payments, they need a common standard to transfer money smoothly between them, just like different phone networks allowing users to call each other.</a:t>
            </a:r>
          </a:p>
          <a:p>
            <a:pPr>
              <a:lnSpc>
                <a:spcPct val="150000"/>
              </a:lnSpc>
            </a:pPr>
            <a:endParaRPr lang="en-US" sz="2000" dirty="0" smtClean="0">
              <a:latin typeface="+mn-lt"/>
            </a:endParaRPr>
          </a:p>
        </p:txBody>
      </p:sp>
    </p:spTree>
    <p:extLst>
      <p:ext uri="{BB962C8B-B14F-4D97-AF65-F5344CB8AC3E}">
        <p14:creationId xmlns:p14="http://schemas.microsoft.com/office/powerpoint/2010/main" val="402270226"/>
      </p:ext>
    </p:extLst>
  </p:cSld>
  <p:clrMapOvr>
    <a:masterClrMapping/>
  </p:clrMapOvr>
  <p:transition spd="med">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66400" y="5990"/>
            <a:ext cx="11125200" cy="6740307"/>
          </a:xfrm>
          <a:prstGeom prst="rect">
            <a:avLst/>
          </a:prstGeom>
        </p:spPr>
        <p:txBody>
          <a:bodyPr wrap="square">
            <a:spAutoFit/>
          </a:bodyPr>
          <a:lstStyle/>
          <a:p>
            <a:r>
              <a:rPr lang="en-US" b="1" dirty="0" smtClean="0">
                <a:solidFill>
                  <a:srgbClr val="FFFF00"/>
                </a:solidFill>
                <a:latin typeface="+mn-lt"/>
              </a:rPr>
              <a:t>Fourth component of framework </a:t>
            </a:r>
            <a:r>
              <a:rPr lang="en-US" sz="2200" dirty="0" smtClean="0">
                <a:latin typeface="+mn-lt"/>
              </a:rPr>
              <a:t>: </a:t>
            </a:r>
            <a:r>
              <a:rPr lang="en-US" b="1" dirty="0">
                <a:solidFill>
                  <a:schemeClr val="accent1">
                    <a:lumMod val="60000"/>
                    <a:lumOff val="40000"/>
                  </a:schemeClr>
                </a:solidFill>
                <a:latin typeface="+mn-lt"/>
              </a:rPr>
              <a:t>Potential broader financial market implications</a:t>
            </a:r>
          </a:p>
          <a:p>
            <a:pPr>
              <a:lnSpc>
                <a:spcPct val="150000"/>
              </a:lnSpc>
            </a:pPr>
            <a:r>
              <a:rPr lang="en-US" dirty="0" smtClean="0">
                <a:latin typeface="+mn-lt"/>
              </a:rPr>
              <a:t>Now explore 2</a:t>
            </a:r>
            <a:r>
              <a:rPr lang="en-US" baseline="30000" dirty="0" smtClean="0">
                <a:latin typeface="+mn-lt"/>
              </a:rPr>
              <a:t>nd</a:t>
            </a:r>
            <a:r>
              <a:rPr lang="en-US" dirty="0" smtClean="0">
                <a:latin typeface="+mn-lt"/>
              </a:rPr>
              <a:t> point : </a:t>
            </a:r>
            <a:r>
              <a:rPr lang="en-IN" sz="2200" b="1" dirty="0" smtClean="0">
                <a:solidFill>
                  <a:srgbClr val="FFFF00"/>
                </a:solidFill>
                <a:latin typeface="+mn-lt"/>
              </a:rPr>
              <a:t>Financial </a:t>
            </a:r>
            <a:r>
              <a:rPr lang="en-IN" sz="2200" b="1" dirty="0">
                <a:solidFill>
                  <a:srgbClr val="FFFF00"/>
                </a:solidFill>
                <a:latin typeface="+mn-lt"/>
              </a:rPr>
              <a:t>market </a:t>
            </a:r>
            <a:r>
              <a:rPr lang="en-IN" sz="2200" b="1" dirty="0" smtClean="0">
                <a:solidFill>
                  <a:srgbClr val="FFFF00"/>
                </a:solidFill>
                <a:latin typeface="+mn-lt"/>
              </a:rPr>
              <a:t>architecture</a:t>
            </a:r>
            <a:endParaRPr lang="en-US" sz="2200" b="1" dirty="0">
              <a:solidFill>
                <a:srgbClr val="FFFF00"/>
              </a:solidFill>
              <a:latin typeface="+mn-lt"/>
              <a:ea typeface="Calibri" panose="020F0502020204030204" pitchFamily="34" charset="0"/>
              <a:cs typeface="Times New Roman" panose="02020603050405020304" pitchFamily="18" charset="0"/>
            </a:endParaRPr>
          </a:p>
          <a:p>
            <a:pPr>
              <a:lnSpc>
                <a:spcPct val="150000"/>
              </a:lnSpc>
            </a:pPr>
            <a:r>
              <a:rPr lang="en-US" sz="1900" dirty="0" smtClean="0">
                <a:latin typeface="+mn-lt"/>
              </a:rPr>
              <a:t>2. </a:t>
            </a:r>
            <a:r>
              <a:rPr lang="en-IN" sz="2000" b="1" dirty="0">
                <a:solidFill>
                  <a:srgbClr val="FFFF00"/>
                </a:solidFill>
                <a:latin typeface="+mn-lt"/>
              </a:rPr>
              <a:t>Financial market </a:t>
            </a:r>
            <a:r>
              <a:rPr lang="en-IN" sz="2000" b="1" dirty="0" smtClean="0">
                <a:solidFill>
                  <a:srgbClr val="FFFF00"/>
                </a:solidFill>
                <a:latin typeface="+mn-lt"/>
              </a:rPr>
              <a:t>architecture :</a:t>
            </a:r>
          </a:p>
          <a:p>
            <a:pPr>
              <a:lnSpc>
                <a:spcPct val="150000"/>
              </a:lnSpc>
            </a:pPr>
            <a:r>
              <a:rPr lang="en-US" sz="2000" dirty="0">
                <a:latin typeface="+mn-lt"/>
              </a:rPr>
              <a:t>DLT can impact financial markets in different ways:</a:t>
            </a:r>
          </a:p>
          <a:p>
            <a:pPr>
              <a:lnSpc>
                <a:spcPct val="150000"/>
              </a:lnSpc>
            </a:pPr>
            <a:r>
              <a:rPr lang="en-US" sz="2000" b="1" dirty="0">
                <a:latin typeface="+mn-lt"/>
              </a:rPr>
              <a:t>Small Changes (Incremental Upgrade):</a:t>
            </a:r>
            <a:r>
              <a:rPr lang="en-US" sz="2000" dirty="0">
                <a:latin typeface="+mn-lt"/>
              </a:rPr>
              <a:t> Some DLT systems improve existing financial processes without major disruptions</a:t>
            </a:r>
            <a:r>
              <a:rPr lang="en-US" sz="2000" dirty="0" smtClean="0">
                <a:latin typeface="+mn-lt"/>
              </a:rPr>
              <a:t>.</a:t>
            </a:r>
          </a:p>
          <a:p>
            <a:pPr>
              <a:lnSpc>
                <a:spcPct val="150000"/>
              </a:lnSpc>
            </a:pPr>
            <a:r>
              <a:rPr lang="en-US" sz="2000" b="1" dirty="0" smtClean="0">
                <a:latin typeface="+mn-lt"/>
              </a:rPr>
              <a:t>Big </a:t>
            </a:r>
            <a:r>
              <a:rPr lang="en-US" sz="2000" b="1" dirty="0">
                <a:latin typeface="+mn-lt"/>
              </a:rPr>
              <a:t>Changes (Disintermediation):</a:t>
            </a:r>
            <a:r>
              <a:rPr lang="en-US" sz="2000" dirty="0">
                <a:latin typeface="+mn-lt"/>
              </a:rPr>
              <a:t> Some DLT systems remove the need for middlemen (like banks), changing how financial transactions happen and affecting </a:t>
            </a:r>
            <a:r>
              <a:rPr lang="en-US" sz="2000" dirty="0" smtClean="0">
                <a:latin typeface="+mn-lt"/>
              </a:rPr>
              <a:t>competition</a:t>
            </a:r>
          </a:p>
          <a:p>
            <a:pPr>
              <a:lnSpc>
                <a:spcPct val="150000"/>
              </a:lnSpc>
            </a:pPr>
            <a:r>
              <a:rPr lang="en-US" sz="2000" b="1" dirty="0" smtClean="0">
                <a:latin typeface="+mn-lt"/>
              </a:rPr>
              <a:t>New </a:t>
            </a:r>
            <a:r>
              <a:rPr lang="en-US" sz="2000" b="1" dirty="0">
                <a:latin typeface="+mn-lt"/>
              </a:rPr>
              <a:t>Players:</a:t>
            </a:r>
            <a:r>
              <a:rPr lang="en-US" sz="2000" dirty="0">
                <a:latin typeface="+mn-lt"/>
              </a:rPr>
              <a:t> DLT may allow new non-bank companies to enter financial markets, but they may not be covered by existing regulations</a:t>
            </a:r>
            <a:r>
              <a:rPr lang="en-US" sz="2000" dirty="0" smtClean="0">
                <a:latin typeface="+mn-lt"/>
              </a:rPr>
              <a:t>.</a:t>
            </a:r>
          </a:p>
          <a:p>
            <a:pPr>
              <a:lnSpc>
                <a:spcPct val="150000"/>
              </a:lnSpc>
            </a:pPr>
            <a:r>
              <a:rPr lang="en-US" sz="2000" b="1" dirty="0">
                <a:solidFill>
                  <a:srgbClr val="FFFF00"/>
                </a:solidFill>
                <a:latin typeface="+mn-lt"/>
              </a:rPr>
              <a:t>Example:</a:t>
            </a:r>
          </a:p>
          <a:p>
            <a:pPr>
              <a:lnSpc>
                <a:spcPct val="150000"/>
              </a:lnSpc>
            </a:pPr>
            <a:r>
              <a:rPr lang="en-US" sz="2000" dirty="0">
                <a:latin typeface="+mn-lt"/>
              </a:rPr>
              <a:t>If banks use DLT to process payments faster, it’s just an improvement. </a:t>
            </a:r>
            <a:endParaRPr lang="en-US" sz="2000" dirty="0" smtClean="0">
              <a:latin typeface="+mn-lt"/>
            </a:endParaRPr>
          </a:p>
          <a:p>
            <a:pPr>
              <a:lnSpc>
                <a:spcPct val="150000"/>
              </a:lnSpc>
            </a:pPr>
            <a:r>
              <a:rPr lang="en-US" sz="2000" dirty="0" smtClean="0">
                <a:latin typeface="+mn-lt"/>
              </a:rPr>
              <a:t>But </a:t>
            </a:r>
            <a:r>
              <a:rPr lang="en-US" sz="2000" dirty="0">
                <a:latin typeface="+mn-lt"/>
              </a:rPr>
              <a:t>if people use blockchain-based systems to transfer money without banks, it changes how the financial market works and introduces new, unregulated competitors</a:t>
            </a:r>
            <a:r>
              <a:rPr lang="en-US" sz="2000" dirty="0" smtClean="0"/>
              <a:t>.</a:t>
            </a:r>
            <a:endParaRPr lang="en-IN" sz="2000" b="1" dirty="0" smtClean="0">
              <a:solidFill>
                <a:srgbClr val="FFFF00"/>
              </a:solidFill>
              <a:latin typeface="+mn-lt"/>
            </a:endParaRPr>
          </a:p>
        </p:txBody>
      </p:sp>
    </p:spTree>
    <p:extLst>
      <p:ext uri="{BB962C8B-B14F-4D97-AF65-F5344CB8AC3E}">
        <p14:creationId xmlns:p14="http://schemas.microsoft.com/office/powerpoint/2010/main" val="499446870"/>
      </p:ext>
    </p:extLst>
  </p:cSld>
  <p:clrMapOvr>
    <a:masterClrMapping/>
  </p:clrMapOvr>
  <p:transition spd="med">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3"/>
          <p:cNvPicPr>
            <a:picLocks noChangeAspect="1"/>
          </p:cNvPicPr>
          <p:nvPr/>
        </p:nvPicPr>
        <p:blipFill>
          <a:blip r:embed="rId2"/>
          <a:srcRect/>
          <a:stretch>
            <a:fillRect/>
          </a:stretch>
        </p:blipFill>
        <p:spPr bwMode="auto">
          <a:xfrm>
            <a:off x="-1588" y="228600"/>
            <a:ext cx="838200" cy="685800"/>
          </a:xfrm>
          <a:prstGeom prst="rect">
            <a:avLst/>
          </a:prstGeom>
          <a:noFill/>
          <a:ln w="9525">
            <a:noFill/>
            <a:miter lim="800000"/>
            <a:headEnd/>
            <a:tailEnd/>
          </a:ln>
        </p:spPr>
      </p:pic>
      <p:sp>
        <p:nvSpPr>
          <p:cNvPr id="2" name="Rectangle 1"/>
          <p:cNvSpPr/>
          <p:nvPr/>
        </p:nvSpPr>
        <p:spPr>
          <a:xfrm>
            <a:off x="836612" y="0"/>
            <a:ext cx="10972800" cy="6740307"/>
          </a:xfrm>
          <a:prstGeom prst="rect">
            <a:avLst/>
          </a:prstGeom>
        </p:spPr>
        <p:txBody>
          <a:bodyPr wrap="square">
            <a:spAutoFit/>
          </a:bodyPr>
          <a:lstStyle/>
          <a:p>
            <a:pPr>
              <a:lnSpc>
                <a:spcPct val="150000"/>
              </a:lnSpc>
            </a:pPr>
            <a:r>
              <a:rPr lang="en-US" b="1" dirty="0" smtClean="0">
                <a:solidFill>
                  <a:srgbClr val="FFFF00"/>
                </a:solidFill>
                <a:latin typeface="+mn-lt"/>
              </a:rPr>
              <a:t>Fourth component of framework </a:t>
            </a:r>
            <a:r>
              <a:rPr lang="en-US" sz="2200" dirty="0" smtClean="0">
                <a:latin typeface="+mn-lt"/>
              </a:rPr>
              <a:t>: </a:t>
            </a:r>
            <a:r>
              <a:rPr lang="en-US" b="1" dirty="0">
                <a:solidFill>
                  <a:schemeClr val="accent1">
                    <a:lumMod val="60000"/>
                    <a:lumOff val="40000"/>
                  </a:schemeClr>
                </a:solidFill>
                <a:latin typeface="+mn-lt"/>
              </a:rPr>
              <a:t>Potential broader financial market implications</a:t>
            </a:r>
          </a:p>
          <a:p>
            <a:pPr>
              <a:lnSpc>
                <a:spcPct val="150000"/>
              </a:lnSpc>
            </a:pPr>
            <a:r>
              <a:rPr lang="en-US" dirty="0" smtClean="0">
                <a:latin typeface="+mn-lt"/>
              </a:rPr>
              <a:t> Now we will explore 3</a:t>
            </a:r>
            <a:r>
              <a:rPr lang="en-US" baseline="30000" dirty="0" smtClean="0">
                <a:latin typeface="+mn-lt"/>
              </a:rPr>
              <a:t>rd</a:t>
            </a:r>
            <a:r>
              <a:rPr lang="en-US" dirty="0" smtClean="0">
                <a:latin typeface="+mn-lt"/>
              </a:rPr>
              <a:t>  point : </a:t>
            </a:r>
            <a:r>
              <a:rPr lang="en-IN" sz="2200" b="1" dirty="0" smtClean="0">
                <a:solidFill>
                  <a:srgbClr val="FFFF00"/>
                </a:solidFill>
                <a:latin typeface="+mn-lt"/>
              </a:rPr>
              <a:t>Broader </a:t>
            </a:r>
            <a:r>
              <a:rPr lang="en-IN" sz="2200" b="1" dirty="0">
                <a:solidFill>
                  <a:srgbClr val="FFFF00"/>
                </a:solidFill>
                <a:latin typeface="+mn-lt"/>
              </a:rPr>
              <a:t>financial market </a:t>
            </a:r>
            <a:r>
              <a:rPr lang="en-IN" sz="2200" b="1" dirty="0" smtClean="0">
                <a:solidFill>
                  <a:srgbClr val="FFFF00"/>
                </a:solidFill>
                <a:latin typeface="+mn-lt"/>
              </a:rPr>
              <a:t>risks</a:t>
            </a:r>
          </a:p>
          <a:p>
            <a:pPr>
              <a:lnSpc>
                <a:spcPct val="150000"/>
              </a:lnSpc>
            </a:pPr>
            <a:r>
              <a:rPr lang="en-US" sz="1900" dirty="0">
                <a:latin typeface="+mn-lt"/>
              </a:rPr>
              <a:t>3</a:t>
            </a:r>
            <a:r>
              <a:rPr lang="en-US" sz="1900" dirty="0" smtClean="0">
                <a:latin typeface="+mn-lt"/>
              </a:rPr>
              <a:t>. </a:t>
            </a:r>
            <a:r>
              <a:rPr lang="en-IN" sz="2000" b="1" dirty="0">
                <a:solidFill>
                  <a:srgbClr val="FFFF00"/>
                </a:solidFill>
                <a:latin typeface="+mn-lt"/>
              </a:rPr>
              <a:t>Broader financial market </a:t>
            </a:r>
            <a:r>
              <a:rPr lang="en-IN" sz="2000" b="1" dirty="0" smtClean="0">
                <a:solidFill>
                  <a:srgbClr val="FFFF00"/>
                </a:solidFill>
                <a:latin typeface="+mn-lt"/>
              </a:rPr>
              <a:t>risks:</a:t>
            </a:r>
          </a:p>
          <a:p>
            <a:pPr>
              <a:lnSpc>
                <a:spcPct val="150000"/>
              </a:lnSpc>
            </a:pPr>
            <a:r>
              <a:rPr lang="en-US" sz="2000" dirty="0">
                <a:latin typeface="+mn-lt"/>
              </a:rPr>
              <a:t>DLT can both reduce and increase financial risks:</a:t>
            </a:r>
          </a:p>
          <a:p>
            <a:pPr>
              <a:lnSpc>
                <a:spcPct val="150000"/>
              </a:lnSpc>
            </a:pPr>
            <a:r>
              <a:rPr lang="en-US" sz="2000" b="1" dirty="0">
                <a:latin typeface="+mn-lt"/>
              </a:rPr>
              <a:t>Positive Impact:</a:t>
            </a:r>
            <a:r>
              <a:rPr lang="en-US" sz="2000" dirty="0">
                <a:latin typeface="+mn-lt"/>
              </a:rPr>
              <a:t> DLT improves transparency by sharing data across financial systems, helping institutions manage risks better.</a:t>
            </a:r>
          </a:p>
          <a:p>
            <a:pPr>
              <a:lnSpc>
                <a:spcPct val="150000"/>
              </a:lnSpc>
            </a:pPr>
            <a:r>
              <a:rPr lang="en-US" sz="2000" b="1" dirty="0">
                <a:latin typeface="+mn-lt"/>
              </a:rPr>
              <a:t>Negative Impact:</a:t>
            </a:r>
            <a:r>
              <a:rPr lang="en-US" sz="2000" dirty="0">
                <a:latin typeface="+mn-lt"/>
              </a:rPr>
              <a:t> Too much automation in financial markets could trigger unexpected problems. </a:t>
            </a:r>
            <a:endParaRPr lang="en-US" sz="2000" dirty="0" smtClean="0">
              <a:latin typeface="+mn-lt"/>
            </a:endParaRPr>
          </a:p>
          <a:p>
            <a:pPr>
              <a:lnSpc>
                <a:spcPct val="150000"/>
              </a:lnSpc>
            </a:pPr>
            <a:r>
              <a:rPr lang="en-US" sz="2000" dirty="0" smtClean="0">
                <a:latin typeface="+mn-lt"/>
              </a:rPr>
              <a:t>For </a:t>
            </a:r>
            <a:r>
              <a:rPr lang="en-US" sz="2000" dirty="0">
                <a:latin typeface="+mn-lt"/>
              </a:rPr>
              <a:t>example, if economic conditions worsen, automated margin calls (requests for more funds in investments) could happen at the same time across multiple systems, leading to a sudden liquidity crisis.</a:t>
            </a:r>
          </a:p>
          <a:p>
            <a:pPr>
              <a:lnSpc>
                <a:spcPct val="150000"/>
              </a:lnSpc>
            </a:pPr>
            <a:r>
              <a:rPr lang="en-US" sz="2000" b="1" dirty="0">
                <a:solidFill>
                  <a:srgbClr val="FFFF00"/>
                </a:solidFill>
                <a:latin typeface="+mn-lt"/>
              </a:rPr>
              <a:t>Example:</a:t>
            </a:r>
          </a:p>
          <a:p>
            <a:pPr>
              <a:lnSpc>
                <a:spcPct val="150000"/>
              </a:lnSpc>
            </a:pPr>
            <a:r>
              <a:rPr lang="en-US" sz="2000" dirty="0">
                <a:latin typeface="+mn-lt"/>
              </a:rPr>
              <a:t>Imagine a stock market using DLT, where smart contracts automatically sell shares if prices drop. If too many investors experience this at once, it could cause panic selling, making the market crash faster. Therefore, safeguards are needed to prevent such risks.</a:t>
            </a:r>
          </a:p>
          <a:p>
            <a:pPr>
              <a:lnSpc>
                <a:spcPct val="150000"/>
              </a:lnSpc>
            </a:pPr>
            <a:endParaRPr lang="en-IN" sz="2000" b="1" dirty="0" smtClean="0">
              <a:solidFill>
                <a:srgbClr val="FFFF00"/>
              </a:solidFill>
              <a:latin typeface="+mn-lt"/>
            </a:endParaRPr>
          </a:p>
        </p:txBody>
      </p:sp>
    </p:spTree>
    <p:extLst>
      <p:ext uri="{BB962C8B-B14F-4D97-AF65-F5344CB8AC3E}">
        <p14:creationId xmlns:p14="http://schemas.microsoft.com/office/powerpoint/2010/main" val="3953554797"/>
      </p:ext>
    </p:extLst>
  </p:cSld>
  <p:clrMapOvr>
    <a:masterClrMapping/>
  </p:clrMapOvr>
  <p:transition spd="med">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3"/>
          <p:cNvSpPr>
            <a:spLocks noGrp="1"/>
          </p:cNvSpPr>
          <p:nvPr>
            <p:ph type="title"/>
          </p:nvPr>
        </p:nvSpPr>
        <p:spPr>
          <a:xfrm>
            <a:off x="1625600" y="2209800"/>
            <a:ext cx="8937625" cy="2763838"/>
          </a:xfrm>
        </p:spPr>
        <p:txBody>
          <a:bodyPr/>
          <a:lstStyle/>
          <a:p>
            <a:pPr eaLnBrk="1" hangingPunct="1"/>
            <a:r>
              <a:rPr lang="en-IN" smtClean="0"/>
              <a:t>Thank You</a:t>
            </a:r>
          </a:p>
        </p:txBody>
      </p:sp>
      <p:pic>
        <p:nvPicPr>
          <p:cNvPr id="104452" name="Picture 5"/>
          <p:cNvPicPr>
            <a:picLocks noChangeAspect="1"/>
          </p:cNvPicPr>
          <p:nvPr/>
        </p:nvPicPr>
        <p:blipFill>
          <a:blip r:embed="rId2"/>
          <a:srcRect/>
          <a:stretch>
            <a:fillRect/>
          </a:stretch>
        </p:blipFill>
        <p:spPr bwMode="auto">
          <a:xfrm>
            <a:off x="6742113" y="150813"/>
            <a:ext cx="4733925" cy="4419600"/>
          </a:xfrm>
          <a:prstGeom prst="rect">
            <a:avLst/>
          </a:prstGeom>
          <a:noFill/>
          <a:ln w="9525">
            <a:noFill/>
            <a:miter lim="800000"/>
            <a:headEnd/>
            <a:tailEnd/>
          </a:ln>
        </p:spPr>
      </p:pic>
      <p:pic>
        <p:nvPicPr>
          <p:cNvPr id="104453" name="Picture 5"/>
          <p:cNvPicPr>
            <a:picLocks noChangeAspect="1"/>
          </p:cNvPicPr>
          <p:nvPr/>
        </p:nvPicPr>
        <p:blipFill>
          <a:blip r:embed="rId3" cstate="print"/>
          <a:srcRect/>
          <a:stretch>
            <a:fillRect/>
          </a:stretch>
        </p:blipFill>
        <p:spPr bwMode="auto">
          <a:xfrm>
            <a:off x="74612" y="152400"/>
            <a:ext cx="1066801"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xmlns=""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LongProperties xmlns="http://schemas.microsoft.com/office/2006/metadata/longProperties">
  <LongProp xmlns="" name="APDescription"><![CDATA[This simple template design works for technology and  businesses, but it's versatile enough to use in other contexts.  It features multiple slide layouts designed for widescreen (16x9 resolution) and includes a sample SmartArt list and chart that are easily editable.]]></LongProp>
</LongProperties>
</file>

<file path=customXml/item2.xml><?xml version="1.0" encoding="utf-8"?>
<p:properties xmlns:p="http://schemas.microsoft.com/office/2006/metadata/properties" xmlns:xsi="http://www.w3.org/2001/XMLSchema-instance">
  <documentManagement>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AssetExpire xmlns="4873beb7-5857-4685-be1f-d57550cc96cc">2029-05-12T07:00:00+00:00</AssetExpire>
    <CampaignTagsTaxHTField0 xmlns="4873beb7-5857-4685-be1f-d57550cc96cc" xsi:nil="true"/>
    <IntlLangReviewDate xmlns="4873beb7-5857-4685-be1f-d57550cc96cc" xsi:nil="true"/>
    <TPFriendlyName xmlns="4873beb7-5857-4685-be1f-d57550cc96cc" xsi:nil="true"/>
    <IntlLangReview xmlns="4873beb7-5857-4685-be1f-d57550cc96cc" xsi:nil="true"/>
    <LocLastLocAttemptVersionLookup xmlns="4873beb7-5857-4685-be1f-d57550cc96cc">694266</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2011-11-26T00:30:00+00:00</AssetStart>
    <FriendlyTitle xmlns="4873beb7-5857-4685-be1f-d57550cc96cc" xsi:nil="true"/>
    <MarketSpecific xmlns="4873beb7-5857-4685-be1f-d57550cc96cc">false</MarketSpecific>
    <TPNamespace xmlns="4873beb7-5857-4685-be1f-d57550cc96cc" xsi:nil="true"/>
    <PublishStatusLookup xmlns="4873beb7-5857-4685-be1f-d57550cc96cc">
      <Value xmlns="4873beb7-5857-4685-be1f-d57550cc96cc">1345093</Value>
    </PublishStatusLookup>
    <APAuthor xmlns="4873beb7-5857-4685-be1f-d57550cc96cc">
      <UserInfo xmlns="4873beb7-5857-4685-be1f-d57550cc96cc">
        <DisplayName xmlns="4873beb7-5857-4685-be1f-d57550cc96cc">REDMOND\kristaa</DisplayName>
        <AccountId xmlns="4873beb7-5857-4685-be1f-d57550cc96cc">136</AccountId>
        <AccountType xmlns="4873beb7-5857-4685-be1f-d57550cc96cc"/>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false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xsi:nil="true"/>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xsi:nil="true"/>
    <Provider xmlns="4873beb7-5857-4685-be1f-d57550cc96cc" xsi:nil="true"/>
    <UACurrentWords xmlns="4873beb7-5857-4685-be1f-d57550cc96cc" xsi:nil="true"/>
    <AssetId xmlns="4873beb7-5857-4685-be1f-d57550cc96cc">TP102787989</AssetId>
    <TPClientViewer xmlns="4873beb7-5857-4685-be1f-d57550cc96cc" xsi:nil="true"/>
    <DSATActionTaken xmlns="4873beb7-5857-4685-be1f-d57550cc96cc" xsi:nil="true"/>
    <APEditor xmlns="4873beb7-5857-4685-be1f-d57550cc96cc">
      <UserInfo xmlns="4873beb7-5857-4685-be1f-d57550cc96cc">
        <DisplayName xmlns="4873beb7-5857-4685-be1f-d57550cc96cc"/>
        <AccountId xmlns="4873beb7-5857-4685-be1f-d57550cc96cc" xsi:nil="true"/>
        <AccountType xmlns="4873beb7-5857-4685-be1f-d57550cc96cc"/>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xsi:nil="true"/>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xsi:nil="true"/>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05800F-9CFB-45D4-A25C-59EC2F8E6A2A}">
  <ds:schemaRefs>
    <ds:schemaRef ds:uri="http://schemas.microsoft.com/office/2006/metadata/longProperties"/>
    <ds:schemaRef ds:uri=""/>
  </ds:schemaRefs>
</ds:datastoreItem>
</file>

<file path=customXml/itemProps2.xml><?xml version="1.0" encoding="utf-8"?>
<ds:datastoreItem xmlns:ds="http://schemas.openxmlformats.org/officeDocument/2006/customXml" ds:itemID="{85678BE2-CAE6-48C2-8030-97377E88EB10}">
  <ds:schemaRefs>
    <ds:schemaRef ds:uri="http://schemas.microsoft.com/office/infopath/2007/PartnerControls"/>
    <ds:schemaRef ds:uri="http://purl.org/dc/elements/1.1/"/>
    <ds:schemaRef ds:uri="http://schemas.microsoft.com/office/2006/metadata/properties"/>
    <ds:schemaRef ds:uri="http://purl.org/dc/terms/"/>
    <ds:schemaRef ds:uri="4873beb7-5857-4685-be1f-d57550cc96cc"/>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47754</TotalTime>
  <Words>5135</Words>
  <Application>Microsoft Office PowerPoint</Application>
  <PresentationFormat>Custom</PresentationFormat>
  <Paragraphs>429</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Tech 16x9</vt:lpstr>
      <vt:lpstr>PowerPoint Presentation</vt:lpstr>
      <vt:lpstr>PowerPoint Presentation</vt:lpstr>
      <vt:lpstr>PowerPoint Presentation</vt:lpstr>
      <vt:lpstr>PowerPoint Presentation</vt:lpstr>
      <vt:lpstr>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Grand Alumni Meet 2018</dc:title>
  <dc:creator>Sandesh Jain</dc:creator>
  <cp:lastModifiedBy>N M K</cp:lastModifiedBy>
  <cp:revision>712</cp:revision>
  <dcterms:created xsi:type="dcterms:W3CDTF">2018-01-11T05:53:44Z</dcterms:created>
  <dcterms:modified xsi:type="dcterms:W3CDTF">2025-02-18T06:58:03Z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LocPublishedLinkedAssetsLookup">
    <vt:lpwstr/>
  </property>
  <property fmtid="{D5CDD505-2E9C-101B-9397-08002B2CF9AE}" pid="9" name="LocLastLocAttemptVersionTypeLookup">
    <vt:lpwstr/>
  </property>
  <property fmtid="{D5CDD505-2E9C-101B-9397-08002B2CF9AE}" pid="10" name="LocNewPublishedVersionLookup">
    <vt:lpwstr/>
  </property>
  <property fmtid="{D5CDD505-2E9C-101B-9397-08002B2CF9AE}" pid="11" name="LocOverallPublishStatusLookup">
    <vt:lpwstr/>
  </property>
  <property fmtid="{D5CDD505-2E9C-101B-9397-08002B2CF9AE}" pid="12" name="LocOverallLocStatusLookup">
    <vt:lpwstr/>
  </property>
  <property fmtid="{D5CDD505-2E9C-101B-9397-08002B2CF9AE}" pid="13" name="LocPublishedDependentAssetsLookup">
    <vt:lpwstr/>
  </property>
  <property fmtid="{D5CDD505-2E9C-101B-9397-08002B2CF9AE}" pid="14" name="LocProcessedForHandoffsLookup">
    <vt:lpwstr/>
  </property>
  <property fmtid="{D5CDD505-2E9C-101B-9397-08002B2CF9AE}" pid="15" name="LocOverallPreviewStatusLookup">
    <vt:lpwstr/>
  </property>
  <property fmtid="{D5CDD505-2E9C-101B-9397-08002B2CF9AE}" pid="16" name="LocProcessedForMarketsLookup">
    <vt:lpwstr/>
  </property>
  <property fmtid="{D5CDD505-2E9C-101B-9397-08002B2CF9AE}" pid="17" name="LocOverallHandbackStatusLookup">
    <vt:lpwstr/>
  </property>
</Properties>
</file>